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8321040" cy="5852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7680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23647"/>
                </a:solidFill>
                <a:latin typeface="Calibri Light"/>
              </a:rPr>
              <a:t>Day 8: Workflow Orchestration with Apache Airflow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64208"/>
            <a:ext cx="74980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Medallion Pipeline Training - Week 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112520" cy="65836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624328"/>
            <a:ext cx="1002792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19" b="1" i="0">
                <a:solidFill>
                  <a:srgbClr val="123647"/>
                </a:solidFill>
                <a:latin typeface="Calibri"/>
              </a:rPr>
              <a:t>DAG files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0072" y="2514600"/>
            <a:ext cx="1112520" cy="65836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54936" y="2624328"/>
            <a:ext cx="1002792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19" b="1" i="0">
                <a:solidFill>
                  <a:srgbClr val="123647"/>
                </a:solidFill>
                <a:latin typeface="Calibri"/>
              </a:rPr>
              <a:t>Scheduler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7183" y="2514600"/>
            <a:ext cx="1112520" cy="65836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2047" y="2624328"/>
            <a:ext cx="1002792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19" b="1" i="0">
                <a:solidFill>
                  <a:srgbClr val="123647"/>
                </a:solidFill>
                <a:latin typeface="Calibri"/>
              </a:rPr>
              <a:t>Workers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54296" y="2514600"/>
            <a:ext cx="1112520" cy="658368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624328"/>
            <a:ext cx="1002792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19" b="1" i="0">
                <a:solidFill>
                  <a:srgbClr val="123647"/>
                </a:solidFill>
                <a:latin typeface="Calibri"/>
              </a:rPr>
              <a:t>Kafka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31408" y="2514600"/>
            <a:ext cx="1112520" cy="65836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6271" y="2624328"/>
            <a:ext cx="1002792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19" b="1" i="0">
                <a:solidFill>
                  <a:srgbClr val="123647"/>
                </a:solidFill>
                <a:latin typeface="Calibri"/>
              </a:rPr>
              <a:t>Hop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8520" y="2514600"/>
            <a:ext cx="1112520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3383" y="2624328"/>
            <a:ext cx="1002792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19" b="1" i="0">
                <a:solidFill>
                  <a:srgbClr val="123647"/>
                </a:solidFill>
                <a:latin typeface="Calibri"/>
              </a:rPr>
              <a:t>PostgreSQL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53768" y="284378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30879" y="2843784"/>
            <a:ext cx="118873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07991" y="284378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85104" y="2843784"/>
            <a:ext cx="118871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62215" y="284378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3794760"/>
            <a:ext cx="4846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3647"/>
                </a:solidFill>
                <a:latin typeface="Calibri"/>
              </a:rPr>
              <a:t>The control room for dependable data 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06240"/>
            <a:ext cx="4937760" cy="10972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23647"/>
                </a:solidFill>
                <a:latin typeface="Calibri"/>
              </a:defRPr>
            </a:pPr>
            <a:r>
              <a:t>Define workflows as Python code</a:t>
            </a:r>
          </a:p>
          <a:p>
            <a:pPr>
              <a:spcAft>
                <a:spcPts val="400"/>
              </a:spcAft>
              <a:defRPr sz="1200">
                <a:solidFill>
                  <a:srgbClr val="123647"/>
                </a:solidFill>
                <a:latin typeface="Calibri"/>
              </a:defRPr>
            </a:pPr>
            <a:r>
              <a:t>Schedule, monitor, retry and debug tasks</a:t>
            </a:r>
          </a:p>
          <a:p>
            <a:pPr>
              <a:spcAft>
                <a:spcPts val="400"/>
              </a:spcAft>
              <a:defRPr sz="1200">
                <a:solidFill>
                  <a:srgbClr val="123647"/>
                </a:solidFill>
                <a:latin typeface="Calibri"/>
              </a:defRPr>
            </a:pPr>
            <a:r>
              <a:t>Coordinate Kafka events, Hop transformations and warehouse tables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886200"/>
            <a:ext cx="2240280" cy="141732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3886200"/>
            <a:ext cx="73152" cy="14173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3995928"/>
            <a:ext cx="19842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Classroom promise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4297680"/>
            <a:ext cx="1947672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23647"/>
                </a:solidFill>
                <a:latin typeface="Calibri"/>
              </a:rPr>
              <a:t>By the end, learners can read a DAG, explain Airflow architecture and run the Day 8 lab stack.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Learning arc for the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The sequence is problem first, then Airflow, then real lab orchestration.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1188719" cy="822960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984248"/>
            <a:ext cx="1078991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Pain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7672" y="1874519"/>
            <a:ext cx="1188719" cy="82296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2536" y="1984248"/>
            <a:ext cx="1078991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Airflow mental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0983" y="1874519"/>
            <a:ext cx="1188719" cy="82296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7" y="1984248"/>
            <a:ext cx="1078991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DAGs and tasks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1874519"/>
            <a:ext cx="1188719" cy="82296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984248"/>
            <a:ext cx="1078991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Scheduling and 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07607" y="1874519"/>
            <a:ext cx="1188719" cy="82296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1" y="1984248"/>
            <a:ext cx="1078991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Kafka + Hop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19" y="1874519"/>
            <a:ext cx="1188719" cy="822960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3" y="1984248"/>
            <a:ext cx="1078991" cy="6035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Labs + recap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01367" y="2286000"/>
            <a:ext cx="118873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54679" y="2286000"/>
            <a:ext cx="118873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07991" y="228600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61303" y="228600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214615" y="2286000"/>
            <a:ext cx="118873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77240" y="3337560"/>
            <a:ext cx="2423160" cy="100584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337560"/>
            <a:ext cx="73152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3447288"/>
            <a:ext cx="21671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Beginner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3749039"/>
            <a:ext cx="213055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Students can explain why Airflow exists before they see syntax.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3337560"/>
            <a:ext cx="2560320" cy="100584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3337560"/>
            <a:ext cx="73152" cy="100584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2" y="3447288"/>
            <a:ext cx="23042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Engineer outcome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2" y="3749039"/>
            <a:ext cx="226771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Students can read the Day 8 DAGs and reason about dependencies, retries, logs and data movement.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337560"/>
            <a:ext cx="2194560" cy="100584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3337560"/>
            <a:ext cx="73152" cy="10058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447288"/>
            <a:ext cx="19385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Trainer rhythm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3749039"/>
            <a:ext cx="190195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Teach each concept with a short story, a diagram and a quick check.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Airflow is not another processing engine. It is the workflow control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Full-day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Designed for a slow beginner-friendly Airflow ramp.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554480"/>
          <a:ext cx="79552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59"/>
                <a:gridCol w="2651759"/>
                <a:gridCol w="2651761"/>
              </a:tblGrid>
              <a:tr h="5486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Block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09:00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Opening, motivation and mental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09:30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Architecture and components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75 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10:45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DAGs, tasks, operators and sensors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90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12:15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Lunch break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60 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13:15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Scheduling, TaskFlow, XCom and connections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75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14:30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Day 8 lab stack: Airflow, Kafka, Hop, PostgreSQL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120 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16:30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Production patterns, quizzes and recap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60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Before Airflow: the business 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 late-night report is empty, and nobody knows which script broke.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441094" cy="6858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1331366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download.sh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5766" y="1828800"/>
            <a:ext cx="1441094" cy="6858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0630" y="1938528"/>
            <a:ext cx="1331366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clean.py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1452" y="1828800"/>
            <a:ext cx="1441094" cy="6858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6316" y="1938528"/>
            <a:ext cx="1331366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load.sql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57139" y="1828800"/>
            <a:ext cx="1441094" cy="6858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12003" y="1938528"/>
            <a:ext cx="1331366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report.py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62825" y="1828800"/>
            <a:ext cx="1441094" cy="6858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7689" y="1938528"/>
            <a:ext cx="1331366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email.sh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99462" y="217170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05148" y="217170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10835" y="217170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16521" y="217170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611880" y="2743200"/>
            <a:ext cx="2011680" cy="731520"/>
          </a:xfrm>
          <a:prstGeom prst="rect">
            <a:avLst/>
          </a:prstGeom>
          <a:solidFill>
            <a:srgbClr val="FCEBEB"/>
          </a:solidFill>
          <a:ln w="1270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2944368"/>
            <a:ext cx="18288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D94F4F"/>
                </a:solidFill>
                <a:latin typeface="Calibri"/>
              </a:rPr>
              <a:t>2 AM failure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886200"/>
            <a:ext cx="2240280" cy="114300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3886200"/>
            <a:ext cx="73152" cy="1143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995928"/>
            <a:ext cx="19842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What is missing?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4297680"/>
            <a:ext cx="1947672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Dependencies
Retries
Logs
Ownership
A single control room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886200"/>
            <a:ext cx="4892040" cy="114300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886200"/>
            <a:ext cx="73152" cy="1143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2" y="3995928"/>
            <a:ext cx="463600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Airflow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3592" y="4297680"/>
            <a:ext cx="4599431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Model the workflow, schedule it, monitor each task, retry safe work and alert when it fails.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The failure is bad. Not knowing it failed is worse.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Guess one 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914400" cy="25603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1620"/>
            <a:ext cx="91440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Calibri"/>
              </a:rPr>
              <a:t>TRY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758952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23647"/>
                </a:solidFill>
                <a:latin typeface="Calibri Light"/>
              </a:rPr>
              <a:t>Airflow mainly helps us ______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5623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Guess one word -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orchestrate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It coordinates specialized systems instead of replacing them.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7955279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94360"/>
            <a:ext cx="146304" cy="5669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07ACC"/>
                </a:solidFill>
                <a:latin typeface="Calibri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6949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23647"/>
                </a:solidFill>
                <a:latin typeface="Calibri Light"/>
              </a:rPr>
              <a:t>Airflow Mental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743200"/>
            <a:ext cx="6812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What Airflow is, what it is not, and where it fits.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069080"/>
            <a:ext cx="1602486" cy="65836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7198" y="4069080"/>
            <a:ext cx="1602486" cy="65836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2062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Visual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4276" y="4069080"/>
            <a:ext cx="1602486" cy="65836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9140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Practice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1353" y="4069080"/>
            <a:ext cx="1602486" cy="65836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6217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80894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47971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15050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What is workflow orchestration?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703320" cy="3566160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3152" cy="356616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709928"/>
            <a:ext cx="34472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Manual or cron-only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11680"/>
            <a:ext cx="3410712" cy="3063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Time-based starts
Weak dependency visibility
Custom retry logic
Logs scattered in many places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600200"/>
            <a:ext cx="3703320" cy="356616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0600" y="1600200"/>
            <a:ext cx="73152" cy="3566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709928"/>
            <a:ext cx="34472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Orchestrated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2011680"/>
            <a:ext cx="3410712" cy="3063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Steps arranged as a graph
Dependencies visible
Retries and timeouts
UI, logs and run history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89120" y="3383280"/>
            <a:ext cx="320040" cy="0"/>
          </a:xfrm>
          <a:prstGeom prst="line">
            <a:avLst/>
          </a:prstGeom>
          <a:ln w="254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Orchestration means right step, right time, right order, visible recovery.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Airflow 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The simplest definition to remember.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7589520" cy="1051560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71323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 Light"/>
              </a:rPr>
              <a:t>Apache Airflow lets teams define, schedule and monitor workflows as Python code.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337560"/>
            <a:ext cx="1613916" cy="6858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3447288"/>
            <a:ext cx="150418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23647"/>
                </a:solidFill>
                <a:latin typeface="Calibri"/>
              </a:rPr>
              <a:t>Define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75787" y="3337560"/>
            <a:ext cx="1613916" cy="68580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0651" y="3447288"/>
            <a:ext cx="150418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23647"/>
                </a:solidFill>
                <a:latin typeface="Calibri"/>
              </a:rPr>
              <a:t>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3337560"/>
            <a:ext cx="1613916" cy="68580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3447288"/>
            <a:ext cx="150418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23647"/>
                </a:solidFill>
                <a:latin typeface="Calibri"/>
              </a:rPr>
              <a:t>Monitor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2803" y="3337560"/>
            <a:ext cx="1613916" cy="68580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7667" y="3447288"/>
            <a:ext cx="150418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23647"/>
                </a:solidFill>
                <a:latin typeface="Calibri"/>
              </a:rPr>
              <a:t>Recover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29484" y="368046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07991" y="368046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286499" y="368046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011680" y="4572000"/>
            <a:ext cx="5120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0" y="4572000"/>
            <a:ext cx="731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76272" y="4681728"/>
            <a:ext cx="486460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 Python?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4983480"/>
            <a:ext cx="4828031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Version control, code review, reuse, tests and clear ownership.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Airflow is not a data processing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Keep each tool in its lane.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1920240" cy="2560320"/>
          </a:xfrm>
          <a:prstGeom prst="rect">
            <a:avLst/>
          </a:prstGeom>
          <a:solidFill>
            <a:srgbClr val="E8F4FB"/>
          </a:solidFill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856231"/>
            <a:ext cx="1508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007ACC"/>
                </a:solidFill>
                <a:latin typeface="Calibri"/>
              </a:rPr>
              <a:t>Airflow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331720"/>
            <a:ext cx="150876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123647"/>
                </a:solidFill>
                <a:latin typeface="Calibri"/>
              </a:rPr>
              <a:t>Schedules
Coordinates
Monitors
Retries
Alerts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737360"/>
            <a:ext cx="1965960" cy="86868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737360"/>
            <a:ext cx="73152" cy="8686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847088"/>
            <a:ext cx="17099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Spark /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148840"/>
            <a:ext cx="1673351" cy="3657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Heavy transformations and distributed compute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37360"/>
            <a:ext cx="1965960" cy="86868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1737360"/>
            <a:ext cx="73152" cy="8686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0992" y="1847088"/>
            <a:ext cx="17099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Kafka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2148840"/>
            <a:ext cx="1673351" cy="3657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Event streaming and durable topics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971800"/>
            <a:ext cx="1965960" cy="86868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2971800"/>
            <a:ext cx="73152" cy="86868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3081528"/>
            <a:ext cx="17099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Apache 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3383280"/>
            <a:ext cx="1673351" cy="3657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Visual ETL pipelines and workflows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971800"/>
            <a:ext cx="1965960" cy="86868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2971800"/>
            <a:ext cx="73152" cy="8686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50992" y="3081528"/>
            <a:ext cx="17099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3383280"/>
            <a:ext cx="1673351" cy="3657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State, warehouse tables and SQL checks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788920" y="2148840"/>
            <a:ext cx="457200" cy="594360"/>
          </a:xfrm>
          <a:prstGeom prst="line">
            <a:avLst/>
          </a:prstGeom>
          <a:ln w="1778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788920" y="2148840"/>
            <a:ext cx="2697480" cy="594360"/>
          </a:xfrm>
          <a:prstGeom prst="line">
            <a:avLst/>
          </a:prstGeom>
          <a:ln w="1778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88920" y="2743200"/>
            <a:ext cx="457200" cy="640080"/>
          </a:xfrm>
          <a:prstGeom prst="line">
            <a:avLst/>
          </a:prstGeom>
          <a:ln w="1778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88920" y="2743200"/>
            <a:ext cx="2697480" cy="640080"/>
          </a:xfrm>
          <a:prstGeom prst="line">
            <a:avLst/>
          </a:prstGeom>
          <a:ln w="1778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Do not process huge data inside Airflow task memory.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Where Airflow fits in data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Airflow sits above the systems and controls repeatable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17320"/>
            <a:ext cx="2743200" cy="594360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27632"/>
            <a:ext cx="228600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AIRFLOW CONTROL ROOM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14600"/>
            <a:ext cx="7315200" cy="42976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514600"/>
            <a:ext cx="73152" cy="4297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624328"/>
            <a:ext cx="70591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23647"/>
                </a:solidFill>
                <a:latin typeface="Calibri"/>
              </a:rPr>
              <a:t>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926080"/>
            <a:ext cx="7022592" cy="-731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23647"/>
                </a:solidFill>
                <a:latin typeface="Calibri"/>
              </a:rPr>
              <a:t>Files, APIs, databases, CDC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011680"/>
            <a:ext cx="0" cy="50292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14400" y="3081528"/>
            <a:ext cx="7315200" cy="42976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081528"/>
            <a:ext cx="73152" cy="42976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191256"/>
            <a:ext cx="70591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23647"/>
                </a:solidFill>
                <a:latin typeface="Calibri"/>
              </a:rPr>
              <a:t>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493008"/>
            <a:ext cx="7022592" cy="-731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23647"/>
                </a:solidFill>
                <a:latin typeface="Calibri"/>
              </a:rPr>
              <a:t>Kafka topics, queues, landing zones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2011680"/>
            <a:ext cx="0" cy="1069848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14400" y="3648456"/>
            <a:ext cx="7315200" cy="42976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648456"/>
            <a:ext cx="73152" cy="429768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758184"/>
            <a:ext cx="70591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23647"/>
                </a:solidFill>
                <a:latin typeface="Calibri"/>
              </a:rPr>
              <a:t>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059936"/>
            <a:ext cx="7022592" cy="-731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23647"/>
                </a:solidFill>
                <a:latin typeface="Calibri"/>
              </a:rPr>
              <a:t>Hop, Spark, SQL, dbt, Python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2011680"/>
            <a:ext cx="0" cy="163677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4215383"/>
            <a:ext cx="7315200" cy="42976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215383"/>
            <a:ext cx="73152" cy="429768"/>
          </a:xfrm>
          <a:prstGeom prst="rect">
            <a:avLst/>
          </a:prstGeom>
          <a:solidFill>
            <a:srgbClr val="D8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4325112"/>
            <a:ext cx="70591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23647"/>
                </a:solidFill>
                <a:latin typeface="Calibri"/>
              </a:rPr>
              <a:t>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4626864"/>
            <a:ext cx="7022592" cy="-731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23647"/>
                </a:solidFill>
                <a:latin typeface="Calibri"/>
              </a:rPr>
              <a:t>Bronze, Silver, Gold, marts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0" y="2011680"/>
            <a:ext cx="0" cy="2203703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4400" y="4782312"/>
            <a:ext cx="7315200" cy="429768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4782312"/>
            <a:ext cx="73152" cy="42976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4892040"/>
            <a:ext cx="70591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123647"/>
                </a:solidFill>
                <a:latin typeface="Calibri"/>
              </a:rPr>
              <a:t>Consume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5193792"/>
            <a:ext cx="7022592" cy="-731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23647"/>
                </a:solidFill>
                <a:latin typeface="Calibri"/>
              </a:rPr>
              <a:t>BI, reports, ML, alerts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0" y="2011680"/>
            <a:ext cx="0" cy="2770632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Airflow tells the full pipeline when to move and what to do next.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The day story: railway analogy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Use this to make the vocabulary stick.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73152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18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DAG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2024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Route 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39" y="15087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39" y="1508760"/>
            <a:ext cx="73152" cy="77724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1" y="1618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1" y="192024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Station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5087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508760"/>
            <a:ext cx="73152" cy="7772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1" y="1618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Operator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1" y="192024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Type of worker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517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651760"/>
            <a:ext cx="73152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761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Scheduler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06324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Station master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39" y="26517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39" y="2651760"/>
            <a:ext cx="73152" cy="77724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5031" y="2761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Worker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1" y="306324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Person or machine doing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59" y="26517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2651760"/>
            <a:ext cx="73152" cy="7772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1" y="2761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Metadata 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1" y="306324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Control register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60"/>
            <a:ext cx="73152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3904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Web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20624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Control room screen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39" y="37947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20439" y="3794760"/>
            <a:ext cx="73152" cy="77724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85031" y="3904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Kafka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5031" y="420624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Live event highway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59" y="3794760"/>
            <a:ext cx="2331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59" y="3794760"/>
            <a:ext cx="73152" cy="7772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1" y="3904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Hop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1" y="420624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Visual ETL workshop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 beginner can explain Airflow if they can explain the analogy.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MCQ: What is Airflow's main job?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914400" cy="25603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1620"/>
            <a:ext cx="91440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Calibri"/>
              </a:rPr>
              <a:t>TRY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758952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23647"/>
                </a:solidFill>
                <a:latin typeface="Calibri Light"/>
              </a:rPr>
              <a:t>Which sentence best explains Airflow?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06324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7296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47472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Airflow stores big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06324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3063240"/>
            <a:ext cx="73152" cy="566928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317296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7472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Airflow orchestrates workflows as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84048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3840480"/>
            <a:ext cx="73152" cy="5669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395020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5196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Airflow is a Kafka broker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384048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9160" y="3840480"/>
            <a:ext cx="73152" cy="566928"/>
          </a:xfrm>
          <a:prstGeom prst="rect">
            <a:avLst/>
          </a:prstGeom>
          <a:solidFill>
            <a:srgbClr val="62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395020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425196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Airflow replaces all databases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5623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MCQ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B) Airflow orchestrates workflows as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It schedules and monitors work that other systems execute.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7955279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94360"/>
            <a:ext cx="146304" cy="566928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0A78D"/>
                </a:solidFill>
                <a:latin typeface="Calibri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6949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23647"/>
                </a:solidFill>
                <a:latin typeface="Calibri Light"/>
              </a:rPr>
              <a:t>Airflow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743200"/>
            <a:ext cx="6812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Components, control flow, deployment shapes and 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069080"/>
            <a:ext cx="1602486" cy="65836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7198" y="4069080"/>
            <a:ext cx="1602486" cy="65836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2062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Visual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4276" y="4069080"/>
            <a:ext cx="1602486" cy="65836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9140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Practice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1353" y="4069080"/>
            <a:ext cx="1602486" cy="65836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6217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80894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47971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15050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Simple Airflow control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 teaching diagram before the official architecture diagram.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1234440" cy="56692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114300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DAG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828800"/>
            <a:ext cx="1234440" cy="56692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993392"/>
            <a:ext cx="114300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DAG processor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828800"/>
            <a:ext cx="1234440" cy="56692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993392"/>
            <a:ext cx="114300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Metadata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1828800"/>
            <a:ext cx="1234440" cy="56692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993392"/>
            <a:ext cx="114300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Scheduler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828800"/>
            <a:ext cx="1234440" cy="56692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993392"/>
            <a:ext cx="114300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Executor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3246120"/>
            <a:ext cx="1234440" cy="566928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410712"/>
            <a:ext cx="114300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Worker runtime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4480560"/>
            <a:ext cx="1234440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4645152"/>
            <a:ext cx="114300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Logs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4480560"/>
            <a:ext cx="1234440" cy="56692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4645152"/>
            <a:ext cx="114300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Web UI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20240" y="2112264"/>
            <a:ext cx="22860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83280" y="2112264"/>
            <a:ext cx="27432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92040" y="2112264"/>
            <a:ext cx="27432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00800" y="2112264"/>
            <a:ext cx="22860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629400" y="2112264"/>
            <a:ext cx="1234440" cy="141732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382512" y="3657600"/>
            <a:ext cx="246888" cy="82296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892040" y="4764024"/>
            <a:ext cx="27432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97680" y="2395728"/>
            <a:ext cx="0" cy="2084832"/>
          </a:xfrm>
          <a:prstGeom prst="line">
            <a:avLst/>
          </a:prstGeom>
          <a:ln w="15240">
            <a:solidFill>
              <a:srgbClr val="D9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26280" y="3063240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D94F4F"/>
                </a:solidFill>
                <a:latin typeface="Calibri"/>
              </a:rPr>
              <a:t>State lives here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The metadata database is Airflow's memory.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Official: basic Airflow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Use this to connect the simplified teaching diagram to real Airflow terminology.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758952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rflow_basic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67" y="1417320"/>
            <a:ext cx="7185264" cy="4343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7223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30" b="0" i="0">
                <a:solidFill>
                  <a:srgbClr val="64748B"/>
                </a:solidFill>
                <a:latin typeface="Calibri"/>
              </a:rPr>
              <a:t>Source: Airflow architecture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Required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 minimum Airflow deployment needs these pieces.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2331720" cy="1078992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73152" cy="10789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70992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2039112" cy="57607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Triggers scheduled workflows and submits tasks to the executor.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600200"/>
            <a:ext cx="2331720" cy="1078992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600200"/>
            <a:ext cx="73152" cy="1078992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70992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DAG processor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011680"/>
            <a:ext cx="2039112" cy="57607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Parses DAG files and serializes them to the metadata database.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2331720" cy="1078992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600200"/>
            <a:ext cx="73152" cy="10789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70992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Webserver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011680"/>
            <a:ext cx="2039112" cy="57607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Provides the UI to inspect, trigger and debug DAGs.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108960"/>
            <a:ext cx="2331720" cy="1078992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108960"/>
            <a:ext cx="73152" cy="10789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2186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DAG folder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520440"/>
            <a:ext cx="2039112" cy="57607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Python files that define workflows and dependencies.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3108960"/>
            <a:ext cx="2331720" cy="1078992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3108960"/>
            <a:ext cx="73152" cy="1078992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32186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Metadata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3520440"/>
            <a:ext cx="2039112" cy="57607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Stores state for DAGs, tasks, variables and run history.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108960"/>
            <a:ext cx="2331720" cy="1078992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108960"/>
            <a:ext cx="73152" cy="107899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32186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Executor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520440"/>
            <a:ext cx="2039112" cy="57607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Chooses how task work is run.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If students can name these, they can debug the lab stack.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Optional components and why they exist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2423160" cy="128016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09928"/>
            <a:ext cx="21671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Workers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11680"/>
            <a:ext cx="213055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Separate long-running processes or pods that execute tasks in distributed setups.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600200"/>
            <a:ext cx="2423160" cy="128016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600200"/>
            <a:ext cx="73152" cy="128016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709928"/>
            <a:ext cx="21671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Triggerer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011680"/>
            <a:ext cx="213055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Runs deferred tasks asynchronously so sensors do not waste worker slots.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600200"/>
            <a:ext cx="2423160" cy="128016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600200"/>
            <a:ext cx="73152" cy="12801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1709928"/>
            <a:ext cx="21671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Plugins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2011680"/>
            <a:ext cx="213055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Extend Airflow with custom operators, hooks, UI pieces and shared helpers.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977639"/>
            <a:ext cx="1705356" cy="6858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087368"/>
            <a:ext cx="159562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Simple lab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4348" y="3977639"/>
            <a:ext cx="1705356" cy="68580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9212" y="4087368"/>
            <a:ext cx="159562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More 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54296" y="3977639"/>
            <a:ext cx="1705356" cy="68580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4087368"/>
            <a:ext cx="159562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Distributed executors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24244" y="3977639"/>
            <a:ext cx="1705356" cy="68580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9107" y="4087368"/>
            <a:ext cx="159562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Better isolation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38044" y="432054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07992" y="432054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377940" y="432054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Components are separated to scale and isolate responsibilities.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Scheduler loop: what happens repeatedly?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The scheduler is boring on purpose: parse, decide, submit, record.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441094" cy="77724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029968"/>
            <a:ext cx="1331366" cy="5577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Read serialized DAGs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5766" y="1920240"/>
            <a:ext cx="1441094" cy="77724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0630" y="2029968"/>
            <a:ext cx="1331366" cy="5577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Find due DAG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1452" y="1920240"/>
            <a:ext cx="1441094" cy="77724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6316" y="2029968"/>
            <a:ext cx="1331366" cy="5577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Check task dependencies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57139" y="1920240"/>
            <a:ext cx="1441094" cy="77724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12003" y="2029968"/>
            <a:ext cx="1331366" cy="5577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Queue runnable tasks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62825" y="1920240"/>
            <a:ext cx="1441094" cy="777240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7689" y="2029968"/>
            <a:ext cx="1331366" cy="5577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Record 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99462" y="230886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05148" y="230886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10835" y="230886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16521" y="230886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05840" y="3703320"/>
            <a:ext cx="7132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3703320"/>
            <a:ext cx="73152" cy="100584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381304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Important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114800"/>
            <a:ext cx="683971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The scheduler does not magically know business correctness. It only knows states, dependencies, schedules and configuration.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 bad SQL transform can still finish successfully; test data quality separately.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Official: distributed Airflow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Show this after students understand the simple control-room version.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7955279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rflow_distribute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38" y="1417320"/>
            <a:ext cx="7786122" cy="4526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7223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30" b="0" i="0">
                <a:solidFill>
                  <a:srgbClr val="64748B"/>
                </a:solidFill>
                <a:latin typeface="Calibri"/>
              </a:rPr>
              <a:t>Source: Airflow architecture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Airflow UI: operational control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The UI is where learners see run state, graph, logs and debugging clues.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5166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rflow_dags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85947"/>
            <a:ext cx="5166360" cy="29374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080760" y="1645920"/>
            <a:ext cx="2286000" cy="233172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645920"/>
            <a:ext cx="73152" cy="23317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755648"/>
            <a:ext cx="202996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Use the UI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2057400"/>
            <a:ext cx="1993392" cy="18287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DAG list
Graph and Grid views
Manual trigger
Task logs
Import errors
XCom inspection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4224528"/>
            <a:ext cx="2286000" cy="786384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4224528"/>
            <a:ext cx="73152" cy="78638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4334256"/>
            <a:ext cx="202996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First failure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4636008"/>
            <a:ext cx="1993392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Which task failed, and what does its log say?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7223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30" b="0" i="0">
                <a:solidFill>
                  <a:srgbClr val="64748B"/>
                </a:solidFill>
                <a:latin typeface="Calibri"/>
              </a:rPr>
              <a:t>Source: Airflow UI overview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Fill in the blanks: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914400" cy="25603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1620"/>
            <a:ext cx="91440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Calibri"/>
              </a:rPr>
              <a:t>TRY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758952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23647"/>
                </a:solidFill>
                <a:latin typeface="Calibri Light"/>
              </a:rPr>
              <a:t>The ______ decides when work should run. The ______ stores task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5623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Fill in the blanks -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Scheduler; Metadata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The scheduler makes run decisions. The database remembers the state and history.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7955279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94360"/>
            <a:ext cx="146304" cy="56692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28C28"/>
                </a:solidFill>
                <a:latin typeface="Calibri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6949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23647"/>
                </a:solidFill>
                <a:latin typeface="Calibri Light"/>
              </a:rPr>
              <a:t>DAGs, Tasks and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743200"/>
            <a:ext cx="6812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How workflow ideas become Python code and visible graphs.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069080"/>
            <a:ext cx="1602486" cy="65836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7198" y="4069080"/>
            <a:ext cx="1602486" cy="65836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2062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Visual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4276" y="4069080"/>
            <a:ext cx="1602486" cy="65836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9140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Practice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1353" y="4069080"/>
            <a:ext cx="1602486" cy="65836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6217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80894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47971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15050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DAG = Directed Acyclic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The workflow map: tasks plus directional dependencies, with no loops.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1331366" cy="713232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29968"/>
            <a:ext cx="122163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extract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0358" y="1920240"/>
            <a:ext cx="1331366" cy="713232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5222" y="2029968"/>
            <a:ext cx="122163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validate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6316" y="1920240"/>
            <a:ext cx="1331366" cy="713232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1180" y="2029968"/>
            <a:ext cx="122163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transform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2275" y="1920240"/>
            <a:ext cx="1331366" cy="713232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7139" y="2029968"/>
            <a:ext cx="122163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98233" y="1920240"/>
            <a:ext cx="1331366" cy="713232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3097" y="2029968"/>
            <a:ext cx="122163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report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64054" y="227685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60012" y="227685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55971" y="227685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751929" y="227685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14400" y="342900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429000"/>
            <a:ext cx="73152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3538728"/>
            <a:ext cx="15727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Directed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840480"/>
            <a:ext cx="153619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Arrows show order.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342900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3429000"/>
            <a:ext cx="73152" cy="77724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22191" y="3538728"/>
            <a:ext cx="15727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Acyclic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2191" y="3840480"/>
            <a:ext cx="153619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No circular dependency.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42900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429000"/>
            <a:ext cx="73152" cy="77724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3538728"/>
            <a:ext cx="15727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3840480"/>
            <a:ext cx="153619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Nodes and edges.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If there is a loop, Airflow cannot decide a valid order.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Official: DAG graph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3886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irflow_basic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9881"/>
            <a:ext cx="3886200" cy="22095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00600" y="141732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rflow_branc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75410"/>
            <a:ext cx="3657600" cy="175853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05840" y="5166360"/>
            <a:ext cx="7132320" cy="65836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5166360"/>
            <a:ext cx="73152" cy="658368"/>
          </a:xfrm>
          <a:prstGeom prst="rect">
            <a:avLst/>
          </a:prstGeom>
          <a:solidFill>
            <a:srgbClr val="D8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527608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Trainer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5577840"/>
            <a:ext cx="6839712" cy="15544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Ask learners to point at nodes, edges, branches and join points.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7223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30" b="0" i="0">
                <a:solidFill>
                  <a:srgbClr val="64748B"/>
                </a:solidFill>
                <a:latin typeface="Calibri"/>
              </a:rPr>
              <a:t>Source: Airflow DAG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Task, operator and task instance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Three terms that beginners often mix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2331720" cy="123444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73152" cy="1234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80136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103120"/>
            <a:ext cx="2039112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Reusable template for work.
Example: BashOperator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691640"/>
            <a:ext cx="2331720" cy="123444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691640"/>
            <a:ext cx="73152" cy="123444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80136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103120"/>
            <a:ext cx="2039112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Operator configured inside a DAG.
Example: task_id='extract'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691640"/>
            <a:ext cx="2331720" cy="123444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691640"/>
            <a:ext cx="73152" cy="12344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80136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Task instance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2103120"/>
            <a:ext cx="2039112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A task for one DAG run and logical date.
Example: extract on today's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069080"/>
            <a:ext cx="2206752" cy="64008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4178808"/>
            <a:ext cx="2097023" cy="42062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Template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8623" y="4069080"/>
            <a:ext cx="2206752" cy="64008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3487" y="4178808"/>
            <a:ext cx="2097023" cy="42062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Configured node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39968" y="4069080"/>
            <a:ext cx="2206752" cy="64008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4832" y="4178808"/>
            <a:ext cx="2097023" cy="42062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Actual run record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22320" y="438912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93663" y="438912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The UI mostly shows task instances: task + run + state.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Common task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Students should learn the colors before the labs.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2331720" cy="896112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508760"/>
            <a:ext cx="73152" cy="8961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618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23647"/>
                </a:solidFill>
                <a:latin typeface="Calibri"/>
              </a:rPr>
              <a:t>queued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920240"/>
            <a:ext cx="2039112" cy="39319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23647"/>
                </a:solidFill>
                <a:latin typeface="Calibri"/>
              </a:rPr>
              <a:t>Waiting for executor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508760"/>
            <a:ext cx="2331720" cy="896112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508760"/>
            <a:ext cx="73152" cy="89611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618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23647"/>
                </a:solidFill>
                <a:latin typeface="Calibri"/>
              </a:rPr>
              <a:t>running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1920240"/>
            <a:ext cx="2039112" cy="39319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23647"/>
                </a:solidFill>
                <a:latin typeface="Calibri"/>
              </a:rPr>
              <a:t>Currently executing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508760"/>
            <a:ext cx="2331720" cy="896112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508760"/>
            <a:ext cx="73152" cy="89611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61848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23647"/>
                </a:solidFill>
                <a:latin typeface="Calibri"/>
              </a:rPr>
              <a:t>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920240"/>
            <a:ext cx="2039112" cy="39319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23647"/>
                </a:solidFill>
                <a:latin typeface="Calibri"/>
              </a:rPr>
              <a:t>Finished successfully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834639"/>
            <a:ext cx="2331720" cy="896112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834639"/>
            <a:ext cx="73152" cy="896112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94436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23647"/>
                </a:solidFill>
                <a:latin typeface="Calibri"/>
              </a:rPr>
              <a:t>failed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246120"/>
            <a:ext cx="2039112" cy="39319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23647"/>
                </a:solidFill>
                <a:latin typeface="Calibri"/>
              </a:rPr>
              <a:t>Finished with error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834639"/>
            <a:ext cx="2331720" cy="896112"/>
          </a:xfrm>
          <a:prstGeom prst="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2834639"/>
            <a:ext cx="73152" cy="896112"/>
          </a:xfrm>
          <a:prstGeom prst="rect">
            <a:avLst/>
          </a:prstGeom>
          <a:solidFill>
            <a:srgbClr val="62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294436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23647"/>
                </a:solidFill>
                <a:latin typeface="Calibri"/>
              </a:rPr>
              <a:t>upstream_failed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3246120"/>
            <a:ext cx="2039112" cy="39319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23647"/>
                </a:solidFill>
                <a:latin typeface="Calibri"/>
              </a:rPr>
              <a:t>Blocked by earlier failure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834639"/>
            <a:ext cx="2331720" cy="896112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2834639"/>
            <a:ext cx="73152" cy="89611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294436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23647"/>
                </a:solidFill>
                <a:latin typeface="Calibri"/>
              </a:rPr>
              <a:t>skipped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246120"/>
            <a:ext cx="2039112" cy="39319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123647"/>
                </a:solidFill>
                <a:latin typeface="Calibri"/>
              </a:rPr>
              <a:t>Intentionally not run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 production incident starts by reading task state and task logs.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Choose the right 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Right tool for the unit of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63040"/>
          <a:ext cx="78638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6934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Need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Good Airflow choice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Run shell or CLI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BashOperator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hop-run, dbt, shell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Run Python function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PythonOperator or @task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validate rows, call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Run 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SQL/Postgres 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create table, transform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Wait for condition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Sensor or deferrable operator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file exists, row count ready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Trigger another DAG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TriggerDagRunOperator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cross-DAG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Sensors: poke vs reschedule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Both wait. One occupies a worker; the other gives the slot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3108960" cy="150876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73152" cy="15087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38528"/>
            <a:ext cx="28529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poke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240280"/>
            <a:ext cx="2816352" cy="10058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Keeps checking and holds the worker slot while waiting.
Use for short waits.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828800"/>
            <a:ext cx="3108960" cy="150876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828800"/>
            <a:ext cx="73152" cy="15087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1" y="1938528"/>
            <a:ext cx="28529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reschedule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1" y="2240280"/>
            <a:ext cx="2816352" cy="10058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Checks, then frees the worker slot until the next poke interval.
Use for longer waits.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4343400"/>
            <a:ext cx="1901951" cy="64008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9344" y="4453128"/>
            <a:ext cx="1792223" cy="42062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23647"/>
                </a:solidFill>
                <a:latin typeface="Calibri"/>
              </a:rPr>
              <a:t>wait_for_file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21024" y="4343400"/>
            <a:ext cx="1901951" cy="64008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4453128"/>
            <a:ext cx="1792223" cy="42062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23647"/>
                </a:solidFill>
                <a:latin typeface="Calibri"/>
              </a:rPr>
              <a:t>load_bronze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87568" y="4343400"/>
            <a:ext cx="1901951" cy="640080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1" y="4453128"/>
            <a:ext cx="1792223" cy="42062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23647"/>
                </a:solidFill>
                <a:latin typeface="Calibri"/>
              </a:rPr>
              <a:t>transform_silver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74719" y="466344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41263" y="466344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Long waits should not block worker capacity.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TaskFlow API: Python functions become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3840480" cy="2926080"/>
          </a:xfrm>
          <a:prstGeom prst="rect">
            <a:avLst/>
          </a:prstGeom>
          <a:solidFill>
            <a:srgbClr val="1721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709928"/>
            <a:ext cx="354787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TaskFlow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1984248"/>
            <a:ext cx="3547872" cy="2450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Consolas"/>
              </a:rPr>
              <a:t>@task
def extract_orders():
    return {"rows": 120}
@task
def validate(batch):
    return batch["rows"] &gt; 0
ok = validate(extract_orders())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828800"/>
            <a:ext cx="3337560" cy="173736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2040" y="1828800"/>
            <a:ext cx="73152" cy="1737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938528"/>
            <a:ext cx="30815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What learners should 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1" y="2240280"/>
            <a:ext cx="3044952" cy="12344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Function return values become XComs.
Function arguments imply dependencies.
Use it for lightweight Python logic.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TaskFlow is easiest when the data passed is small metadata, not big datasets.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XCom: useful, but not for big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XCom means cross-communication.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2926080" cy="192024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73152" cy="19202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801368"/>
            <a:ext cx="26700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Good XCom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103120"/>
            <a:ext cx="2633472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row counts
file path
status flag
small JSON
business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691640"/>
            <a:ext cx="2926080" cy="1920240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94960" y="1691640"/>
            <a:ext cx="73152" cy="192024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2" y="1801368"/>
            <a:ext cx="26700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Bad XCom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2103120"/>
            <a:ext cx="2633472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large DataFrame
full CSV
millions of rows
binary files
warehouse extracts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434840"/>
            <a:ext cx="1719072" cy="64008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3664" y="4544568"/>
            <a:ext cx="1609343" cy="42062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Task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2464" y="4434840"/>
            <a:ext cx="1719072" cy="64008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7328" y="4544568"/>
            <a:ext cx="1609343" cy="42062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Metadata 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96128" y="4434840"/>
            <a:ext cx="1719072" cy="64008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4544568"/>
            <a:ext cx="1609343" cy="42062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Task 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66160" y="4754879"/>
            <a:ext cx="118871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49824" y="4754879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Move big data through storage systems; pass only pointers or counts through XCom.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Connections, hooks and external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404518" cy="73152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129479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0630" y="1965960"/>
            <a:ext cx="1404518" cy="73152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5494" y="2075688"/>
            <a:ext cx="129479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Operator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69740" y="1965960"/>
            <a:ext cx="1404518" cy="73152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24604" y="2075688"/>
            <a:ext cx="129479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Hook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38851" y="1965960"/>
            <a:ext cx="1404518" cy="731520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3715" y="2075688"/>
            <a:ext cx="129479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Connection 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7961" y="1965960"/>
            <a:ext cx="1404518" cy="73152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2825" y="2075688"/>
            <a:ext cx="129479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External system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54326" y="233172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23436" y="233172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92547" y="233172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61657" y="233172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828800" y="37033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3703320"/>
            <a:ext cx="73152" cy="10515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93392" y="3813048"/>
            <a:ext cx="52303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 this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4114800"/>
            <a:ext cx="5193792" cy="5486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23647"/>
                </a:solidFill>
                <a:latin typeface="Calibri"/>
              </a:rPr>
              <a:t>Credentials stay out of DAG code.
Operators can reuse provider hooks.
Security and rotation become manageable.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Use conn_id, not hardcoded passwords.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Minimal DAG code: read the 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7955279" cy="4572000"/>
          </a:xfrm>
          <a:prstGeom prst="rect">
            <a:avLst/>
          </a:prstGeom>
          <a:solidFill>
            <a:srgbClr val="1721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435607"/>
            <a:ext cx="7662671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day8_simple_etl.py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709928"/>
            <a:ext cx="7662671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>
                <a:solidFill>
                  <a:srgbClr val="FFFFFF"/>
                </a:solidFill>
                <a:latin typeface="Consolas"/>
              </a:rPr>
              <a:t>from datetime import datetime
from airflow import DAG
from airflow.operators.bash import BashOperator
with DAG(
    dag_id="day8_simple_etl",
    start_date=datetime(2026, 6, 1),
    schedule="@daily",
    catchup=False,
) as dag:
    extract = BashOperator(task_id="extract", bash_command="echo extract")
    transform = BashOperator(task_id="transform", bash_command="echo transform")
    load = BashOperator(task_id="load", bash_command="echo load")
    extract &gt;&gt; transform &gt;&gt; load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Dependency patterns students will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2331720" cy="77724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73152" cy="7772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0992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Linear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1168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extract -&gt; transform -&gt;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606040"/>
            <a:ext cx="576072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715768"/>
            <a:ext cx="4663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9344" y="2606040"/>
            <a:ext cx="576072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2715768"/>
            <a:ext cx="4663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0008" y="2606040"/>
            <a:ext cx="576072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04872" y="2715768"/>
            <a:ext cx="4663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63040" y="283464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03704" y="283464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429000" y="1600200"/>
            <a:ext cx="2331720" cy="77724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1600200"/>
            <a:ext cx="73152" cy="77724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3592" y="170992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Fan-out / fan-in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201168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one task splits into parallel work, then joins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606040"/>
            <a:ext cx="576072" cy="45720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1024" y="2715768"/>
            <a:ext cx="4663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start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06824" y="2606040"/>
            <a:ext cx="576072" cy="45720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2715768"/>
            <a:ext cx="4663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load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7488" y="2606040"/>
            <a:ext cx="576072" cy="45720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02351" y="2715768"/>
            <a:ext cx="4663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join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60520" y="283464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01183" y="283464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0" y="1600200"/>
            <a:ext cx="2331720" cy="77724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600200"/>
            <a:ext cx="73152" cy="77724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170992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Branch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2011680"/>
            <a:ext cx="203911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a decision chooses one downstream path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606040"/>
            <a:ext cx="576072" cy="45720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3" y="2715768"/>
            <a:ext cx="4663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check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04304" y="2606040"/>
            <a:ext cx="576072" cy="45720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9168" y="2715768"/>
            <a:ext cx="4663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A/B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4967" y="2606040"/>
            <a:ext cx="576072" cy="45720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99831" y="2715768"/>
            <a:ext cx="466344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join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57999" y="283464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98664" y="283464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828800" y="4206240"/>
            <a:ext cx="5486400" cy="822960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0" y="4206240"/>
            <a:ext cx="73152" cy="822960"/>
          </a:xfrm>
          <a:prstGeom prst="rect">
            <a:avLst/>
          </a:prstGeom>
          <a:solidFill>
            <a:srgbClr val="D8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93392" y="4315968"/>
            <a:ext cx="52303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Trigger rules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93392" y="4617720"/>
            <a:ext cx="51937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all_success, one_failed, all_done, none_failed_min_one_success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Catchup explosion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 scheduling setting that surprises beginners.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796796" cy="73152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167128"/>
            <a:ext cx="1687068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start_date: Jan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2908" y="2057400"/>
            <a:ext cx="1796796" cy="73152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7772" y="2167128"/>
            <a:ext cx="1687068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today: Apr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4296" y="2057400"/>
            <a:ext cx="1796796" cy="73152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167128"/>
            <a:ext cx="1687068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catchup=True?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5684" y="2057400"/>
            <a:ext cx="1796796" cy="731520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0548" y="2167128"/>
            <a:ext cx="1687068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many historical runs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46604" y="242316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07992" y="242316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69379" y="242316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280160" y="3931920"/>
            <a:ext cx="6583680" cy="82296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0160" y="3931920"/>
            <a:ext cx="73152" cy="822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1" y="4041648"/>
            <a:ext cx="63276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Default classroom advice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1" y="4343400"/>
            <a:ext cx="629107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Use catchup=False for new learning pipelines unless you intentionally teach backfill.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Backfills are powerful. Unplanned catchup can overwhelm systems.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Mini exercise: draw the DAG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914400" cy="25603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1620"/>
            <a:ext cx="91440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Calibri"/>
              </a:rPr>
              <a:t>TRY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758952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23647"/>
                </a:solidFill>
                <a:latin typeface="Calibri Light"/>
              </a:rPr>
              <a:t>download file -&gt; validate file -&gt; load table -&gt; send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5623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DAGS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Mini exercise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download &gt;&gt; validate &gt;&gt; load &gt;&gt;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This is a simple linear DAG. load waits for validate; report waits for load.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7955279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94360"/>
            <a:ext cx="146304" cy="5669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6949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23647"/>
                </a:solidFill>
                <a:latin typeface="Calibri Light"/>
              </a:rPr>
              <a:t>Day 8 Lab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743200"/>
            <a:ext cx="6812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The real files: Airflow, Kafka, Hop, PostgreSQL and ten DAGs.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069080"/>
            <a:ext cx="1602486" cy="65836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7198" y="4069080"/>
            <a:ext cx="1602486" cy="65836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2062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Visual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4276" y="4069080"/>
            <a:ext cx="1602486" cy="65836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9140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Practice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1353" y="4069080"/>
            <a:ext cx="1602486" cy="65836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6217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80894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47971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15050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Docker Compose stack for Day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What runs when students start Lab_Files/docker-compose.yml.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7680960" cy="4297680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1828800"/>
            <a:ext cx="1554480" cy="82296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1828800"/>
            <a:ext cx="731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1938528"/>
            <a:ext cx="12984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Airflow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240280"/>
            <a:ext cx="126187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UI :8080
admin/admin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828800"/>
            <a:ext cx="1554480" cy="82296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828800"/>
            <a:ext cx="73152" cy="82296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7792" y="1938528"/>
            <a:ext cx="12984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Scheduler + triggerer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240280"/>
            <a:ext cx="126187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parses and runs DAGs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828800"/>
            <a:ext cx="1554480" cy="82296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828800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1938528"/>
            <a:ext cx="12984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240280"/>
            <a:ext cx="126187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metadata + warehouse
:5432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828800"/>
            <a:ext cx="1554480" cy="82296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828800"/>
            <a:ext cx="73152" cy="822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1938528"/>
            <a:ext cx="12984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Kafka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240280"/>
            <a:ext cx="126187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orders.raw
:9092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3749039"/>
            <a:ext cx="1554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54480" y="3749039"/>
            <a:ext cx="73152" cy="6858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19072" y="3858768"/>
            <a:ext cx="12984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Kafka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19072" y="4160520"/>
            <a:ext cx="1261872" cy="1828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:8081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3749039"/>
            <a:ext cx="1554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39" y="3749039"/>
            <a:ext cx="73152" cy="68580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13631" y="3858768"/>
            <a:ext cx="12984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Hop Web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3631" y="4160520"/>
            <a:ext cx="1261872" cy="1828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:8082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749039"/>
            <a:ext cx="1554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3749039"/>
            <a:ext cx="73152" cy="685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3858768"/>
            <a:ext cx="12984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Lab 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8192" y="4160520"/>
            <a:ext cx="1261872" cy="1828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dags, data, scripts, hop, sql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97680" y="224028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126480" y="224028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The lab is reproducible because every learner runs the same Compose stack.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Start and verify the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4251960" cy="2240280"/>
          </a:xfrm>
          <a:prstGeom prst="rect">
            <a:avLst/>
          </a:prstGeom>
          <a:solidFill>
            <a:srgbClr val="1721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755648"/>
            <a:ext cx="395935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PowerShell or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029968"/>
            <a:ext cx="3959352" cy="1764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Consolas"/>
              </a:rPr>
              <a:t>cd Week_02\Day_08\Lab_Files
docker compose up -d --build
docker compose ps
docker compose exec airflow-web python /opt/airflow/scripts/verify_setup.py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645920"/>
          <a:ext cx="33375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520"/>
                <a:gridCol w="1112520"/>
                <a:gridCol w="1112520"/>
              </a:tblGrid>
              <a:tr h="42976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URL / Port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Credential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localhost:8080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admin /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Kafka UI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localhost:8081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Hop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localhost:8082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localhost:5432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 / airflow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Always verify services before debugging DAG code.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Lab_Files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Where students should look when something breaks.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508760"/>
          <a:ext cx="78181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9060"/>
                <a:gridCol w="3909060"/>
              </a:tblGrid>
              <a:tr h="60742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Folder/file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dags/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 DAGs for Labs 1-10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dags/helpers/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Kafka and Hop helper utilities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data/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CSV files mounted to /opt/airflow/data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hop/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Hop project, pipelines and workflows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sql/init_warehouse.sql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Bronze/Silver/Gold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scripts/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Kafka producer and setup verifier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Ten DAGs, one learning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25880"/>
          <a:ext cx="795527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/>
                <a:gridCol w="3977640"/>
              </a:tblGrid>
              <a:tr h="4488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DAG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idea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01_hello_airflow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UI, logs, Bash/Python basics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02_operators_showcase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templating, SQL, branching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03_medallion_pipeline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CSV Bronze -&gt; Silver -&gt; 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04_sensor_patterns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FileSensor, SQL checks, schedules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05_xcom_and_taskflow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XCom vs TaskFlow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06_dynamic_dags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dynamic mapping and TaskGroups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07_hop_integration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 triggers Hop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08_kafka_consumer_pipeline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Kafka micro-batch into Bronze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09_full_orchestration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capstone CSV + Kafka + Hop + 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10_advanced_patterns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callbacks, idempotency, monitoring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Lab 3: medallion pipeline 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1796796" cy="713232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938528"/>
            <a:ext cx="168706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orders.csv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7188" y="1828800"/>
            <a:ext cx="1796796" cy="713232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2052" y="1938528"/>
            <a:ext cx="168706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bronze_orders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8576" y="1828800"/>
            <a:ext cx="1796796" cy="713232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38528"/>
            <a:ext cx="168706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silver_orders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9964" y="1828800"/>
            <a:ext cx="1796796" cy="713232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4828" y="1938528"/>
            <a:ext cx="168706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23647"/>
                </a:solidFill>
                <a:latin typeface="Calibri"/>
              </a:rPr>
              <a:t>gold_daily_sales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00884" y="218541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62272" y="218541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23659" y="218541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85800" y="2971800"/>
            <a:ext cx="1796796" cy="713232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081528"/>
            <a:ext cx="168706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customers.csv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47188" y="2971800"/>
            <a:ext cx="1796796" cy="713232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2052" y="3081528"/>
            <a:ext cx="168706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bronze_customers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8576" y="2971800"/>
            <a:ext cx="1796796" cy="713232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081528"/>
            <a:ext cx="168706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silver_customers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9964" y="2971800"/>
            <a:ext cx="1796796" cy="713232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4828" y="3081528"/>
            <a:ext cx="168706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gold_customer_360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00884" y="332841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62272" y="332841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23659" y="332841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188720" y="4526280"/>
            <a:ext cx="6766560" cy="82296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88720" y="4526280"/>
            <a:ext cx="73152" cy="822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53312" y="4636008"/>
            <a:ext cx="65105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What to observe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4937760"/>
            <a:ext cx="647395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FileSensors wait, Bronze appends, Silver cleans/deduplicates, Gold aggregates, XCom stores counts.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Validation SQL students should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863840" cy="2971800"/>
          </a:xfrm>
          <a:prstGeom prst="rect">
            <a:avLst/>
          </a:prstGeom>
          <a:solidFill>
            <a:srgbClr val="1721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01368"/>
            <a:ext cx="7571231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Evidence, not hope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075688"/>
            <a:ext cx="7571231" cy="2496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FFFFFF"/>
                </a:solidFill>
                <a:latin typeface="Consolas"/>
              </a:rPr>
              <a:t>docker compose exec postgres psql -U airflow -d airflow -c "SELECT COUNT(*) FROM bronze_orders;"
docker compose exec postgres psql -U airflow -d airflow -c "SELECT COUNT(*) FROM silver_orders;"
docker compose exec postgres psql -U airflow -d airflow -c "SELECT * FROM gold_customer_360;"
docker compose exec postgres psql -U airflow -d airflow -c "SELECT * FROM data_quality_results ORDER BY checked_at DESC LIMIT 10;"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 green DAG is not enough; validate the tables.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Labs 4-6: waiting, passing,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2331720" cy="132588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73152" cy="13258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0136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Lab 4 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2039112" cy="8229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poke vs reschedule
TimeDeltaSensor
SQL readiness checks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691640"/>
            <a:ext cx="2331720" cy="132588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691640"/>
            <a:ext cx="73152" cy="13258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80136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Lab 5 XCom + TaskFlow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103120"/>
            <a:ext cx="2039112" cy="8229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traditional XCom
@task return values
BI report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691640"/>
            <a:ext cx="2331720" cy="132588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691640"/>
            <a:ext cx="73152" cy="132588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801368"/>
            <a:ext cx="2075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Lab 6 Dynamic DAGs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103120"/>
            <a:ext cx="2039112" cy="82295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expand()
TaskGroups
category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160520"/>
            <a:ext cx="2023872" cy="68580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6464" y="4270248"/>
            <a:ext cx="1914144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wait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0064" y="4160520"/>
            <a:ext cx="2023872" cy="6858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4928" y="4270248"/>
            <a:ext cx="1914144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pass metadata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48528" y="4160520"/>
            <a:ext cx="2023872" cy="68580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3392" y="4270248"/>
            <a:ext cx="1914144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fan out dynamically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13760" y="450342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02224" y="450342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Lab 7: Apache Hop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Airflow schedules; Hop transforms visually.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p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9953"/>
            <a:ext cx="3657599" cy="138929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09160" y="150876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op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19245"/>
            <a:ext cx="3657600" cy="139070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88720" y="4206240"/>
            <a:ext cx="6766560" cy="91440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4206240"/>
            <a:ext cx="73152" cy="91440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4315968"/>
            <a:ext cx="65105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Integration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4617720"/>
            <a:ext cx="6473952" cy="4114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BashOperator + docker exec
Python helper wrapper
Hybrid Airflow checks + Hop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7223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30" b="0" i="0">
                <a:solidFill>
                  <a:srgbClr val="64748B"/>
                </a:solidFill>
                <a:latin typeface="Calibri"/>
              </a:rPr>
              <a:t>Source: Apache Hop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Lab 8: Kafka micro-batch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49</a:t>
            </a:r>
          </a:p>
        </p:txBody>
      </p:sp>
      <p:pic>
        <p:nvPicPr>
          <p:cNvPr id="8" name="Picture 7" descr="kafk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1600200"/>
            <a:ext cx="1234440" cy="685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14400" y="2834640"/>
            <a:ext cx="1331366" cy="713232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944368"/>
            <a:ext cx="122163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Producer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0358" y="2834640"/>
            <a:ext cx="1331366" cy="713232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5222" y="2944368"/>
            <a:ext cx="122163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orders.raw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6316" y="2834640"/>
            <a:ext cx="1331366" cy="713232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1180" y="2944368"/>
            <a:ext cx="122163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Airflow consumer task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2275" y="2834640"/>
            <a:ext cx="1331366" cy="713232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7139" y="2944368"/>
            <a:ext cx="122163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bronze_kafka_events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98233" y="2834640"/>
            <a:ext cx="1331366" cy="713232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3097" y="2944368"/>
            <a:ext cx="1221638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50" b="1" i="0">
                <a:solidFill>
                  <a:srgbClr val="123647"/>
                </a:solidFill>
                <a:latin typeface="Calibri"/>
              </a:rPr>
              <a:t>silver_orders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64054" y="319125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60012" y="319125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55971" y="319125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751929" y="319125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14400" y="4251960"/>
            <a:ext cx="7315200" cy="868680"/>
          </a:xfrm>
          <a:prstGeom prst="rect">
            <a:avLst/>
          </a:prstGeom>
          <a:solidFill>
            <a:srgbClr val="1721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361688"/>
            <a:ext cx="7022592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4636008"/>
            <a:ext cx="7022592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FFFFFF"/>
                </a:solidFill>
                <a:latin typeface="Consolas"/>
              </a:rPr>
              <a:t>docker compose exec airflow-web python /opt/airflow/scripts/kafka_producer.py --count 20
docker compose exec airflow-web airflow dags trigger 08_kafka_consumer_pipeline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Airflow consumes a batch; Kafka remains the streaming platform.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Lab 9: full orchestration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203960" cy="6858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3" y="2121408"/>
            <a:ext cx="1094232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CSV via 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17192" y="2011680"/>
            <a:ext cx="1203960" cy="68580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72056" y="2121408"/>
            <a:ext cx="1094232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Kafka events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5744" y="2011680"/>
            <a:ext cx="1203960" cy="685800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0608" y="2121408"/>
            <a:ext cx="1094232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Quality gate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54296" y="2011680"/>
            <a:ext cx="1203960" cy="68580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121408"/>
            <a:ext cx="1094232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Silver transforms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22847" y="2011680"/>
            <a:ext cx="1203960" cy="685800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7711" y="2121408"/>
            <a:ext cx="1094232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Gold 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91399" y="2011680"/>
            <a:ext cx="1203960" cy="68580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6263" y="2121408"/>
            <a:ext cx="1094232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123647"/>
                </a:solidFill>
                <a:latin typeface="Calibri"/>
              </a:rPr>
              <a:t>Executive summary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70887" y="2354580"/>
            <a:ext cx="118873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139440" y="235458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07992" y="235458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76543" y="235458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45095" y="235458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14400" y="3657600"/>
            <a:ext cx="7315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3657600"/>
            <a:ext cx="73152" cy="9601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3767328"/>
            <a:ext cx="70591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What makes it capstone?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069080"/>
            <a:ext cx="702259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Multiple sources run in parallel, quality gates protect layers, Gold tables are built, and the final task prints business-facing counts.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Lab 10: advanced production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1691640" cy="73152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73152" cy="7315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09928"/>
            <a:ext cx="143560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11680"/>
            <a:ext cx="139903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Runtime configuration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600200"/>
            <a:ext cx="1691640" cy="73152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600200"/>
            <a:ext cx="73152" cy="731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62072" y="1709928"/>
            <a:ext cx="143560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Idempotency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2011680"/>
            <a:ext cx="139903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Safe reruns with upsert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600200"/>
            <a:ext cx="1691640" cy="73152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1600200"/>
            <a:ext cx="73152" cy="7315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1" y="1709928"/>
            <a:ext cx="143560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Callbacks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1" y="2011680"/>
            <a:ext cx="139903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success, failure, retry hooks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1600200"/>
            <a:ext cx="1691640" cy="731520"/>
          </a:xfrm>
          <a:prstGeom prst="rect">
            <a:avLst/>
          </a:prstGeom>
          <a:solidFill>
            <a:srgbClr val="F3E8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1600200"/>
            <a:ext cx="73152" cy="731520"/>
          </a:xfrm>
          <a:prstGeom prst="rect">
            <a:avLst/>
          </a:prstGeom>
          <a:solidFill>
            <a:srgbClr val="62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1709928"/>
            <a:ext cx="143560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Branching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011680"/>
            <a:ext cx="139903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data-driven path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3246120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0" y="3246120"/>
            <a:ext cx="731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10512" y="3355848"/>
            <a:ext cx="18013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TriggerDagRun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0512" y="3657600"/>
            <a:ext cx="17647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cross-DAG handoff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3246120"/>
            <a:ext cx="2057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94960" y="3246120"/>
            <a:ext cx="73152" cy="82296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9552" y="3355848"/>
            <a:ext cx="18013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9552" y="3657600"/>
            <a:ext cx="176479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freshness, counts, quality pass 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Production is mostly about predictable recovery and visibility.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Lab check: first debugging move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914400" cy="25603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1620"/>
            <a:ext cx="91440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Calibri"/>
              </a:rPr>
              <a:t>TRY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758952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23647"/>
                </a:solidFill>
                <a:latin typeface="Calibri Light"/>
              </a:rPr>
              <a:t>Your DAG file is saved but not visible in the UI. What are two first checks?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5623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Lab check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53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DAG folder path and import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Check that the file is in mounted dags/ and then open Airflow import errors or scheduler logs.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7955279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94360"/>
            <a:ext cx="146304" cy="566928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94F4F"/>
                </a:solidFill>
                <a:latin typeface="Calibri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6949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23647"/>
                </a:solidFill>
                <a:latin typeface="Calibri Light"/>
              </a:rPr>
              <a:t>Integration and Production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743200"/>
            <a:ext cx="6812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How Airflow coordinates Kafka, Hop and medallion 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069080"/>
            <a:ext cx="1602486" cy="65836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7198" y="4069080"/>
            <a:ext cx="1602486" cy="65836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2062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Visual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4276" y="4069080"/>
            <a:ext cx="1602486" cy="65836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9140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Practice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1353" y="4069080"/>
            <a:ext cx="1602486" cy="65836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6217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80894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47971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15050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Airflow + Kafka + Hop: one clean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55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1047641" cy="65836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" y="1938528"/>
            <a:ext cx="937913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80" b="1" i="0">
                <a:solidFill>
                  <a:srgbClr val="123647"/>
                </a:solidFill>
                <a:latin typeface="Calibri"/>
              </a:rPr>
              <a:t>Source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3713" y="1828800"/>
            <a:ext cx="1047641" cy="65836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78577" y="1938528"/>
            <a:ext cx="937913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80" b="1" i="0">
                <a:solidFill>
                  <a:srgbClr val="123647"/>
                </a:solidFill>
                <a:latin typeface="Calibri"/>
              </a:rPr>
              <a:t>CDC / events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5946" y="1828800"/>
            <a:ext cx="1047641" cy="65836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0810" y="1938528"/>
            <a:ext cx="937913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80" b="1" i="0">
                <a:solidFill>
                  <a:srgbClr val="123647"/>
                </a:solidFill>
                <a:latin typeface="Calibri"/>
              </a:rPr>
              <a:t>Kafka topic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48179" y="1828800"/>
            <a:ext cx="1047641" cy="65836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3043" y="1938528"/>
            <a:ext cx="937913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80" b="1" i="0">
                <a:solidFill>
                  <a:srgbClr val="123647"/>
                </a:solidFill>
                <a:latin typeface="Calibri"/>
              </a:rPr>
              <a:t>Bronze landing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0412" y="1828800"/>
            <a:ext cx="1047641" cy="65836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5276" y="1938528"/>
            <a:ext cx="937913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80" b="1" i="0">
                <a:solidFill>
                  <a:srgbClr val="123647"/>
                </a:solidFill>
                <a:latin typeface="Calibri"/>
              </a:rPr>
              <a:t>Hop transform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2645" y="1828800"/>
            <a:ext cx="1047641" cy="658368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7509" y="1938528"/>
            <a:ext cx="937913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80" b="1" i="0">
                <a:solidFill>
                  <a:srgbClr val="123647"/>
                </a:solidFill>
                <a:latin typeface="Calibri"/>
              </a:rPr>
              <a:t>Silver / Gold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4878" y="1828800"/>
            <a:ext cx="1047641" cy="658368"/>
          </a:xfrm>
          <a:prstGeom prst="rect">
            <a:avLst/>
          </a:prstGeom>
          <a:solidFill>
            <a:srgbClr val="EEF2F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39742" y="1938528"/>
            <a:ext cx="937913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80" b="1" i="0">
                <a:solidFill>
                  <a:srgbClr val="123647"/>
                </a:solidFill>
                <a:latin typeface="Calibri"/>
              </a:rPr>
              <a:t>BI report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77409" y="215798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89642" y="215798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01875" y="215798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14108" y="215798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26341" y="215798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38574" y="215798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651760" y="3063240"/>
            <a:ext cx="3886200" cy="731520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16352" y="3300984"/>
            <a:ext cx="35661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Airflow DAG watches, triggers, retries and records each step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4572000" y="2487168"/>
            <a:ext cx="0" cy="576072"/>
          </a:xfrm>
          <a:prstGeom prst="line">
            <a:avLst/>
          </a:prstGeom>
          <a:ln w="19050">
            <a:solidFill>
              <a:srgbClr val="D9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Kafka streams, Hop transforms, Airflow orchestrates.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Kafka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Where Kafka starts and where Airflow should take 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3291840" cy="196596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45920"/>
            <a:ext cx="73152" cy="1965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755648"/>
            <a:ext cx="303580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Kafka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057400"/>
            <a:ext cx="2999232" cy="14630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23647"/>
                </a:solidFill>
                <a:latin typeface="Calibri"/>
              </a:rPr>
              <a:t>Accept events from producers
Store topics and partitions
Serve consumers
Handle high-throughput streams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645920"/>
            <a:ext cx="3291840" cy="196596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645920"/>
            <a:ext cx="73152" cy="1965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1755648"/>
            <a:ext cx="303580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Airflow does around Kafka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057400"/>
            <a:ext cx="2999232" cy="14630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23647"/>
                </a:solidFill>
                <a:latin typeface="Calibri"/>
              </a:rPr>
              <a:t>Produce test events in lab
Consume bounded micro-batches
Check readiness
Trigger downstream jobs
Alert and log failures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Airflow is not a per-event real-time processor.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Hop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Hop is a visual workshop for ETL logic.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3474720" cy="128016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73152" cy="128016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709928"/>
            <a:ext cx="3218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Hop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11680"/>
            <a:ext cx="31821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Row-by-row transformations: input, validate, filter, enrich,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600200"/>
            <a:ext cx="3474720" cy="128016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1600200"/>
            <a:ext cx="73152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1709928"/>
            <a:ext cx="32186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Hop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011680"/>
            <a:ext cx="31821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Orchestrates Hop actions: run pipeline, branch, wait, handle success/failure.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49039"/>
            <a:ext cx="7498079" cy="749808"/>
          </a:xfrm>
          <a:prstGeom prst="rect">
            <a:avLst/>
          </a:prstGeom>
          <a:solidFill>
            <a:srgbClr val="17212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858768"/>
            <a:ext cx="7205471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Airflow can call hop-run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133087"/>
            <a:ext cx="720547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0">
                <a:solidFill>
                  <a:srgbClr val="FFFFFF"/>
                </a:solidFill>
                <a:latin typeface="Consolas"/>
              </a:rPr>
              <a:t>docker exec day8-hop-cli /opt/hop/hop-run.sh --file /project/workflows/day8_medallion_batch.hwf --project day8_airflow_hop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Airflow schedules and monitors Hop, but Hop owns visual ETL design.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Data quality gates between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1367942" cy="713232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75688"/>
            <a:ext cx="1258214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Bronze raw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5494" y="1965960"/>
            <a:ext cx="1367942" cy="713232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0358" y="2075688"/>
            <a:ext cx="1258214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Quality checks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8028" y="1965960"/>
            <a:ext cx="1367942" cy="713232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42892" y="2075688"/>
            <a:ext cx="1258214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Silver clean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20563" y="1965960"/>
            <a:ext cx="1367942" cy="713232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5427" y="2075688"/>
            <a:ext cx="1258214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Quality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3097" y="1965960"/>
            <a:ext cx="1367942" cy="713232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7961" y="2075688"/>
            <a:ext cx="1258214" cy="49377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123647"/>
                </a:solidFill>
                <a:latin typeface="Calibri"/>
              </a:rPr>
              <a:t>Gold aggregate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09190" y="232257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41724" y="232257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74259" y="232257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06793" y="2322576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97280" y="361188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3611880"/>
            <a:ext cx="73152" cy="114300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" y="3721608"/>
            <a:ext cx="26700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Typical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023360"/>
            <a:ext cx="2633472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not empty
no null key
positive amount
valid status
freshness within SLA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361188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3611880"/>
            <a:ext cx="73152" cy="1143000"/>
          </a:xfrm>
          <a:prstGeom prst="rect">
            <a:avLst/>
          </a:prstGeom>
          <a:solidFill>
            <a:srgbClr val="D8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3721608"/>
            <a:ext cx="26700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 before Gold?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4023360"/>
            <a:ext cx="2633472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Bad Silver data creates convincing but wrong business metrics.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Retries are only safe when tasks are idempotent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3063240" cy="1600200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73152" cy="160020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801368"/>
            <a:ext cx="280720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Unsafe rerun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03120"/>
            <a:ext cx="2770632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INSERT same rows again
send duplicate emails
charge payment twice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691640"/>
            <a:ext cx="3063240" cy="160020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691640"/>
            <a:ext cx="73152" cy="1600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1801368"/>
            <a:ext cx="280720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Safer rerun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2103120"/>
            <a:ext cx="2770632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UPSERT by business key
write to run-specific path
check before sending
replace partition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148840"/>
            <a:ext cx="685800" cy="685800"/>
          </a:xfrm>
          <a:prstGeom prst="rect">
            <a:avLst/>
          </a:prstGeom>
          <a:solidFill>
            <a:srgbClr val="FFF7D8"/>
          </a:solidFill>
          <a:ln w="12700">
            <a:solidFill>
              <a:srgbClr val="D8A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395728"/>
            <a:ext cx="457200" cy="91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retry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Retries are a recovery tool, not a substitute for idempotent design.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Monitoring questions for production DAGs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685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18488"/>
            <a:ext cx="34015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20240"/>
            <a:ext cx="3364992" cy="1828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Is the scheduler alive?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50876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508760"/>
            <a:ext cx="73152" cy="685800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1618488"/>
            <a:ext cx="34015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1920240"/>
            <a:ext cx="3364992" cy="1828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Which tasks failed in the last hour?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06039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606039"/>
            <a:ext cx="73152" cy="6858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715768"/>
            <a:ext cx="34015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017520"/>
            <a:ext cx="3364992" cy="1828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Are source files or Kafka events fresh?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606039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2606039"/>
            <a:ext cx="73152" cy="68580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9472" y="2715768"/>
            <a:ext cx="34015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2" y="3017520"/>
            <a:ext cx="3364992" cy="1828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Are row counts within expected range?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0332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703320"/>
            <a:ext cx="73152" cy="6858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813048"/>
            <a:ext cx="34015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114800"/>
            <a:ext cx="3364992" cy="1828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Did quality checks pass?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703320"/>
            <a:ext cx="365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3703320"/>
            <a:ext cx="73152" cy="685800"/>
          </a:xfrm>
          <a:prstGeom prst="rect">
            <a:avLst/>
          </a:prstGeom>
          <a:solidFill>
            <a:srgbClr val="62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2" y="3813048"/>
            <a:ext cx="34015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Q6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4114800"/>
            <a:ext cx="3364992" cy="1828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Who gets alerted when the DAG fails?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 DAG that ran once is a demo. A monitored DAG is a production candidate.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Do and don't: beginner Airflow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00200"/>
            <a:ext cx="3337560" cy="256032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73152" cy="25603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1709928"/>
            <a:ext cx="30815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011680"/>
            <a:ext cx="3044952" cy="2057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Use small tasks
Use clear task IDs
Use connections
Validate data
Make retries safe
Read logs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600200"/>
            <a:ext cx="3337560" cy="2560320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1600200"/>
            <a:ext cx="73152" cy="256032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1709928"/>
            <a:ext cx="30815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Don't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011680"/>
            <a:ext cx="3044952" cy="2057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Pass DataFrames in XCom
Hardcode passwords
Use one giant task
Ignore catchup
Use Airflow as Kafka
Trust green runs blindly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7955279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94360"/>
            <a:ext cx="146304" cy="5669280"/>
          </a:xfrm>
          <a:prstGeom prst="rect">
            <a:avLst/>
          </a:prstGeom>
          <a:solidFill>
            <a:srgbClr val="62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6254A8"/>
                </a:solidFill>
                <a:latin typeface="Calibri"/>
              </a:rPr>
              <a:t>MODULE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6949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23647"/>
                </a:solidFill>
                <a:latin typeface="Calibri Light"/>
              </a:rPr>
              <a:t>Active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743200"/>
            <a:ext cx="6812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Fast checks, answer reveals and class discussion prompts.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069080"/>
            <a:ext cx="1602486" cy="65836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7198" y="4069080"/>
            <a:ext cx="1602486" cy="65836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2062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Visual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4276" y="4069080"/>
            <a:ext cx="1602486" cy="65836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9140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Practice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1353" y="4069080"/>
            <a:ext cx="1602486" cy="65836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6217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80894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47971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15050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Guess the word 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914400" cy="25603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1620"/>
            <a:ext cx="91440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Calibri"/>
              </a:rPr>
              <a:t>TRY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758952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23647"/>
                </a:solidFill>
                <a:latin typeface="Calibri Light"/>
              </a:rPr>
              <a:t>A Sensor waits for a ______.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5623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Guess the word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condition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Examples: file exists, SQL row count is ready, API is reachable.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Guess the word 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914400" cy="25603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1620"/>
            <a:ext cx="91440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Calibri"/>
              </a:rPr>
              <a:t>TRY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758952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23647"/>
                </a:solidFill>
                <a:latin typeface="Calibri Light"/>
              </a:rPr>
              <a:t>A retry helps recover from temporary ______.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5623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Guess the word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Retries help transient issues, such as a short network timeout. They do not fix bad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Fill in the blank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914400" cy="25603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1620"/>
            <a:ext cx="91440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Calibri"/>
              </a:rPr>
              <a:t>TRY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758952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23647"/>
                </a:solidFill>
                <a:latin typeface="Calibri Light"/>
              </a:rPr>
              <a:t>DAG stands for Directed ______ Graph.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5623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Fill in the blank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Acyclic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Acyclic means no cycles. Every workflow needs a valid direction.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MCQ: XCom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914400" cy="25603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1620"/>
            <a:ext cx="91440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Calibri"/>
              </a:rPr>
              <a:t>TRY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758952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23647"/>
                </a:solidFill>
                <a:latin typeface="Calibri Light"/>
              </a:rPr>
              <a:t>What should XCom be used for?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06324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7296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47472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Passing small values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06324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3063240"/>
            <a:ext cx="73152" cy="566928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317296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7472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Moving terabytes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84048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3840480"/>
            <a:ext cx="73152" cy="5669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395020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5196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Replacing databases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384048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9160" y="3840480"/>
            <a:ext cx="73152" cy="566928"/>
          </a:xfrm>
          <a:prstGeom prst="rect">
            <a:avLst/>
          </a:prstGeom>
          <a:solidFill>
            <a:srgbClr val="62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395020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425196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Running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5623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MCQ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A) Passing small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XCom records live in Airflow metadata storage, so use it for metadata, not bulk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MCQ: catchup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914400" cy="25603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1620"/>
            <a:ext cx="91440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Calibri"/>
              </a:rPr>
              <a:t>TRY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758952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23647"/>
                </a:solidFill>
                <a:latin typeface="Calibri Light"/>
              </a:rPr>
              <a:t>What can catchup=True do when start_date is months ago?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06324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7296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47472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Stop all schedules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06324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3063240"/>
            <a:ext cx="73152" cy="566928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317296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7472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Create missed historical runs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84048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3840480"/>
            <a:ext cx="73152" cy="5669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395020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5196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Delete logs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384048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9160" y="3840480"/>
            <a:ext cx="73152" cy="566928"/>
          </a:xfrm>
          <a:prstGeom prst="rect">
            <a:avLst/>
          </a:prstGeom>
          <a:solidFill>
            <a:srgbClr val="62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395020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425196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Disable retries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5623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MCQ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72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B) Create missed historical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This is useful for planned backfills and risky when enabled accidentally.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MCQ: Kafka and Airflow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914400" cy="256032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31620"/>
            <a:ext cx="914400" cy="1097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Calibri"/>
              </a:rPr>
              <a:t>TRY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758952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23647"/>
                </a:solidFill>
                <a:latin typeface="Calibri Light"/>
              </a:rPr>
              <a:t>Which sentence is best?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06324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7296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47472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Airflow replaces Kafka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306324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3063240"/>
            <a:ext cx="73152" cy="566928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317296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7472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Kafka streams; Airflow orchestrates around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84048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3840480"/>
            <a:ext cx="73152" cy="5669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395020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5196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Kafka schedules DAGs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3840480"/>
            <a:ext cx="3246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9160" y="3840480"/>
            <a:ext cx="73152" cy="566928"/>
          </a:xfrm>
          <a:prstGeom prst="rect">
            <a:avLst/>
          </a:prstGeom>
          <a:solidFill>
            <a:srgbClr val="62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3950208"/>
            <a:ext cx="299008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23647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4251960"/>
            <a:ext cx="2953512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3647"/>
                </a:solidFill>
                <a:latin typeface="Calibri"/>
              </a:rPr>
              <a:t>Airflow stores Kafka partitions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5623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MCQ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B) Kafka streams; Airflow orchestrates around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Keep streaming and orchestration responsibilities separate.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Match the following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61288"/>
            <a:ext cx="8046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Ask students to match Column A to Column B before revealing the answer.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7280" y="1600200"/>
          <a:ext cx="69494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715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Column A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Column B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Scheduler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A. Passes small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Webserver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B. Visual ETL / data integration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XCom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C. Decides when work should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Kafka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D. UI for monitoring and logs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E. Event streaming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17520" y="5596128"/>
            <a:ext cx="31089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Match the following -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7280" y="1600200"/>
          <a:ext cx="69494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7150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 match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Scheduler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C. Decides when work should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Webserver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D. UI for monitoring and logs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XCom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A. Passes small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Kafka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E. Event streaming platform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B. Visual ETL / data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Scenario: external API timeout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600200"/>
            <a:ext cx="7315200" cy="9144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00200"/>
            <a:ext cx="73152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709928"/>
            <a:ext cx="705916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011680"/>
            <a:ext cx="7022592" cy="4114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A task calls an external API. Sometimes the API times out for one minute and then works again.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6949440" cy="12801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23647"/>
                </a:solidFill>
                <a:latin typeface="Calibri"/>
              </a:defRPr>
            </a:pPr>
            <a:r>
              <a:t>1. Which Airflow feature helps?</a:t>
            </a:r>
          </a:p>
          <a:p>
            <a:pPr>
              <a:spcAft>
                <a:spcPts val="400"/>
              </a:spcAft>
              <a:defRPr sz="1300">
                <a:solidFill>
                  <a:srgbClr val="123647"/>
                </a:solidFill>
                <a:latin typeface="Calibri"/>
              </a:defRPr>
            </a:pPr>
            <a:r>
              <a:t>2. Should retry delay be zero seconds?</a:t>
            </a:r>
          </a:p>
          <a:p>
            <a:pPr>
              <a:spcAft>
                <a:spcPts val="400"/>
              </a:spcAft>
              <a:defRPr sz="1300">
                <a:solidFill>
                  <a:srgbClr val="123647"/>
                </a:solidFill>
                <a:latin typeface="Calibri"/>
              </a:defRPr>
            </a:pPr>
            <a:r>
              <a:t>3. Is this temporary or permanent failure?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596128"/>
            <a:ext cx="31089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Calibri"/>
              </a:rPr>
              <a:t>Answer on next slide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Scenario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498079" cy="1097280"/>
          </a:xfrm>
          <a:prstGeom prst="rect">
            <a:avLst/>
          </a:prstGeom>
          <a:solidFill>
            <a:srgbClr val="EAF6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10512"/>
            <a:ext cx="128016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  <a:latin typeface="Calibri"/>
              </a:rP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37360"/>
            <a:ext cx="5623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Retries, with delay/backoff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154680"/>
            <a:ext cx="7132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15468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264408"/>
            <a:ext cx="687628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566160"/>
            <a:ext cx="6839712" cy="77723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This is a transient failure. Use retries with a reasonable retry_delay or exponential backoff.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Say the answer in one sentence before moving on.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Debugging game: task is 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79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691640"/>
            <a:ext cx="6949440" cy="2057400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691640"/>
            <a:ext cx="73152" cy="2057400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801368"/>
            <a:ext cx="669340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Ask in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103120"/>
            <a:ext cx="6656831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23647"/>
                </a:solidFill>
                <a:latin typeface="Calibri"/>
              </a:rPr>
              <a:t>1. Which task failed?
2. What does the log say?
3. Did upstream tasks succeed?
4. Is it data, code, connection or environment?
5. Is rerun safe?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4343400"/>
            <a:ext cx="5212080" cy="777240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4343400"/>
            <a:ext cx="73152" cy="777240"/>
          </a:xfrm>
          <a:prstGeom prst="rect">
            <a:avLst/>
          </a:prstGeom>
          <a:solidFill>
            <a:srgbClr val="D8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552" y="4453128"/>
            <a:ext cx="495604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Trainer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552" y="4754880"/>
            <a:ext cx="4919472" cy="274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3647"/>
                </a:solidFill>
                <a:latin typeface="Calibri"/>
              </a:rPr>
              <a:t>Make students open the log before guessing.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Mini lab challenge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80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417320"/>
            <a:ext cx="7498079" cy="566928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73152" cy="5669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527048"/>
            <a:ext cx="724204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23647"/>
                </a:solidFill>
                <a:latin typeface="Calibri"/>
              </a:rPr>
              <a:t>Easy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828800"/>
            <a:ext cx="7205471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Add a BashOperator that counts files in /opt/airflow/dags.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240280"/>
            <a:ext cx="7498079" cy="56692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240280"/>
            <a:ext cx="73152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350008"/>
            <a:ext cx="724204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23647"/>
                </a:solidFill>
                <a:latin typeface="Calibri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651760"/>
            <a:ext cx="7205471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Add a TaskFlow KPI task to Lab 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063240"/>
            <a:ext cx="7498079" cy="56692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063240"/>
            <a:ext cx="73152" cy="566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172968"/>
            <a:ext cx="724204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23647"/>
                </a:solidFill>
                <a:latin typeface="Calibri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474720"/>
            <a:ext cx="7205471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Add a product performance Gold task to Lab 3.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886200"/>
            <a:ext cx="7498079" cy="56692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886200"/>
            <a:ext cx="73152" cy="5669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995928"/>
            <a:ext cx="724204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23647"/>
                </a:solidFill>
                <a:latin typeface="Calibri"/>
              </a:rPr>
              <a:t>Hard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297680"/>
            <a:ext cx="7205471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Add a priority field to Kafka producer and filter high-priority events.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709160"/>
            <a:ext cx="7498079" cy="56692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709160"/>
            <a:ext cx="73152" cy="56692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818888"/>
            <a:ext cx="7242047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123647"/>
                </a:solidFill>
                <a:latin typeface="Calibri"/>
              </a:rPr>
              <a:t>Hard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120640"/>
            <a:ext cx="7205471" cy="6400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Add a sixth export phase to Lab 9.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7955279" cy="56692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94360"/>
            <a:ext cx="146304" cy="5669280"/>
          </a:xfrm>
          <a:prstGeom prst="rect">
            <a:avLst/>
          </a:prstGeom>
          <a:solidFill>
            <a:srgbClr val="D8A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8A31A"/>
                </a:solidFill>
                <a:latin typeface="Calibri"/>
              </a:rPr>
              <a:t>MODULE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6949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23647"/>
                </a:solidFill>
                <a:latin typeface="Calibri Light"/>
              </a:rPr>
              <a:t>Recap and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743200"/>
            <a:ext cx="6812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Make the mental model durable before students leave.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069080"/>
            <a:ext cx="1602486" cy="65836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Concept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7198" y="4069080"/>
            <a:ext cx="1602486" cy="65836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2062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Visual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4276" y="4069080"/>
            <a:ext cx="1602486" cy="65836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9140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Practice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1353" y="4069080"/>
            <a:ext cx="1602486" cy="658368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6217" y="4178808"/>
            <a:ext cx="1492757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23647"/>
                </a:solidFill>
                <a:latin typeface="Calibri"/>
              </a:rPr>
              <a:t>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80894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47971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15050" y="4398264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One-page mental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82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514600"/>
            <a:ext cx="2011680" cy="777240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2" y="2770632"/>
            <a:ext cx="132588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AIRFLOW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2194560" cy="749808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508760"/>
            <a:ext cx="73152" cy="7498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618488"/>
            <a:ext cx="19385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Defines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920240"/>
            <a:ext cx="1901952" cy="2468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DAGs as Python code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1883664"/>
            <a:ext cx="2743200" cy="1014984"/>
          </a:xfrm>
          <a:prstGeom prst="line">
            <a:avLst/>
          </a:prstGeom>
          <a:ln w="15240">
            <a:solidFill>
              <a:srgbClr val="007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17920" y="1508760"/>
            <a:ext cx="2194560" cy="749808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73152" cy="749808"/>
          </a:xfrm>
          <a:prstGeom prst="rect">
            <a:avLst/>
          </a:prstGeom>
          <a:solidFill>
            <a:srgbClr val="00A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618488"/>
            <a:ext cx="19385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Schedules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920240"/>
            <a:ext cx="1901952" cy="2468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time, manual and data-aware runs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572000" y="1883664"/>
            <a:ext cx="2743200" cy="1014984"/>
          </a:xfrm>
          <a:prstGeom prst="line">
            <a:avLst/>
          </a:prstGeom>
          <a:ln w="15240">
            <a:solidFill>
              <a:srgbClr val="00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1520" y="4160520"/>
            <a:ext cx="2194560" cy="749808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160520"/>
            <a:ext cx="73152" cy="74980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70248"/>
            <a:ext cx="19385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572000"/>
            <a:ext cx="1901952" cy="2468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tasks through executors/workers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828800" y="2898648"/>
            <a:ext cx="2743200" cy="1636776"/>
          </a:xfrm>
          <a:prstGeom prst="line">
            <a:avLst/>
          </a:prstGeom>
          <a:ln w="1524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217920" y="4160520"/>
            <a:ext cx="2194560" cy="749808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160520"/>
            <a:ext cx="73152" cy="7498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4270248"/>
            <a:ext cx="19385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Observes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572000"/>
            <a:ext cx="1901952" cy="2468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logs, states, XCom and metadata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4572000" y="2898648"/>
            <a:ext cx="2743200" cy="1636776"/>
          </a:xfrm>
          <a:prstGeom prst="line">
            <a:avLst/>
          </a:prstGeom>
          <a:ln w="1524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71800" y="5074920"/>
            <a:ext cx="2194560" cy="749808"/>
          </a:xfrm>
          <a:prstGeom prst="rect">
            <a:avLst/>
          </a:prstGeom>
          <a:solidFill>
            <a:srgbClr val="FCE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71800" y="5074920"/>
            <a:ext cx="73152" cy="749808"/>
          </a:xfrm>
          <a:prstGeom prst="rect">
            <a:avLst/>
          </a:prstGeom>
          <a:solidFill>
            <a:srgbClr val="D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36392" y="5184648"/>
            <a:ext cx="19385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23647"/>
                </a:solidFill>
                <a:latin typeface="Calibri"/>
              </a:rPr>
              <a:t>Integrates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36392" y="5486400"/>
            <a:ext cx="1901952" cy="2468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123647"/>
                </a:solidFill>
                <a:latin typeface="Calibri"/>
              </a:rPr>
              <a:t>Kafka, Hop, SQL and external systems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4069080" y="2898648"/>
            <a:ext cx="502920" cy="2551176"/>
          </a:xfrm>
          <a:prstGeom prst="line">
            <a:avLst/>
          </a:prstGeom>
          <a:ln w="15240">
            <a:solidFill>
              <a:srgbClr val="D9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94360" y="6016752"/>
            <a:ext cx="7955279" cy="384048"/>
          </a:xfrm>
          <a:prstGeom prst="rect">
            <a:avLst/>
          </a:prstGeom>
          <a:solidFill>
            <a:srgbClr val="FFF7D8"/>
          </a:solidFill>
          <a:ln w="12700">
            <a:solidFill>
              <a:srgbClr val="E7C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6117336"/>
            <a:ext cx="763524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" b="1" i="0">
                <a:solidFill>
                  <a:srgbClr val="123647"/>
                </a:solidFill>
                <a:latin typeface="Calibri"/>
              </a:rPr>
              <a:t>Takeaway: Airflow makes workflow state visible.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Exit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7680960" cy="44805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123647"/>
                </a:solidFill>
                <a:latin typeface="Calibri"/>
              </a:defRPr>
            </a:pPr>
            <a:r>
              <a:t>1. What problem does Airflow solve?</a:t>
            </a:r>
          </a:p>
          <a:p>
            <a:pPr>
              <a:spcAft>
                <a:spcPts val="400"/>
              </a:spcAft>
              <a:defRPr sz="1180">
                <a:solidFill>
                  <a:srgbClr val="123647"/>
                </a:solidFill>
                <a:latin typeface="Calibri"/>
              </a:defRPr>
            </a:pPr>
            <a:r>
              <a:t>2. What is a DAG, and why can it not have a cycle?</a:t>
            </a:r>
          </a:p>
          <a:p>
            <a:pPr>
              <a:spcAft>
                <a:spcPts val="400"/>
              </a:spcAft>
              <a:defRPr sz="1180">
                <a:solidFill>
                  <a:srgbClr val="123647"/>
                </a:solidFill>
                <a:latin typeface="Calibri"/>
              </a:defRPr>
            </a:pPr>
            <a:r>
              <a:t>3. What is the difference between an operator, task and task instance?</a:t>
            </a:r>
          </a:p>
          <a:p>
            <a:pPr>
              <a:spcAft>
                <a:spcPts val="400"/>
              </a:spcAft>
              <a:defRPr sz="1180">
                <a:solidFill>
                  <a:srgbClr val="123647"/>
                </a:solidFill>
                <a:latin typeface="Calibri"/>
              </a:defRPr>
            </a:pPr>
            <a:r>
              <a:t>4. What does the scheduler do?</a:t>
            </a:r>
          </a:p>
          <a:p>
            <a:pPr>
              <a:spcAft>
                <a:spcPts val="400"/>
              </a:spcAft>
              <a:defRPr sz="1180">
                <a:solidFill>
                  <a:srgbClr val="123647"/>
                </a:solidFill>
                <a:latin typeface="Calibri"/>
              </a:defRPr>
            </a:pPr>
            <a:r>
              <a:t>5. Why is XCom not for large data?</a:t>
            </a:r>
          </a:p>
          <a:p>
            <a:pPr>
              <a:spcAft>
                <a:spcPts val="400"/>
              </a:spcAft>
              <a:defRPr sz="1180">
                <a:solidFill>
                  <a:srgbClr val="123647"/>
                </a:solidFill>
                <a:latin typeface="Calibri"/>
              </a:defRPr>
            </a:pPr>
            <a:r>
              <a:t>6. What does catchup do?</a:t>
            </a:r>
          </a:p>
          <a:p>
            <a:pPr>
              <a:spcAft>
                <a:spcPts val="400"/>
              </a:spcAft>
              <a:defRPr sz="1180">
                <a:solidFill>
                  <a:srgbClr val="123647"/>
                </a:solidFill>
                <a:latin typeface="Calibri"/>
              </a:defRPr>
            </a:pPr>
            <a:r>
              <a:t>7. Why does Airflow not replace Kafka?</a:t>
            </a:r>
          </a:p>
          <a:p>
            <a:pPr>
              <a:spcAft>
                <a:spcPts val="400"/>
              </a:spcAft>
              <a:defRPr sz="1180">
                <a:solidFill>
                  <a:srgbClr val="123647"/>
                </a:solidFill>
                <a:latin typeface="Calibri"/>
              </a:defRPr>
            </a:pPr>
            <a:r>
              <a:t>8. How can Airflow trigger Apache Hop?</a:t>
            </a:r>
          </a:p>
          <a:p>
            <a:pPr>
              <a:spcAft>
                <a:spcPts val="400"/>
              </a:spcAft>
              <a:defRPr sz="1180">
                <a:solidFill>
                  <a:srgbClr val="123647"/>
                </a:solidFill>
                <a:latin typeface="Calibri"/>
              </a:defRPr>
            </a:pPr>
            <a:r>
              <a:t>9. Where do you check task failure logs?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Homework /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7772400" cy="42062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23647"/>
                </a:solidFill>
                <a:latin typeface="Calibri"/>
              </a:defRPr>
            </a:pPr>
            <a:r>
              <a:t>1. Create a DAG with four tasks: extract, validate, transform, load.</a:t>
            </a:r>
          </a:p>
          <a:p>
            <a:pPr>
              <a:spcAft>
                <a:spcPts val="400"/>
              </a:spcAft>
              <a:defRPr sz="1200">
                <a:solidFill>
                  <a:srgbClr val="123647"/>
                </a:solidFill>
                <a:latin typeface="Calibri"/>
              </a:defRPr>
            </a:pPr>
            <a:r>
              <a:t>2. Add one intentional failure with two retries and a retry delay.</a:t>
            </a:r>
          </a:p>
          <a:p>
            <a:pPr>
              <a:spcAft>
                <a:spcPts val="400"/>
              </a:spcAft>
              <a:defRPr sz="1200">
                <a:solidFill>
                  <a:srgbClr val="123647"/>
                </a:solidFill>
                <a:latin typeface="Calibri"/>
              </a:defRPr>
            </a:pPr>
            <a:r>
              <a:t>3. Add one notification placeholder task that echoes an alert.</a:t>
            </a:r>
          </a:p>
          <a:p>
            <a:pPr>
              <a:spcAft>
                <a:spcPts val="400"/>
              </a:spcAft>
              <a:defRPr sz="1200">
                <a:solidFill>
                  <a:srgbClr val="123647"/>
                </a:solidFill>
                <a:latin typeface="Calibri"/>
              </a:defRPr>
            </a:pPr>
            <a:r>
              <a:t>4. Draw Airflow + Kafka + Hop in your own words.</a:t>
            </a:r>
          </a:p>
          <a:p>
            <a:pPr>
              <a:spcAft>
                <a:spcPts val="400"/>
              </a:spcAft>
              <a:defRPr sz="1200">
                <a:solidFill>
                  <a:srgbClr val="123647"/>
                </a:solidFill>
                <a:latin typeface="Calibri"/>
              </a:defRPr>
            </a:pPr>
            <a:r>
              <a:t>5. Write five cron expressions: daily, hourly, Monday 9 AM, every 15 min, first of month.</a:t>
            </a:r>
          </a:p>
          <a:p>
            <a:pPr>
              <a:spcAft>
                <a:spcPts val="400"/>
              </a:spcAft>
              <a:defRPr sz="1200">
                <a:solidFill>
                  <a:srgbClr val="123647"/>
                </a:solidFill>
                <a:latin typeface="Calibri"/>
              </a:defRPr>
            </a:pPr>
            <a:r>
              <a:t>6. Explain in five lines why Airflow is not a streaming engine.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B3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73152"/>
            <a:ext cx="23774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Day 8 - Apache Airflow | 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3152"/>
            <a:ext cx="265176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8138160" cy="4389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23647"/>
                </a:solidFill>
                <a:latin typeface="Calibri Light"/>
              </a:rPr>
              <a:t>Official references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85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280160"/>
          <a:ext cx="795527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/>
                <a:gridCol w="3977640"/>
              </a:tblGrid>
              <a:tr h="528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0B3D5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airflow.apache.org/docs/apache-airflow/stable/core-concepts/overview.html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 DAGs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airflow.apache.org/docs/apache-airflow/stable/core-concepts/dags.html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 scheduler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airflow.apache.org/docs/apache-airflow/stable/administration-and-deployment/scheduler.html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TaskFlow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airflow.apache.org/docs/apache-airflow/stable/tutorial/taskflow.html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 Docker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airflow.apache.org/docs/apache-airflow/stable/howto/docker-compose/index.html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Kafka docs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kafka.apache.org/documentation/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Apache Hop hop-run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hop.apache.org/manual/latest/hop-run/index.html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Apache Hop concepts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23647"/>
                          </a:solidFill>
                          <a:latin typeface="Calibri"/>
                        </a:defRPr>
                      </a:pPr>
                      <a:r>
                        <a:t>hop.apache.org/manual/latest/concepts.html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822960"/>
            <a:ext cx="7772400" cy="5212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508760"/>
            <a:ext cx="71323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123647"/>
                </a:solidFill>
                <a:latin typeface="Calibri Light"/>
              </a:rPr>
              <a:t>Day 8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423160"/>
            <a:ext cx="6492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0">
                <a:solidFill>
                  <a:srgbClr val="64748B"/>
                </a:solidFill>
                <a:latin typeface="Calibri"/>
              </a:rPr>
              <a:t>You now have the Airflow control-room mental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429000"/>
            <a:ext cx="1239926" cy="685800"/>
          </a:xfrm>
          <a:prstGeom prst="rect">
            <a:avLst/>
          </a:prstGeom>
          <a:solidFill>
            <a:srgbClr val="E8F4F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7864" y="3538728"/>
            <a:ext cx="113019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Define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7518" y="3429000"/>
            <a:ext cx="1239926" cy="685800"/>
          </a:xfrm>
          <a:prstGeom prst="rect">
            <a:avLst/>
          </a:prstGeom>
          <a:solidFill>
            <a:srgbClr val="E6F7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2382" y="3538728"/>
            <a:ext cx="113019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Schedule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952036" y="3429000"/>
            <a:ext cx="1239926" cy="685800"/>
          </a:xfrm>
          <a:prstGeom prst="rect">
            <a:avLst/>
          </a:prstGeom>
          <a:solidFill>
            <a:srgbClr val="FFF1E2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6900" y="3538728"/>
            <a:ext cx="113019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Monitor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56555" y="3429000"/>
            <a:ext cx="1239926" cy="685800"/>
          </a:xfrm>
          <a:prstGeom prst="rect">
            <a:avLst/>
          </a:prstGeom>
          <a:solidFill>
            <a:srgbClr val="EAF6E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11419" y="3538728"/>
            <a:ext cx="113019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Recover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1073" y="3429000"/>
            <a:ext cx="1239926" cy="685800"/>
          </a:xfrm>
          <a:prstGeom prst="rect">
            <a:avLst/>
          </a:prstGeom>
          <a:solidFill>
            <a:srgbClr val="FFF7D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5937" y="3538728"/>
            <a:ext cx="1130198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123647"/>
                </a:solidFill>
                <a:latin typeface="Calibri"/>
              </a:rPr>
              <a:t>Integrate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01214" y="377190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05732" y="377190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10251" y="377190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614769" y="3771900"/>
            <a:ext cx="118872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80160" y="4800600"/>
            <a:ext cx="65836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123647"/>
                </a:solidFill>
                <a:latin typeface="Calibri"/>
              </a:rPr>
              <a:t>Next: wire these workflows into richer production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0528"/>
            <a:ext cx="83210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6547104"/>
            <a:ext cx="320040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