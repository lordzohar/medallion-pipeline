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68580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1F9192"/>
                </a:solidFill>
                <a:latin typeface="Aptos"/>
              </a:defRPr>
            </a:pPr>
            <a:r>
              <a:t>DAY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768096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4200" b="1">
                <a:solidFill>
                  <a:srgbClr val="0D3F5E"/>
                </a:solidFill>
                <a:latin typeface="Aptos Display"/>
              </a:defRPr>
            </a:pPr>
            <a:r>
              <a:t>Data Transformation with Apache 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057400"/>
            <a:ext cx="6126480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800" b="0">
                <a:solidFill>
                  <a:srgbClr val="1A222A"/>
                </a:solidFill>
                <a:latin typeface="Aptos"/>
              </a:defRPr>
            </a:pPr>
            <a:r>
              <a:t>Architecture, first pipeline, CSV batch, PostgreSQL, Kafka streaming and workflow orchestration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61772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654296"/>
            <a:ext cx="1417320" cy="4480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Raw 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61772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4654296"/>
            <a:ext cx="1417320" cy="4480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Hop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461772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4654296"/>
            <a:ext cx="1417320" cy="4480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461772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4654296"/>
            <a:ext cx="1417320" cy="4480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Kafka topics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461772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4654296"/>
            <a:ext cx="1417320" cy="4480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Workflow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0" y="4864608"/>
            <a:ext cx="41148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251960" y="4864608"/>
            <a:ext cx="41148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800" y="4864608"/>
            <a:ext cx="41148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66760" y="4864608"/>
            <a:ext cx="41148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6199632"/>
            <a:ext cx="8686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900" b="0">
                <a:solidFill>
                  <a:srgbClr val="5C6C79"/>
                </a:solidFill>
                <a:latin typeface="Aptos"/>
              </a:defRPr>
            </a:pPr>
            <a:r>
              <a:t>Sources: Apache Hop docs and Samuel Second Medium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What students will be able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486400" cy="42976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buChar char="-"/>
              <a:spcAft>
                <a:spcPts val="700"/>
              </a:spcAft>
              <a:defRPr sz="1600">
                <a:solidFill>
                  <a:srgbClr val="1A222A"/>
                </a:solidFill>
                <a:latin typeface="Aptos"/>
              </a:defRPr>
            </a:pPr>
            <a:r>
              <a:t>Explain Apache Hop architecture: engine, project, metadata, pipeline, workflow, run configuration and environment.</a:t>
            </a:r>
          </a:p>
          <a:p>
            <a:pPr>
              <a:buChar char="-"/>
              <a:spcAft>
                <a:spcPts val="700"/>
              </a:spcAft>
              <a:defRPr sz="1600">
                <a:solidFill>
                  <a:srgbClr val="1A222A"/>
                </a:solidFill>
                <a:latin typeface="Aptos"/>
              </a:defRPr>
            </a:pPr>
            <a:r>
              <a:t>Choose the right official Docker image for the lab objective.</a:t>
            </a:r>
          </a:p>
          <a:p>
            <a:pPr>
              <a:buChar char="-"/>
              <a:spcAft>
                <a:spcPts val="700"/>
              </a:spcAft>
              <a:defRPr sz="1600">
                <a:solidFill>
                  <a:srgbClr val="1A222A"/>
                </a:solidFill>
                <a:latin typeface="Aptos"/>
              </a:defRPr>
            </a:pPr>
            <a:r>
              <a:t>Build a first CSV-to-CSV pipeline using Hop Web.</a:t>
            </a:r>
          </a:p>
          <a:p>
            <a:pPr>
              <a:buChar char="-"/>
              <a:spcAft>
                <a:spcPts val="700"/>
              </a:spcAft>
              <a:defRPr sz="1600">
                <a:solidFill>
                  <a:srgbClr val="1A222A"/>
                </a:solidFill>
                <a:latin typeface="Aptos"/>
              </a:defRPr>
            </a:pPr>
            <a:r>
              <a:t>Create batch transformations with filtering, standardization, lookup, math and deduplication.</a:t>
            </a:r>
          </a:p>
          <a:p>
            <a:pPr>
              <a:buChar char="-"/>
              <a:spcAft>
                <a:spcPts val="700"/>
              </a:spcAft>
              <a:defRPr sz="1600">
                <a:solidFill>
                  <a:srgbClr val="1A222A"/>
                </a:solidFill>
                <a:latin typeface="Aptos"/>
              </a:defRPr>
            </a:pPr>
            <a:r>
              <a:t>Write to and read from PostgreSQL, then process Kafka streams in Hop.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78308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1" y="1929384"/>
            <a:ext cx="4059935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Lab 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5431" y="2258568"/>
            <a:ext cx="4059935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00 first pipeline -&gt; 01 clean customers -&gt; 02 enrich orders -&gt; 03 write DB -&gt; 04 read DB -&gt; 05 Kafka stream -&gt;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306324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5431" y="3209544"/>
            <a:ext cx="4059935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5431" y="3538728"/>
            <a:ext cx="4059935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Saved HPL/HWF files, CSV outputs, PostgreSQL rows, Kafka topic messages, workflow run 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434340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5431" y="4489704"/>
            <a:ext cx="4059935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What is excluded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1" y="4818888"/>
            <a:ext cx="4059935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Dataflow/Beam deployment images, Schema Registry, ZooKeeper and pgAdmin for this beginner Day 6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DOCKER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Use only the official Hop images that match the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1965960" cy="420624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45336"/>
            <a:ext cx="1965960" cy="3657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Image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70048" y="1508760"/>
            <a:ext cx="3611880" cy="420624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0048" y="1545336"/>
            <a:ext cx="3611880" cy="3657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1508760"/>
            <a:ext cx="3886200" cy="420624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545336"/>
            <a:ext cx="3886200" cy="3657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Day 6 decision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075688"/>
            <a:ext cx="19659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2176272"/>
            <a:ext cx="18288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1A222A"/>
                </a:solidFill>
                <a:latin typeface="Aptos"/>
              </a:defRPr>
            </a:pPr>
            <a:r>
              <a:t>apache/hop-web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075688"/>
            <a:ext cx="36118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176272"/>
            <a:ext cx="34747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1A222A"/>
                </a:solidFill>
                <a:latin typeface="Aptos"/>
              </a:defRPr>
            </a:pPr>
            <a:r>
              <a:t>Browser Hop GUI on Tomcat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2075688"/>
            <a:ext cx="3886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76272"/>
            <a:ext cx="374903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1A222A"/>
                </a:solidFill>
                <a:latin typeface="Aptos"/>
              </a:defRPr>
            </a:pPr>
            <a:r>
              <a:t>Required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734056"/>
            <a:ext cx="1965960" cy="530352"/>
          </a:xfrm>
          <a:prstGeom prst="rect">
            <a:avLst/>
          </a:prstGeom>
          <a:solidFill>
            <a:srgbClr val="EEF4F7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" y="2834640"/>
            <a:ext cx="18288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1A222A"/>
                </a:solidFill>
                <a:latin typeface="Aptos"/>
              </a:defRPr>
            </a:pPr>
            <a:r>
              <a:t>apache/hop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734056"/>
            <a:ext cx="3611880" cy="530352"/>
          </a:xfrm>
          <a:prstGeom prst="rect">
            <a:avLst/>
          </a:prstGeom>
          <a:solidFill>
            <a:srgbClr val="EEF4F7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2834640"/>
            <a:ext cx="34747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1A222A"/>
                </a:solidFill>
                <a:latin typeface="Aptos"/>
              </a:defRPr>
            </a:pPr>
            <a:r>
              <a:t>CLI/client/server image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2734056"/>
            <a:ext cx="3886200" cy="530352"/>
          </a:xfrm>
          <a:prstGeom prst="rect">
            <a:avLst/>
          </a:prstGeom>
          <a:solidFill>
            <a:srgbClr val="EEF4F7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834640"/>
            <a:ext cx="374903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1A222A"/>
                </a:solidFill>
                <a:latin typeface="Aptos"/>
              </a:defRPr>
            </a:pPr>
            <a:r>
              <a:t>Optional hop-cli profile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392424"/>
            <a:ext cx="19659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19" y="3493008"/>
            <a:ext cx="18288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1A222A"/>
                </a:solidFill>
                <a:latin typeface="Aptos"/>
              </a:defRPr>
            </a:pPr>
            <a:r>
              <a:t>apache/hop-web-beam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92424"/>
            <a:ext cx="36118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3493008"/>
            <a:ext cx="34747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1A222A"/>
                </a:solidFill>
                <a:latin typeface="Aptos"/>
              </a:defRPr>
            </a:pPr>
            <a:r>
              <a:t>Hop Web plus Beam fat jar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7648" y="3392424"/>
            <a:ext cx="3886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493008"/>
            <a:ext cx="374903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1A222A"/>
                </a:solidFill>
                <a:latin typeface="Aptos"/>
              </a:defRPr>
            </a:pPr>
            <a:r>
              <a:t>Skip unless teaching Dataflow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050791"/>
            <a:ext cx="1965960" cy="530352"/>
          </a:xfrm>
          <a:prstGeom prst="rect">
            <a:avLst/>
          </a:prstGeom>
          <a:solidFill>
            <a:srgbClr val="EEF4F7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19" y="4151376"/>
            <a:ext cx="18288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1A222A"/>
                </a:solidFill>
                <a:latin typeface="Aptos"/>
              </a:defRPr>
            </a:pPr>
            <a:r>
              <a:t>apache/hop-dataflow-template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4050791"/>
            <a:ext cx="3611880" cy="530352"/>
          </a:xfrm>
          <a:prstGeom prst="rect">
            <a:avLst/>
          </a:prstGeom>
          <a:solidFill>
            <a:srgbClr val="EEF4F7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4151376"/>
            <a:ext cx="34747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1A222A"/>
                </a:solidFill>
                <a:latin typeface="Aptos"/>
              </a:defRPr>
            </a:pPr>
            <a:r>
              <a:t>Dataflow Flex Template image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27648" y="4050791"/>
            <a:ext cx="3886200" cy="530352"/>
          </a:xfrm>
          <a:prstGeom prst="rect">
            <a:avLst/>
          </a:prstGeom>
          <a:solidFill>
            <a:srgbClr val="EEF4F7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151376"/>
            <a:ext cx="374903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1A222A"/>
                </a:solidFill>
                <a:latin typeface="Aptos"/>
              </a:defRPr>
            </a:pPr>
            <a:r>
              <a:t>Skip for this lab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138928"/>
            <a:ext cx="10332720" cy="5486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500" b="0">
                <a:solidFill>
                  <a:srgbClr val="1A222A"/>
                </a:solidFill>
                <a:latin typeface="Aptos"/>
              </a:defRPr>
            </a:pPr>
            <a:r>
              <a:t>For this lab, Hop Web is the required visual interface. The plain hop image is useful as an optional CLI runner, but adding it as a required service would make the classroom stack heavier without improving the visual build.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9"/>
                </a:solidFill>
              </a:defRPr>
            </a:pPr>
            <a:r>
              <a:t>Source: Apache Hop Docker and Hop Web documentation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LAB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The Compose stack stays small and purposeful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1691640" cy="74980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65376"/>
            <a:ext cx="1691640" cy="69494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Hop Web</a:t>
            </a:r>
            <a:br/>
            <a:r>
              <a:t>8082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143000"/>
            <a:ext cx="1691640" cy="749808"/>
          </a:xfrm>
          <a:prstGeom prst="roundRect">
            <a:avLst>
              <a:gd name="adj" fmla="val 8000"/>
            </a:avLst>
          </a:prstGeom>
          <a:solidFill>
            <a:srgbClr val="266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179576"/>
            <a:ext cx="1691640" cy="69494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Kafka UI</a:t>
            </a:r>
            <a:br/>
            <a:r>
              <a:t>8080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880360"/>
            <a:ext cx="1691640" cy="749808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916936"/>
            <a:ext cx="1691640" cy="69494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Kafka</a:t>
            </a:r>
            <a:br/>
            <a:r>
              <a:t>9092 / 29092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828800"/>
            <a:ext cx="1691640" cy="749808"/>
          </a:xfrm>
          <a:prstGeom prst="roundRect">
            <a:avLst>
              <a:gd name="adj" fmla="val 8000"/>
            </a:avLst>
          </a:prstGeom>
          <a:solidFill>
            <a:srgbClr val="52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65376"/>
            <a:ext cx="1691640" cy="69494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PostgreSQL</a:t>
            </a:r>
            <a:br/>
            <a:r>
              <a:t>5432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828800"/>
            <a:ext cx="1691640" cy="749808"/>
          </a:xfrm>
          <a:prstGeom prst="roundRect">
            <a:avLst>
              <a:gd name="adj" fmla="val 8000"/>
            </a:avLst>
          </a:prstGeom>
          <a:solidFill>
            <a:srgbClr val="C49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865376"/>
            <a:ext cx="1691640" cy="69494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Optional hop-cli</a:t>
            </a:r>
            <a:br/>
            <a:r>
              <a:t>profile: cli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97480" y="2176272"/>
            <a:ext cx="1005840" cy="950976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440680" y="2194560"/>
            <a:ext cx="1005840" cy="932688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7720" y="1810512"/>
            <a:ext cx="0" cy="1024128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183879" y="2176272"/>
            <a:ext cx="685801" cy="0"/>
          </a:xfrm>
          <a:prstGeom prst="line">
            <a:avLst/>
          </a:prstGeom>
          <a:ln w="31750">
            <a:solidFill>
              <a:srgbClr val="C494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4800600"/>
            <a:ext cx="100584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600" b="0">
                <a:solidFill>
                  <a:srgbClr val="1A222A"/>
                </a:solidFill>
                <a:latin typeface="Aptos"/>
              </a:defRPr>
            </a:pPr>
            <a:r>
              <a:t>No Schema Registry: messages are JSON, not Avro/Protobuf. No ZooKeeper: Kafka runs in KRaft mode. No pgAdmin: Hop already proves database write/read.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Apache Hop architecture is layered around metadata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1005840" cy="7315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defRPr sz="1800" b="1">
                <a:solidFill>
                  <a:srgbClr val="0D3F5E"/>
                </a:solidFill>
                <a:latin typeface="Aptos"/>
              </a:defRPr>
            </a:pPr>
            <a:r>
              <a:t>Apache</a:t>
            </a:r>
            <a:br/>
            <a:r>
              <a:t>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960120"/>
            <a:ext cx="9052560" cy="6583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996696"/>
            <a:ext cx="9052560" cy="603503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Apache Hop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298448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E6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335024"/>
            <a:ext cx="164592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0D3F5E"/>
                </a:solidFill>
                <a:latin typeface="Aptos"/>
              </a:defRPr>
            </a:pPr>
            <a:r>
              <a:t>Hop GUI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298448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E6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35024"/>
            <a:ext cx="164592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0D3F5E"/>
                </a:solidFill>
                <a:latin typeface="Aptos"/>
              </a:defRPr>
            </a:pPr>
            <a:r>
              <a:t>Hop 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298448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E6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335024"/>
            <a:ext cx="164592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0D3F5E"/>
                </a:solidFill>
                <a:latin typeface="Aptos"/>
              </a:defRPr>
            </a:pPr>
            <a:r>
              <a:t>Hop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1828800"/>
            <a:ext cx="9052560" cy="6583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1865376"/>
            <a:ext cx="9052560" cy="603503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Project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2487168"/>
            <a:ext cx="9052560" cy="2240280"/>
          </a:xfrm>
          <a:prstGeom prst="roundRect">
            <a:avLst>
              <a:gd name="adj" fmla="val 5000"/>
            </a:avLst>
          </a:prstGeom>
          <a:solidFill>
            <a:srgbClr val="144969"/>
          </a:solidFill>
          <a:ln w="25400">
            <a:solidFill>
              <a:srgbClr val="527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2679192"/>
            <a:ext cx="905256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Metadata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3273552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E6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3310128"/>
            <a:ext cx="123444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0D3F5E"/>
                </a:solidFill>
                <a:latin typeface="Aptos"/>
              </a:defRPr>
            </a:pPr>
            <a:r>
              <a:t>JDBC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3273552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E6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79" y="3310128"/>
            <a:ext cx="123444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0D3F5E"/>
                </a:solidFill>
                <a:latin typeface="Aptos"/>
              </a:defRPr>
            </a:pPr>
            <a:r>
              <a:t>NoSQL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3273552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E6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310128"/>
            <a:ext cx="123444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0D3F5E"/>
                </a:solidFill>
                <a:latin typeface="Aptos"/>
              </a:defRPr>
            </a:pPr>
            <a:r>
              <a:t>Probe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3273552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E6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3310128"/>
            <a:ext cx="123444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0D3F5E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59" y="3273552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E6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59" y="3310128"/>
            <a:ext cx="123444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0D3F5E"/>
                </a:solidFill>
                <a:latin typeface="Aptos"/>
              </a:defRPr>
            </a:pPr>
            <a:r>
              <a:t>...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40280" y="3977639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144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40280" y="4014215"/>
            <a:ext cx="384048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977639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144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014215"/>
            <a:ext cx="384048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4370832"/>
            <a:ext cx="2468880" cy="301752"/>
          </a:xfrm>
          <a:prstGeom prst="roundRect">
            <a:avLst>
              <a:gd name="adj" fmla="val 8000"/>
            </a:avLst>
          </a:prstGeom>
          <a:solidFill>
            <a:srgbClr val="E6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4407408"/>
            <a:ext cx="2468880" cy="2468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0D3F5E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95160" y="4370832"/>
            <a:ext cx="2468880" cy="301752"/>
          </a:xfrm>
          <a:prstGeom prst="roundRect">
            <a:avLst>
              <a:gd name="adj" fmla="val 8000"/>
            </a:avLst>
          </a:prstGeom>
          <a:solidFill>
            <a:srgbClr val="E6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4407408"/>
            <a:ext cx="2468880" cy="2468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0D3F5E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20240" y="5074920"/>
            <a:ext cx="9052560" cy="502920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5111496"/>
            <a:ext cx="9052560" cy="4480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Run Configuration: native local, remote, Spark/Flink/Dataflow through Beam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920240" y="5806440"/>
            <a:ext cx="9052560" cy="438912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20240" y="5843016"/>
            <a:ext cx="905256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ENGINE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Hop GUI, Hop Run and Hop Server are different surfaces on the same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004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0784"/>
            <a:ext cx="28712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Hop GUI / Hop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29967"/>
            <a:ext cx="2871216" cy="12618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Visual design surface. Use it to create pipelines, workflows and metadata. Day 6 uses Hop Web at :8082.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54480"/>
            <a:ext cx="32004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700784"/>
            <a:ext cx="28712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Hop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029967"/>
            <a:ext cx="2871216" cy="12618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CLI execution. Useful for automated validation and production-style runs after the visual design is stable.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554480"/>
            <a:ext cx="32004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700784"/>
            <a:ext cx="28712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Hop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2029967"/>
            <a:ext cx="2871216" cy="12618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Remote execution/status endpoint. Useful for services, web APIs or distributed runtime patterns.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9875520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800" b="1">
                <a:solidFill>
                  <a:srgbClr val="0D3F5E"/>
                </a:solidFill>
                <a:latin typeface="Aptos"/>
              </a:defRPr>
            </a:pPr>
            <a:r>
              <a:t>Teaching decision: use Hop Web first. Add Hop Run later when students understand what the pipeline/workflow files mean.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Projects are required because Hop treats metadata like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394960" cy="3931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buChar char="-"/>
              <a:spcAft>
                <a:spcPts val="700"/>
              </a:spcAft>
              <a:defRPr sz="1600">
                <a:solidFill>
                  <a:srgbClr val="1A222A"/>
                </a:solidFill>
                <a:latin typeface="Aptos"/>
              </a:defRPr>
            </a:pPr>
            <a:r>
              <a:t>One folder holds the solution: pipelines, workflows, metadata, data files and reference artifacts.</a:t>
            </a:r>
          </a:p>
          <a:p>
            <a:pPr>
              <a:buChar char="-"/>
              <a:spcAft>
                <a:spcPts val="700"/>
              </a:spcAft>
              <a:defRPr sz="1600">
                <a:solidFill>
                  <a:srgbClr val="1A222A"/>
                </a:solidFill>
                <a:latin typeface="Aptos"/>
              </a:defRPr>
            </a:pPr>
            <a:r>
              <a:t>Project files can be versioned in Git and moved across laptops or containers.</a:t>
            </a:r>
          </a:p>
          <a:p>
            <a:pPr>
              <a:buChar char="-"/>
              <a:spcAft>
                <a:spcPts val="700"/>
              </a:spcAft>
              <a:defRPr sz="1600">
                <a:solidFill>
                  <a:srgbClr val="1A222A"/>
                </a:solidFill>
                <a:latin typeface="Aptos"/>
              </a:defRPr>
            </a:pPr>
            <a:r>
              <a:t>Environment variables keep dev/test/prod differences out of pipeline logic.</a:t>
            </a:r>
          </a:p>
          <a:p>
            <a:pPr>
              <a:buChar char="-"/>
              <a:spcAft>
                <a:spcPts val="700"/>
              </a:spcAft>
              <a:defRPr sz="1600">
                <a:solidFill>
                  <a:srgbClr val="1A222A"/>
                </a:solidFill>
                <a:latin typeface="Aptos"/>
              </a:defRPr>
            </a:pPr>
            <a:r>
              <a:t>In this lab, Lab_Files is mounted as /project inside Hop Web.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00200"/>
            <a:ext cx="3931920" cy="502920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36776"/>
            <a:ext cx="3931920" cy="4480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day6_hop_lab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331720"/>
            <a:ext cx="3611880" cy="438912"/>
          </a:xfrm>
          <a:prstGeom prst="roundRect">
            <a:avLst>
              <a:gd name="adj" fmla="val 8000"/>
            </a:avLst>
          </a:prstGeom>
          <a:solidFill>
            <a:srgbClr val="EEF6F8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1" y="2478024"/>
            <a:ext cx="328269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pipelines/*.hpl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953512"/>
            <a:ext cx="3611880" cy="438912"/>
          </a:xfrm>
          <a:prstGeom prst="roundRect">
            <a:avLst>
              <a:gd name="adj" fmla="val 8000"/>
            </a:avLst>
          </a:prstGeom>
          <a:solidFill>
            <a:srgbClr val="EEF6F8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1" y="3099816"/>
            <a:ext cx="328269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workflows/*.hwf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575304"/>
            <a:ext cx="3611880" cy="438912"/>
          </a:xfrm>
          <a:prstGeom prst="roundRect">
            <a:avLst>
              <a:gd name="adj" fmla="val 8000"/>
            </a:avLst>
          </a:prstGeom>
          <a:solidFill>
            <a:srgbClr val="EEF6F8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5431" y="3721608"/>
            <a:ext cx="328269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metadata/*.json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4197096"/>
            <a:ext cx="3611880" cy="438912"/>
          </a:xfrm>
          <a:prstGeom prst="roundRect">
            <a:avLst>
              <a:gd name="adj" fmla="val 8000"/>
            </a:avLst>
          </a:prstGeom>
          <a:solidFill>
            <a:srgbClr val="EEF6F8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5431" y="4343400"/>
            <a:ext cx="328269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data/*.csv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4818888"/>
            <a:ext cx="3611880" cy="438912"/>
          </a:xfrm>
          <a:prstGeom prst="roundRect">
            <a:avLst>
              <a:gd name="adj" fmla="val 8000"/>
            </a:avLst>
          </a:prstGeom>
          <a:solidFill>
            <a:srgbClr val="EEF6F8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4965192"/>
            <a:ext cx="328269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output/*.csv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METADATA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Reusable metadata keeps the visual design clean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46504"/>
            <a:ext cx="291693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Database 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075688"/>
            <a:ext cx="2916936" cy="48463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PostgreSQL_Medallion.json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00200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746504"/>
            <a:ext cx="291693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Run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1" y="2075688"/>
            <a:ext cx="2916936" cy="48463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local / Beam / remote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600200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746504"/>
            <a:ext cx="291693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Pipeline probe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2075688"/>
            <a:ext cx="2916936" cy="48463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stream rows for inspection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108960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255264"/>
            <a:ext cx="291693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Pipeline unit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584448"/>
            <a:ext cx="2916936" cy="48463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compare output to data set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3108960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1" y="3255264"/>
            <a:ext cx="291693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Logs and execution info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1" y="3584448"/>
            <a:ext cx="2916936" cy="48463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audit and troubleshoot runs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108960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1" y="3255264"/>
            <a:ext cx="291693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Static schema definition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3584448"/>
            <a:ext cx="2916936" cy="48463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reuse field layout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Transforms process rows; hops pass row streams between transforms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22576"/>
            <a:ext cx="155448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286000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322576"/>
            <a:ext cx="155448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286000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322576"/>
            <a:ext cx="155448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59" y="2286000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52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59" y="2322576"/>
            <a:ext cx="155448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2578608"/>
            <a:ext cx="68580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0" y="2578608"/>
            <a:ext cx="68580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89520" y="2578608"/>
            <a:ext cx="68580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3931920"/>
            <a:ext cx="10241280" cy="8686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800" b="0">
                <a:solidFill>
                  <a:srgbClr val="1A222A"/>
                </a:solidFill>
                <a:latin typeface="Aptos"/>
              </a:defRPr>
            </a:pPr>
            <a:r>
              <a:t>Pipeline examples in this lab: CSV file input -&gt; text output, customer cleaning, order enrichment, PostgreSQL IO, Kafka consumer parent and Kafka batch sub-pipeline.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Actions orchestrate work and react to success or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93976"/>
            <a:ext cx="1691640" cy="4480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5740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093976"/>
            <a:ext cx="1691640" cy="4480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Run first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05740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093976"/>
            <a:ext cx="1691640" cy="4480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Clean + enrich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05740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52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093976"/>
            <a:ext cx="1691640" cy="4480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Write/read 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50876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52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545336"/>
            <a:ext cx="1691640" cy="4480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Success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78892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B24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825496"/>
            <a:ext cx="1691640" cy="4480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Failure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06040" y="2304288"/>
            <a:ext cx="45720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34840" y="2304288"/>
            <a:ext cx="45720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29400" y="2304288"/>
            <a:ext cx="45720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32520" y="1783080"/>
            <a:ext cx="411480" cy="457200"/>
          </a:xfrm>
          <a:prstGeom prst="line">
            <a:avLst/>
          </a:prstGeom>
          <a:ln w="31750">
            <a:solidFill>
              <a:srgbClr val="528E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732520" y="2423160"/>
            <a:ext cx="411480" cy="548640"/>
          </a:xfrm>
          <a:prstGeom prst="line">
            <a:avLst/>
          </a:prstGeom>
          <a:ln w="31750">
            <a:solidFill>
              <a:srgbClr val="B24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68680" y="4572000"/>
            <a:ext cx="102412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600" b="0">
                <a:solidFill>
                  <a:srgbClr val="1A222A"/>
                </a:solidFill>
                <a:latin typeface="Aptos"/>
              </a:defRPr>
            </a:pPr>
            <a:r>
              <a:t>Workflow actions do not normally transform row data. They run tasks and return true/false so the workflow can choose the next path.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RUN CONFIGURATION AND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The same design can run in different places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32918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746504"/>
            <a:ext cx="296265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Run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075688"/>
            <a:ext cx="2962656" cy="8961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Chooses engine/runtime: native local today, Beam options later.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2918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746504"/>
            <a:ext cx="296265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075688"/>
            <a:ext cx="2962656" cy="8961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Stores lifecycle-specific variables like DB host, credentials, and file paths.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2918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746504"/>
            <a:ext cx="296265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Project variables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075688"/>
            <a:ext cx="2962656" cy="8961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Useful for stable project-level values such as project home or standard folders.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51960"/>
            <a:ext cx="9784080" cy="5486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defRPr sz="2200" b="1">
                <a:solidFill>
                  <a:srgbClr val="0D3F5E"/>
                </a:solidFill>
                <a:latin typeface="Aptos"/>
              </a:defRPr>
            </a:pPr>
            <a:r>
              <a:t>Design once. Move by changing metadata and variables, not by editing every transform.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TRANSFORM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What transformations are present in Apache Hop?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81328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27632"/>
            <a:ext cx="47000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Input/output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56816"/>
            <a:ext cx="4700016" cy="30175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20" b="0">
                <a:solidFill>
                  <a:srgbClr val="1A222A"/>
                </a:solidFill>
                <a:latin typeface="Aptos"/>
              </a:defRPr>
            </a:pPr>
            <a:r>
              <a:t>CSV, Text, Excel, JSON, XML, Avro, Parquet, Table Input/Output, Kafka Consumer/Producer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81328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627632"/>
            <a:ext cx="47000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Row shaping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56816"/>
            <a:ext cx="4700016" cy="30175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20" b="0">
                <a:solidFill>
                  <a:srgbClr val="1A222A"/>
                </a:solidFill>
                <a:latin typeface="Aptos"/>
              </a:defRPr>
            </a:pPr>
            <a:r>
              <a:t>Select Values, Add Constants, Formula, Calculator, JavaScript, String Operations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51760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798064"/>
            <a:ext cx="47000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127248"/>
            <a:ext cx="4700016" cy="30175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20" b="0">
                <a:solidFill>
                  <a:srgbClr val="1A222A"/>
                </a:solidFill>
                <a:latin typeface="Aptos"/>
              </a:defRPr>
            </a:pPr>
            <a:r>
              <a:t>Filter Rows, Data Validator, If Null, Null If, XSD Validator, error handling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51760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798064"/>
            <a:ext cx="47000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Join/lookup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127248"/>
            <a:ext cx="4700016" cy="30175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20" b="0">
                <a:solidFill>
                  <a:srgbClr val="1A222A"/>
                </a:solidFill>
                <a:latin typeface="Aptos"/>
              </a:defRPr>
            </a:pPr>
            <a:r>
              <a:t>Merge Join, Stream Lookup, Database Lookup, Database Join, Append Streams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822191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968496"/>
            <a:ext cx="47000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Aggregation/dedup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297679"/>
            <a:ext cx="4700016" cy="30175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20" b="0">
                <a:solidFill>
                  <a:srgbClr val="1A222A"/>
                </a:solidFill>
                <a:latin typeface="Aptos"/>
              </a:defRPr>
            </a:pPr>
            <a:r>
              <a:t>Sort Rows, Unique Rows, Group By, Memory Group By, analytic query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22191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968496"/>
            <a:ext cx="47000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Integration/cloud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297679"/>
            <a:ext cx="4700016" cy="30175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20" b="0">
                <a:solidFill>
                  <a:srgbClr val="1A222A"/>
                </a:solidFill>
                <a:latin typeface="Aptos"/>
              </a:defRPr>
            </a:pPr>
            <a:r>
              <a:t>HTTP, REST, MongoDB, Neo4j, Salesforce, Beam, AWS/Azure/GCP connectors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9"/>
                </a:solidFill>
              </a:defRPr>
            </a:pPr>
            <a:r>
              <a:t>Source: Apache Hop Transform Plugins manual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ACTION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What actions are present in Apache Hop workflows?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81328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27632"/>
            <a:ext cx="47000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56816"/>
            <a:ext cx="4700016" cy="30175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20" b="0">
                <a:solidFill>
                  <a:srgbClr val="1A222A"/>
                </a:solidFill>
                <a:latin typeface="Aptos"/>
              </a:defRPr>
            </a:pPr>
            <a:r>
              <a:t>Start, Success, Abort, Simple evaluation, Wait for, Wait for file, Wait for 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81328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627632"/>
            <a:ext cx="47000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Run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56816"/>
            <a:ext cx="4700016" cy="30175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20" b="0">
                <a:solidFill>
                  <a:srgbClr val="1A222A"/>
                </a:solidFill>
                <a:latin typeface="Aptos"/>
              </a:defRPr>
            </a:pPr>
            <a:r>
              <a:t>Pipeline, Workflow, SQL, Shell, XSL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51760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798064"/>
            <a:ext cx="47000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127248"/>
            <a:ext cx="4700016" cy="30175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20" b="0">
                <a:solidFill>
                  <a:srgbClr val="1A222A"/>
                </a:solidFill>
                <a:latin typeface="Aptos"/>
              </a:defRPr>
            </a:pPr>
            <a:r>
              <a:t>Copy files, Move files, Delete files, Create folder, Zip, Unzip, file exists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51760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798064"/>
            <a:ext cx="47000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Messaging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127248"/>
            <a:ext cx="4700016" cy="30175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20" b="0">
                <a:solidFill>
                  <a:srgbClr val="1A222A"/>
                </a:solidFill>
                <a:latin typeface="Aptos"/>
              </a:defRPr>
            </a:pPr>
            <a:r>
              <a:t>Mail, Write to Log, HTTP, Web service-oriented 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822191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968496"/>
            <a:ext cx="47000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Database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297679"/>
            <a:ext cx="4700016" cy="30175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20" b="0">
                <a:solidFill>
                  <a:srgbClr val="1A222A"/>
                </a:solidFill>
                <a:latin typeface="Aptos"/>
              </a:defRPr>
            </a:pPr>
            <a:r>
              <a:t>Table exists, Truncate tables, SQL, Wait for 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22191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968496"/>
            <a:ext cx="47000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Validation/security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297679"/>
            <a:ext cx="4700016" cy="30175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20" b="0">
                <a:solidFill>
                  <a:srgbClr val="1A222A"/>
                </a:solidFill>
                <a:latin typeface="Aptos"/>
              </a:defRPr>
            </a:pPr>
            <a:r>
              <a:t>XSD validator, PGP signature verification, mail validator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9"/>
                </a:solidFill>
              </a:defRPr>
            </a:pPr>
            <a:r>
              <a:t>Source: Apache Hop Action Plugins manual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METADATA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What metadata activities are present in Apache Hop?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81328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27632"/>
            <a:ext cx="47000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Connections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56816"/>
            <a:ext cx="4700016" cy="30175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20" b="0">
                <a:solidFill>
                  <a:srgbClr val="1A222A"/>
                </a:solidFill>
                <a:latin typeface="Aptos"/>
              </a:defRPr>
            </a:pPr>
            <a:r>
              <a:t>Relational DB, REST, Salesforce, MongoDB, Neo4j, MinIO/S3, WebDAV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81328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627632"/>
            <a:ext cx="47000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56816"/>
            <a:ext cx="4700016" cy="30175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20" b="0">
                <a:solidFill>
                  <a:srgbClr val="1A222A"/>
                </a:solidFill>
                <a:latin typeface="Aptos"/>
              </a:defRPr>
            </a:pPr>
            <a:r>
              <a:t>Pipeline Run Configuration, Workflow Run Configuration, Hop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51760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798064"/>
            <a:ext cx="47000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127248"/>
            <a:ext cx="4700016" cy="30175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20" b="0">
                <a:solidFill>
                  <a:srgbClr val="1A222A"/>
                </a:solidFill>
                <a:latin typeface="Aptos"/>
              </a:defRPr>
            </a:pPr>
            <a:r>
              <a:t>Pipeline Log, Workflow Log, Pipeline Probe, Execution Information Location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51760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798064"/>
            <a:ext cx="47000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127248"/>
            <a:ext cx="4700016" cy="30175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20" b="0">
                <a:solidFill>
                  <a:srgbClr val="1A222A"/>
                </a:solidFill>
                <a:latin typeface="Aptos"/>
              </a:defRPr>
            </a:pPr>
            <a:r>
              <a:t>Pipeline Unit Test, Data Set, Execution Data Profile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822191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968496"/>
            <a:ext cx="47000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Schemas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297679"/>
            <a:ext cx="4700016" cy="30175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20" b="0">
                <a:solidFill>
                  <a:srgbClr val="1A222A"/>
                </a:solidFill>
                <a:latin typeface="Aptos"/>
              </a:defRPr>
            </a:pPr>
            <a:r>
              <a:t>Static Schema Definition, Beam File Definition, Partition Schema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22191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968496"/>
            <a:ext cx="47000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Secrets/variables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297679"/>
            <a:ext cx="4700016" cy="30175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20" b="0">
                <a:solidFill>
                  <a:srgbClr val="1A222A"/>
                </a:solidFill>
                <a:latin typeface="Aptos"/>
              </a:defRPr>
            </a:pPr>
            <a:r>
              <a:t>Variable Resolver, Azure/GCP/Vault resolvers, authentication metadata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9"/>
                </a:solidFill>
              </a:defRPr>
            </a:pPr>
            <a:r>
              <a:t>Source: Apache Hop Metadata Types manual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PIPELINES VS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Use pipelines for data flow; workflows for control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493776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700784"/>
            <a:ext cx="460857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029967"/>
            <a:ext cx="4608576" cy="2816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Rows move through transforms. Transforms can run in parallel. Use for reading, cleaning, joining, validating, aggregating and writing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493776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700784"/>
            <a:ext cx="460857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029967"/>
            <a:ext cx="4608576" cy="2816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Actions run tasks and return success/failure. Use for ordering pipelines, file handling, SQL setup, notifications and operational control.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5349240"/>
            <a:ext cx="9875520" cy="502920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385816"/>
            <a:ext cx="9875520" cy="4480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Day 6 pattern: workflow orchestrates; pipelines transform.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FIRST PIPELINE ARTICLE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The beginner walkthrough becomes Exercise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16</a:t>
            </a:r>
          </a:p>
        </p:txBody>
      </p:sp>
      <p:pic>
        <p:nvPicPr>
          <p:cNvPr id="6" name="Picture 5" descr="article_im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617" y="1508760"/>
            <a:ext cx="3157086" cy="2011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508760"/>
            <a:ext cx="3200400" cy="2011680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08760"/>
            <a:ext cx="3200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4507992" y="1490472"/>
            <a:ext cx="292608" cy="292608"/>
          </a:xfrm>
          <a:prstGeom prst="ellipse">
            <a:avLst/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1490472"/>
            <a:ext cx="603504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1A222A"/>
                </a:solidFill>
                <a:latin typeface="Aptos"/>
              </a:defRPr>
            </a:pPr>
            <a:r>
              <a:t>Create a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200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4507992" y="1993392"/>
            <a:ext cx="292608" cy="292608"/>
          </a:xfrm>
          <a:prstGeom prst="ellipse">
            <a:avLst/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1993392"/>
            <a:ext cx="603504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1A222A"/>
                </a:solidFill>
                <a:latin typeface="Aptos"/>
              </a:defRPr>
            </a:pPr>
            <a:r>
              <a:t>Create and save a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14600"/>
            <a:ext cx="3200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507992" y="2496312"/>
            <a:ext cx="292608" cy="292608"/>
          </a:xfrm>
          <a:prstGeom prst="ellipse">
            <a:avLst/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2496312"/>
            <a:ext cx="603504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1A222A"/>
                </a:solidFill>
                <a:latin typeface="Aptos"/>
              </a:defRPr>
            </a:pPr>
            <a:r>
              <a:t>Add CSV File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017520"/>
            <a:ext cx="3200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4507992" y="2999232"/>
            <a:ext cx="292608" cy="292608"/>
          </a:xfrm>
          <a:prstGeom prst="ellipse">
            <a:avLst/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2999232"/>
            <a:ext cx="603504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1A222A"/>
                </a:solidFill>
                <a:latin typeface="Aptos"/>
              </a:defRPr>
            </a:pPr>
            <a:r>
              <a:t>Get fields and 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20440"/>
            <a:ext cx="3200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Oval 20"/>
          <p:cNvSpPr/>
          <p:nvPr/>
        </p:nvSpPr>
        <p:spPr>
          <a:xfrm>
            <a:off x="4507992" y="3502152"/>
            <a:ext cx="292608" cy="292608"/>
          </a:xfrm>
          <a:prstGeom prst="ellipse">
            <a:avLst/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502152"/>
            <a:ext cx="603504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1A222A"/>
                </a:solidFill>
                <a:latin typeface="Aptos"/>
              </a:defRPr>
            </a:pPr>
            <a:r>
              <a:t>Fix encoding if needed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023360"/>
            <a:ext cx="3200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4" name="Oval 23"/>
          <p:cNvSpPr/>
          <p:nvPr/>
        </p:nvSpPr>
        <p:spPr>
          <a:xfrm>
            <a:off x="4507992" y="4005072"/>
            <a:ext cx="292608" cy="292608"/>
          </a:xfrm>
          <a:prstGeom prst="ellipse">
            <a:avLst/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4005072"/>
            <a:ext cx="603504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1A222A"/>
                </a:solidFill>
                <a:latin typeface="Aptos"/>
              </a:defRPr>
            </a:pPr>
            <a:r>
              <a:t>Add Text File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26280"/>
            <a:ext cx="3200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4507992" y="4507992"/>
            <a:ext cx="292608" cy="292608"/>
          </a:xfrm>
          <a:prstGeom prst="ellipse">
            <a:avLst/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4507992"/>
            <a:ext cx="603504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1A222A"/>
                </a:solidFill>
                <a:latin typeface="Aptos"/>
              </a:defRPr>
            </a:pPr>
            <a:r>
              <a:t>Create the hop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029200"/>
            <a:ext cx="3200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0" name="Oval 29"/>
          <p:cNvSpPr/>
          <p:nvPr/>
        </p:nvSpPr>
        <p:spPr>
          <a:xfrm>
            <a:off x="4507992" y="5010912"/>
            <a:ext cx="292608" cy="292608"/>
          </a:xfrm>
          <a:prstGeom prst="ellipse">
            <a:avLst/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5010912"/>
            <a:ext cx="603504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1A222A"/>
                </a:solidFill>
                <a:latin typeface="Aptos"/>
              </a:defRPr>
            </a:pPr>
            <a:r>
              <a:t>Run and verify the output 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9"/>
                </a:solidFill>
              </a:defRPr>
            </a:pPr>
            <a:r>
              <a:t>Source: Samuel Second Medium article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ARTICLE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Project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C79"/>
                </a:solidFill>
                <a:latin typeface="Aptos"/>
              </a:defRPr>
            </a:pPr>
            <a:r>
              <a:t>Create a project, project folder, and project properties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9"/>
                </a:solidFill>
              </a:defRPr>
            </a:pPr>
            <a:r>
              <a:t>Images: Samuel Second Medium article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17</a:t>
            </a:r>
          </a:p>
        </p:txBody>
      </p:sp>
      <p:pic>
        <p:nvPicPr>
          <p:cNvPr id="8" name="Picture 7" descr="article_im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91638"/>
            <a:ext cx="2574036" cy="2574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1572768"/>
            <a:ext cx="2574036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366674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3</a:t>
            </a:r>
          </a:p>
        </p:txBody>
      </p:sp>
      <p:pic>
        <p:nvPicPr>
          <p:cNvPr id="11" name="Picture 10" descr="article_imag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428" y="1970192"/>
            <a:ext cx="2574036" cy="150029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424428" y="1572768"/>
            <a:ext cx="2574036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004" y="366674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14" name="Picture 13" descr="article_image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1863792"/>
            <a:ext cx="2574036" cy="171309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63056" y="1572768"/>
            <a:ext cx="2574036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66674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17" name="Picture 16" descr="article_image_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1684" y="2610761"/>
            <a:ext cx="2574036" cy="21915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901684" y="1572768"/>
            <a:ext cx="2574036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8260" y="366674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20" name="Picture 19" descr="article_image_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472592"/>
            <a:ext cx="2574036" cy="141496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85800" y="4032504"/>
            <a:ext cx="2574036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6126480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23" name="Picture 22" descr="article_image_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4428" y="4775494"/>
            <a:ext cx="2574036" cy="80916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3424428" y="4032504"/>
            <a:ext cx="2574036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61004" y="6126480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26" name="Picture 25" descr="article_image_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3056" y="4942897"/>
            <a:ext cx="2574036" cy="474358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163056" y="4032504"/>
            <a:ext cx="2574036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6126480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29" name="Picture 28" descr="article_image_1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1684" y="4611539"/>
            <a:ext cx="2574036" cy="1137074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8901684" y="4032504"/>
            <a:ext cx="2574036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38260" y="6126480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ARTICLE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Create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C79"/>
                </a:solidFill>
                <a:latin typeface="Aptos"/>
              </a:defRPr>
            </a:pPr>
            <a:r>
              <a:t>New pipeline, save it, and find it in the file explorer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9"/>
                </a:solidFill>
              </a:defRPr>
            </a:pPr>
            <a:r>
              <a:t>Images: Samuel Second Medium article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18</a:t>
            </a:r>
          </a:p>
        </p:txBody>
      </p:sp>
      <p:pic>
        <p:nvPicPr>
          <p:cNvPr id="8" name="Picture 7" descr="article_im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359" y="1572768"/>
            <a:ext cx="2709545" cy="229514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1572768"/>
            <a:ext cx="5312664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366674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11" name="Picture 10" descr="article_imag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577" y="1572768"/>
            <a:ext cx="4959621" cy="229514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63056" y="1572768"/>
            <a:ext cx="5312664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366674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14" name="Picture 13" descr="article_image_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08100"/>
            <a:ext cx="5312664" cy="194395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85800" y="4032504"/>
            <a:ext cx="5312664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6126480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17" name="Picture 16" descr="article_image_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041" y="4032504"/>
            <a:ext cx="3082693" cy="229514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163056" y="4032504"/>
            <a:ext cx="5312664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6126480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ARTICLE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CSV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C79"/>
                </a:solidFill>
                <a:latin typeface="Aptos"/>
              </a:defRPr>
            </a:pPr>
            <a:r>
              <a:t>Search transforms, add CSV File Input, browse source file, get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9"/>
                </a:solidFill>
              </a:defRPr>
            </a:pPr>
            <a:r>
              <a:t>Images: Samuel Second Medium article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19</a:t>
            </a:r>
          </a:p>
        </p:txBody>
      </p:sp>
      <p:pic>
        <p:nvPicPr>
          <p:cNvPr id="8" name="Picture 7" descr="article_im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0860"/>
            <a:ext cx="2574036" cy="5990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1572768"/>
            <a:ext cx="2574036" cy="1475232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846831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11" name="Picture 10" descr="article_image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236" y="1572768"/>
            <a:ext cx="1948419" cy="147523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424428" y="1572768"/>
            <a:ext cx="2574036" cy="1475232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004" y="2846831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16</a:t>
            </a:r>
          </a:p>
        </p:txBody>
      </p:sp>
      <p:pic>
        <p:nvPicPr>
          <p:cNvPr id="14" name="Picture 13" descr="article_image_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232" y="1572768"/>
            <a:ext cx="1879684" cy="147523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63056" y="1572768"/>
            <a:ext cx="2574036" cy="1475232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2846831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17" name="Picture 16" descr="article_image_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1684" y="1627094"/>
            <a:ext cx="2574036" cy="136657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901684" y="1572768"/>
            <a:ext cx="2574036" cy="1475232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8260" y="2846831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20" name="Picture 19" descr="article_image_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497659"/>
            <a:ext cx="2574036" cy="90509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85800" y="3212592"/>
            <a:ext cx="2574036" cy="1475232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4486656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19</a:t>
            </a:r>
          </a:p>
        </p:txBody>
      </p:sp>
      <p:pic>
        <p:nvPicPr>
          <p:cNvPr id="23" name="Picture 22" descr="article_image_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4428" y="3587872"/>
            <a:ext cx="2574036" cy="724672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3424428" y="3212592"/>
            <a:ext cx="2574036" cy="1475232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61004" y="4486656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20</a:t>
            </a:r>
          </a:p>
        </p:txBody>
      </p:sp>
      <p:pic>
        <p:nvPicPr>
          <p:cNvPr id="26" name="Picture 25" descr="article_image_2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2244" y="3212592"/>
            <a:ext cx="2235660" cy="1475232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163056" y="3212592"/>
            <a:ext cx="2574036" cy="1475232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4486656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21</a:t>
            </a:r>
          </a:p>
        </p:txBody>
      </p:sp>
      <p:pic>
        <p:nvPicPr>
          <p:cNvPr id="29" name="Picture 28" descr="article_image_2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1684" y="3856337"/>
            <a:ext cx="2574036" cy="18774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8901684" y="3212592"/>
            <a:ext cx="2574036" cy="1475232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38260" y="4486656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22</a:t>
            </a:r>
          </a:p>
        </p:txBody>
      </p:sp>
      <p:pic>
        <p:nvPicPr>
          <p:cNvPr id="32" name="Picture 31" descr="article_image_2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338" y="4852416"/>
            <a:ext cx="2346960" cy="147523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685800" y="4852416"/>
            <a:ext cx="2574036" cy="1475232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" y="6126480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23</a:t>
            </a:r>
          </a:p>
        </p:txBody>
      </p:sp>
      <p:pic>
        <p:nvPicPr>
          <p:cNvPr id="35" name="Picture 34" descr="article_image_2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68175" y="4852416"/>
            <a:ext cx="1886542" cy="1475232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3424428" y="4852416"/>
            <a:ext cx="2574036" cy="1475232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61004" y="6126480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ARTICLE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Preview and 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C79"/>
                </a:solidFill>
                <a:latin typeface="Aptos"/>
              </a:defRPr>
            </a:pPr>
            <a:r>
              <a:t>Preview the file, recognize encoding issues, then set the encoding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9"/>
                </a:solidFill>
              </a:defRPr>
            </a:pPr>
            <a:r>
              <a:t>Images: Samuel Second Medium article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20</a:t>
            </a:r>
          </a:p>
        </p:txBody>
      </p:sp>
      <p:pic>
        <p:nvPicPr>
          <p:cNvPr id="8" name="Picture 7" descr="article_imag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5842"/>
            <a:ext cx="5312664" cy="204899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1572768"/>
            <a:ext cx="5312664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366674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25</a:t>
            </a:r>
          </a:p>
        </p:txBody>
      </p:sp>
      <p:pic>
        <p:nvPicPr>
          <p:cNvPr id="11" name="Picture 10" descr="article_image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788" y="1572768"/>
            <a:ext cx="3071199" cy="229514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63056" y="1572768"/>
            <a:ext cx="5312664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366674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26</a:t>
            </a:r>
          </a:p>
        </p:txBody>
      </p:sp>
      <p:pic>
        <p:nvPicPr>
          <p:cNvPr id="14" name="Picture 13" descr="article_image_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720326"/>
            <a:ext cx="5312664" cy="91949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85800" y="4032504"/>
            <a:ext cx="5312664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6126480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27</a:t>
            </a:r>
          </a:p>
        </p:txBody>
      </p:sp>
      <p:pic>
        <p:nvPicPr>
          <p:cNvPr id="17" name="Picture 16" descr="article_image_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4383965"/>
            <a:ext cx="5312664" cy="159222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163056" y="4032504"/>
            <a:ext cx="5312664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6126480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ARTICLE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Text output and 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C79"/>
                </a:solidFill>
                <a:latin typeface="Aptos"/>
              </a:defRPr>
            </a:pPr>
            <a:r>
              <a:t>Add Text File Output, connect the transforms, configure file/content/fields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9"/>
                </a:solidFill>
              </a:defRPr>
            </a:pPr>
            <a:r>
              <a:t>Images: Samuel Second Medium article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21</a:t>
            </a:r>
          </a:p>
        </p:txBody>
      </p:sp>
      <p:pic>
        <p:nvPicPr>
          <p:cNvPr id="8" name="Picture 7" descr="article_imag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25350"/>
            <a:ext cx="2574036" cy="138997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1572768"/>
            <a:ext cx="2574036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366674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29</a:t>
            </a:r>
          </a:p>
        </p:txBody>
      </p:sp>
      <p:pic>
        <p:nvPicPr>
          <p:cNvPr id="11" name="Picture 10" descr="article_image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428" y="2414041"/>
            <a:ext cx="2574036" cy="61259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424428" y="1572768"/>
            <a:ext cx="2574036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004" y="366674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30</a:t>
            </a:r>
          </a:p>
        </p:txBody>
      </p:sp>
      <p:pic>
        <p:nvPicPr>
          <p:cNvPr id="14" name="Picture 13" descr="article_image_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2354459"/>
            <a:ext cx="2574036" cy="73176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63056" y="1572768"/>
            <a:ext cx="2574036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66674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31</a:t>
            </a:r>
          </a:p>
        </p:txBody>
      </p:sp>
      <p:pic>
        <p:nvPicPr>
          <p:cNvPr id="17" name="Picture 16" descr="article_image_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1684" y="1939453"/>
            <a:ext cx="2574036" cy="156177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901684" y="1572768"/>
            <a:ext cx="2574036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8260" y="366674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32</a:t>
            </a:r>
          </a:p>
        </p:txBody>
      </p:sp>
      <p:pic>
        <p:nvPicPr>
          <p:cNvPr id="20" name="Picture 19" descr="article_image_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722572"/>
            <a:ext cx="2574036" cy="91500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85800" y="4032504"/>
            <a:ext cx="2574036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6126480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ARTICLE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Run and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C79"/>
                </a:solidFill>
                <a:latin typeface="Aptos"/>
              </a:defRPr>
            </a:pPr>
            <a:r>
              <a:t>Run the pipeline and open the output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9"/>
                </a:solidFill>
              </a:defRPr>
            </a:pPr>
            <a:r>
              <a:t>Images: Samuel Second Medium article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22</a:t>
            </a:r>
          </a:p>
        </p:txBody>
      </p:sp>
      <p:pic>
        <p:nvPicPr>
          <p:cNvPr id="8" name="Picture 7" descr="article_image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87585"/>
            <a:ext cx="2574036" cy="146550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1572768"/>
            <a:ext cx="2574036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366674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34</a:t>
            </a:r>
          </a:p>
        </p:txBody>
      </p:sp>
      <p:pic>
        <p:nvPicPr>
          <p:cNvPr id="11" name="Picture 10" descr="article_image_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428" y="1740268"/>
            <a:ext cx="2574036" cy="196014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424428" y="1572768"/>
            <a:ext cx="2574036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004" y="366674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35</a:t>
            </a:r>
          </a:p>
        </p:txBody>
      </p:sp>
      <p:pic>
        <p:nvPicPr>
          <p:cNvPr id="14" name="Picture 13" descr="article_image_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2364300"/>
            <a:ext cx="2574036" cy="71207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63056" y="1572768"/>
            <a:ext cx="2574036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66674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36</a:t>
            </a:r>
          </a:p>
        </p:txBody>
      </p:sp>
      <p:pic>
        <p:nvPicPr>
          <p:cNvPr id="17" name="Picture 16" descr="article_image_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1684" y="1583474"/>
            <a:ext cx="2574036" cy="227373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901684" y="1572768"/>
            <a:ext cx="2574036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8260" y="3666744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37</a:t>
            </a:r>
          </a:p>
        </p:txBody>
      </p:sp>
      <p:pic>
        <p:nvPicPr>
          <p:cNvPr id="20" name="Picture 19" descr="article_image_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476" y="4032504"/>
            <a:ext cx="1992683" cy="229514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85800" y="4032504"/>
            <a:ext cx="2574036" cy="2295144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6126480"/>
            <a:ext cx="41148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700" b="0">
                <a:solidFill>
                  <a:srgbClr val="5C6C79"/>
                </a:solidFill>
                <a:latin typeface="Aptos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LAB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Build a first CSV-to-CSV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40280"/>
            <a:ext cx="1828800" cy="594360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76856"/>
            <a:ext cx="1828800" cy="5394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first_pipeline_source.csv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240280"/>
            <a:ext cx="1828800" cy="594360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276856"/>
            <a:ext cx="1828800" cy="5394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CSV File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2240280"/>
            <a:ext cx="1828800" cy="594360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2276856"/>
            <a:ext cx="1828800" cy="5394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Text File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240280"/>
            <a:ext cx="1828800" cy="594360"/>
          </a:xfrm>
          <a:prstGeom prst="roundRect">
            <a:avLst>
              <a:gd name="adj" fmla="val 8000"/>
            </a:avLst>
          </a:prstGeom>
          <a:solidFill>
            <a:srgbClr val="52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76856"/>
            <a:ext cx="1828800" cy="5394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first_pipeline_result.csv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2542032"/>
            <a:ext cx="50292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57800" y="2542032"/>
            <a:ext cx="50292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35240" y="2542032"/>
            <a:ext cx="50292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3886200"/>
            <a:ext cx="9966960" cy="1463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buChar char="-"/>
              <a:spcAft>
                <a:spcPts val="700"/>
              </a:spcAft>
              <a:defRPr sz="1600">
                <a:solidFill>
                  <a:srgbClr val="1A222A"/>
                </a:solidFill>
                <a:latin typeface="Aptos"/>
              </a:defRPr>
            </a:pPr>
            <a:r>
              <a:t>Open 00_first_pipeline_csv_to_csv.hpl or build it manually.</a:t>
            </a:r>
          </a:p>
          <a:p>
            <a:pPr>
              <a:buChar char="-"/>
              <a:spcAft>
                <a:spcPts val="700"/>
              </a:spcAft>
              <a:defRPr sz="1600">
                <a:solidFill>
                  <a:srgbClr val="1A222A"/>
                </a:solidFill>
                <a:latin typeface="Aptos"/>
              </a:defRPr>
            </a:pPr>
            <a:r>
              <a:t>Use Get Fields and Preview before running.</a:t>
            </a:r>
          </a:p>
          <a:p>
            <a:pPr>
              <a:buChar char="-"/>
              <a:spcAft>
                <a:spcPts val="700"/>
              </a:spcAft>
              <a:defRPr sz="1600">
                <a:solidFill>
                  <a:srgbClr val="1A222A"/>
                </a:solidFill>
                <a:latin typeface="Aptos"/>
              </a:defRPr>
            </a:pPr>
            <a:r>
              <a:t>Verify output/first_pipeline_result.csv.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LAB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Batch CSV cleaning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02536"/>
            <a:ext cx="164592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customers.csv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96596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2002536"/>
            <a:ext cx="164592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Normalize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6596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02536"/>
            <a:ext cx="164592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Filter valid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96596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02536"/>
            <a:ext cx="164592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Sort + unique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96596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52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002536"/>
            <a:ext cx="164592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clean/reject CSV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77440" y="2249424"/>
            <a:ext cx="32004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70832" y="2249424"/>
            <a:ext cx="32004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63640" y="2249424"/>
            <a:ext cx="320039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21040" y="2249424"/>
            <a:ext cx="32004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3749039"/>
            <a:ext cx="32004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895344"/>
            <a:ext cx="28712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Concepts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224527"/>
            <a:ext cx="2871216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String normalization, email validation, de-duplication, reject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749039"/>
            <a:ext cx="32004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5152" y="3895344"/>
            <a:ext cx="28712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4224527"/>
            <a:ext cx="2871216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01_clean_customers.hpl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749039"/>
            <a:ext cx="32004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3895344"/>
            <a:ext cx="287121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Outputs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224527"/>
            <a:ext cx="2871216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customers_cleaned.csv and customers_rejected.csv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LAB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Lookup, string and math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93976"/>
            <a:ext cx="182880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orders.csv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34640"/>
            <a:ext cx="1828800" cy="512064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71216"/>
            <a:ext cx="1828800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products.csv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057400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093976"/>
            <a:ext cx="182880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Stream Lookup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057400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093976"/>
            <a:ext cx="182880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Calculate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2057400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52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093976"/>
            <a:ext cx="182880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orders_enriched.csv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51760" y="2331720"/>
            <a:ext cx="68580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651760" y="2487168"/>
            <a:ext cx="685800" cy="576072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12080" y="2331720"/>
            <a:ext cx="59436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18120" y="2331720"/>
            <a:ext cx="68580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4251960"/>
            <a:ext cx="9875520" cy="10058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buChar char="-"/>
              <a:spcAft>
                <a:spcPts val="700"/>
              </a:spcAft>
              <a:defRPr sz="1600">
                <a:solidFill>
                  <a:srgbClr val="1A222A"/>
                </a:solidFill>
                <a:latin typeface="Aptos"/>
              </a:defRPr>
            </a:pPr>
            <a:r>
              <a:t>Product lookup enriches orders by product_id.</a:t>
            </a:r>
          </a:p>
          <a:p>
            <a:pPr>
              <a:buChar char="-"/>
              <a:spcAft>
                <a:spcPts val="700"/>
              </a:spcAft>
              <a:defRPr sz="1600">
                <a:solidFill>
                  <a:srgbClr val="1A222A"/>
                </a:solidFill>
                <a:latin typeface="Aptos"/>
              </a:defRPr>
            </a:pPr>
            <a:r>
              <a:t>JavaScript transform uppercases category and calculates tax, discount and net amount.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LAB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Real database write and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286000"/>
            <a:ext cx="1691640" cy="548640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22576"/>
            <a:ext cx="1691640" cy="49377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customers_cleaned.csv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286000"/>
            <a:ext cx="1691640" cy="548640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322576"/>
            <a:ext cx="1691640" cy="49377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Table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2286000"/>
            <a:ext cx="1691640" cy="548640"/>
          </a:xfrm>
          <a:prstGeom prst="roundRect">
            <a:avLst>
              <a:gd name="adj" fmla="val 8000"/>
            </a:avLst>
          </a:prstGeom>
          <a:solidFill>
            <a:srgbClr val="52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2322576"/>
            <a:ext cx="1691640" cy="49377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286000"/>
            <a:ext cx="1691640" cy="548640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322576"/>
            <a:ext cx="1691640" cy="49377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Table Input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2286000"/>
            <a:ext cx="1691640" cy="548640"/>
          </a:xfrm>
          <a:prstGeom prst="roundRect">
            <a:avLst>
              <a:gd name="adj" fmla="val 8000"/>
            </a:avLst>
          </a:prstGeom>
          <a:solidFill>
            <a:srgbClr val="52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322576"/>
            <a:ext cx="1691640" cy="49377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postgres_customers_de.csv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97480" y="2560320"/>
            <a:ext cx="32004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212080" y="2560320"/>
            <a:ext cx="32004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52360" y="2560320"/>
            <a:ext cx="32004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81160" y="2560320"/>
            <a:ext cx="32004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3977639"/>
            <a:ext cx="4754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123944"/>
            <a:ext cx="442569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Metadata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453127"/>
            <a:ext cx="4425696" cy="6675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PostgreSQL_Medallion.json keeps connection details reusable.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977639"/>
            <a:ext cx="4754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4123944"/>
            <a:ext cx="442569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4453127"/>
            <a:ext cx="4425696" cy="6675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50" b="0">
                <a:solidFill>
                  <a:srgbClr val="1A222A"/>
                </a:solidFill>
                <a:latin typeface="Aptos"/>
              </a:defRPr>
            </a:pPr>
            <a:r>
              <a:t>Rows exist in customers_cleaned and verification CSV is written.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LAB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Kafka streaming in Hop uses a parent pipeline and sub-pipeline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1645920" cy="502920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56816"/>
            <a:ext cx="1645920" cy="4480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orders_producer.py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920240"/>
            <a:ext cx="1645920" cy="502920"/>
          </a:xfrm>
          <a:prstGeom prst="roundRect">
            <a:avLst>
              <a:gd name="adj" fmla="val 8000"/>
            </a:avLst>
          </a:prstGeom>
          <a:solidFill>
            <a:srgbClr val="266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956816"/>
            <a:ext cx="1645920" cy="4480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orders.cdc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920240"/>
            <a:ext cx="1645920" cy="502920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956816"/>
            <a:ext cx="1645920" cy="4480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Kafka Consumer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20240"/>
            <a:ext cx="1645920" cy="502920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56816"/>
            <a:ext cx="1645920" cy="4480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Injector sub-pipeline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508760"/>
            <a:ext cx="1645920" cy="502920"/>
          </a:xfrm>
          <a:prstGeom prst="roundRect">
            <a:avLst>
              <a:gd name="adj" fmla="val 8000"/>
            </a:avLst>
          </a:prstGeom>
          <a:solidFill>
            <a:srgbClr val="52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545336"/>
            <a:ext cx="1645920" cy="4480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orders.cleaned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2743200"/>
            <a:ext cx="1645920" cy="502920"/>
          </a:xfrm>
          <a:prstGeom prst="roundRect">
            <a:avLst>
              <a:gd name="adj" fmla="val 8000"/>
            </a:avLst>
          </a:prstGeom>
          <a:solidFill>
            <a:srgbClr val="52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779776"/>
            <a:ext cx="1645920" cy="4480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orders.customer_totals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23160" y="2176272"/>
            <a:ext cx="22860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51960" y="2176272"/>
            <a:ext cx="22860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217920" y="2176272"/>
            <a:ext cx="22860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046720" y="1737360"/>
            <a:ext cx="621792" cy="320040"/>
          </a:xfrm>
          <a:prstGeom prst="line">
            <a:avLst/>
          </a:prstGeom>
          <a:ln w="31750">
            <a:solidFill>
              <a:srgbClr val="528E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46720" y="2331720"/>
            <a:ext cx="621792" cy="612648"/>
          </a:xfrm>
          <a:prstGeom prst="line">
            <a:avLst/>
          </a:prstGeom>
          <a:ln w="31750">
            <a:solidFill>
              <a:srgbClr val="528E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4617720"/>
            <a:ext cx="9692640" cy="8229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buChar char="-"/>
              <a:spcAft>
                <a:spcPts val="700"/>
              </a:spcAft>
              <a:defRPr sz="1500">
                <a:solidFill>
                  <a:srgbClr val="1A222A"/>
                </a:solidFill>
                <a:latin typeface="Aptos"/>
              </a:defRPr>
            </a:pPr>
            <a:r>
              <a:t>05_consume_orders_kafka.hpl consumes batches.</a:t>
            </a:r>
          </a:p>
          <a:p>
            <a:pPr>
              <a:buChar char="-"/>
              <a:spcAft>
                <a:spcPts val="700"/>
              </a:spcAft>
              <a:defRPr sz="1500">
                <a:solidFill>
                  <a:srgbClr val="1A222A"/>
                </a:solidFill>
                <a:latin typeface="Aptos"/>
              </a:defRPr>
            </a:pPr>
            <a:r>
              <a:t>06_kafka_order_batch_subpipeline.hpl parses JSON, filters NEW, deduplicates and aggregates.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LAB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Workflow orchestration ties the batch labs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1234440" cy="42062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2011680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048256"/>
            <a:ext cx="1234440" cy="42062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First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011680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048256"/>
            <a:ext cx="1234440" cy="42062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011680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2048256"/>
            <a:ext cx="1234440" cy="42062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Enrich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011680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52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048256"/>
            <a:ext cx="1234440" cy="42062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DB write/read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011680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52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048256"/>
            <a:ext cx="1234440" cy="42062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Success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57400" y="2249424"/>
            <a:ext cx="22860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2249424"/>
            <a:ext cx="22860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49240" y="2249424"/>
            <a:ext cx="22860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20840" y="2249424"/>
            <a:ext cx="22860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49640" y="2249424"/>
            <a:ext cx="22860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943600" y="3246120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B24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3282696"/>
            <a:ext cx="1463040" cy="42062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Failure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0" y="2542032"/>
            <a:ext cx="182880" cy="704088"/>
          </a:xfrm>
          <a:prstGeom prst="line">
            <a:avLst/>
          </a:prstGeom>
          <a:ln w="31750">
            <a:solidFill>
              <a:srgbClr val="B24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4572000"/>
            <a:ext cx="9966960" cy="5486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defRPr sz="1800" b="1">
                <a:solidFill>
                  <a:srgbClr val="0D3F5E"/>
                </a:solidFill>
                <a:latin typeface="Aptos"/>
              </a:defRPr>
            </a:pPr>
            <a:r>
              <a:t>Workflow file: workflows/01_day6_batch_orchestration.hwf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MEDALLION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Day 6 transforms Bronze-like raw inputs into Silver-ready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68296"/>
            <a:ext cx="164592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Raw files / CDC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33172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266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368296"/>
            <a:ext cx="164592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Bronze Kafka / 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33172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368296"/>
            <a:ext cx="164592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Hop transforms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233172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52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2368296"/>
            <a:ext cx="164592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Silver clean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33172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C49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368296"/>
            <a:ext cx="1645920" cy="51206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Gold analytics-ready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06040" y="2615184"/>
            <a:ext cx="32004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09160" y="2615184"/>
            <a:ext cx="32004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86600" y="2615184"/>
            <a:ext cx="320040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98280" y="2615184"/>
            <a:ext cx="320039" cy="0"/>
          </a:xfrm>
          <a:prstGeom prst="line">
            <a:avLst/>
          </a:prstGeom>
          <a:ln w="3175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5840" y="4114800"/>
            <a:ext cx="9601200" cy="10058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buChar char="-"/>
              <a:spcAft>
                <a:spcPts val="700"/>
              </a:spcAft>
              <a:defRPr sz="1600">
                <a:solidFill>
                  <a:srgbClr val="1A222A"/>
                </a:solidFill>
                <a:latin typeface="Aptos"/>
              </a:defRPr>
            </a:pPr>
            <a:r>
              <a:t>Cleaning, standardization, validation, deduplication and enrichment are Silver responsibilities.</a:t>
            </a:r>
          </a:p>
          <a:p>
            <a:pPr>
              <a:buChar char="-"/>
              <a:spcAft>
                <a:spcPts val="700"/>
              </a:spcAft>
              <a:defRPr sz="1600">
                <a:solidFill>
                  <a:srgbClr val="1A222A"/>
                </a:solidFill>
                <a:latin typeface="Aptos"/>
              </a:defRPr>
            </a:pPr>
            <a:r>
              <a:t>Workflow evidence proves the lab is repeatable, not just a one-off demo.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RUN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What learners should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607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63624"/>
            <a:ext cx="1027785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Hop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92808"/>
            <a:ext cx="10277856" cy="9143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1A222A"/>
                </a:solidFill>
                <a:latin typeface="Aptos"/>
              </a:defRPr>
            </a:pPr>
            <a:r>
              <a:t>00-06 .hpl files and 01_day6_batch_orchestration.hwf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59152"/>
            <a:ext cx="10607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05456"/>
            <a:ext cx="1027785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CSV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834640"/>
            <a:ext cx="10277856" cy="9143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1A222A"/>
                </a:solidFill>
                <a:latin typeface="Aptos"/>
              </a:defRPr>
            </a:pPr>
            <a:r>
              <a:t>first_pipeline_result, customers_cleaned/rejected, orders_enriched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00984"/>
            <a:ext cx="10607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447288"/>
            <a:ext cx="1027785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PostgreSQL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776472"/>
            <a:ext cx="10277856" cy="9143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1A222A"/>
                </a:solidFill>
                <a:latin typeface="Aptos"/>
              </a:defRPr>
            </a:pPr>
            <a:r>
              <a:t>customers_cleaned rows and postgres_customers_de.csv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242816"/>
            <a:ext cx="10607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389120"/>
            <a:ext cx="1027785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Kafka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718304"/>
            <a:ext cx="10277856" cy="9143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1A222A"/>
                </a:solidFill>
                <a:latin typeface="Aptos"/>
              </a:defRPr>
            </a:pPr>
            <a:r>
              <a:t>orders.cdc, orders.cleaned, orders.customer_totals in Kafka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184648"/>
            <a:ext cx="10607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5330952"/>
            <a:ext cx="10277856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D3F5E"/>
                </a:solidFill>
                <a:latin typeface="Aptos"/>
              </a:defRPr>
            </a:pPr>
            <a:r>
              <a:t>Troubleshooting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5660136"/>
            <a:ext cx="10277856" cy="9143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1A222A"/>
                </a:solidFill>
                <a:latin typeface="Aptos"/>
              </a:defRPr>
            </a:pPr>
            <a:r>
              <a:t>What failed, what was fixed, and which log proved it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Medium article screenshots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C79"/>
                </a:solidFill>
                <a:latin typeface="Aptos"/>
              </a:defRPr>
            </a:pPr>
            <a:r>
              <a:t>All article images are embedded for classroom reference.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9"/>
                </a:solidFill>
              </a:defRPr>
            </a:pPr>
            <a:r>
              <a:t>Images: Samuel Second Medium article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31</a:t>
            </a:r>
          </a:p>
        </p:txBody>
      </p:sp>
      <p:pic>
        <p:nvPicPr>
          <p:cNvPr id="8" name="Picture 7" descr="article_image_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82" y="1508760"/>
            <a:ext cx="2281428" cy="22814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508760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91056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pic>
        <p:nvPicPr>
          <p:cNvPr id="12" name="Picture 11" descr="article_image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1810456"/>
            <a:ext cx="2633472" cy="167803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374136" y="1508760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9856" y="1554480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1591056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pic>
        <p:nvPicPr>
          <p:cNvPr id="16" name="Picture 15" descr="article_image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517800"/>
            <a:ext cx="2633472" cy="263347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153912" y="1508760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9632" y="1554480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591056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pic>
        <p:nvPicPr>
          <p:cNvPr id="20" name="Picture 19" descr="article_image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3688" y="1882005"/>
            <a:ext cx="2633472" cy="153493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933688" y="1508760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79408" y="1554480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8" y="1591056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24" name="Picture 23" descr="article_image_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200879"/>
            <a:ext cx="2633472" cy="175265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94360" y="3936491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3982211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018787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28" name="Picture 27" descr="article_image_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4965096"/>
            <a:ext cx="2633472" cy="22421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374136" y="3936491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19856" y="3982211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9856" y="4018787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32" name="Picture 31" descr="article_image_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912" y="4353385"/>
            <a:ext cx="2633472" cy="1447639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6153912" y="3936491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99632" y="3982211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2" y="4018787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36" name="Picture 35" descr="article_image_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3688" y="4663281"/>
            <a:ext cx="2633472" cy="827848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8933688" y="3936491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79408" y="3982211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79408" y="4018787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Medium article screenshots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C79"/>
                </a:solidFill>
                <a:latin typeface="Aptos"/>
              </a:defRPr>
            </a:pPr>
            <a:r>
              <a:t>All article images are embedded for classroom reference.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9"/>
                </a:solidFill>
              </a:defRPr>
            </a:pPr>
            <a:r>
              <a:t>Images: Samuel Second Medium article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32</a:t>
            </a:r>
          </a:p>
        </p:txBody>
      </p:sp>
      <p:pic>
        <p:nvPicPr>
          <p:cNvPr id="8" name="Picture 7" descr="article_im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06818"/>
            <a:ext cx="2633472" cy="48531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508760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91056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12" name="Picture 11" descr="article_imag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2067809"/>
            <a:ext cx="2633472" cy="116332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374136" y="1508760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9856" y="1554480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1591056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16" name="Picture 15" descr="article_image_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1534121"/>
            <a:ext cx="2633472" cy="223070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153912" y="1508760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9632" y="1554480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591056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20" name="Picture 19" descr="article_image_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3688" y="2040133"/>
            <a:ext cx="2633472" cy="1218681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933688" y="1508760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79408" y="1554480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8" y="1591056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24" name="Picture 23" descr="article_image_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595399"/>
            <a:ext cx="2633472" cy="963611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94360" y="3936491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3982211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018787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28" name="Picture 27" descr="article_image_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4096861"/>
            <a:ext cx="2633472" cy="1960687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374136" y="3936491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19856" y="3982211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9856" y="4018787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32" name="Picture 31" descr="article_image_1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912" y="4770765"/>
            <a:ext cx="2633472" cy="61288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6153912" y="3936491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99632" y="3982211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2" y="4018787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36" name="Picture 35" descr="article_image_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3688" y="4080248"/>
            <a:ext cx="2633472" cy="1993914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8933688" y="3936491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79408" y="3982211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79408" y="4018787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Medium article screenshots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C79"/>
                </a:solidFill>
                <a:latin typeface="Aptos"/>
              </a:defRPr>
            </a:pPr>
            <a:r>
              <a:t>All article images are embedded for classroom reference.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9"/>
                </a:solidFill>
              </a:defRPr>
            </a:pPr>
            <a:r>
              <a:t>Images: Samuel Second Medium article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33</a:t>
            </a:r>
          </a:p>
        </p:txBody>
      </p:sp>
      <p:pic>
        <p:nvPicPr>
          <p:cNvPr id="8" name="Picture 7" descr="article_imag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16060"/>
            <a:ext cx="2633472" cy="206682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508760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91056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12" name="Picture 11" descr="article_image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1950407"/>
            <a:ext cx="2633472" cy="139813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374136" y="1508760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9856" y="1554480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1591056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16" name="Picture 15" descr="article_image_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186475"/>
            <a:ext cx="2633472" cy="925997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153912" y="1508760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9632" y="1554480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591056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19</a:t>
            </a:r>
          </a:p>
        </p:txBody>
      </p:sp>
      <p:pic>
        <p:nvPicPr>
          <p:cNvPr id="20" name="Picture 19" descr="article_image_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3688" y="2278771"/>
            <a:ext cx="2633472" cy="74140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933688" y="1508760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79408" y="1554480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8" y="1591056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20</a:t>
            </a:r>
          </a:p>
        </p:txBody>
      </p:sp>
      <p:pic>
        <p:nvPicPr>
          <p:cNvPr id="24" name="Picture 23" descr="article_image_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208338"/>
            <a:ext cx="2633472" cy="1737733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94360" y="3936491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3982211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018787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21</a:t>
            </a:r>
          </a:p>
        </p:txBody>
      </p:sp>
      <p:pic>
        <p:nvPicPr>
          <p:cNvPr id="28" name="Picture 27" descr="article_image_2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4981167"/>
            <a:ext cx="2633472" cy="19207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374136" y="3936491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19856" y="3982211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9856" y="4018787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22</a:t>
            </a:r>
          </a:p>
        </p:txBody>
      </p:sp>
      <p:pic>
        <p:nvPicPr>
          <p:cNvPr id="32" name="Picture 31" descr="article_image_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912" y="4249542"/>
            <a:ext cx="2633472" cy="1655325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6153912" y="3936491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99632" y="3982211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2" y="4018787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23</a:t>
            </a:r>
          </a:p>
        </p:txBody>
      </p:sp>
      <p:pic>
        <p:nvPicPr>
          <p:cNvPr id="36" name="Picture 35" descr="article_image_2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3688" y="4047548"/>
            <a:ext cx="2633472" cy="2059313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8933688" y="3936491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79408" y="3982211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79408" y="4018787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Medium article screenshots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C79"/>
                </a:solidFill>
                <a:latin typeface="Aptos"/>
              </a:defRPr>
            </a:pPr>
            <a:r>
              <a:t>All article images are embedded for classroom reference.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9"/>
                </a:solidFill>
              </a:defRPr>
            </a:pPr>
            <a:r>
              <a:t>Images: Samuel Second Medium article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34</a:t>
            </a:r>
          </a:p>
        </p:txBody>
      </p:sp>
      <p:pic>
        <p:nvPicPr>
          <p:cNvPr id="8" name="Picture 7" descr="article_imag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41634"/>
            <a:ext cx="2633472" cy="1015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508760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91056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25</a:t>
            </a:r>
          </a:p>
        </p:txBody>
      </p:sp>
      <p:pic>
        <p:nvPicPr>
          <p:cNvPr id="12" name="Picture 11" descr="article_image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1665462"/>
            <a:ext cx="2633472" cy="196802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374136" y="1508760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9856" y="1554480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1591056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26</a:t>
            </a:r>
          </a:p>
        </p:txBody>
      </p:sp>
      <p:pic>
        <p:nvPicPr>
          <p:cNvPr id="16" name="Picture 15" descr="article_image_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421577"/>
            <a:ext cx="2633472" cy="45579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153912" y="1508760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9632" y="1554480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591056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27</a:t>
            </a:r>
          </a:p>
        </p:txBody>
      </p:sp>
      <p:pic>
        <p:nvPicPr>
          <p:cNvPr id="20" name="Picture 19" descr="article_image_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3688" y="2254844"/>
            <a:ext cx="2633472" cy="78926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933688" y="1508760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79408" y="1554480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8" y="1591056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28</a:t>
            </a:r>
          </a:p>
        </p:txBody>
      </p:sp>
      <p:pic>
        <p:nvPicPr>
          <p:cNvPr id="24" name="Picture 23" descr="article_image_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366168"/>
            <a:ext cx="2633472" cy="1422074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94360" y="3936491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3982211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018787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29</a:t>
            </a:r>
          </a:p>
        </p:txBody>
      </p:sp>
      <p:pic>
        <p:nvPicPr>
          <p:cNvPr id="28" name="Picture 27" descr="article_image_3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4763833"/>
            <a:ext cx="2633472" cy="626743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374136" y="3936491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19856" y="3982211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9856" y="4018787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30</a:t>
            </a:r>
          </a:p>
        </p:txBody>
      </p:sp>
      <p:pic>
        <p:nvPicPr>
          <p:cNvPr id="32" name="Picture 31" descr="article_image_3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912" y="4702876"/>
            <a:ext cx="2633472" cy="748658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6153912" y="3936491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99632" y="3982211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2" y="4018787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31</a:t>
            </a:r>
          </a:p>
        </p:txBody>
      </p:sp>
      <p:pic>
        <p:nvPicPr>
          <p:cNvPr id="36" name="Picture 35" descr="article_image_3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3688" y="4278287"/>
            <a:ext cx="2633472" cy="1597836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8933688" y="3936491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79408" y="3982211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79408" y="4018787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Medium article screenshots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C79"/>
                </a:solidFill>
                <a:latin typeface="Aptos"/>
              </a:defRPr>
            </a:pPr>
            <a:r>
              <a:t>All article images are embedded for classroom reference.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9"/>
                </a:solidFill>
              </a:defRPr>
            </a:pPr>
            <a:r>
              <a:t>Images: Samuel Second Medium article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35</a:t>
            </a:r>
          </a:p>
        </p:txBody>
      </p:sp>
      <p:pic>
        <p:nvPicPr>
          <p:cNvPr id="8" name="Picture 7" descr="article_imag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81406"/>
            <a:ext cx="2633472" cy="9361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508760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91056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33</a:t>
            </a:r>
          </a:p>
        </p:txBody>
      </p:sp>
      <p:pic>
        <p:nvPicPr>
          <p:cNvPr id="12" name="Picture 11" descr="article_image_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1899799"/>
            <a:ext cx="2633472" cy="149934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374136" y="1508760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9856" y="1554480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1591056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34</a:t>
            </a:r>
          </a:p>
        </p:txBody>
      </p:sp>
      <p:pic>
        <p:nvPicPr>
          <p:cNvPr id="16" name="Picture 15" descr="article_image_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1646771"/>
            <a:ext cx="2633472" cy="200540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153912" y="1508760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9632" y="1554480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591056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35</a:t>
            </a:r>
          </a:p>
        </p:txBody>
      </p:sp>
      <p:pic>
        <p:nvPicPr>
          <p:cNvPr id="20" name="Picture 19" descr="article_image_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3688" y="2285213"/>
            <a:ext cx="2633472" cy="728521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933688" y="1508760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79408" y="1554480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8" y="1591056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36</a:t>
            </a:r>
          </a:p>
        </p:txBody>
      </p:sp>
      <p:pic>
        <p:nvPicPr>
          <p:cNvPr id="24" name="Picture 23" descr="article_image_3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722" y="3936491"/>
            <a:ext cx="2582748" cy="2281428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94360" y="3936491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3982211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018787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37</a:t>
            </a:r>
          </a:p>
        </p:txBody>
      </p:sp>
      <p:pic>
        <p:nvPicPr>
          <p:cNvPr id="28" name="Picture 27" descr="article_image_3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0485" y="3936491"/>
            <a:ext cx="1980774" cy="228142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374136" y="3936491"/>
            <a:ext cx="2633472" cy="2281428"/>
          </a:xfrm>
          <a:prstGeom prst="rect">
            <a:avLst/>
          </a:prstGeom>
          <a:noFill/>
          <a:ln w="10160"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19856" y="3982211"/>
            <a:ext cx="365760" cy="201168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9856" y="4018787"/>
            <a:ext cx="365760" cy="14630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9192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3F5E"/>
                </a:solidFill>
                <a:latin typeface="Aptos Display"/>
              </a:defRPr>
            </a:pPr>
            <a:r>
              <a:t>Source trail for this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9"/>
                </a:solidFill>
              </a:defRPr>
            </a:pPr>
            <a: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058400" cy="42062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buChar char="-"/>
              <a:spcAft>
                <a:spcPts val="700"/>
              </a:spcAft>
              <a:defRPr sz="1600">
                <a:solidFill>
                  <a:srgbClr val="1A222A"/>
                </a:solidFill>
                <a:latin typeface="Aptos"/>
              </a:defRPr>
            </a:pPr>
            <a:r>
              <a:t>Apache Hop User Manual: Hop Web, Docker container, projects/environments, transform plugins, action plugins, metadata types, Kafka Consumer, Kafka Producer and PostgreSQL support.</a:t>
            </a:r>
          </a:p>
          <a:p>
            <a:pPr>
              <a:buChar char="-"/>
              <a:spcAft>
                <a:spcPts val="700"/>
              </a:spcAft>
              <a:defRPr sz="1600">
                <a:solidFill>
                  <a:srgbClr val="1A222A"/>
                </a:solidFill>
                <a:latin typeface="Aptos"/>
              </a:defRPr>
            </a:pPr>
            <a:r>
              <a:t>Samuel Second, Apache Hop, build and run your first pipeline, Medium, Dec 30, 2021: https://medium.com/@samuel.second/apache-hop-build-your-first-pipeline-6ee918ce5092</a:t>
            </a:r>
          </a:p>
          <a:p>
            <a:pPr>
              <a:buChar char="-"/>
              <a:spcAft>
                <a:spcPts val="700"/>
              </a:spcAft>
              <a:defRPr sz="1600">
                <a:solidFill>
                  <a:srgbClr val="1A222A"/>
                </a:solidFill>
                <a:latin typeface="Aptos"/>
              </a:defRPr>
            </a:pPr>
            <a:r>
              <a:t>Lab files in Week_02/Day_06/Lab_Files: docker-compose.yml, pipelines/*.hpl, workflows/*.hwf, metadata/rdbms/PostgreSQL_Medallion.json.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743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1F9192"/>
                </a:solidFill>
                <a:latin typeface="Aptos"/>
              </a:defRPr>
            </a:pPr>
            <a:r>
              <a:t>PDF ADD-ON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3000" b="1">
                <a:solidFill>
                  <a:srgbClr val="0D3F5E"/>
                </a:solidFill>
                <a:latin typeface="Aptos"/>
              </a:defRPr>
            </a:pPr>
            <a:r>
              <a:t>Hop is a modern, plugin-based successor to PDI/Kettle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51560"/>
            <a:ext cx="106070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5C6C79"/>
                </a:solidFill>
                <a:latin typeface="Aptos"/>
              </a:defRPr>
            </a:pPr>
            <a:r>
              <a:t>Low-code design, reusable metadata and execution portability are the core thesis.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1920240" cy="594360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93976"/>
            <a:ext cx="1920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Pentaho Kettle / PDI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057400"/>
            <a:ext cx="1920240" cy="594360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093976"/>
            <a:ext cx="1920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Apache Hop rebuild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057400"/>
            <a:ext cx="1920240" cy="594360"/>
          </a:xfrm>
          <a:prstGeom prst="roundRect">
            <a:avLst>
              <a:gd name="adj" fmla="val 8000"/>
            </a:avLst>
          </a:prstGeom>
          <a:solidFill>
            <a:srgbClr val="266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093976"/>
            <a:ext cx="1920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Plugin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057400"/>
            <a:ext cx="1920240" cy="594360"/>
          </a:xfrm>
          <a:prstGeom prst="roundRect">
            <a:avLst>
              <a:gd name="adj" fmla="val 8000"/>
            </a:avLst>
          </a:prstGeom>
          <a:solidFill>
            <a:srgbClr val="52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93976"/>
            <a:ext cx="1920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Portable pipelines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2359152"/>
            <a:ext cx="502920" cy="0"/>
          </a:xfrm>
          <a:prstGeom prst="line">
            <a:avLst/>
          </a:prstGeom>
          <a:ln w="2794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03520" y="2359152"/>
            <a:ext cx="502920" cy="0"/>
          </a:xfrm>
          <a:prstGeom prst="line">
            <a:avLst/>
          </a:prstGeom>
          <a:ln w="2794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72400" y="2359152"/>
            <a:ext cx="502920" cy="0"/>
          </a:xfrm>
          <a:prstGeom prst="line">
            <a:avLst/>
          </a:prstGeom>
          <a:ln w="2794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" y="3703320"/>
            <a:ext cx="329184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822191"/>
            <a:ext cx="299923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D3F5E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4142231"/>
            <a:ext cx="2999232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1A222A"/>
                </a:solidFill>
                <a:latin typeface="Aptos"/>
              </a:defRPr>
            </a:pPr>
            <a:r>
              <a:t>Low-code/no-code pipeline design; separation of pipelines, workflows and metadata.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703320"/>
            <a:ext cx="329184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3822191"/>
            <a:ext cx="299923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D3F5E"/>
                </a:solidFill>
                <a:latin typeface="Aptos"/>
              </a:defRPr>
            </a:pPr>
            <a:r>
              <a:t>Modularity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4142231"/>
            <a:ext cx="2999232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1A222A"/>
                </a:solidFill>
                <a:latin typeface="Aptos"/>
              </a:defRPr>
            </a:pPr>
            <a:r>
              <a:t>Input/output steps, transforms, actions, metadata objects and engines are extensible plugins.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703320"/>
            <a:ext cx="329184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3024" y="3822191"/>
            <a:ext cx="299923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D3F5E"/>
                </a:solidFill>
                <a:latin typeface="Aptos"/>
              </a:defRPr>
            </a:pPr>
            <a:r>
              <a:t>Portability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4142231"/>
            <a:ext cx="2999232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1A222A"/>
                </a:solidFill>
                <a:latin typeface="Aptos"/>
              </a:defRPr>
            </a:pPr>
            <a:r>
              <a:t>Develop locally, then move toward cloud, containers or distributed engines.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>
                <a:solidFill>
                  <a:srgbClr val="5C6C79"/>
                </a:solidFill>
                <a:latin typeface="Aptos"/>
              </a:defRPr>
            </a:pPr>
            <a:r>
              <a:t>Source: Apache Hop ILIDE.INFO PDF content reviewed from Slides folder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0528"/>
            <a:ext cx="685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900" b="0">
                <a:solidFill>
                  <a:srgbClr val="5C6C79"/>
                </a:solidFill>
                <a:latin typeface="Aptos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743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1F9192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3000" b="1">
                <a:solidFill>
                  <a:srgbClr val="0D3F5E"/>
                </a:solidFill>
                <a:latin typeface="Aptos"/>
              </a:defRPr>
            </a:pPr>
            <a:r>
              <a:t>Apache Hop feature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51560"/>
            <a:ext cx="106070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5C6C79"/>
                </a:solidFill>
                <a:latin typeface="Aptos"/>
              </a:defRPr>
            </a:pPr>
            <a:r>
              <a:t>The PDF emphasizes visual building, metadata-driven development, multi-engine execution, monitoring and extensibility.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81328"/>
            <a:ext cx="50292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600200"/>
            <a:ext cx="473659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D3F5E"/>
                </a:solidFill>
                <a:latin typeface="Aptos"/>
              </a:defRPr>
            </a:pPr>
            <a:r>
              <a:t>Visual 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920240"/>
            <a:ext cx="4736592" cy="41147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1A222A"/>
                </a:solidFill>
                <a:latin typeface="Aptos"/>
              </a:defRPr>
            </a:pPr>
            <a:r>
              <a:t>ETL transforms, CDC, file ingestion, API-to-database, data quality,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81328"/>
            <a:ext cx="50292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600200"/>
            <a:ext cx="473659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D3F5E"/>
                </a:solidFill>
                <a:latin typeface="Aptos"/>
              </a:defRPr>
            </a:pPr>
            <a:r>
              <a:t>Metadata-driven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920240"/>
            <a:ext cx="4736592" cy="41147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1A222A"/>
                </a:solidFill>
                <a:latin typeface="Aptos"/>
              </a:defRPr>
            </a:pPr>
            <a:r>
              <a:t>Reusable, Git-friendly, parameter-driven execution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97480"/>
            <a:ext cx="50292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816352"/>
            <a:ext cx="473659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D3F5E"/>
                </a:solidFill>
                <a:latin typeface="Aptos"/>
              </a:defRPr>
            </a:pPr>
            <a:r>
              <a:t>Multi-engine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136392"/>
            <a:ext cx="4736592" cy="41147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1A222A"/>
                </a:solidFill>
                <a:latin typeface="Aptos"/>
              </a:defRPr>
            </a:pPr>
            <a:r>
              <a:t>Local, Spark, Flink, Dataflow/Beam, Kubernetes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97480"/>
            <a:ext cx="50292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2816352"/>
            <a:ext cx="473659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D3F5E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136392"/>
            <a:ext cx="4736592" cy="41147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1A222A"/>
                </a:solidFill>
                <a:latin typeface="Aptos"/>
              </a:defRPr>
            </a:pPr>
            <a:r>
              <a:t>JDBC/NoSQL, CSV/JSON/Avro/Parquet/ORC, S3/GCS/Azure Blob, Kafka/MQTT, REST/SOAP, HDFS/Hive/HBase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13632"/>
            <a:ext cx="50292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4032504"/>
            <a:ext cx="473659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D3F5E"/>
                </a:solidFill>
                <a:latin typeface="Aptos"/>
              </a:defRPr>
            </a:pPr>
            <a:r>
              <a:t>Reusable components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4352544"/>
            <a:ext cx="4736592" cy="41147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1A222A"/>
                </a:solidFill>
                <a:latin typeface="Aptos"/>
              </a:defRPr>
            </a:pPr>
            <a:r>
              <a:t>Sub-pipelines, workflow actions, DB connections, schemas, parameterized pipelines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913632"/>
            <a:ext cx="50292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4032504"/>
            <a:ext cx="473659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D3F5E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4352544"/>
            <a:ext cx="4736592" cy="41147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1A222A"/>
                </a:solidFill>
                <a:latin typeface="Aptos"/>
              </a:defRPr>
            </a:pPr>
            <a:r>
              <a:t>Execution logs, statistics, retries, audit trails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>
                <a:solidFill>
                  <a:srgbClr val="5C6C79"/>
                </a:solidFill>
                <a:latin typeface="Aptos"/>
              </a:defRPr>
            </a:pPr>
            <a:r>
              <a:t>Source: Apache Hop ILIDE.INFO PDF content reviewed from Slides folder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685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900" b="0">
                <a:solidFill>
                  <a:srgbClr val="5C6C79"/>
                </a:solidFill>
                <a:latin typeface="Aptos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743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1F9192"/>
                </a:solidFill>
                <a:latin typeface="Aptos"/>
              </a:defRPr>
            </a:pPr>
            <a:r>
              <a:t>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3000" b="1">
                <a:solidFill>
                  <a:srgbClr val="0D3F5E"/>
                </a:solidFill>
                <a:latin typeface="Aptos"/>
              </a:defRPr>
            </a:pPr>
            <a:r>
              <a:t>Where Hop integrates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51560"/>
            <a:ext cx="106070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5C6C79"/>
                </a:solidFill>
                <a:latin typeface="Aptos"/>
              </a:defRPr>
            </a:pPr>
            <a:r>
              <a:t>Think of Hop as orchestration plus connectors, not only a file transformation tool.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2148840" cy="804672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73936"/>
            <a:ext cx="2148840" cy="7589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Big data</a:t>
            </a:r>
            <a:br/>
            <a:r>
              <a:t>Hadoop Spark Flink Beam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737360"/>
            <a:ext cx="2148840" cy="804672"/>
          </a:xfrm>
          <a:prstGeom prst="roundRect">
            <a:avLst>
              <a:gd name="adj" fmla="val 8000"/>
            </a:avLst>
          </a:prstGeom>
          <a:solidFill>
            <a:srgbClr val="266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773936"/>
            <a:ext cx="2148840" cy="7589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Cloud</a:t>
            </a:r>
            <a:br/>
            <a:r>
              <a:t>AWS Azure GCP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737360"/>
            <a:ext cx="2148840" cy="804672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773936"/>
            <a:ext cx="2148840" cy="7589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Streaming</a:t>
            </a:r>
            <a:br/>
            <a:r>
              <a:t>Kafka MQTT CDC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3886200"/>
            <a:ext cx="2148840" cy="804672"/>
          </a:xfrm>
          <a:prstGeom prst="roundRect">
            <a:avLst>
              <a:gd name="adj" fmla="val 8000"/>
            </a:avLst>
          </a:prstGeom>
          <a:solidFill>
            <a:srgbClr val="52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3922776"/>
            <a:ext cx="2148840" cy="7589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DevOps</a:t>
            </a:r>
            <a:br/>
            <a:r>
              <a:t>Git Jenkins GitLab Airflow K8s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71800" y="2148840"/>
            <a:ext cx="777239" cy="0"/>
          </a:xfrm>
          <a:prstGeom prst="line">
            <a:avLst/>
          </a:prstGeom>
          <a:ln w="2794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43600" y="2148840"/>
            <a:ext cx="777240" cy="0"/>
          </a:xfrm>
          <a:prstGeom prst="line">
            <a:avLst/>
          </a:prstGeom>
          <a:ln w="2794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92040" y="2761488"/>
            <a:ext cx="0" cy="1097280"/>
          </a:xfrm>
          <a:prstGeom prst="line">
            <a:avLst/>
          </a:prstGeom>
          <a:ln w="27940">
            <a:solidFill>
              <a:srgbClr val="266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5440680"/>
            <a:ext cx="102412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0D3F5E"/>
                </a:solidFill>
                <a:latin typeface="Aptos"/>
              </a:defRPr>
            </a:pPr>
            <a:r>
              <a:t>Pipeline-as-code means versioning and automation are natural: files can be reviewed, promoted and run through CI/CD.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>
                <a:solidFill>
                  <a:srgbClr val="5C6C79"/>
                </a:solidFill>
                <a:latin typeface="Aptos"/>
              </a:defRPr>
            </a:pPr>
            <a:r>
              <a:t>Source: Apache Hop ILIDE.INFO PDF content reviewed from Slides folder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0528"/>
            <a:ext cx="685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900" b="0">
                <a:solidFill>
                  <a:srgbClr val="5C6C79"/>
                </a:solidFill>
                <a:latin typeface="Aptos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743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1F9192"/>
                </a:solidFill>
                <a:latin typeface="Aptos"/>
              </a:defRPr>
            </a:pPr>
            <a: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3000" b="1">
                <a:solidFill>
                  <a:srgbClr val="0D3F5E"/>
                </a:solidFill>
                <a:latin typeface="Aptos"/>
              </a:defRPr>
            </a:pPr>
            <a:r>
              <a:t>Where Apache Hop fits in a data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24612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627631"/>
            <a:ext cx="295351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D3F5E"/>
                </a:solidFill>
                <a:latin typeface="Aptos"/>
              </a:defRPr>
            </a:pPr>
            <a:r>
              <a:t>ETL/ELT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1947672"/>
            <a:ext cx="2953512" cy="7040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1A222A"/>
                </a:solidFill>
                <a:latin typeface="Aptos"/>
              </a:defRPr>
            </a:pPr>
            <a:r>
              <a:t>Extract operational data, transform/standardize, load warehouses and lakes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24612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627631"/>
            <a:ext cx="295351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D3F5E"/>
                </a:solidFill>
                <a:latin typeface="Aptos"/>
              </a:defRPr>
            </a:pPr>
            <a:r>
              <a:t>Data lake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947672"/>
            <a:ext cx="2953512" cy="7040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1A222A"/>
                </a:solidFill>
                <a:latin typeface="Aptos"/>
              </a:defRPr>
            </a:pPr>
            <a:r>
              <a:t>Cloud object storage, Parquet/ORC, metadata-driven ingestion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08760"/>
            <a:ext cx="324612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1627631"/>
            <a:ext cx="295351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D3F5E"/>
                </a:solidFill>
                <a:latin typeface="Aptos"/>
              </a:defRPr>
            </a:pPr>
            <a:r>
              <a:t>Real-time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1947672"/>
            <a:ext cx="2953512" cy="7040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1A222A"/>
                </a:solidFill>
                <a:latin typeface="Aptos"/>
              </a:defRPr>
            </a:pPr>
            <a:r>
              <a:t>Kafka streaming, CDC ingestion, operational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54680"/>
            <a:ext cx="324612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3273552"/>
            <a:ext cx="295351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D3F5E"/>
                </a:solidFill>
                <a:latin typeface="Aptos"/>
              </a:defRPr>
            </a:pPr>
            <a:r>
              <a:t>Quality &amp;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3593592"/>
            <a:ext cx="2953512" cy="7040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1A222A"/>
                </a:solidFill>
                <a:latin typeface="Aptos"/>
              </a:defRPr>
            </a:pPr>
            <a:r>
              <a:t>Validation, profiling, matching and standardization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154680"/>
            <a:ext cx="324612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3273552"/>
            <a:ext cx="295351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D3F5E"/>
                </a:solidFill>
                <a:latin typeface="Aptos"/>
              </a:defRPr>
            </a:pPr>
            <a:r>
              <a:t>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3593592"/>
            <a:ext cx="2953512" cy="7040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1A222A"/>
                </a:solidFill>
                <a:latin typeface="Aptos"/>
              </a:defRPr>
            </a:pPr>
            <a:r>
              <a:t>External jobs, scripts/notebooks, multi-step workflows, alerts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154680"/>
            <a:ext cx="324612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273552"/>
            <a:ext cx="295351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D3F5E"/>
                </a:solidFill>
                <a:latin typeface="Aptos"/>
              </a:defRPr>
            </a:pPr>
            <a:r>
              <a:t>ML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593592"/>
            <a:ext cx="2953512" cy="7040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1A222A"/>
                </a:solidFill>
                <a:latin typeface="Aptos"/>
              </a:defRPr>
            </a:pPr>
            <a:r>
              <a:t>Data prep, feature engineering, Python/Spark ML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>
                <a:solidFill>
                  <a:srgbClr val="5C6C79"/>
                </a:solidFill>
                <a:latin typeface="Aptos"/>
              </a:defRPr>
            </a:pPr>
            <a:r>
              <a:t>Source: Apache Hop ILIDE.INFO PDF content reviewed from Slides folder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685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900" b="0">
                <a:solidFill>
                  <a:srgbClr val="5C6C79"/>
                </a:solidFill>
                <a:latin typeface="Aptos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743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1F9192"/>
                </a:solidFill>
                <a:latin typeface="Aptos"/>
              </a:defRPr>
            </a:pPr>
            <a:r>
              <a:t>ADVANTAGES AND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3000" b="1">
                <a:solidFill>
                  <a:srgbClr val="0D3F5E"/>
                </a:solidFill>
                <a:latin typeface="Aptos"/>
              </a:defRPr>
            </a:pPr>
            <a:r>
              <a:t>Use Hop deliberately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5029200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719072"/>
            <a:ext cx="473659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D3F5E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039112"/>
            <a:ext cx="4736592" cy="306323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1A222A"/>
                </a:solidFill>
                <a:latin typeface="Aptos"/>
              </a:defRPr>
            </a:pPr>
            <a:r>
              <a:t>Modern successor to PDI/Kettle</a:t>
            </a:r>
            <a:br/>
            <a:r>
              <a:t>More modular architecture</a:t>
            </a:r>
            <a:br/>
            <a:r>
              <a:t>Multi-environment support</a:t>
            </a:r>
            <a:br/>
            <a:r>
              <a:t>Cloud-native adaptability</a:t>
            </a:r>
            <a:br/>
            <a:r>
              <a:t>Low-code productivity</a:t>
            </a:r>
            <a:br/>
            <a:r>
              <a:t>Reusable/debuggable/version-controlled assets</a:t>
            </a:r>
            <a:br/>
            <a:r>
              <a:t>Extensible plugin-driven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00200"/>
            <a:ext cx="5029200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1719072"/>
            <a:ext cx="473659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D3F5E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2039112"/>
            <a:ext cx="4736592" cy="306323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1A222A"/>
                </a:solidFill>
                <a:latin typeface="Aptos"/>
              </a:defRPr>
            </a:pPr>
            <a:r>
              <a:t>Not a full processing engine by itself</a:t>
            </a:r>
            <a:br/>
            <a:r>
              <a:t>Requires familiarity with visual ETL tools</a:t>
            </a:r>
            <a:br/>
            <a:r>
              <a:t>Heavy custom code may belong outside Hop</a:t>
            </a:r>
            <a:br/>
            <a:r>
              <a:t>Built-in ML is limited and usually depends on external engines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532120"/>
            <a:ext cx="8595360" cy="502920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5568696"/>
            <a:ext cx="8595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Best fit: visual, metadata-driven, portable ETL/ELT and orchestration.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>
                <a:solidFill>
                  <a:srgbClr val="5C6C79"/>
                </a:solidFill>
                <a:latin typeface="Aptos"/>
              </a:defRPr>
            </a:pPr>
            <a:r>
              <a:t>Source: Apache Hop ILIDE.INFO PDF content reviewed from Slides folder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0528"/>
            <a:ext cx="685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900" b="0">
                <a:solidFill>
                  <a:srgbClr val="5C6C79"/>
                </a:solidFill>
                <a:latin typeface="Aptos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743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1F9192"/>
                </a:solidFill>
                <a:latin typeface="Aptos"/>
              </a:defRPr>
            </a:pPr>
            <a:r>
              <a:t>HPL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3000" b="1">
                <a:solidFill>
                  <a:srgbClr val="0D3F5E"/>
                </a:solidFill>
                <a:latin typeface="Aptos"/>
              </a:defRPr>
            </a:pPr>
            <a:r>
              <a:t>A Hop pipeline is XML metadata that describes transforms and hops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669280" cy="43891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0">
                <a:solidFill>
                  <a:srgbClr val="1A222A"/>
                </a:solidFill>
                <a:latin typeface="Aptos"/>
              </a:defRPr>
            </a:pPr>
            <a:r>
              <a:t>&lt;pipeline&gt;</a:t>
            </a:r>
            <a:br/>
            <a:r>
              <a:t>  &lt;transform name="CSV file input" type="CsvInput"&gt;</a:t>
            </a:r>
            <a:br/>
            <a:r>
              <a:t>    &lt;filename&gt;${PROJECT_HOME}/data/customers.csv&lt;/filename&gt;</a:t>
            </a:r>
            <a:br/>
            <a:r>
              <a:t>  &lt;/transform&gt;</a:t>
            </a:r>
            <a:br/>
            <a:r>
              <a:t>  &lt;transform name="Keep Valid" type="FilterRows"&gt;</a:t>
            </a:r>
            <a:br/>
            <a:r>
              <a:t>    &lt;condition&gt;email &lt;&gt; ""&lt;/condition&gt;</a:t>
            </a:r>
            <a:br/>
            <a:r>
              <a:t>  &lt;/transform&gt;</a:t>
            </a:r>
            <a:br/>
            <a:r>
              <a:t>  &lt;transform name="Write to PostgreSQL" type="TableOutput"&gt;</a:t>
            </a:r>
            <a:br/>
            <a:r>
              <a:t>    &lt;connection&gt;PostgreSQL_Medallion&lt;/connection&gt;</a:t>
            </a:r>
            <a:br/>
            <a:r>
              <a:t>  &lt;/transform&gt;</a:t>
            </a:r>
            <a:br/>
            <a:r>
              <a:t>  &lt;hop from="CSV file input" to="Keep Valid"/&gt;</a:t>
            </a:r>
            <a:br/>
            <a:r>
              <a:t>&lt;/pipeline&gt;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645920"/>
            <a:ext cx="4114800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50024" y="1764792"/>
            <a:ext cx="3822191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D3F5E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0024" y="2084832"/>
            <a:ext cx="3822191" cy="59435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1A222A"/>
                </a:solidFill>
                <a:latin typeface="Aptos"/>
              </a:defRPr>
            </a:pPr>
            <a:r>
              <a:t>The visual canvas is backed by portable XML files that can be stored in Git.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3063240"/>
            <a:ext cx="4114800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50024" y="3182112"/>
            <a:ext cx="3822191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D3F5E"/>
                </a:solidFill>
                <a:latin typeface="Aptos"/>
              </a:defRPr>
            </a:pPr>
            <a:r>
              <a:t>Lab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0024" y="3502152"/>
            <a:ext cx="3822191" cy="59435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1A222A"/>
                </a:solidFill>
                <a:latin typeface="Aptos"/>
              </a:defRPr>
            </a:pPr>
            <a:r>
              <a:t>00-06 .hpl files are the real definitions students open and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4480560"/>
            <a:ext cx="4114800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0024" y="4599432"/>
            <a:ext cx="3822191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D3F5E"/>
                </a:solidFill>
                <a:latin typeface="Aptos"/>
              </a:defRPr>
            </a:pPr>
            <a:r>
              <a:t>Review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0024" y="4919472"/>
            <a:ext cx="3822191" cy="59435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1A222A"/>
                </a:solidFill>
                <a:latin typeface="Aptos"/>
              </a:defRPr>
            </a:pPr>
            <a:r>
              <a:t>Inspect transform names, plugin types, file paths, connections and hop routes.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>
                <a:solidFill>
                  <a:srgbClr val="5C6C79"/>
                </a:solidFill>
                <a:latin typeface="Aptos"/>
              </a:defRPr>
            </a:pPr>
            <a:r>
              <a:t>Source: Apache Hop ILIDE.INFO PDF content reviewed from Slides folder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685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900" b="0">
                <a:solidFill>
                  <a:srgbClr val="5C6C79"/>
                </a:solidFill>
                <a:latin typeface="Aptos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2743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1F9192"/>
                </a:solidFill>
                <a:latin typeface="Aptos"/>
              </a:defRPr>
            </a:pPr>
            <a:r>
              <a:t>WHEN TO USE 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3000" b="1">
                <a:solidFill>
                  <a:srgbClr val="0D3F5E"/>
                </a:solidFill>
                <a:latin typeface="Aptos"/>
              </a:defRPr>
            </a:pPr>
            <a:r>
              <a:t>Summary from the PDF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417320"/>
            <a:ext cx="9875520" cy="438912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53896"/>
            <a:ext cx="987552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Visual, metadata-driven, low-code ETL/ELT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075688"/>
            <a:ext cx="9875520" cy="438912"/>
          </a:xfrm>
          <a:prstGeom prst="roundRect">
            <a:avLst>
              <a:gd name="adj" fmla="val 8000"/>
            </a:avLst>
          </a:prstGeom>
          <a:solidFill>
            <a:srgbClr val="266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12264"/>
            <a:ext cx="987552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Portable pipelines across local, cloud and distributed engines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734056"/>
            <a:ext cx="9875520" cy="438912"/>
          </a:xfrm>
          <a:prstGeom prst="roundRect">
            <a:avLst>
              <a:gd name="adj" fmla="val 8000"/>
            </a:avLst>
          </a:prstGeom>
          <a:solidFill>
            <a:srgbClr val="1F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70632"/>
            <a:ext cx="987552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Integration with Hadoop, Spark, Beam and Kafka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392424"/>
            <a:ext cx="9875520" cy="438912"/>
          </a:xfrm>
          <a:prstGeom prst="roundRect">
            <a:avLst>
              <a:gd name="adj" fmla="val 8000"/>
            </a:avLst>
          </a:prstGeom>
          <a:solidFill>
            <a:srgbClr val="52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29000"/>
            <a:ext cx="987552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Easy orchestration of complex workflows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050791"/>
            <a:ext cx="9875520" cy="438912"/>
          </a:xfrm>
          <a:prstGeom prst="roundRect">
            <a:avLst>
              <a:gd name="adj" fmla="val 8000"/>
            </a:avLst>
          </a:prstGeom>
          <a:solidFill>
            <a:srgbClr val="C49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087368"/>
            <a:ext cx="987552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Reusable components and multi-environment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709159"/>
            <a:ext cx="9875520" cy="438912"/>
          </a:xfrm>
          <a:prstGeom prst="roundRect">
            <a:avLst>
              <a:gd name="adj" fmla="val 8000"/>
            </a:avLst>
          </a:prstGeom>
          <a:solidFill>
            <a:srgbClr val="0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45736"/>
            <a:ext cx="987552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Extensible, open-source, no vendor lock-in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>
                <a:solidFill>
                  <a:srgbClr val="5C6C79"/>
                </a:solidFill>
                <a:latin typeface="Aptos"/>
              </a:defRPr>
            </a:pPr>
            <a:r>
              <a:t>Source: Apache Hop ILIDE.INFO PDF content reviewed from Slides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685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900" b="0">
                <a:solidFill>
                  <a:srgbClr val="5C6C79"/>
                </a:solidFill>
                <a:latin typeface="Aptos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