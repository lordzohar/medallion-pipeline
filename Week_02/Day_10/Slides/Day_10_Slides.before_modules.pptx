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2"/>
    <p:sldId id="283" r:id="rId33"/>
    <p:sldId id="284" r:id="rId34"/>
    <p:sldId id="285" r:id="rId35"/>
    <p:sldId id="286" r:id="rId36"/>
    <p:sldId id="287" r:id="rId37"/>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presProps" Target="presProps.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80DF5083-2F90-49C2-B733-581E2EFD1F2D}"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0" y="0"/>
            <a:ext cx="0" cy="0"/>
          </a:xfrm>
          <a:prstGeom prst="rect">
            <a:avLst/>
          </a:prstGeom>
          <a:ln w="0">
            <a:noFill/>
          </a:ln>
        </p:spPr>
      </p:sp>
      <p:sp>
        <p:nvSpPr>
          <p:cNvPr id="33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31"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0" y="0"/>
            <a:ext cx="0" cy="0"/>
          </a:xfrm>
          <a:prstGeom prst="rect">
            <a:avLst/>
          </a:prstGeom>
          <a:ln w="0">
            <a:noFill/>
          </a:ln>
        </p:spPr>
      </p:sp>
      <p:sp>
        <p:nvSpPr>
          <p:cNvPr id="33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34"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IN" sz="1800" b="0" u="none" strike="noStrike">
              <a:solidFill>
                <a:srgbClr val="000000"/>
              </a:solidFill>
              <a:effectLst/>
              <a:uFillTx/>
              <a:latin typeface="Arial"/>
            </a:endParaRPr>
          </a:p>
        </p:txBody>
      </p:sp>
      <p:sp>
        <p:nvSpPr>
          <p:cNvPr id="33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p>
            <a:pPr indent="0">
              <a:buNone/>
            </a:pPr>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0" y="0"/>
            <a:ext cx="0" cy="0"/>
          </a:xfrm>
          <a:prstGeom prst="rect">
            <a:avLst/>
          </a:prstGeom>
          <a:ln w="0">
            <a:noFill/>
          </a:ln>
        </p:spPr>
      </p:sp>
      <p:sp>
        <p:nvSpPr>
          <p:cNvPr id="33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0"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0" y="0"/>
            <a:ext cx="0" cy="0"/>
          </a:xfrm>
          <a:prstGeom prst="rect">
            <a:avLst/>
          </a:prstGeom>
          <a:ln w="0">
            <a:noFill/>
          </a:ln>
        </p:spPr>
      </p:sp>
      <p:sp>
        <p:nvSpPr>
          <p:cNvPr id="34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3"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IN" sz="1800" b="0" u="none" strike="noStrike">
              <a:solidFill>
                <a:srgbClr val="000000"/>
              </a:solidFill>
              <a:effectLst/>
              <a:uFillTx/>
              <a:latin typeface="Arial"/>
            </a:endParaRPr>
          </a:p>
        </p:txBody>
      </p:sp>
      <p:sp>
        <p:nvSpPr>
          <p:cNvPr id="34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p>
            <a:pPr indent="0">
              <a:buNone/>
            </a:pPr>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0" y="0"/>
            <a:ext cx="0" cy="0"/>
          </a:xfrm>
          <a:prstGeom prst="rect">
            <a:avLst/>
          </a:prstGeom>
          <a:ln w="0">
            <a:noFill/>
          </a:ln>
        </p:spPr>
      </p:sp>
      <p:sp>
        <p:nvSpPr>
          <p:cNvPr id="34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9"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0" y="0"/>
            <a:ext cx="0" cy="0"/>
          </a:xfrm>
          <a:prstGeom prst="rect">
            <a:avLst/>
          </a:prstGeom>
          <a:ln w="0">
            <a:noFill/>
          </a:ln>
        </p:spPr>
      </p:sp>
      <p:sp>
        <p:nvSpPr>
          <p:cNvPr id="35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2"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0" y="0"/>
            <a:ext cx="0" cy="0"/>
          </a:xfrm>
          <a:prstGeom prst="rect">
            <a:avLst/>
          </a:prstGeom>
          <a:ln w="0">
            <a:noFill/>
          </a:ln>
        </p:spPr>
      </p:sp>
      <p:sp>
        <p:nvSpPr>
          <p:cNvPr id="35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5"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0" y="0"/>
            <a:ext cx="0" cy="0"/>
          </a:xfrm>
          <a:prstGeom prst="rect">
            <a:avLst/>
          </a:prstGeom>
          <a:ln w="0">
            <a:noFill/>
          </a:ln>
        </p:spPr>
      </p:sp>
      <p:sp>
        <p:nvSpPr>
          <p:cNvPr id="35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8"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0" y="0"/>
            <a:ext cx="0" cy="0"/>
          </a:xfrm>
          <a:prstGeom prst="rect">
            <a:avLst/>
          </a:prstGeom>
          <a:ln w="0">
            <a:noFill/>
          </a:ln>
        </p:spPr>
      </p:sp>
      <p:sp>
        <p:nvSpPr>
          <p:cNvPr id="36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1"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0" y="0"/>
            <a:ext cx="0" cy="0"/>
          </a:xfrm>
          <a:prstGeom prst="rect">
            <a:avLst/>
          </a:prstGeom>
          <a:ln w="0">
            <a:noFill/>
          </a:ln>
        </p:spPr>
      </p:sp>
      <p:sp>
        <p:nvSpPr>
          <p:cNvPr id="36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4"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0" y="0"/>
            <a:ext cx="0" cy="0"/>
          </a:xfrm>
          <a:prstGeom prst="rect">
            <a:avLst/>
          </a:prstGeom>
          <a:ln w="0">
            <a:noFill/>
          </a:ln>
        </p:spPr>
      </p:sp>
      <p:sp>
        <p:nvSpPr>
          <p:cNvPr id="36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7"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0" y="0"/>
            <a:ext cx="0" cy="0"/>
          </a:xfrm>
          <a:prstGeom prst="rect">
            <a:avLst/>
          </a:prstGeom>
          <a:ln w="0">
            <a:noFill/>
          </a:ln>
        </p:spPr>
      </p:sp>
      <p:sp>
        <p:nvSpPr>
          <p:cNvPr id="36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0"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0" y="0"/>
            <a:ext cx="0" cy="0"/>
          </a:xfrm>
          <a:prstGeom prst="rect">
            <a:avLst/>
          </a:prstGeom>
          <a:ln w="0">
            <a:noFill/>
          </a:ln>
        </p:spPr>
      </p:sp>
      <p:sp>
        <p:nvSpPr>
          <p:cNvPr id="37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3"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0" y="0"/>
            <a:ext cx="0" cy="0"/>
          </a:xfrm>
          <a:prstGeom prst="rect">
            <a:avLst/>
          </a:prstGeom>
          <a:ln w="0">
            <a:noFill/>
          </a:ln>
        </p:spPr>
      </p:sp>
      <p:sp>
        <p:nvSpPr>
          <p:cNvPr id="3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6"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0" y="0"/>
            <a:ext cx="0" cy="0"/>
          </a:xfrm>
          <a:prstGeom prst="rect">
            <a:avLst/>
          </a:prstGeom>
          <a:ln w="0">
            <a:noFill/>
          </a:ln>
        </p:spPr>
      </p:sp>
      <p:sp>
        <p:nvSpPr>
          <p:cNvPr id="37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9"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0" y="0"/>
            <a:ext cx="0" cy="0"/>
          </a:xfrm>
          <a:prstGeom prst="rect">
            <a:avLst/>
          </a:prstGeom>
          <a:ln w="0">
            <a:noFill/>
          </a:ln>
        </p:spPr>
      </p:sp>
      <p:sp>
        <p:nvSpPr>
          <p:cNvPr id="38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2" name="PlaceHolder 3"/>
          <p:cNvSpPr>
            <a:spLocks noGrp="1"/>
          </p:cNvSpPr>
          <p:nvPr>
            <p:ph type="sldNum" idx="21"/>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0" y="0"/>
            <a:ext cx="0" cy="0"/>
          </a:xfrm>
          <a:prstGeom prst="rect">
            <a:avLst/>
          </a:prstGeom>
          <a:ln w="0">
            <a:noFill/>
          </a:ln>
        </p:spPr>
      </p:sp>
      <p:sp>
        <p:nvSpPr>
          <p:cNvPr id="38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5" name="PlaceHolder 3"/>
          <p:cNvSpPr>
            <a:spLocks noGrp="1"/>
          </p:cNvSpPr>
          <p:nvPr>
            <p:ph type="sldNum" idx="22"/>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0" y="0"/>
            <a:ext cx="0" cy="0"/>
          </a:xfrm>
          <a:prstGeom prst="rect">
            <a:avLst/>
          </a:prstGeom>
          <a:ln w="0">
            <a:noFill/>
          </a:ln>
        </p:spPr>
      </p:sp>
      <p:sp>
        <p:nvSpPr>
          <p:cNvPr id="38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8" name="PlaceHolder 3"/>
          <p:cNvSpPr>
            <a:spLocks noGrp="1"/>
          </p:cNvSpPr>
          <p:nvPr>
            <p:ph type="sldNum" idx="23"/>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0" y="0"/>
            <a:ext cx="0" cy="0"/>
          </a:xfrm>
          <a:prstGeom prst="rect">
            <a:avLst/>
          </a:prstGeom>
          <a:ln w="0">
            <a:noFill/>
          </a:ln>
        </p:spPr>
      </p:sp>
      <p:sp>
        <p:nvSpPr>
          <p:cNvPr id="39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1" name="PlaceHolder 3"/>
          <p:cNvSpPr>
            <a:spLocks noGrp="1"/>
          </p:cNvSpPr>
          <p:nvPr>
            <p:ph type="sldNum" idx="2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0" y="0"/>
            <a:ext cx="0" cy="0"/>
          </a:xfrm>
          <a:prstGeom prst="rect">
            <a:avLst/>
          </a:prstGeom>
          <a:ln w="0">
            <a:noFill/>
          </a:ln>
        </p:spPr>
      </p:sp>
      <p:sp>
        <p:nvSpPr>
          <p:cNvPr id="39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4" name="PlaceHolder 3"/>
          <p:cNvSpPr>
            <a:spLocks noGrp="1"/>
          </p:cNvSpPr>
          <p:nvPr>
            <p:ph type="sldNum" idx="2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0" y="0"/>
            <a:ext cx="0" cy="0"/>
          </a:xfrm>
          <a:prstGeom prst="rect">
            <a:avLst/>
          </a:prstGeom>
          <a:ln w="0">
            <a:noFill/>
          </a:ln>
        </p:spPr>
      </p:sp>
      <p:sp>
        <p:nvSpPr>
          <p:cNvPr id="39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7" name="PlaceHolder 3"/>
          <p:cNvSpPr>
            <a:spLocks noGrp="1"/>
          </p:cNvSpPr>
          <p:nvPr>
            <p:ph type="sldNum" idx="26"/>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0" y="0"/>
            <a:ext cx="0" cy="0"/>
          </a:xfrm>
          <a:prstGeom prst="rect">
            <a:avLst/>
          </a:prstGeom>
          <a:ln w="0">
            <a:noFill/>
          </a:ln>
        </p:spPr>
      </p:sp>
      <p:sp>
        <p:nvSpPr>
          <p:cNvPr id="39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0" name="PlaceHolder 3"/>
          <p:cNvSpPr>
            <a:spLocks noGrp="1"/>
          </p:cNvSpPr>
          <p:nvPr>
            <p:ph type="sldNum" idx="2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0" y="0"/>
            <a:ext cx="0" cy="0"/>
          </a:xfrm>
          <a:prstGeom prst="rect">
            <a:avLst/>
          </a:prstGeom>
          <a:ln w="0">
            <a:noFill/>
          </a:ln>
        </p:spPr>
      </p:sp>
      <p:sp>
        <p:nvSpPr>
          <p:cNvPr id="40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3" name="PlaceHolder 3"/>
          <p:cNvSpPr>
            <a:spLocks noGrp="1"/>
          </p:cNvSpPr>
          <p:nvPr>
            <p:ph type="sldNum" idx="2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0" y="0"/>
            <a:ext cx="0" cy="0"/>
          </a:xfrm>
          <a:prstGeom prst="rect">
            <a:avLst/>
          </a:prstGeom>
          <a:ln w="0">
            <a:noFill/>
          </a:ln>
        </p:spPr>
      </p:sp>
      <p:sp>
        <p:nvSpPr>
          <p:cNvPr id="40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6" name="PlaceHolder 3"/>
          <p:cNvSpPr>
            <a:spLocks noGrp="1"/>
          </p:cNvSpPr>
          <p:nvPr>
            <p:ph type="sldNum" idx="29"/>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6840" y="205200"/>
            <a:ext cx="8229240" cy="858600"/>
          </a:xfrm>
          <a:prstGeom prst="rect">
            <a:avLst/>
          </a:prstGeom>
          <a:noFill/>
          <a:ln w="0">
            <a:noFill/>
          </a:ln>
        </p:spPr>
        <p:txBody>
          <a:bodyPr lIns="0" rIns="0" tIns="0" bIns="0" anchor="ctr">
            <a:noAutofit/>
          </a:bodyPr>
          <a:p>
            <a:pPr indent="0">
              <a:buNone/>
            </a:pPr>
            <a:r>
              <a:rPr lang="en-US" sz="1350" b="0" u="none" strike="noStrike">
                <a:solidFill>
                  <a:schemeClr val="dk1"/>
                </a:solidFill>
                <a:effectLst/>
                <a:uFillTx/>
                <a:latin typeface="Aptos"/>
              </a:rPr>
              <a:t>Click to edit the title text format</a:t>
            </a:r>
            <a:endParaRPr lang="en-US" sz="1350" b="0" u="none" strike="noStrike">
              <a:solidFill>
                <a:schemeClr val="dk1"/>
              </a:solidFill>
              <a:effectLst/>
              <a:uFillTx/>
              <a:latin typeface="Aptos"/>
            </a:endParaRPr>
          </a:p>
        </p:txBody>
      </p:sp>
      <p:sp>
        <p:nvSpPr>
          <p:cNvPr id="5" name="PlaceHolder 2"/>
          <p:cNvSpPr>
            <a:spLocks noGrp="1"/>
          </p:cNvSpPr>
          <p:nvPr>
            <p:ph type="body"/>
          </p:nvPr>
        </p:nvSpPr>
        <p:spPr>
          <a:xfrm>
            <a:off x="456840" y="1203120"/>
            <a:ext cx="8229240" cy="2982960"/>
          </a:xfrm>
          <a:prstGeom prst="rect">
            <a:avLst/>
          </a:prstGeom>
          <a:noFill/>
          <a:ln w="0">
            <a:noFill/>
          </a:ln>
        </p:spPr>
        <p:txBody>
          <a:bodyPr lIns="0" rIns="0" tIns="0" bIns="0" anchor="t">
            <a:normAutofit/>
          </a:bodyPr>
          <a:p>
            <a:pPr marL="432000" indent="-324000">
              <a:lnSpc>
                <a:spcPct val="90000"/>
              </a:lnSpc>
              <a:spcBef>
                <a:spcPts val="1063"/>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864000" lvl="1" indent="-324000">
              <a:lnSpc>
                <a:spcPct val="90000"/>
              </a:lnSpc>
              <a:spcBef>
                <a:spcPts val="848"/>
              </a:spcBef>
              <a:buClr>
                <a:srgbClr val="000000"/>
              </a:buClr>
              <a:buSzPct val="75000"/>
              <a:buFont typeface="Symbol" charset="2"/>
              <a:buChar char=""/>
            </a:pPr>
            <a:r>
              <a:rPr lang="en-US" sz="1500" b="0" u="none" strike="noStrike">
                <a:solidFill>
                  <a:schemeClr val="dk1"/>
                </a:solidFill>
                <a:effectLst/>
                <a:uFillTx/>
                <a:latin typeface="Aptos"/>
              </a:rPr>
              <a:t>Second Outline Level</a:t>
            </a:r>
            <a:endParaRPr lang="en-US" sz="1500" b="0" u="none" strike="noStrike">
              <a:solidFill>
                <a:schemeClr val="dk1"/>
              </a:solidFill>
              <a:effectLst/>
              <a:uFillTx/>
              <a:latin typeface="Aptos"/>
            </a:endParaRPr>
          </a:p>
          <a:p>
            <a:pPr marL="1296000" lvl="2" indent="-288000">
              <a:lnSpc>
                <a:spcPct val="90000"/>
              </a:lnSpc>
              <a:spcBef>
                <a:spcPts val="635"/>
              </a:spcBef>
              <a:buClr>
                <a:srgbClr val="000000"/>
              </a:buClr>
              <a:buSzPct val="45000"/>
              <a:buFont typeface="Wingdings" charset="2"/>
              <a:buChar char=""/>
            </a:pPr>
            <a:r>
              <a:rPr lang="en-US" sz="1350" b="0" u="none" strike="noStrike">
                <a:solidFill>
                  <a:schemeClr val="dk1"/>
                </a:solidFill>
                <a:effectLst/>
                <a:uFillTx/>
                <a:latin typeface="Aptos"/>
              </a:rPr>
              <a:t>Third Outline Level</a:t>
            </a:r>
            <a:endParaRPr lang="en-US" sz="1350" b="0" u="none" strike="noStrike">
              <a:solidFill>
                <a:schemeClr val="dk1"/>
              </a:solidFill>
              <a:effectLst/>
              <a:uFillTx/>
              <a:latin typeface="Aptos"/>
            </a:endParaRPr>
          </a:p>
          <a:p>
            <a:pPr marL="1728000" lvl="3" indent="-216000">
              <a:lnSpc>
                <a:spcPct val="90000"/>
              </a:lnSpc>
              <a:spcBef>
                <a:spcPts val="422"/>
              </a:spcBef>
              <a:buClr>
                <a:srgbClr val="000000"/>
              </a:buClr>
              <a:buSzPct val="75000"/>
              <a:buFont typeface="Symbol" charset="2"/>
              <a:buChar char=""/>
            </a:pPr>
            <a:r>
              <a:rPr lang="en-US" sz="1350" b="0" u="none" strike="noStrike">
                <a:solidFill>
                  <a:schemeClr val="dk1"/>
                </a:solidFill>
                <a:effectLst/>
                <a:uFillTx/>
                <a:latin typeface="Aptos"/>
              </a:rPr>
              <a:t>Fourth Outline Level</a:t>
            </a:r>
            <a:endParaRPr lang="en-US" sz="1350" b="0" u="none" strike="noStrike">
              <a:solidFill>
                <a:schemeClr val="dk1"/>
              </a:solidFill>
              <a:effectLst/>
              <a:uFillTx/>
              <a:latin typeface="Aptos"/>
            </a:endParaRPr>
          </a:p>
          <a:p>
            <a:pPr marL="2160000" lvl="4"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endParaRPr lang="en-US" sz="1500" b="0" u="none" strike="noStrike">
              <a:solidFill>
                <a:schemeClr val="dk1"/>
              </a:solidFill>
              <a:effectLst/>
              <a:uFillTx/>
              <a:latin typeface="Aptos"/>
            </a:endParaRPr>
          </a:p>
          <a:p>
            <a:pPr marL="2592000" lvl="5"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endParaRPr lang="en-US" sz="1500" b="0" u="none" strike="noStrike">
              <a:solidFill>
                <a:schemeClr val="dk1"/>
              </a:solidFill>
              <a:effectLst/>
              <a:uFillTx/>
              <a:latin typeface="Aptos"/>
            </a:endParaRPr>
          </a:p>
          <a:p>
            <a:pPr marL="3024000" lvl="6"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endParaRPr lang="en-US" sz="1500" b="0" u="none" strike="noStrik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hyperlink" Target="file:///C:/Users/Gamer/Documents/GitHub/Medallion%20pipeline/Week_02/Day_10/Slides/&#12304;264677521234698&#8224;L16-L31&#12305;" TargetMode="External"/><Relationship Id="rId10" Type="http://schemas.openxmlformats.org/officeDocument/2006/relationships/hyperlink" Target="file:///C:/Users/Gamer/Documents/GitHub/Medallion%20pipeline/Week_02/Day_10/Slides/&#12304;914129425933635&#8224;L69-L87&#12305;" TargetMode="External"/><Relationship Id="rId11" Type="http://schemas.openxmlformats.org/officeDocument/2006/relationships/hyperlink" Target="file:///C:/Users/Gamer/Documents/GitHub/Medallion%20pipeline/Week_02/Day_10/Slides/&#12304;832184536137635&#8224;L50-L71&#12305;" TargetMode="External"/><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13.png"/><Relationship Id="rId9" Type="http://schemas.openxmlformats.org/officeDocument/2006/relationships/hyperlink" Target="file:///C:/Users/Gamer/Documents/&#12304;914129425933635&#8224;L107-L141&#12305;" TargetMode="External"/><Relationship Id="rId10" Type="http://schemas.openxmlformats.org/officeDocument/2006/relationships/hyperlink" Target="file:///C:/Users/Gamer/Documents/&#12304;757855153343287&#8224;L133-L150&#12305;" TargetMode="External"/><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64676770703156&#8224;L185-L196&#12305;" TargetMode="External"/><Relationship Id="rId2" Type="http://schemas.openxmlformats.org/officeDocument/2006/relationships/hyperlink" Target="file:///C:/Users/Gamer/Documents/GitHub/Medallion%20pipeline/Week_02/Day_10/Slides/&#12304;161651347344140&#8224;L248-L255&#12305;" TargetMode="External"/><Relationship Id="rId3" Type="http://schemas.openxmlformats.org/officeDocument/2006/relationships/hyperlink" Target="file:///C:/Users/Gamer/Documents/GitHub/Medallion%20pipeline/Week_02/Day_10/Slides/&#12304;76655757129239&#8224;L164-L176&#12305;"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file:///C:/Users/Gamer/Documents/GitHub/Medallion%20pipeline/Week_02/Day_10/Slides/&#12304;832184536137635&#8224;L24-L46&#12305;" TargetMode="External"/><Relationship Id="rId6" Type="http://schemas.openxmlformats.org/officeDocument/2006/relationships/hyperlink" Target="file:///C:/Users/Gamer/Documents/GitHub/Medallion%20pipeline/Week_02/Day_10/Slides/&#12304;161651347344140&#8224;L210-L222&#12305;"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file:///C:/Users/Gamer/Documents/&#12304;764676770703156&#8224;L297-L321&#12305;" TargetMode="External"/><Relationship Id="rId2" Type="http://schemas.openxmlformats.org/officeDocument/2006/relationships/hyperlink" Target="file:///C:/Users/Gamer/Documents/&#12304;240411915442221&#8224;L571-L594&#12305;" TargetMode="External"/><Relationship Id="rId3" Type="http://schemas.openxmlformats.org/officeDocument/2006/relationships/hyperlink" Target="file:///C:/Users/Gamer/Documents/&#12304;76655757129239&#8224;L187-L207&#12305;" TargetMode="External"/><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264677521234698&#8224;L16-L31&#12305;" TargetMode="External"/><Relationship Id="rId2" Type="http://schemas.openxmlformats.org/officeDocument/2006/relationships/hyperlink" Target="file:///C:/Users/Gamer/Documents/GitHub/Medallion%20pipeline/Week_02/Day_10/Slides/&#12304;73443659327933&#8224;L127-L148&#12305;" TargetMode="External"/><Relationship Id="rId3" Type="http://schemas.openxmlformats.org/officeDocument/2006/relationships/hyperlink" Target="file:///C:/Users/Gamer/Documents/GitHub/Medallion%20pipeline/Week_02/Day_10/Slides/&#12304;764676770703156&#8224;L234-L248&#12305;"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645518690862239&#8224;L139-L173&#12305;" TargetMode="External"/><Relationship Id="rId2" Type="http://schemas.openxmlformats.org/officeDocument/2006/relationships/hyperlink" Target="file:///C:/Users/Gamer/Documents/GitHub/Medallion%20pipeline/Week_02/Day_10/Slides/&#12304;645518690862239&#8224;L284-L296&#12305;"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38270415585089&#8224;L571-L594&#12305;" TargetMode="External"/><Relationship Id="rId2" Type="http://schemas.openxmlformats.org/officeDocument/2006/relationships/hyperlink" Target="file:///C:/Users/Gamer/Documents/GitHub/Medallion%20pipeline/Week_02/Day_10/Slides/&#12304;161651347344140&#8224;L248-L255&#12305;" TargetMode="External"/><Relationship Id="rId3" Type="http://schemas.openxmlformats.org/officeDocument/2006/relationships/hyperlink" Target="file:///C:/Users/Gamer/Documents/GitHub/Medallion%20pipeline/Week_02/Day_10/Slides/&#12304;161651347344140&#8224;L259-L279&#12305;" TargetMode="External"/><Relationship Id="rId4" Type="http://schemas.openxmlformats.org/officeDocument/2006/relationships/hyperlink" Target="file:///C:/Users/Gamer/Documents/GitHub/Medallion%20pipeline/Week_02/Day_10/Slides/&#12304;161651347344140&#8224;L288-L298&#12305;" TargetMode="Externa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6655757129239&#8224;L187-L207&#12305;" TargetMode="External"/><Relationship Id="rId2" Type="http://schemas.openxmlformats.org/officeDocument/2006/relationships/hyperlink" Target="file:///C:/Users/Gamer/Documents/GitHub/Medallion%20pipeline/Week_02/Day_10/Slides/&#12304;298368715109598&#8224;L154-L180&#12305;"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914129425933635&#8224;L107-L141&#12305;" TargetMode="External"/><Relationship Id="rId2" Type="http://schemas.openxmlformats.org/officeDocument/2006/relationships/hyperlink" Target="file:///C:/Users/Gamer/Documents/GitHub/Medallion%20pipeline/Week_02/Day_10/Slides/&#12304;757855153343287&#8224;L133-L150&#12305;" TargetMode="External"/><Relationship Id="rId3" Type="http://schemas.openxmlformats.org/officeDocument/2006/relationships/hyperlink" Target="file:///C:/Users/Gamer/Documents/GitHub/Medallion%20pipeline/Week_02/Day_10/Slides/&#12304;831215892819426&#8224;L136-L154&#12305;"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64676770703156&#8224;L327-L329&#12305;" TargetMode="External"/><Relationship Id="rId2" Type="http://schemas.openxmlformats.org/officeDocument/2006/relationships/hyperlink" Target="file:///C:/Users/Gamer/Documents/GitHub/Medallion%20pipeline/Week_02/Day_10/Slides/&#12304;240411915442221&#8224;L571-L594&#12305;" TargetMode="External"/><Relationship Id="rId3" Type="http://schemas.openxmlformats.org/officeDocument/2006/relationships/hyperlink" Target="file:///C:/Users/Gamer/Documents/GitHub/Medallion%20pipeline/Week_02/Day_10/Slides/&#12304;298368715109598&#8224;L154-L180&#12305;" TargetMode="Externa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02206152357481&#8224;L131-L153&#12305;"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3443659327933&#8224;L127-L148&#12305;" TargetMode="External"/><Relationship Id="rId2" Type="http://schemas.openxmlformats.org/officeDocument/2006/relationships/hyperlink" Target="file:///C:/Users/Gamer/Documents/GitHub/Medallion%20pipeline/Week_02/Day_10/Slides/&#12304;764676770703156&#8224;L185-L196&#12305;"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645518690862239&#8224;L213-L232&#12305;" TargetMode="External"/><Relationship Id="rId2" Type="http://schemas.openxmlformats.org/officeDocument/2006/relationships/hyperlink" Target="file:///C:/Users/Gamer/Documents/GitHub/Medallion%20pipeline/Week_02/Day_10/Slides/&#12304;645518690862239&#8224;L284-L296&#12305;"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09367339829282&#8224;L361-L401&#12305;" TargetMode="External"/><Relationship Id="rId2" Type="http://schemas.openxmlformats.org/officeDocument/2006/relationships/hyperlink" Target="file:///C:/Users/Gamer/Documents/GitHub/Medallion%20pipeline/Week_02/Day_10/Slides/&#12304;161651347344140&#8224;L259-L279&#12305;" TargetMode="External"/><Relationship Id="rId3" Type="http://schemas.openxmlformats.org/officeDocument/2006/relationships/hyperlink" Target="file:///C:/Users/Gamer/Documents/GitHub/Medallion%20pipeline/Week_02/Day_10/Slides/&#12304;161651347344140&#8224;L288-L298&#12305;" TargetMode="External"/><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6655757129239&#8224;L217-L224&#12305;" TargetMode="External"/><Relationship Id="rId2" Type="http://schemas.openxmlformats.org/officeDocument/2006/relationships/hyperlink" Target="file:///C:/Users/Gamer/Documents/GitHub/Medallion%20pipeline/Week_02/Day_10/Slides/&#12304;161651347344140&#8224;L310-L316&#12305;"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831215892819426&#8224;L165-L179&#12305;" TargetMode="External"/><Relationship Id="rId2" Type="http://schemas.openxmlformats.org/officeDocument/2006/relationships/hyperlink" Target="file:///C:/Users/Gamer/Documents/GitHub/Medallion%20pipeline/Week_02/Day_10/Slides/&#12304;11958451080285&#8224;L326-L347&#12305;"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3.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image" Target="../media/image13.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831215892819426&#8224;L213-L219&#12305;" TargetMode="External"/><Relationship Id="rId2" Type="http://schemas.openxmlformats.org/officeDocument/2006/relationships/hyperlink" Target="file:///C:/Users/Gamer/Documents/GitHub/Medallion%20pipeline/Week_02/Day_10/Slides/&#12304;11958451080285&#8224;L451-L459&#12305;" TargetMode="Externa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2" name="Shape 0"/>
          <p:cNvSpPr/>
          <p:nvPr/>
        </p:nvSpPr>
        <p:spPr>
          <a:xfrm>
            <a:off x="0" y="0"/>
            <a:ext cx="9143640" cy="54828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 name="Text 1"/>
          <p:cNvSpPr/>
          <p:nvPr/>
        </p:nvSpPr>
        <p:spPr>
          <a:xfrm>
            <a:off x="457200" y="91440"/>
            <a:ext cx="731484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400" b="1" u="none" strike="noStrike">
                <a:solidFill>
                  <a:srgbClr val="ffffff"/>
                </a:solidFill>
                <a:effectLst/>
                <a:uFillTx/>
                <a:latin typeface="Calibri"/>
              </a:rPr>
              <a:t>Day 10</a:t>
            </a:r>
            <a:r>
              <a:rPr lang="en-US" sz="1600" b="0" u="none" strike="noStrike">
                <a:solidFill>
                  <a:srgbClr val="ffffff"/>
                </a:solidFill>
                <a:effectLst/>
                <a:uFillTx/>
                <a:latin typeface="Calibri"/>
              </a:rPr>
              <a:t>  Final Project: Unified Streaming Data Platform</a:t>
            </a:r>
            <a:endParaRPr lang="en-IN" sz="1600" b="0" u="none" strike="noStrike">
              <a:solidFill>
                <a:srgbClr val="000000"/>
              </a:solidFill>
              <a:effectLst/>
              <a:uFillTx/>
              <a:latin typeface="Arial"/>
            </a:endParaRPr>
          </a:p>
        </p:txBody>
      </p:sp>
      <p:sp>
        <p:nvSpPr>
          <p:cNvPr id="14" name="Text 2"/>
          <p:cNvSpPr/>
          <p:nvPr/>
        </p:nvSpPr>
        <p:spPr>
          <a:xfrm>
            <a:off x="457200" y="914400"/>
            <a:ext cx="777204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600" b="0" i="1" u="none" strike="noStrike">
                <a:solidFill>
                  <a:srgbClr val="003c54"/>
                </a:solidFill>
                <a:effectLst/>
                <a:uFillTx/>
                <a:latin typeface="Calibri"/>
              </a:rPr>
              <a:t>Capstone Project</a:t>
            </a:r>
            <a:br>
              <a:rPr sz="1600"/>
            </a:br>
            <a:r>
              <a:rPr lang="en-US" sz="1600" b="0" i="1" u="none" strike="noStrike">
                <a:solidFill>
                  <a:srgbClr val="003c54"/>
                </a:solidFill>
                <a:effectLst/>
                <a:uFillTx/>
                <a:latin typeface="Calibri"/>
              </a:rPr>
              <a:t>Bringing it all together: from CDC to serving</a:t>
            </a:r>
            <a:endParaRPr lang="en-IN" sz="1600" b="0" u="none" strike="noStrike">
              <a:solidFill>
                <a:srgbClr val="000000"/>
              </a:solidFill>
              <a:effectLst/>
              <a:uFillTx/>
              <a:latin typeface="Arial"/>
            </a:endParaRPr>
          </a:p>
        </p:txBody>
      </p:sp>
      <p:sp>
        <p:nvSpPr>
          <p:cNvPr id="15" name="Text 12"/>
          <p:cNvSpPr/>
          <p:nvPr/>
        </p:nvSpPr>
        <p:spPr>
          <a:xfrm>
            <a:off x="7315200" y="91440"/>
            <a:ext cx="1371240" cy="3654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Learning Objectives</a:t>
            </a:r>
            <a:endParaRPr lang="en-IN" sz="2000" b="0" u="none" strike="noStrike">
              <a:solidFill>
                <a:srgbClr val="000000"/>
              </a:solidFill>
              <a:effectLst/>
              <a:uFillTx/>
              <a:latin typeface="Arial"/>
            </a:endParaRPr>
          </a:p>
        </p:txBody>
      </p:sp>
      <p:pic>
        <p:nvPicPr>
          <p:cNvPr id="18" name="Image 0"/>
          <p:cNvPicPr/>
          <p:nvPr/>
        </p:nvPicPr>
        <p:blipFill>
          <a:blip r:embed="rId1"/>
          <a:stretch/>
        </p:blipFill>
        <p:spPr>
          <a:xfrm>
            <a:off x="457200" y="640080"/>
            <a:ext cx="228240" cy="228240"/>
          </a:xfrm>
          <a:prstGeom prst="rect">
            <a:avLst/>
          </a:prstGeom>
          <a:noFill/>
          <a:ln w="0">
            <a:noFill/>
          </a:ln>
        </p:spPr>
      </p:pic>
      <p:sp>
        <p:nvSpPr>
          <p:cNvPr id="19" name="Text 2"/>
          <p:cNvSpPr/>
          <p:nvPr/>
        </p:nvSpPr>
        <p:spPr>
          <a:xfrm>
            <a:off x="777240" y="68580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Articulate the business problem and map data sources</a:t>
            </a:r>
            <a:endParaRPr lang="en-IN" sz="1100" b="0" u="none" strike="noStrike">
              <a:solidFill>
                <a:srgbClr val="000000"/>
              </a:solidFill>
              <a:effectLst/>
              <a:uFillTx/>
              <a:latin typeface="Arial"/>
            </a:endParaRPr>
          </a:p>
        </p:txBody>
      </p:sp>
      <p:pic>
        <p:nvPicPr>
          <p:cNvPr id="20" name="Image 1"/>
          <p:cNvPicPr/>
          <p:nvPr/>
        </p:nvPicPr>
        <p:blipFill>
          <a:blip r:embed="rId2"/>
          <a:stretch/>
        </p:blipFill>
        <p:spPr>
          <a:xfrm>
            <a:off x="457200" y="960120"/>
            <a:ext cx="228240" cy="228240"/>
          </a:xfrm>
          <a:prstGeom prst="rect">
            <a:avLst/>
          </a:prstGeom>
          <a:noFill/>
          <a:ln w="0">
            <a:noFill/>
          </a:ln>
        </p:spPr>
      </p:pic>
      <p:sp>
        <p:nvSpPr>
          <p:cNvPr id="21" name="Text 3"/>
          <p:cNvSpPr/>
          <p:nvPr/>
        </p:nvSpPr>
        <p:spPr>
          <a:xfrm>
            <a:off x="777240" y="100584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Design an end‑to‑end streaming data architecture</a:t>
            </a:r>
            <a:endParaRPr lang="en-IN" sz="1100" b="0" u="none" strike="noStrike">
              <a:solidFill>
                <a:srgbClr val="000000"/>
              </a:solidFill>
              <a:effectLst/>
              <a:uFillTx/>
              <a:latin typeface="Arial"/>
            </a:endParaRPr>
          </a:p>
        </p:txBody>
      </p:sp>
      <p:pic>
        <p:nvPicPr>
          <p:cNvPr id="22" name="Image 2"/>
          <p:cNvPicPr/>
          <p:nvPr/>
        </p:nvPicPr>
        <p:blipFill>
          <a:blip r:embed="rId3"/>
          <a:stretch/>
        </p:blipFill>
        <p:spPr>
          <a:xfrm>
            <a:off x="457200" y="1280160"/>
            <a:ext cx="228240" cy="228240"/>
          </a:xfrm>
          <a:prstGeom prst="rect">
            <a:avLst/>
          </a:prstGeom>
          <a:noFill/>
          <a:ln w="0">
            <a:noFill/>
          </a:ln>
        </p:spPr>
      </p:pic>
      <p:sp>
        <p:nvSpPr>
          <p:cNvPr id="23" name="Text 4"/>
          <p:cNvSpPr/>
          <p:nvPr/>
        </p:nvSpPr>
        <p:spPr>
          <a:xfrm>
            <a:off x="777240" y="132588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Capture changes with Debezium and manage schemas</a:t>
            </a:r>
            <a:endParaRPr lang="en-IN" sz="1100" b="0" u="none" strike="noStrike">
              <a:solidFill>
                <a:srgbClr val="000000"/>
              </a:solidFill>
              <a:effectLst/>
              <a:uFillTx/>
              <a:latin typeface="Arial"/>
            </a:endParaRPr>
          </a:p>
        </p:txBody>
      </p:sp>
      <p:pic>
        <p:nvPicPr>
          <p:cNvPr id="24" name="Image 3"/>
          <p:cNvPicPr/>
          <p:nvPr/>
        </p:nvPicPr>
        <p:blipFill>
          <a:blip r:embed="rId4"/>
          <a:stretch/>
        </p:blipFill>
        <p:spPr>
          <a:xfrm>
            <a:off x="457200" y="1600200"/>
            <a:ext cx="228240" cy="228240"/>
          </a:xfrm>
          <a:prstGeom prst="rect">
            <a:avLst/>
          </a:prstGeom>
          <a:noFill/>
          <a:ln w="0">
            <a:noFill/>
          </a:ln>
        </p:spPr>
      </p:pic>
      <p:sp>
        <p:nvSpPr>
          <p:cNvPr id="25" name="Text 5"/>
          <p:cNvSpPr/>
          <p:nvPr/>
        </p:nvSpPr>
        <p:spPr>
          <a:xfrm>
            <a:off x="777240" y="164592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Map transformation and medallion-storage extensions from earlier days</a:t>
            </a:r>
            <a:endParaRPr lang="en-IN" sz="1100" b="0" u="none" strike="noStrike">
              <a:solidFill>
                <a:srgbClr val="000000"/>
              </a:solidFill>
              <a:effectLst/>
              <a:uFillTx/>
              <a:latin typeface="Arial"/>
            </a:endParaRPr>
          </a:p>
        </p:txBody>
      </p:sp>
      <p:pic>
        <p:nvPicPr>
          <p:cNvPr id="26" name="Image 4"/>
          <p:cNvPicPr/>
          <p:nvPr/>
        </p:nvPicPr>
        <p:blipFill>
          <a:blip r:embed="rId5"/>
          <a:stretch/>
        </p:blipFill>
        <p:spPr>
          <a:xfrm>
            <a:off x="457200" y="1920240"/>
            <a:ext cx="228240" cy="228240"/>
          </a:xfrm>
          <a:prstGeom prst="rect">
            <a:avLst/>
          </a:prstGeom>
          <a:noFill/>
          <a:ln w="0">
            <a:noFill/>
          </a:ln>
        </p:spPr>
      </p:pic>
      <p:sp>
        <p:nvSpPr>
          <p:cNvPr id="27" name="Text 6"/>
          <p:cNvSpPr/>
          <p:nvPr/>
        </p:nvSpPr>
        <p:spPr>
          <a:xfrm>
            <a:off x="777240" y="196596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Explain where Airflow orchestration would coordinate bounded jobs</a:t>
            </a:r>
            <a:endParaRPr lang="en-IN" sz="1100" b="0" u="none" strike="noStrike">
              <a:solidFill>
                <a:srgbClr val="000000"/>
              </a:solidFill>
              <a:effectLst/>
              <a:uFillTx/>
              <a:latin typeface="Arial"/>
            </a:endParaRPr>
          </a:p>
        </p:txBody>
      </p:sp>
      <p:pic>
        <p:nvPicPr>
          <p:cNvPr id="28" name="Image 5"/>
          <p:cNvPicPr/>
          <p:nvPr/>
        </p:nvPicPr>
        <p:blipFill>
          <a:blip r:embed="rId6"/>
          <a:stretch/>
        </p:blipFill>
        <p:spPr>
          <a:xfrm>
            <a:off x="457200" y="2240280"/>
            <a:ext cx="228240" cy="228240"/>
          </a:xfrm>
          <a:prstGeom prst="rect">
            <a:avLst/>
          </a:prstGeom>
          <a:noFill/>
          <a:ln w="0">
            <a:noFill/>
          </a:ln>
        </p:spPr>
      </p:pic>
      <p:sp>
        <p:nvSpPr>
          <p:cNvPr id="29" name="Text 7"/>
          <p:cNvSpPr/>
          <p:nvPr/>
        </p:nvSpPr>
        <p:spPr>
          <a:xfrm>
            <a:off x="777240" y="228600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Query &amp; serve data in real time with ksqlDB and Kafka Streams</a:t>
            </a:r>
            <a:endParaRPr lang="en-IN" sz="1100" b="0" u="none" strike="noStrike">
              <a:solidFill>
                <a:srgbClr val="000000"/>
              </a:solidFill>
              <a:effectLst/>
              <a:uFillTx/>
              <a:latin typeface="Arial"/>
            </a:endParaRPr>
          </a:p>
        </p:txBody>
      </p:sp>
      <p:pic>
        <p:nvPicPr>
          <p:cNvPr id="30" name="Image 6"/>
          <p:cNvPicPr/>
          <p:nvPr/>
        </p:nvPicPr>
        <p:blipFill>
          <a:blip r:embed="rId7"/>
          <a:stretch/>
        </p:blipFill>
        <p:spPr>
          <a:xfrm>
            <a:off x="457200" y="2560320"/>
            <a:ext cx="228240" cy="228240"/>
          </a:xfrm>
          <a:prstGeom prst="rect">
            <a:avLst/>
          </a:prstGeom>
          <a:noFill/>
          <a:ln w="0">
            <a:noFill/>
          </a:ln>
        </p:spPr>
      </p:pic>
      <p:sp>
        <p:nvSpPr>
          <p:cNvPr id="31" name="Text 8"/>
          <p:cNvSpPr/>
          <p:nvPr/>
        </p:nvSpPr>
        <p:spPr>
          <a:xfrm>
            <a:off x="777240" y="260604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Implement the supplied CDC-to-ksqlDB capstone and diagnose issues</a:t>
            </a:r>
            <a:endParaRPr lang="en-IN" sz="1100" b="0" u="none" strike="noStrike">
              <a:solidFill>
                <a:srgbClr val="000000"/>
              </a:solidFill>
              <a:effectLst/>
              <a:uFillTx/>
              <a:latin typeface="Arial"/>
            </a:endParaRPr>
          </a:p>
        </p:txBody>
      </p:sp>
      <p:pic>
        <p:nvPicPr>
          <p:cNvPr id="32" name="Image 7"/>
          <p:cNvPicPr/>
          <p:nvPr/>
        </p:nvPicPr>
        <p:blipFill>
          <a:blip r:embed="rId8"/>
          <a:stretch/>
        </p:blipFill>
        <p:spPr>
          <a:xfrm>
            <a:off x="457200" y="2880360"/>
            <a:ext cx="228240" cy="228240"/>
          </a:xfrm>
          <a:prstGeom prst="rect">
            <a:avLst/>
          </a:prstGeom>
          <a:noFill/>
          <a:ln w="0">
            <a:noFill/>
          </a:ln>
        </p:spPr>
      </p:pic>
      <p:sp>
        <p:nvSpPr>
          <p:cNvPr id="33" name="Text 9"/>
          <p:cNvSpPr/>
          <p:nvPr/>
        </p:nvSpPr>
        <p:spPr>
          <a:xfrm>
            <a:off x="777240" y="292608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Submit architecture, evidence, Gold metric and BI dashboard artifact</a:t>
            </a:r>
            <a:endParaRPr lang="en-IN" sz="1100" b="0" u="none" strike="noStrike">
              <a:solidFill>
                <a:srgbClr val="000000"/>
              </a:solidFill>
              <a:effectLst/>
              <a:uFillTx/>
              <a:latin typeface="Arial"/>
            </a:endParaRPr>
          </a:p>
        </p:txBody>
      </p:sp>
      <p:sp>
        <p:nvSpPr>
          <p:cNvPr id="34" name="Text 10"/>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9"/>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10"/>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11"/>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Shape 29"/>
          <p:cNvSpPr/>
          <p:nvPr/>
        </p:nvSpPr>
        <p:spPr>
          <a:xfrm>
            <a:off x="0" y="360"/>
            <a:ext cx="914400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36" name="Text 42"/>
          <p:cNvSpPr/>
          <p:nvPr/>
        </p:nvSpPr>
        <p:spPr>
          <a:xfrm>
            <a:off x="45684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2660" b="1" u="none" strike="noStrike">
                <a:solidFill>
                  <a:srgbClr val="ffffff"/>
                </a:solidFill>
                <a:effectLst/>
                <a:uFillTx/>
                <a:latin typeface="Aptos"/>
              </a:rPr>
              <a:t>Agenda</a:t>
            </a:r>
            <a:endParaRPr lang="en-IN" sz="2660" b="0" u="none" strike="noStrike">
              <a:solidFill>
                <a:srgbClr val="000000"/>
              </a:solidFill>
              <a:effectLst/>
              <a:uFillTx/>
              <a:latin typeface="Arial"/>
            </a:endParaRPr>
          </a:p>
        </p:txBody>
      </p:sp>
      <p:sp>
        <p:nvSpPr>
          <p:cNvPr id="37" name="Shape 48"/>
          <p:cNvSpPr/>
          <p:nvPr/>
        </p:nvSpPr>
        <p:spPr>
          <a:xfrm>
            <a:off x="1081080" y="1097280"/>
            <a:ext cx="8089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38" name="Shape 49"/>
          <p:cNvSpPr/>
          <p:nvPr/>
        </p:nvSpPr>
        <p:spPr>
          <a:xfrm>
            <a:off x="8614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39" name="Image 16"/>
          <p:cNvPicPr/>
          <p:nvPr/>
        </p:nvPicPr>
        <p:blipFill>
          <a:blip r:embed="rId1"/>
          <a:stretch/>
        </p:blipFill>
        <p:spPr>
          <a:xfrm>
            <a:off x="879840" y="1023840"/>
            <a:ext cx="182520" cy="182520"/>
          </a:xfrm>
          <a:prstGeom prst="rect">
            <a:avLst/>
          </a:prstGeom>
          <a:solidFill>
            <a:schemeClr val="bg1"/>
          </a:solidFill>
          <a:ln w="0">
            <a:noFill/>
          </a:ln>
        </p:spPr>
      </p:pic>
      <p:sp>
        <p:nvSpPr>
          <p:cNvPr id="40" name="Text 43"/>
          <p:cNvSpPr/>
          <p:nvPr/>
        </p:nvSpPr>
        <p:spPr>
          <a:xfrm>
            <a:off x="2739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9:00</a:t>
            </a:r>
            <a:endParaRPr lang="en-IN" sz="1070" b="0" u="none" strike="noStrike">
              <a:solidFill>
                <a:srgbClr val="000000"/>
              </a:solidFill>
              <a:effectLst/>
              <a:uFillTx/>
              <a:latin typeface="Arial"/>
            </a:endParaRPr>
          </a:p>
        </p:txBody>
      </p:sp>
      <p:sp>
        <p:nvSpPr>
          <p:cNvPr id="41" name="Text 44"/>
          <p:cNvSpPr/>
          <p:nvPr/>
        </p:nvSpPr>
        <p:spPr>
          <a:xfrm>
            <a:off x="914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Recap &amp; Problem Definition</a:t>
            </a:r>
            <a:endParaRPr lang="en-IN" sz="939" b="0" u="none" strike="noStrike">
              <a:solidFill>
                <a:srgbClr val="000000"/>
              </a:solidFill>
              <a:effectLst/>
              <a:uFillTx/>
              <a:latin typeface="Arial"/>
            </a:endParaRPr>
          </a:p>
        </p:txBody>
      </p:sp>
      <p:sp>
        <p:nvSpPr>
          <p:cNvPr id="42" name="Shape 50"/>
          <p:cNvSpPr/>
          <p:nvPr/>
        </p:nvSpPr>
        <p:spPr>
          <a:xfrm>
            <a:off x="2127600" y="1097280"/>
            <a:ext cx="8089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43" name="Shape 51"/>
          <p:cNvSpPr/>
          <p:nvPr/>
        </p:nvSpPr>
        <p:spPr>
          <a:xfrm>
            <a:off x="18900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44" name="Image 17"/>
          <p:cNvPicPr/>
          <p:nvPr/>
        </p:nvPicPr>
        <p:blipFill>
          <a:blip r:embed="rId2"/>
          <a:stretch/>
        </p:blipFill>
        <p:spPr>
          <a:xfrm>
            <a:off x="1908720" y="1023840"/>
            <a:ext cx="182520" cy="182520"/>
          </a:xfrm>
          <a:prstGeom prst="rect">
            <a:avLst/>
          </a:prstGeom>
          <a:solidFill>
            <a:schemeClr val="bg1"/>
          </a:solidFill>
          <a:ln w="0">
            <a:noFill/>
          </a:ln>
        </p:spPr>
      </p:pic>
      <p:sp>
        <p:nvSpPr>
          <p:cNvPr id="45" name="Text 45"/>
          <p:cNvSpPr/>
          <p:nvPr/>
        </p:nvSpPr>
        <p:spPr>
          <a:xfrm>
            <a:off x="13028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9:30</a:t>
            </a:r>
            <a:endParaRPr lang="en-IN" sz="1070" b="0" u="none" strike="noStrike">
              <a:solidFill>
                <a:srgbClr val="000000"/>
              </a:solidFill>
              <a:effectLst/>
              <a:uFillTx/>
              <a:latin typeface="Arial"/>
            </a:endParaRPr>
          </a:p>
        </p:txBody>
      </p:sp>
      <p:sp>
        <p:nvSpPr>
          <p:cNvPr id="46" name="Text 46"/>
          <p:cNvSpPr/>
          <p:nvPr/>
        </p:nvSpPr>
        <p:spPr>
          <a:xfrm>
            <a:off x="1119960" y="1812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Architecture Design</a:t>
            </a:r>
            <a:endParaRPr lang="en-IN" sz="939" b="0" u="none" strike="noStrike">
              <a:solidFill>
                <a:srgbClr val="000000"/>
              </a:solidFill>
              <a:effectLst/>
              <a:uFillTx/>
              <a:latin typeface="Arial"/>
            </a:endParaRPr>
          </a:p>
        </p:txBody>
      </p:sp>
      <p:sp>
        <p:nvSpPr>
          <p:cNvPr id="47" name="Shape 52"/>
          <p:cNvSpPr/>
          <p:nvPr/>
        </p:nvSpPr>
        <p:spPr>
          <a:xfrm>
            <a:off x="3019320" y="1097280"/>
            <a:ext cx="927720" cy="33840"/>
          </a:xfrm>
          <a:prstGeom prst="rect">
            <a:avLst/>
          </a:prstGeom>
          <a:solidFill>
            <a:srgbClr val="6a6a6a"/>
          </a:solidFill>
          <a:ln w="12700">
            <a:solidFill>
              <a:srgbClr val="6a6a6a"/>
            </a:solidFill>
            <a:round/>
          </a:ln>
        </p:spPr>
        <p:style>
          <a:lnRef idx="0"/>
          <a:fillRef idx="0"/>
          <a:effectRef idx="0"/>
          <a:fontRef idx="minor"/>
        </p:style>
        <p:txBody>
          <a:bodyPr lIns="90000" rIns="90000" tIns="-10800" bIns="-10800" anchor="t">
            <a:noAutofit/>
          </a:bodyPr>
          <a:p>
            <a:endParaRPr lang="en-IN" sz="2400" b="0" u="none" strike="noStrike">
              <a:solidFill>
                <a:schemeClr val="dk1"/>
              </a:solidFill>
              <a:effectLst/>
              <a:uFillTx/>
              <a:latin typeface="Aptos"/>
            </a:endParaRPr>
          </a:p>
        </p:txBody>
      </p:sp>
      <p:sp>
        <p:nvSpPr>
          <p:cNvPr id="48" name="Shape 53"/>
          <p:cNvSpPr/>
          <p:nvPr/>
        </p:nvSpPr>
        <p:spPr>
          <a:xfrm>
            <a:off x="29188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49" name="Image 18"/>
          <p:cNvPicPr/>
          <p:nvPr/>
        </p:nvPicPr>
        <p:blipFill>
          <a:blip r:embed="rId3"/>
          <a:stretch/>
        </p:blipFill>
        <p:spPr>
          <a:xfrm>
            <a:off x="2937240" y="1023840"/>
            <a:ext cx="182520" cy="182520"/>
          </a:xfrm>
          <a:prstGeom prst="rect">
            <a:avLst/>
          </a:prstGeom>
          <a:solidFill>
            <a:schemeClr val="bg1"/>
          </a:solidFill>
          <a:ln w="0">
            <a:noFill/>
          </a:ln>
        </p:spPr>
      </p:pic>
      <p:sp>
        <p:nvSpPr>
          <p:cNvPr id="50" name="Text 47"/>
          <p:cNvSpPr/>
          <p:nvPr/>
        </p:nvSpPr>
        <p:spPr>
          <a:xfrm>
            <a:off x="23313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10:15</a:t>
            </a:r>
            <a:endParaRPr lang="en-IN" sz="1070" b="0" u="none" strike="noStrike">
              <a:solidFill>
                <a:srgbClr val="000000"/>
              </a:solidFill>
              <a:effectLst/>
              <a:uFillTx/>
              <a:latin typeface="Arial"/>
            </a:endParaRPr>
          </a:p>
        </p:txBody>
      </p:sp>
      <p:sp>
        <p:nvSpPr>
          <p:cNvPr id="51" name="Text 48"/>
          <p:cNvSpPr/>
          <p:nvPr/>
        </p:nvSpPr>
        <p:spPr>
          <a:xfrm>
            <a:off x="21488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Components Deep Dive</a:t>
            </a:r>
            <a:endParaRPr lang="en-IN" sz="939" b="0" u="none" strike="noStrike">
              <a:solidFill>
                <a:srgbClr val="000000"/>
              </a:solidFill>
              <a:effectLst/>
              <a:uFillTx/>
              <a:latin typeface="Arial"/>
            </a:endParaRPr>
          </a:p>
        </p:txBody>
      </p:sp>
      <p:sp>
        <p:nvSpPr>
          <p:cNvPr id="52" name="Shape 54"/>
          <p:cNvSpPr/>
          <p:nvPr/>
        </p:nvSpPr>
        <p:spPr>
          <a:xfrm>
            <a:off x="4047840" y="1097280"/>
            <a:ext cx="9277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53" name="Shape 55"/>
          <p:cNvSpPr/>
          <p:nvPr/>
        </p:nvSpPr>
        <p:spPr>
          <a:xfrm>
            <a:off x="39474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54" name="Image 19"/>
          <p:cNvPicPr/>
          <p:nvPr/>
        </p:nvPicPr>
        <p:blipFill>
          <a:blip r:embed="rId4"/>
          <a:stretch/>
        </p:blipFill>
        <p:spPr>
          <a:xfrm>
            <a:off x="3966120" y="1023840"/>
            <a:ext cx="182520" cy="182520"/>
          </a:xfrm>
          <a:prstGeom prst="rect">
            <a:avLst/>
          </a:prstGeom>
          <a:solidFill>
            <a:schemeClr val="bg1"/>
          </a:solidFill>
          <a:ln w="0">
            <a:noFill/>
          </a:ln>
        </p:spPr>
      </p:pic>
      <p:sp>
        <p:nvSpPr>
          <p:cNvPr id="55" name="Text 49"/>
          <p:cNvSpPr/>
          <p:nvPr/>
        </p:nvSpPr>
        <p:spPr>
          <a:xfrm>
            <a:off x="33602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12:00</a:t>
            </a:r>
            <a:endParaRPr lang="en-IN" sz="1070" b="0" u="none" strike="noStrike">
              <a:solidFill>
                <a:srgbClr val="000000"/>
              </a:solidFill>
              <a:effectLst/>
              <a:uFillTx/>
              <a:latin typeface="Arial"/>
            </a:endParaRPr>
          </a:p>
        </p:txBody>
      </p:sp>
      <p:sp>
        <p:nvSpPr>
          <p:cNvPr id="56" name="Text 50"/>
          <p:cNvSpPr/>
          <p:nvPr/>
        </p:nvSpPr>
        <p:spPr>
          <a:xfrm>
            <a:off x="3177360" y="1884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Lunch Break</a:t>
            </a:r>
            <a:endParaRPr lang="en-IN" sz="939" b="0" u="none" strike="noStrike">
              <a:solidFill>
                <a:srgbClr val="000000"/>
              </a:solidFill>
              <a:effectLst/>
              <a:uFillTx/>
              <a:latin typeface="Arial"/>
            </a:endParaRPr>
          </a:p>
        </p:txBody>
      </p:sp>
      <p:sp>
        <p:nvSpPr>
          <p:cNvPr id="57" name="Shape 56"/>
          <p:cNvSpPr/>
          <p:nvPr/>
        </p:nvSpPr>
        <p:spPr>
          <a:xfrm>
            <a:off x="5076720" y="1097280"/>
            <a:ext cx="946080" cy="33840"/>
          </a:xfrm>
          <a:prstGeom prst="rect">
            <a:avLst/>
          </a:prstGeom>
          <a:solidFill>
            <a:srgbClr val="6a6a6a"/>
          </a:solidFill>
          <a:ln w="12700">
            <a:solidFill>
              <a:srgbClr val="6a6a6a"/>
            </a:solidFill>
            <a:round/>
          </a:ln>
        </p:spPr>
        <p:style>
          <a:lnRef idx="0"/>
          <a:fillRef idx="0"/>
          <a:effectRef idx="0"/>
          <a:fontRef idx="minor"/>
        </p:style>
        <p:txBody>
          <a:bodyPr lIns="90000" rIns="90000" tIns="-10800" bIns="-10800" anchor="t">
            <a:noAutofit/>
          </a:bodyPr>
          <a:p>
            <a:endParaRPr lang="en-IN" sz="2400" b="0" u="none" strike="noStrike">
              <a:solidFill>
                <a:schemeClr val="dk1"/>
              </a:solidFill>
              <a:effectLst/>
              <a:uFillTx/>
              <a:latin typeface="Aptos"/>
            </a:endParaRPr>
          </a:p>
        </p:txBody>
      </p:sp>
      <p:sp>
        <p:nvSpPr>
          <p:cNvPr id="58" name="Shape 57"/>
          <p:cNvSpPr/>
          <p:nvPr/>
        </p:nvSpPr>
        <p:spPr>
          <a:xfrm>
            <a:off x="49762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59" name="Image 20"/>
          <p:cNvPicPr/>
          <p:nvPr/>
        </p:nvPicPr>
        <p:blipFill>
          <a:blip r:embed="rId5"/>
          <a:stretch/>
        </p:blipFill>
        <p:spPr>
          <a:xfrm>
            <a:off x="4994640" y="1023840"/>
            <a:ext cx="182520" cy="182520"/>
          </a:xfrm>
          <a:prstGeom prst="rect">
            <a:avLst/>
          </a:prstGeom>
          <a:solidFill>
            <a:schemeClr val="bg1"/>
          </a:solidFill>
          <a:ln w="0">
            <a:noFill/>
          </a:ln>
        </p:spPr>
      </p:pic>
      <p:sp>
        <p:nvSpPr>
          <p:cNvPr id="60" name="Text 51"/>
          <p:cNvSpPr/>
          <p:nvPr/>
        </p:nvSpPr>
        <p:spPr>
          <a:xfrm>
            <a:off x="43887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13:00</a:t>
            </a:r>
            <a:endParaRPr lang="en-IN" sz="1070" b="0" u="none" strike="noStrike">
              <a:solidFill>
                <a:srgbClr val="000000"/>
              </a:solidFill>
              <a:effectLst/>
              <a:uFillTx/>
              <a:latin typeface="Arial"/>
            </a:endParaRPr>
          </a:p>
        </p:txBody>
      </p:sp>
      <p:sp>
        <p:nvSpPr>
          <p:cNvPr id="61" name="Text 52"/>
          <p:cNvSpPr/>
          <p:nvPr/>
        </p:nvSpPr>
        <p:spPr>
          <a:xfrm>
            <a:off x="42062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Implementation Plan &amp; Lab</a:t>
            </a:r>
            <a:endParaRPr lang="en-IN" sz="939" b="0" u="none" strike="noStrike">
              <a:solidFill>
                <a:srgbClr val="000000"/>
              </a:solidFill>
              <a:effectLst/>
              <a:uFillTx/>
              <a:latin typeface="Arial"/>
            </a:endParaRPr>
          </a:p>
        </p:txBody>
      </p:sp>
      <p:sp>
        <p:nvSpPr>
          <p:cNvPr id="62" name="Shape 58"/>
          <p:cNvSpPr/>
          <p:nvPr/>
        </p:nvSpPr>
        <p:spPr>
          <a:xfrm>
            <a:off x="6105600" y="1097280"/>
            <a:ext cx="98028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63" name="Shape 59"/>
          <p:cNvSpPr/>
          <p:nvPr/>
        </p:nvSpPr>
        <p:spPr>
          <a:xfrm>
            <a:off x="60048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64" name="Image 21"/>
          <p:cNvPicPr/>
          <p:nvPr/>
        </p:nvPicPr>
        <p:blipFill>
          <a:blip r:embed="rId6"/>
          <a:stretch/>
        </p:blipFill>
        <p:spPr>
          <a:xfrm>
            <a:off x="6023520" y="1023840"/>
            <a:ext cx="182520" cy="182520"/>
          </a:xfrm>
          <a:prstGeom prst="rect">
            <a:avLst/>
          </a:prstGeom>
          <a:solidFill>
            <a:schemeClr val="bg1"/>
          </a:solidFill>
          <a:ln w="0">
            <a:noFill/>
          </a:ln>
        </p:spPr>
      </p:pic>
      <p:sp>
        <p:nvSpPr>
          <p:cNvPr id="65" name="Text 53"/>
          <p:cNvSpPr/>
          <p:nvPr/>
        </p:nvSpPr>
        <p:spPr>
          <a:xfrm>
            <a:off x="54176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14:30</a:t>
            </a:r>
            <a:endParaRPr lang="en-IN" sz="1070" b="0" u="none" strike="noStrike">
              <a:solidFill>
                <a:srgbClr val="000000"/>
              </a:solidFill>
              <a:effectLst/>
              <a:uFillTx/>
              <a:latin typeface="Arial"/>
            </a:endParaRPr>
          </a:p>
        </p:txBody>
      </p:sp>
      <p:sp>
        <p:nvSpPr>
          <p:cNvPr id="66" name="Text 54"/>
          <p:cNvSpPr/>
          <p:nvPr/>
        </p:nvSpPr>
        <p:spPr>
          <a:xfrm>
            <a:off x="5260320" y="190224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Mini Exercises &amp; Quiz</a:t>
            </a:r>
            <a:endParaRPr lang="en-IN" sz="939" b="0" u="none" strike="noStrike">
              <a:solidFill>
                <a:srgbClr val="000000"/>
              </a:solidFill>
              <a:effectLst/>
              <a:uFillTx/>
              <a:latin typeface="Arial"/>
            </a:endParaRPr>
          </a:p>
        </p:txBody>
      </p:sp>
      <p:sp>
        <p:nvSpPr>
          <p:cNvPr id="67" name="Shape 60"/>
          <p:cNvSpPr/>
          <p:nvPr/>
        </p:nvSpPr>
        <p:spPr>
          <a:xfrm>
            <a:off x="70336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68" name="Image 22"/>
          <p:cNvPicPr/>
          <p:nvPr/>
        </p:nvPicPr>
        <p:blipFill>
          <a:blip r:embed="rId7"/>
          <a:stretch/>
        </p:blipFill>
        <p:spPr>
          <a:xfrm>
            <a:off x="7052040" y="1023840"/>
            <a:ext cx="182520" cy="182520"/>
          </a:xfrm>
          <a:prstGeom prst="rect">
            <a:avLst/>
          </a:prstGeom>
          <a:solidFill>
            <a:schemeClr val="bg1"/>
          </a:solidFill>
          <a:ln w="0">
            <a:noFill/>
          </a:ln>
        </p:spPr>
      </p:pic>
      <p:sp>
        <p:nvSpPr>
          <p:cNvPr id="69" name="Text 55"/>
          <p:cNvSpPr/>
          <p:nvPr/>
        </p:nvSpPr>
        <p:spPr>
          <a:xfrm>
            <a:off x="64461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15:30</a:t>
            </a:r>
            <a:endParaRPr lang="en-IN" sz="1070" b="0" u="none" strike="noStrike">
              <a:solidFill>
                <a:srgbClr val="000000"/>
              </a:solidFill>
              <a:effectLst/>
              <a:uFillTx/>
              <a:latin typeface="Arial"/>
            </a:endParaRPr>
          </a:p>
        </p:txBody>
      </p:sp>
      <p:sp>
        <p:nvSpPr>
          <p:cNvPr id="70" name="Text 56"/>
          <p:cNvSpPr/>
          <p:nvPr/>
        </p:nvSpPr>
        <p:spPr>
          <a:xfrm>
            <a:off x="6263640" y="140400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Project Walkthrough</a:t>
            </a:r>
            <a:endParaRPr lang="en-IN" sz="939" b="0" u="none" strike="noStrike">
              <a:solidFill>
                <a:srgbClr val="000000"/>
              </a:solidFill>
              <a:effectLst/>
              <a:uFillTx/>
              <a:latin typeface="Arial"/>
            </a:endParaRPr>
          </a:p>
        </p:txBody>
      </p:sp>
      <p:sp>
        <p:nvSpPr>
          <p:cNvPr id="71" name="Shape 61"/>
          <p:cNvSpPr/>
          <p:nvPr/>
        </p:nvSpPr>
        <p:spPr>
          <a:xfrm flipH="1">
            <a:off x="7234560" y="1097280"/>
            <a:ext cx="927720" cy="63720"/>
          </a:xfrm>
          <a:prstGeom prst="rect">
            <a:avLst/>
          </a:prstGeom>
          <a:solidFill>
            <a:srgbClr val="6a6a6a"/>
          </a:solidFill>
          <a:ln w="12700">
            <a:solidFill>
              <a:srgbClr val="6a6a6a"/>
            </a:solidFill>
            <a:round/>
          </a:ln>
        </p:spPr>
        <p:style>
          <a:lnRef idx="0"/>
          <a:fillRef idx="0"/>
          <a:effectRef idx="0"/>
          <a:fontRef idx="minor"/>
        </p:style>
        <p:txBody>
          <a:bodyPr lIns="90000" rIns="90000" tIns="19080" bIns="19080" anchor="t">
            <a:noAutofit/>
          </a:bodyPr>
          <a:p>
            <a:endParaRPr lang="en-IN" sz="2400" b="0" u="none" strike="noStrike">
              <a:solidFill>
                <a:schemeClr val="dk1"/>
              </a:solidFill>
              <a:effectLst/>
              <a:uFillTx/>
              <a:latin typeface="Aptos"/>
            </a:endParaRPr>
          </a:p>
        </p:txBody>
      </p:sp>
      <p:sp>
        <p:nvSpPr>
          <p:cNvPr id="72" name="Shape 62"/>
          <p:cNvSpPr/>
          <p:nvPr/>
        </p:nvSpPr>
        <p:spPr>
          <a:xfrm>
            <a:off x="80622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73" name="Image 23"/>
          <p:cNvPicPr/>
          <p:nvPr/>
        </p:nvPicPr>
        <p:blipFill>
          <a:blip r:embed="rId8"/>
          <a:stretch/>
        </p:blipFill>
        <p:spPr>
          <a:xfrm>
            <a:off x="8080920" y="1023840"/>
            <a:ext cx="182520" cy="182520"/>
          </a:xfrm>
          <a:prstGeom prst="rect">
            <a:avLst/>
          </a:prstGeom>
          <a:solidFill>
            <a:schemeClr val="bg1"/>
          </a:solidFill>
          <a:ln w="0">
            <a:noFill/>
          </a:ln>
        </p:spPr>
      </p:pic>
      <p:sp>
        <p:nvSpPr>
          <p:cNvPr id="74" name="Text 57"/>
          <p:cNvSpPr/>
          <p:nvPr/>
        </p:nvSpPr>
        <p:spPr>
          <a:xfrm>
            <a:off x="74750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16:30</a:t>
            </a:r>
            <a:endParaRPr lang="en-IN" sz="1070" b="0" u="none" strike="noStrike">
              <a:solidFill>
                <a:srgbClr val="000000"/>
              </a:solidFill>
              <a:effectLst/>
              <a:uFillTx/>
              <a:latin typeface="Arial"/>
            </a:endParaRPr>
          </a:p>
        </p:txBody>
      </p:sp>
      <p:sp>
        <p:nvSpPr>
          <p:cNvPr id="75" name="Text 58"/>
          <p:cNvSpPr/>
          <p:nvPr/>
        </p:nvSpPr>
        <p:spPr>
          <a:xfrm>
            <a:off x="7292160" y="1884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Wrap‑Up &amp; Next Steps</a:t>
            </a:r>
            <a:endParaRPr lang="en-IN" sz="939" b="0" u="none" strike="noStrike">
              <a:solidFill>
                <a:srgbClr val="000000"/>
              </a:solidFill>
              <a:effectLst/>
              <a:uFillTx/>
              <a:latin typeface="Arial"/>
            </a:endParaRPr>
          </a:p>
        </p:txBody>
      </p:sp>
      <p:sp>
        <p:nvSpPr>
          <p:cNvPr id="76" name="Text 59"/>
          <p:cNvSpPr/>
          <p:nvPr/>
        </p:nvSpPr>
        <p:spPr>
          <a:xfrm>
            <a:off x="456840" y="6217920"/>
            <a:ext cx="8229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sng" strike="noStrike">
                <a:solidFill>
                  <a:srgbClr val="467886"/>
                </a:solidFill>
                <a:effectLst/>
                <a:uFillTx/>
                <a:latin typeface="Aptos"/>
                <a:hlinkClick r:id="rId9"/>
              </a:rPr>
              <a:t>[1]</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10"/>
              </a:rPr>
              <a:t>[2]</a:t>
            </a:r>
            <a:endParaRPr lang="en-IN"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77"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78"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Recap &amp; Problem Definition</a:t>
            </a:r>
            <a:endParaRPr lang="en-IN" sz="2000" b="0" u="none" strike="noStrike">
              <a:solidFill>
                <a:srgbClr val="000000"/>
              </a:solidFill>
              <a:effectLst/>
              <a:uFillTx/>
              <a:latin typeface="Arial"/>
            </a:endParaRPr>
          </a:p>
        </p:txBody>
      </p:sp>
      <p:sp>
        <p:nvSpPr>
          <p:cNvPr id="79" name="Text 2"/>
          <p:cNvSpPr/>
          <p:nvPr/>
        </p:nvSpPr>
        <p:spPr>
          <a:xfrm>
            <a:off x="457200" y="731520"/>
            <a:ext cx="8229240" cy="274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400" b="1" u="none" strike="noStrike">
                <a:solidFill>
                  <a:srgbClr val="003c54"/>
                </a:solidFill>
                <a:effectLst/>
                <a:uFillTx/>
                <a:latin typeface="Calibri"/>
              </a:rPr>
              <a:t>What have we built so far?</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Captured and validated event changes with Kafka and Debezium concepts.</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Designed Bronze/Silver/Gold transformation and storage responsibilities.</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Scheduled bounded pipeline tasks with Airflow and documented operational evidence.</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Established monitoring and recovery thinking.</a:t>
            </a:r>
            <a:endParaRPr lang="en-IN" sz="1400" b="0" u="none" strike="noStrike">
              <a:solidFill>
                <a:srgbClr val="000000"/>
              </a:solidFill>
              <a:effectLst/>
              <a:uFillTx/>
              <a:latin typeface="Arial"/>
            </a:endParaRPr>
          </a:p>
          <a:p>
            <a:pPr defTabSz="914400">
              <a:lnSpc>
                <a:spcPct val="100000"/>
              </a:lnSpc>
              <a:tabLst>
                <a:tab algn="l" pos="0"/>
              </a:tabLst>
            </a:pP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Today the supplied runnable stack implements CDC, Schema Registry and ksqlDB; Hop, Airflow, lakehouse storage and BI are integration deliverables or extensions.</a:t>
            </a:r>
            <a:endParaRPr lang="en-IN" sz="1400" b="0" u="none" strike="noStrike">
              <a:solidFill>
                <a:srgbClr val="000000"/>
              </a:solidFill>
              <a:effectLst/>
              <a:uFillTx/>
              <a:latin typeface="Arial"/>
            </a:endParaRPr>
          </a:p>
        </p:txBody>
      </p:sp>
      <p:sp>
        <p:nvSpPr>
          <p:cNvPr id="80"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81"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82"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Use Case &amp; Data Sources</a:t>
            </a:r>
            <a:endParaRPr lang="en-IN" sz="2000" b="0" u="none" strike="noStrike">
              <a:solidFill>
                <a:srgbClr val="000000"/>
              </a:solidFill>
              <a:effectLst/>
              <a:uFillTx/>
              <a:latin typeface="Arial"/>
            </a:endParaRPr>
          </a:p>
        </p:txBody>
      </p:sp>
      <p:sp>
        <p:nvSpPr>
          <p:cNvPr id="83" name="Text 2"/>
          <p:cNvSpPr/>
          <p:nvPr/>
        </p:nvSpPr>
        <p:spPr>
          <a:xfrm>
            <a:off x="457200" y="731520"/>
            <a:ext cx="4571640" cy="27428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Scenario:</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Northstar Retail wants to build a real‑time dashboard and alerting system for its e‑commerce platform. Orders, inventory updates, product catalogue changes and user clickstream events must be ingested, transformed and served within seconds.</a:t>
            </a:r>
            <a:endParaRPr lang="en-IN" sz="1000" b="0" u="none" strike="noStrike">
              <a:solidFill>
                <a:srgbClr val="000000"/>
              </a:solidFill>
              <a:effectLst/>
              <a:uFillTx/>
              <a:latin typeface="Arial"/>
            </a:endParaRPr>
          </a:p>
          <a:p>
            <a:endParaRPr lang="en-IN" sz="10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Data Sources:</a:t>
            </a:r>
            <a:endParaRPr lang="en-IN" sz="1200" b="0" u="none" strike="noStrike">
              <a:solidFill>
                <a:srgbClr val="000000"/>
              </a:solidFill>
              <a:effectLst/>
              <a:uFillTx/>
              <a:latin typeface="Arial"/>
            </a:endParaRPr>
          </a:p>
        </p:txBody>
      </p:sp>
      <p:pic>
        <p:nvPicPr>
          <p:cNvPr id="84" name="Image 0"/>
          <p:cNvPicPr/>
          <p:nvPr/>
        </p:nvPicPr>
        <p:blipFill>
          <a:blip r:embed="rId1"/>
          <a:stretch/>
        </p:blipFill>
        <p:spPr>
          <a:xfrm>
            <a:off x="5577840" y="1828800"/>
            <a:ext cx="228240" cy="228240"/>
          </a:xfrm>
          <a:prstGeom prst="rect">
            <a:avLst/>
          </a:prstGeom>
          <a:noFill/>
          <a:ln w="0">
            <a:noFill/>
          </a:ln>
        </p:spPr>
      </p:pic>
      <p:sp>
        <p:nvSpPr>
          <p:cNvPr id="85" name="Text 3"/>
          <p:cNvSpPr/>
          <p:nvPr/>
        </p:nvSpPr>
        <p:spPr>
          <a:xfrm>
            <a:off x="5852160" y="184716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Orders DB</a:t>
            </a:r>
            <a:endParaRPr lang="en-IN" sz="1000" b="0" u="none" strike="noStrike">
              <a:solidFill>
                <a:srgbClr val="000000"/>
              </a:solidFill>
              <a:effectLst/>
              <a:uFillTx/>
              <a:latin typeface="Arial"/>
            </a:endParaRPr>
          </a:p>
        </p:txBody>
      </p:sp>
      <p:sp>
        <p:nvSpPr>
          <p:cNvPr id="86" name="Text 4"/>
          <p:cNvSpPr/>
          <p:nvPr/>
        </p:nvSpPr>
        <p:spPr>
          <a:xfrm>
            <a:off x="5852160" y="199332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PostgreSQL table capturing new orders</a:t>
            </a:r>
            <a:endParaRPr lang="en-IN" sz="800" b="0" u="none" strike="noStrike">
              <a:solidFill>
                <a:srgbClr val="000000"/>
              </a:solidFill>
              <a:effectLst/>
              <a:uFillTx/>
              <a:latin typeface="Arial"/>
            </a:endParaRPr>
          </a:p>
        </p:txBody>
      </p:sp>
      <p:pic>
        <p:nvPicPr>
          <p:cNvPr id="87" name="Image 1"/>
          <p:cNvPicPr/>
          <p:nvPr/>
        </p:nvPicPr>
        <p:blipFill>
          <a:blip r:embed="rId2"/>
          <a:stretch/>
        </p:blipFill>
        <p:spPr>
          <a:xfrm>
            <a:off x="5577840" y="2331720"/>
            <a:ext cx="228240" cy="228240"/>
          </a:xfrm>
          <a:prstGeom prst="rect">
            <a:avLst/>
          </a:prstGeom>
          <a:noFill/>
          <a:ln w="0">
            <a:noFill/>
          </a:ln>
        </p:spPr>
      </p:pic>
      <p:sp>
        <p:nvSpPr>
          <p:cNvPr id="88" name="Text 5"/>
          <p:cNvSpPr/>
          <p:nvPr/>
        </p:nvSpPr>
        <p:spPr>
          <a:xfrm>
            <a:off x="5852160" y="235008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Inventory DB</a:t>
            </a:r>
            <a:endParaRPr lang="en-IN" sz="1000" b="0" u="none" strike="noStrike">
              <a:solidFill>
                <a:srgbClr val="000000"/>
              </a:solidFill>
              <a:effectLst/>
              <a:uFillTx/>
              <a:latin typeface="Arial"/>
            </a:endParaRPr>
          </a:p>
        </p:txBody>
      </p:sp>
      <p:sp>
        <p:nvSpPr>
          <p:cNvPr id="89" name="Text 6"/>
          <p:cNvSpPr/>
          <p:nvPr/>
        </p:nvSpPr>
        <p:spPr>
          <a:xfrm>
            <a:off x="5852160" y="249624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MySQL table tracking stock levels</a:t>
            </a:r>
            <a:endParaRPr lang="en-IN" sz="800" b="0" u="none" strike="noStrike">
              <a:solidFill>
                <a:srgbClr val="000000"/>
              </a:solidFill>
              <a:effectLst/>
              <a:uFillTx/>
              <a:latin typeface="Arial"/>
            </a:endParaRPr>
          </a:p>
        </p:txBody>
      </p:sp>
      <p:pic>
        <p:nvPicPr>
          <p:cNvPr id="90" name="Image 2"/>
          <p:cNvPicPr/>
          <p:nvPr/>
        </p:nvPicPr>
        <p:blipFill>
          <a:blip r:embed="rId3"/>
          <a:stretch/>
        </p:blipFill>
        <p:spPr>
          <a:xfrm>
            <a:off x="5577840" y="2834640"/>
            <a:ext cx="228240" cy="228240"/>
          </a:xfrm>
          <a:prstGeom prst="rect">
            <a:avLst/>
          </a:prstGeom>
          <a:noFill/>
          <a:ln w="0">
            <a:noFill/>
          </a:ln>
        </p:spPr>
      </p:pic>
      <p:sp>
        <p:nvSpPr>
          <p:cNvPr id="91" name="Text 7"/>
          <p:cNvSpPr/>
          <p:nvPr/>
        </p:nvSpPr>
        <p:spPr>
          <a:xfrm>
            <a:off x="5852160" y="285300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Clickstream</a:t>
            </a:r>
            <a:endParaRPr lang="en-IN" sz="1000" b="0" u="none" strike="noStrike">
              <a:solidFill>
                <a:srgbClr val="000000"/>
              </a:solidFill>
              <a:effectLst/>
              <a:uFillTx/>
              <a:latin typeface="Arial"/>
            </a:endParaRPr>
          </a:p>
        </p:txBody>
      </p:sp>
      <p:sp>
        <p:nvSpPr>
          <p:cNvPr id="92" name="Text 8"/>
          <p:cNvSpPr/>
          <p:nvPr/>
        </p:nvSpPr>
        <p:spPr>
          <a:xfrm>
            <a:off x="5852160" y="299916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Kafka topic capturing web events</a:t>
            </a:r>
            <a:endParaRPr lang="en-IN" sz="800" b="0" u="none" strike="noStrike">
              <a:solidFill>
                <a:srgbClr val="000000"/>
              </a:solidFill>
              <a:effectLst/>
              <a:uFillTx/>
              <a:latin typeface="Arial"/>
            </a:endParaRPr>
          </a:p>
        </p:txBody>
      </p:sp>
      <p:pic>
        <p:nvPicPr>
          <p:cNvPr id="93" name="Image 3"/>
          <p:cNvPicPr/>
          <p:nvPr/>
        </p:nvPicPr>
        <p:blipFill>
          <a:blip r:embed="rId4"/>
          <a:stretch/>
        </p:blipFill>
        <p:spPr>
          <a:xfrm>
            <a:off x="5577840" y="3337560"/>
            <a:ext cx="228240" cy="228240"/>
          </a:xfrm>
          <a:prstGeom prst="rect">
            <a:avLst/>
          </a:prstGeom>
          <a:noFill/>
          <a:ln w="0">
            <a:noFill/>
          </a:ln>
        </p:spPr>
      </p:pic>
      <p:sp>
        <p:nvSpPr>
          <p:cNvPr id="94" name="Text 9"/>
          <p:cNvSpPr/>
          <p:nvPr/>
        </p:nvSpPr>
        <p:spPr>
          <a:xfrm>
            <a:off x="5852160" y="335592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Products CSV</a:t>
            </a:r>
            <a:endParaRPr lang="en-IN" sz="1000" b="0" u="none" strike="noStrike">
              <a:solidFill>
                <a:srgbClr val="000000"/>
              </a:solidFill>
              <a:effectLst/>
              <a:uFillTx/>
              <a:latin typeface="Arial"/>
            </a:endParaRPr>
          </a:p>
        </p:txBody>
      </p:sp>
      <p:sp>
        <p:nvSpPr>
          <p:cNvPr id="95" name="Text 10"/>
          <p:cNvSpPr/>
          <p:nvPr/>
        </p:nvSpPr>
        <p:spPr>
          <a:xfrm>
            <a:off x="5852160" y="350208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Batch file with product attributes</a:t>
            </a:r>
            <a:endParaRPr lang="en-IN" sz="800" b="0" u="none" strike="noStrike">
              <a:solidFill>
                <a:srgbClr val="000000"/>
              </a:solidFill>
              <a:effectLst/>
              <a:uFillTx/>
              <a:latin typeface="Arial"/>
            </a:endParaRPr>
          </a:p>
        </p:txBody>
      </p:sp>
      <p:sp>
        <p:nvSpPr>
          <p:cNvPr id="96"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5"/>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6"/>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Shape 32"/>
          <p:cNvSpPr/>
          <p:nvPr/>
        </p:nvSpPr>
        <p:spPr>
          <a:xfrm>
            <a:off x="0" y="360"/>
            <a:ext cx="914400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98" name="Text 19"/>
          <p:cNvSpPr/>
          <p:nvPr/>
        </p:nvSpPr>
        <p:spPr>
          <a:xfrm>
            <a:off x="45684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2660" b="1" u="none" strike="noStrike">
                <a:solidFill>
                  <a:srgbClr val="ffffff"/>
                </a:solidFill>
                <a:effectLst/>
                <a:uFillTx/>
                <a:latin typeface="Aptos"/>
              </a:rPr>
              <a:t>End‑to‑End Architecture</a:t>
            </a:r>
            <a:endParaRPr lang="en-IN" sz="2660" b="0" u="none" strike="noStrike">
              <a:solidFill>
                <a:srgbClr val="000000"/>
              </a:solidFill>
              <a:effectLst/>
              <a:uFillTx/>
              <a:latin typeface="Arial"/>
            </a:endParaRPr>
          </a:p>
        </p:txBody>
      </p:sp>
      <p:sp>
        <p:nvSpPr>
          <p:cNvPr id="99" name="Shape 33"/>
          <p:cNvSpPr/>
          <p:nvPr/>
        </p:nvSpPr>
        <p:spPr>
          <a:xfrm>
            <a:off x="499680" y="1828440"/>
            <a:ext cx="116352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0" name="Text 27"/>
          <p:cNvSpPr/>
          <p:nvPr/>
        </p:nvSpPr>
        <p:spPr>
          <a:xfrm>
            <a:off x="50292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Sources</a:t>
            </a:r>
            <a:endParaRPr lang="en-IN" sz="800" b="0" u="none" strike="noStrike">
              <a:solidFill>
                <a:srgbClr val="000000"/>
              </a:solidFill>
              <a:effectLst/>
              <a:uFillTx/>
              <a:latin typeface="Arial"/>
            </a:endParaRPr>
          </a:p>
        </p:txBody>
      </p:sp>
      <p:sp>
        <p:nvSpPr>
          <p:cNvPr id="101" name="Shape 34"/>
          <p:cNvSpPr/>
          <p:nvPr/>
        </p:nvSpPr>
        <p:spPr>
          <a:xfrm>
            <a:off x="173700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2" name="Shape 35"/>
          <p:cNvSpPr/>
          <p:nvPr/>
        </p:nvSpPr>
        <p:spPr>
          <a:xfrm>
            <a:off x="1963080" y="1828440"/>
            <a:ext cx="1163520" cy="54828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3" name="Text 30"/>
          <p:cNvSpPr/>
          <p:nvPr/>
        </p:nvSpPr>
        <p:spPr>
          <a:xfrm>
            <a:off x="196560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CDC (Debezium)</a:t>
            </a:r>
            <a:endParaRPr lang="en-IN" sz="800" b="0" u="none" strike="noStrike">
              <a:solidFill>
                <a:srgbClr val="000000"/>
              </a:solidFill>
              <a:effectLst/>
              <a:uFillTx/>
              <a:latin typeface="Arial"/>
            </a:endParaRPr>
          </a:p>
        </p:txBody>
      </p:sp>
      <p:sp>
        <p:nvSpPr>
          <p:cNvPr id="104" name="Shape 36"/>
          <p:cNvSpPr/>
          <p:nvPr/>
        </p:nvSpPr>
        <p:spPr>
          <a:xfrm>
            <a:off x="320004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5" name="Shape 37"/>
          <p:cNvSpPr/>
          <p:nvPr/>
        </p:nvSpPr>
        <p:spPr>
          <a:xfrm>
            <a:off x="3426120" y="1828440"/>
            <a:ext cx="116352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6" name="Text 31"/>
          <p:cNvSpPr/>
          <p:nvPr/>
        </p:nvSpPr>
        <p:spPr>
          <a:xfrm>
            <a:off x="342864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Kafka Topics</a:t>
            </a:r>
            <a:endParaRPr lang="en-IN" sz="800" b="0" u="none" strike="noStrike">
              <a:solidFill>
                <a:srgbClr val="000000"/>
              </a:solidFill>
              <a:effectLst/>
              <a:uFillTx/>
              <a:latin typeface="Arial"/>
            </a:endParaRPr>
          </a:p>
        </p:txBody>
      </p:sp>
      <p:sp>
        <p:nvSpPr>
          <p:cNvPr id="107" name="Shape 38"/>
          <p:cNvSpPr/>
          <p:nvPr/>
        </p:nvSpPr>
        <p:spPr>
          <a:xfrm>
            <a:off x="466308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8" name="Shape 39"/>
          <p:cNvSpPr/>
          <p:nvPr/>
        </p:nvSpPr>
        <p:spPr>
          <a:xfrm>
            <a:off x="4888800" y="1828440"/>
            <a:ext cx="1163520" cy="54828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9" name="Text 35"/>
          <p:cNvSpPr/>
          <p:nvPr/>
        </p:nvSpPr>
        <p:spPr>
          <a:xfrm>
            <a:off x="489204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Schema &amp; Validation</a:t>
            </a:r>
            <a:endParaRPr lang="en-IN" sz="800" b="0" u="none" strike="noStrike">
              <a:solidFill>
                <a:srgbClr val="000000"/>
              </a:solidFill>
              <a:effectLst/>
              <a:uFillTx/>
              <a:latin typeface="Arial"/>
            </a:endParaRPr>
          </a:p>
        </p:txBody>
      </p:sp>
      <p:sp>
        <p:nvSpPr>
          <p:cNvPr id="110" name="Shape 40"/>
          <p:cNvSpPr/>
          <p:nvPr/>
        </p:nvSpPr>
        <p:spPr>
          <a:xfrm>
            <a:off x="612612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11" name="Shape 41"/>
          <p:cNvSpPr/>
          <p:nvPr/>
        </p:nvSpPr>
        <p:spPr>
          <a:xfrm>
            <a:off x="6309000" y="1828440"/>
            <a:ext cx="127980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2" name="Text 36"/>
          <p:cNvSpPr/>
          <p:nvPr/>
        </p:nvSpPr>
        <p:spPr>
          <a:xfrm>
            <a:off x="6393600" y="1874520"/>
            <a:ext cx="10800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Transformation (Hop)</a:t>
            </a:r>
            <a:endParaRPr lang="en-IN" sz="800" b="0" u="none" strike="noStrike">
              <a:solidFill>
                <a:srgbClr val="000000"/>
              </a:solidFill>
              <a:effectLst/>
              <a:uFillTx/>
              <a:latin typeface="Arial"/>
            </a:endParaRPr>
          </a:p>
        </p:txBody>
      </p:sp>
      <p:sp>
        <p:nvSpPr>
          <p:cNvPr id="113" name="Shape 42"/>
          <p:cNvSpPr/>
          <p:nvPr/>
        </p:nvSpPr>
        <p:spPr>
          <a:xfrm>
            <a:off x="758916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14" name="Shape 43"/>
          <p:cNvSpPr/>
          <p:nvPr/>
        </p:nvSpPr>
        <p:spPr>
          <a:xfrm>
            <a:off x="7815240" y="1828440"/>
            <a:ext cx="1163520" cy="54828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5" name="Text 37"/>
          <p:cNvSpPr/>
          <p:nvPr/>
        </p:nvSpPr>
        <p:spPr>
          <a:xfrm>
            <a:off x="781776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Storage (Bronze/Silver/Gold)</a:t>
            </a:r>
            <a:endParaRPr lang="en-IN" sz="800" b="0" u="none" strike="noStrike">
              <a:solidFill>
                <a:srgbClr val="000000"/>
              </a:solidFill>
              <a:effectLst/>
              <a:uFillTx/>
              <a:latin typeface="Arial"/>
            </a:endParaRPr>
          </a:p>
        </p:txBody>
      </p:sp>
      <p:sp>
        <p:nvSpPr>
          <p:cNvPr id="116" name="Shape 44"/>
          <p:cNvSpPr/>
          <p:nvPr/>
        </p:nvSpPr>
        <p:spPr>
          <a:xfrm rot="5400000">
            <a:off x="8304120" y="2483640"/>
            <a:ext cx="182520" cy="9144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1080" bIns="1080" anchor="t">
            <a:noAutofit/>
          </a:bodyPr>
          <a:p>
            <a:endParaRPr lang="en-IN" sz="2400" b="0" u="none" strike="noStrike">
              <a:solidFill>
                <a:schemeClr val="dk1"/>
              </a:solidFill>
              <a:effectLst/>
              <a:uFillTx/>
              <a:latin typeface="Aptos"/>
            </a:endParaRPr>
          </a:p>
        </p:txBody>
      </p:sp>
      <p:sp>
        <p:nvSpPr>
          <p:cNvPr id="117" name="Shape 45"/>
          <p:cNvSpPr/>
          <p:nvPr/>
        </p:nvSpPr>
        <p:spPr>
          <a:xfrm>
            <a:off x="7772400" y="2697480"/>
            <a:ext cx="1163520" cy="54828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8" name="Text 38"/>
          <p:cNvSpPr/>
          <p:nvPr/>
        </p:nvSpPr>
        <p:spPr>
          <a:xfrm>
            <a:off x="7817760" y="27889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Orchestration (Airflow)</a:t>
            </a:r>
            <a:endParaRPr lang="en-IN" sz="800" b="0" u="none" strike="noStrike">
              <a:solidFill>
                <a:srgbClr val="000000"/>
              </a:solidFill>
              <a:effectLst/>
              <a:uFillTx/>
              <a:latin typeface="Arial"/>
            </a:endParaRPr>
          </a:p>
        </p:txBody>
      </p:sp>
      <p:sp>
        <p:nvSpPr>
          <p:cNvPr id="119" name="Shape 46"/>
          <p:cNvSpPr/>
          <p:nvPr/>
        </p:nvSpPr>
        <p:spPr>
          <a:xfrm>
            <a:off x="7772040" y="3840480"/>
            <a:ext cx="127980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20" name="Text 39"/>
          <p:cNvSpPr/>
          <p:nvPr/>
        </p:nvSpPr>
        <p:spPr>
          <a:xfrm>
            <a:off x="7855560" y="3886200"/>
            <a:ext cx="10800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Analytics &amp; Serving</a:t>
            </a:r>
            <a:endParaRPr lang="en-IN" sz="800" b="0" u="none" strike="noStrike">
              <a:solidFill>
                <a:srgbClr val="000000"/>
              </a:solidFill>
              <a:effectLst/>
              <a:uFillTx/>
              <a:latin typeface="Arial"/>
            </a:endParaRPr>
          </a:p>
        </p:txBody>
      </p:sp>
      <p:sp>
        <p:nvSpPr>
          <p:cNvPr id="121" name="Text 40"/>
          <p:cNvSpPr/>
          <p:nvPr/>
        </p:nvSpPr>
        <p:spPr>
          <a:xfrm>
            <a:off x="456840" y="2743200"/>
            <a:ext cx="86864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1200" b="0" u="none" strike="noStrike">
                <a:solidFill>
                  <a:srgbClr val="6a6a6a"/>
                </a:solidFill>
                <a:effectLst/>
                <a:uFillTx/>
                <a:latin typeface="Aptos"/>
              </a:rPr>
              <a:t>Unified pipeline spans capture, ingest, transform, store, orchestrate, query and serve.</a:t>
            </a:r>
            <a:endParaRPr lang="en-IN" sz="1200" b="0" u="none" strike="noStrike">
              <a:solidFill>
                <a:srgbClr val="000000"/>
              </a:solidFill>
              <a:effectLst/>
              <a:uFillTx/>
              <a:latin typeface="Arial"/>
            </a:endParaRPr>
          </a:p>
        </p:txBody>
      </p:sp>
      <p:sp>
        <p:nvSpPr>
          <p:cNvPr id="122" name="Text 41"/>
          <p:cNvSpPr/>
          <p:nvPr/>
        </p:nvSpPr>
        <p:spPr>
          <a:xfrm>
            <a:off x="456840" y="6217920"/>
            <a:ext cx="8229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sng" strike="noStrike">
                <a:solidFill>
                  <a:srgbClr val="467886"/>
                </a:solidFill>
                <a:effectLst/>
                <a:uFillTx/>
                <a:latin typeface="Aptos"/>
                <a:hlinkClick r:id="rId1"/>
              </a:rPr>
              <a:t>[1]</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2"/>
              </a:rPr>
              <a:t>[2]</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3"/>
              </a:rPr>
              <a:t>[3]</a:t>
            </a:r>
            <a:endParaRPr lang="en-IN" sz="800" b="0" u="none" strike="noStrike">
              <a:solidFill>
                <a:srgbClr val="000000"/>
              </a:solidFill>
              <a:effectLst/>
              <a:uFillTx/>
              <a:latin typeface="Arial"/>
            </a:endParaRPr>
          </a:p>
        </p:txBody>
      </p:sp>
      <p:sp>
        <p:nvSpPr>
          <p:cNvPr id="123" name="Shape 47"/>
          <p:cNvSpPr/>
          <p:nvPr/>
        </p:nvSpPr>
        <p:spPr>
          <a:xfrm rot="5400000">
            <a:off x="8327160" y="3451680"/>
            <a:ext cx="182520" cy="9144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1080" bIns="1080" anchor="t">
            <a:noAutofit/>
          </a:bodyPr>
          <a:p>
            <a:endParaRPr lang="en-IN"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2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2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Capture &amp; Change Data Capture</a:t>
            </a:r>
            <a:endParaRPr lang="en-IN" sz="2000" b="0" u="none" strike="noStrike">
              <a:solidFill>
                <a:srgbClr val="000000"/>
              </a:solidFill>
              <a:effectLst/>
              <a:uFillTx/>
              <a:latin typeface="Arial"/>
            </a:endParaRPr>
          </a:p>
        </p:txBody>
      </p:sp>
      <p:sp>
        <p:nvSpPr>
          <p:cNvPr id="126"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Debezium converts database changes into event streams</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 Monitors transaction logs (binlog/WAL) and captures inserts, updates &amp; deletes</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Sends change events to Kafka Connect which writes to topics (one per table)</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Ensures order, durability and fault tolerance; resumes from last offset</a:t>
            </a:r>
            <a:endParaRPr lang="en-IN"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6a6a6a"/>
                </a:solidFill>
                <a:effectLst/>
                <a:uFillTx/>
                <a:latin typeface="Calibri"/>
              </a:rPr>
              <a:t>• Supports snapshot, streaming &amp; incremental snapshot modes</a:t>
            </a:r>
            <a:endParaRPr lang="en-IN" sz="1000" b="0" u="none" strike="noStrike">
              <a:solidFill>
                <a:srgbClr val="000000"/>
              </a:solidFill>
              <a:effectLst/>
              <a:uFillTx/>
              <a:latin typeface="Arial"/>
            </a:endParaRPr>
          </a:p>
        </p:txBody>
      </p:sp>
      <p:sp>
        <p:nvSpPr>
          <p:cNvPr id="127" name="Shape 3"/>
          <p:cNvSpPr/>
          <p:nvPr/>
        </p:nvSpPr>
        <p:spPr>
          <a:xfrm>
            <a:off x="5943600" y="914400"/>
            <a:ext cx="100548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28" name="Text 4"/>
          <p:cNvSpPr/>
          <p:nvPr/>
        </p:nvSpPr>
        <p:spPr>
          <a:xfrm>
            <a:off x="5943600" y="914400"/>
            <a:ext cx="10054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Database</a:t>
            </a:r>
            <a:endParaRPr lang="en-IN" sz="800" b="0" u="none" strike="noStrike">
              <a:solidFill>
                <a:srgbClr val="000000"/>
              </a:solidFill>
              <a:effectLst/>
              <a:uFillTx/>
              <a:latin typeface="Arial"/>
            </a:endParaRPr>
          </a:p>
        </p:txBody>
      </p:sp>
      <p:sp>
        <p:nvSpPr>
          <p:cNvPr id="129" name="Shape 5"/>
          <p:cNvSpPr/>
          <p:nvPr/>
        </p:nvSpPr>
        <p:spPr>
          <a:xfrm>
            <a:off x="694944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0" name="Shape 6"/>
          <p:cNvSpPr/>
          <p:nvPr/>
        </p:nvSpPr>
        <p:spPr>
          <a:xfrm>
            <a:off x="7223760" y="914400"/>
            <a:ext cx="1005480" cy="411120"/>
          </a:xfrm>
          <a:prstGeom prst="roundRect">
            <a:avLst>
              <a:gd name="adj" fmla="val 22222"/>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1" name="Text 7"/>
          <p:cNvSpPr/>
          <p:nvPr/>
        </p:nvSpPr>
        <p:spPr>
          <a:xfrm>
            <a:off x="7223760" y="914400"/>
            <a:ext cx="10054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Debezium</a:t>
            </a:r>
            <a:endParaRPr lang="en-IN" sz="800" b="0" u="none" strike="noStrike">
              <a:solidFill>
                <a:srgbClr val="000000"/>
              </a:solidFill>
              <a:effectLst/>
              <a:uFillTx/>
              <a:latin typeface="Arial"/>
            </a:endParaRPr>
          </a:p>
        </p:txBody>
      </p:sp>
      <p:sp>
        <p:nvSpPr>
          <p:cNvPr id="132" name="Shape 8"/>
          <p:cNvSpPr/>
          <p:nvPr/>
        </p:nvSpPr>
        <p:spPr>
          <a:xfrm>
            <a:off x="82296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3" name="Shape 9"/>
          <p:cNvSpPr/>
          <p:nvPr/>
        </p:nvSpPr>
        <p:spPr>
          <a:xfrm>
            <a:off x="8458200" y="914400"/>
            <a:ext cx="6397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4" name="Text 10"/>
          <p:cNvSpPr/>
          <p:nvPr/>
        </p:nvSpPr>
        <p:spPr>
          <a:xfrm>
            <a:off x="8458200" y="914400"/>
            <a:ext cx="6397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Topic</a:t>
            </a:r>
            <a:endParaRPr lang="en-IN" sz="800" b="0" u="none" strike="noStrike">
              <a:solidFill>
                <a:srgbClr val="000000"/>
              </a:solidFill>
              <a:effectLst/>
              <a:uFillTx/>
              <a:latin typeface="Arial"/>
            </a:endParaRPr>
          </a:p>
        </p:txBody>
      </p:sp>
      <p:sp>
        <p:nvSpPr>
          <p:cNvPr id="135"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3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Ingestion &amp; Schema Management</a:t>
            </a:r>
            <a:endParaRPr lang="en-IN" sz="2000" b="0" u="none" strike="noStrike">
              <a:solidFill>
                <a:srgbClr val="000000"/>
              </a:solidFill>
              <a:effectLst/>
              <a:uFillTx/>
              <a:latin typeface="Arial"/>
            </a:endParaRPr>
          </a:p>
        </p:txBody>
      </p:sp>
      <p:sp>
        <p:nvSpPr>
          <p:cNvPr id="138"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Event schemas act as contracts</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 Avro, JSON Schema &amp; Protobuf define the structure of each record</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Schema Registry stores versions and enforces compatibility</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Producers validate events; consumers evolve independently</a:t>
            </a:r>
            <a:endParaRPr lang="en-IN"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6a6a6a"/>
                </a:solidFill>
                <a:effectLst/>
                <a:uFillTx/>
                <a:latin typeface="Calibri"/>
              </a:rPr>
              <a:t>• DLQ patterns handle malformed records and poison messages</a:t>
            </a:r>
            <a:endParaRPr lang="en-IN" sz="1000" b="0" u="none" strike="noStrike">
              <a:solidFill>
                <a:srgbClr val="000000"/>
              </a:solidFill>
              <a:effectLst/>
              <a:uFillTx/>
              <a:latin typeface="Arial"/>
            </a:endParaRPr>
          </a:p>
        </p:txBody>
      </p:sp>
      <p:sp>
        <p:nvSpPr>
          <p:cNvPr id="139" name="Shape 3"/>
          <p:cNvSpPr/>
          <p:nvPr/>
        </p:nvSpPr>
        <p:spPr>
          <a:xfrm>
            <a:off x="5760720" y="914400"/>
            <a:ext cx="10969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0" name="Text 4"/>
          <p:cNvSpPr/>
          <p:nvPr/>
        </p:nvSpPr>
        <p:spPr>
          <a:xfrm>
            <a:off x="5760720" y="914400"/>
            <a:ext cx="10969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Producer</a:t>
            </a:r>
            <a:endParaRPr lang="en-IN" sz="800" b="0" u="none" strike="noStrike">
              <a:solidFill>
                <a:srgbClr val="000000"/>
              </a:solidFill>
              <a:effectLst/>
              <a:uFillTx/>
              <a:latin typeface="Arial"/>
            </a:endParaRPr>
          </a:p>
        </p:txBody>
      </p:sp>
      <p:sp>
        <p:nvSpPr>
          <p:cNvPr id="141" name="Shape 5"/>
          <p:cNvSpPr/>
          <p:nvPr/>
        </p:nvSpPr>
        <p:spPr>
          <a:xfrm>
            <a:off x="68580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2" name="Shape 6"/>
          <p:cNvSpPr/>
          <p:nvPr/>
        </p:nvSpPr>
        <p:spPr>
          <a:xfrm>
            <a:off x="7132320" y="914400"/>
            <a:ext cx="1096920" cy="411120"/>
          </a:xfrm>
          <a:prstGeom prst="roundRect">
            <a:avLst>
              <a:gd name="adj" fmla="val 22222"/>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3" name="Text 7"/>
          <p:cNvSpPr/>
          <p:nvPr/>
        </p:nvSpPr>
        <p:spPr>
          <a:xfrm>
            <a:off x="7132320" y="914400"/>
            <a:ext cx="10969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Schema Registry</a:t>
            </a:r>
            <a:endParaRPr lang="en-IN" sz="700" b="0" u="none" strike="noStrike">
              <a:solidFill>
                <a:srgbClr val="000000"/>
              </a:solidFill>
              <a:effectLst/>
              <a:uFillTx/>
              <a:latin typeface="Arial"/>
            </a:endParaRPr>
          </a:p>
        </p:txBody>
      </p:sp>
      <p:sp>
        <p:nvSpPr>
          <p:cNvPr id="144" name="Shape 8"/>
          <p:cNvSpPr/>
          <p:nvPr/>
        </p:nvSpPr>
        <p:spPr>
          <a:xfrm>
            <a:off x="82296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5" name="Shape 9"/>
          <p:cNvSpPr/>
          <p:nvPr/>
        </p:nvSpPr>
        <p:spPr>
          <a:xfrm>
            <a:off x="8458200" y="914400"/>
            <a:ext cx="6397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6" name="Text 10"/>
          <p:cNvSpPr/>
          <p:nvPr/>
        </p:nvSpPr>
        <p:spPr>
          <a:xfrm>
            <a:off x="8458200" y="914400"/>
            <a:ext cx="6397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Topic</a:t>
            </a:r>
            <a:endParaRPr lang="en-IN" sz="800" b="0" u="none" strike="noStrike">
              <a:solidFill>
                <a:srgbClr val="000000"/>
              </a:solidFill>
              <a:effectLst/>
              <a:uFillTx/>
              <a:latin typeface="Arial"/>
            </a:endParaRPr>
          </a:p>
        </p:txBody>
      </p:sp>
      <p:sp>
        <p:nvSpPr>
          <p:cNvPr id="147"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4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Transformation &amp; Storage</a:t>
            </a:r>
            <a:endParaRPr lang="en-IN" sz="2000" b="0" u="none" strike="noStrike">
              <a:solidFill>
                <a:srgbClr val="000000"/>
              </a:solidFill>
              <a:effectLst/>
              <a:uFillTx/>
              <a:latin typeface="Arial"/>
            </a:endParaRPr>
          </a:p>
        </p:txBody>
      </p:sp>
      <p:sp>
        <p:nvSpPr>
          <p:cNvPr id="150" name="Text 2"/>
          <p:cNvSpPr/>
          <p:nvPr/>
        </p:nvSpPr>
        <p:spPr>
          <a:xfrm>
            <a:off x="457200" y="731520"/>
            <a:ext cx="5028840" cy="2285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Transformation and Storage Extension</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Earlier-day Hop/Spark work defines cleaning, deduplication and enrichment rules.</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Map raw CDC to Bronze, accepted records to Silver and metrics to Gold.</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supplied Day 10 stack does not ship a running Hop/Spark lakehouse job; include the extension design or evidence from prior labs.</a:t>
            </a:r>
            <a:endParaRPr lang="en-IN" sz="1200" b="0" u="none" strike="noStrike">
              <a:solidFill>
                <a:srgbClr val="000000"/>
              </a:solidFill>
              <a:effectLst/>
              <a:uFillTx/>
              <a:latin typeface="Arial"/>
            </a:endParaRPr>
          </a:p>
        </p:txBody>
      </p:sp>
      <p:sp>
        <p:nvSpPr>
          <p:cNvPr id="151" name="Shape 3"/>
          <p:cNvSpPr/>
          <p:nvPr/>
        </p:nvSpPr>
        <p:spPr>
          <a:xfrm>
            <a:off x="5669280" y="1645920"/>
            <a:ext cx="1828440" cy="365400"/>
          </a:xfrm>
          <a:prstGeom prst="rect">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2" name="Text 4"/>
          <p:cNvSpPr/>
          <p:nvPr/>
        </p:nvSpPr>
        <p:spPr>
          <a:xfrm>
            <a:off x="5669280" y="164592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Bronze</a:t>
            </a:r>
            <a:endParaRPr lang="en-IN" sz="900" b="0" u="none" strike="noStrike">
              <a:solidFill>
                <a:srgbClr val="000000"/>
              </a:solidFill>
              <a:effectLst/>
              <a:uFillTx/>
              <a:latin typeface="Arial"/>
            </a:endParaRPr>
          </a:p>
        </p:txBody>
      </p:sp>
      <p:sp>
        <p:nvSpPr>
          <p:cNvPr id="153" name="Shape 5"/>
          <p:cNvSpPr/>
          <p:nvPr/>
        </p:nvSpPr>
        <p:spPr>
          <a:xfrm>
            <a:off x="5669280" y="1280160"/>
            <a:ext cx="1828440" cy="365400"/>
          </a:xfrm>
          <a:prstGeom prst="rect">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4" name="Text 6"/>
          <p:cNvSpPr/>
          <p:nvPr/>
        </p:nvSpPr>
        <p:spPr>
          <a:xfrm>
            <a:off x="5669280" y="128016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Silver</a:t>
            </a:r>
            <a:endParaRPr lang="en-IN" sz="900" b="0" u="none" strike="noStrike">
              <a:solidFill>
                <a:srgbClr val="000000"/>
              </a:solidFill>
              <a:effectLst/>
              <a:uFillTx/>
              <a:latin typeface="Arial"/>
            </a:endParaRPr>
          </a:p>
        </p:txBody>
      </p:sp>
      <p:sp>
        <p:nvSpPr>
          <p:cNvPr id="155" name="Shape 7"/>
          <p:cNvSpPr/>
          <p:nvPr/>
        </p:nvSpPr>
        <p:spPr>
          <a:xfrm>
            <a:off x="5669280" y="914400"/>
            <a:ext cx="1828440" cy="365400"/>
          </a:xfrm>
          <a:prstGeom prst="rect">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6" name="Text 8"/>
          <p:cNvSpPr/>
          <p:nvPr/>
        </p:nvSpPr>
        <p:spPr>
          <a:xfrm>
            <a:off x="5669280" y="91440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Gold</a:t>
            </a:r>
            <a:endParaRPr lang="en-IN" sz="900" b="0" u="none" strike="noStrike">
              <a:solidFill>
                <a:srgbClr val="000000"/>
              </a:solidFill>
              <a:effectLst/>
              <a:uFillTx/>
              <a:latin typeface="Arial"/>
            </a:endParaRPr>
          </a:p>
        </p:txBody>
      </p:sp>
      <p:sp>
        <p:nvSpPr>
          <p:cNvPr id="157" name="Text 9"/>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4"/>
              </a:rPr>
              <a:t>[4]</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5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Orchestration &amp; Scheduling</a:t>
            </a:r>
            <a:endParaRPr lang="en-IN" sz="2000" b="0" u="none" strike="noStrike">
              <a:solidFill>
                <a:srgbClr val="000000"/>
              </a:solidFill>
              <a:effectLst/>
              <a:uFillTx/>
              <a:latin typeface="Arial"/>
            </a:endParaRPr>
          </a:p>
        </p:txBody>
      </p:sp>
      <p:sp>
        <p:nvSpPr>
          <p:cNvPr id="160"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Orchestration Extension</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Airflow coordinates bounded checks and transformation jobs; it does not replace continuous CDC capture.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supplied Day 10 Compose stack does not include Airflow.</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In your design, show the validation or Gold-refresh DAG, retry policy and idempotent outcome evidence.</a:t>
            </a:r>
            <a:endParaRPr lang="en-IN" sz="1200" b="0" u="none" strike="noStrike">
              <a:solidFill>
                <a:srgbClr val="000000"/>
              </a:solidFill>
              <a:effectLst/>
              <a:uFillTx/>
              <a:latin typeface="Arial"/>
            </a:endParaRPr>
          </a:p>
        </p:txBody>
      </p:sp>
      <p:sp>
        <p:nvSpPr>
          <p:cNvPr id="161" name="Shape 3"/>
          <p:cNvSpPr/>
          <p:nvPr/>
        </p:nvSpPr>
        <p:spPr>
          <a:xfrm>
            <a:off x="576072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2" name="Text 4"/>
          <p:cNvSpPr/>
          <p:nvPr/>
        </p:nvSpPr>
        <p:spPr>
          <a:xfrm>
            <a:off x="576072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Ingest</a:t>
            </a:r>
            <a:endParaRPr lang="en-IN" sz="700" b="0" u="none" strike="noStrike">
              <a:solidFill>
                <a:srgbClr val="000000"/>
              </a:solidFill>
              <a:effectLst/>
              <a:uFillTx/>
              <a:latin typeface="Arial"/>
            </a:endParaRPr>
          </a:p>
        </p:txBody>
      </p:sp>
      <p:sp>
        <p:nvSpPr>
          <p:cNvPr id="163" name="Shape 5"/>
          <p:cNvSpPr/>
          <p:nvPr/>
        </p:nvSpPr>
        <p:spPr>
          <a:xfrm>
            <a:off x="676656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4" name="Text 6"/>
          <p:cNvSpPr/>
          <p:nvPr/>
        </p:nvSpPr>
        <p:spPr>
          <a:xfrm>
            <a:off x="676656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Transform</a:t>
            </a:r>
            <a:endParaRPr lang="en-IN" sz="700" b="0" u="none" strike="noStrike">
              <a:solidFill>
                <a:srgbClr val="000000"/>
              </a:solidFill>
              <a:effectLst/>
              <a:uFillTx/>
              <a:latin typeface="Arial"/>
            </a:endParaRPr>
          </a:p>
        </p:txBody>
      </p:sp>
      <p:sp>
        <p:nvSpPr>
          <p:cNvPr id="165" name="Shape 7"/>
          <p:cNvSpPr/>
          <p:nvPr/>
        </p:nvSpPr>
        <p:spPr>
          <a:xfrm>
            <a:off x="777240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6" name="Text 8"/>
          <p:cNvSpPr/>
          <p:nvPr/>
        </p:nvSpPr>
        <p:spPr>
          <a:xfrm>
            <a:off x="777240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Serve</a:t>
            </a:r>
            <a:endParaRPr lang="en-IN" sz="700" b="0" u="none" strike="noStrike">
              <a:solidFill>
                <a:srgbClr val="000000"/>
              </a:solidFill>
              <a:effectLst/>
              <a:uFillTx/>
              <a:latin typeface="Arial"/>
            </a:endParaRPr>
          </a:p>
        </p:txBody>
      </p:sp>
      <p:sp>
        <p:nvSpPr>
          <p:cNvPr id="167" name="Shape 9"/>
          <p:cNvSpPr/>
          <p:nvPr/>
        </p:nvSpPr>
        <p:spPr>
          <a:xfrm>
            <a:off x="6309360" y="1143000"/>
            <a:ext cx="4568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8" name="Shape 10"/>
          <p:cNvSpPr/>
          <p:nvPr/>
        </p:nvSpPr>
        <p:spPr>
          <a:xfrm>
            <a:off x="7315200" y="1143000"/>
            <a:ext cx="4568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9"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7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Real‑Time Analytics &amp; Serving</a:t>
            </a:r>
            <a:endParaRPr lang="en-IN" sz="2000" b="0" u="none" strike="noStrike">
              <a:solidFill>
                <a:srgbClr val="000000"/>
              </a:solidFill>
              <a:effectLst/>
              <a:uFillTx/>
              <a:latin typeface="Arial"/>
            </a:endParaRPr>
          </a:p>
        </p:txBody>
      </p:sp>
      <p:sp>
        <p:nvSpPr>
          <p:cNvPr id="172"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Consumption and BI Proof</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runnable capstone uses ksqlDB derived tables/topics as the analytics output.</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Export or connect a Gold-style result to a BI tool such as Apache Superset or Metabase.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Required dashboard evidence: one KPI plus two charts, with metric grain and refresh/freshness note.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A microservice is optional, not a replacement for the dashboard proof.</a:t>
            </a:r>
            <a:endParaRPr lang="en-IN" sz="1200" b="0" u="none" strike="noStrike">
              <a:solidFill>
                <a:srgbClr val="000000"/>
              </a:solidFill>
              <a:effectLst/>
              <a:uFillTx/>
              <a:latin typeface="Arial"/>
            </a:endParaRPr>
          </a:p>
        </p:txBody>
      </p:sp>
      <p:sp>
        <p:nvSpPr>
          <p:cNvPr id="173" name="Shape 3"/>
          <p:cNvSpPr/>
          <p:nvPr/>
        </p:nvSpPr>
        <p:spPr>
          <a:xfrm>
            <a:off x="5486040" y="2243160"/>
            <a:ext cx="13712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4" name="Text 4"/>
          <p:cNvSpPr/>
          <p:nvPr/>
        </p:nvSpPr>
        <p:spPr>
          <a:xfrm>
            <a:off x="5486040" y="2243160"/>
            <a:ext cx="13712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Derived Topic</a:t>
            </a:r>
            <a:endParaRPr lang="en-IN" sz="800" b="0" u="none" strike="noStrike">
              <a:solidFill>
                <a:srgbClr val="000000"/>
              </a:solidFill>
              <a:effectLst/>
              <a:uFillTx/>
              <a:latin typeface="Arial"/>
            </a:endParaRPr>
          </a:p>
        </p:txBody>
      </p:sp>
      <p:sp>
        <p:nvSpPr>
          <p:cNvPr id="175" name="Shape 5"/>
          <p:cNvSpPr/>
          <p:nvPr/>
        </p:nvSpPr>
        <p:spPr>
          <a:xfrm>
            <a:off x="7040880" y="17557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6" name="Shape 6"/>
          <p:cNvSpPr/>
          <p:nvPr/>
        </p:nvSpPr>
        <p:spPr>
          <a:xfrm>
            <a:off x="7315200" y="16459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7" name="Text 7"/>
          <p:cNvSpPr/>
          <p:nvPr/>
        </p:nvSpPr>
        <p:spPr>
          <a:xfrm>
            <a:off x="7315200" y="16459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Dashboard</a:t>
            </a:r>
            <a:endParaRPr lang="en-IN" sz="700" b="0" u="none" strike="noStrike">
              <a:solidFill>
                <a:srgbClr val="000000"/>
              </a:solidFill>
              <a:effectLst/>
              <a:uFillTx/>
              <a:latin typeface="Arial"/>
            </a:endParaRPr>
          </a:p>
        </p:txBody>
      </p:sp>
      <p:sp>
        <p:nvSpPr>
          <p:cNvPr id="178" name="Shape 8"/>
          <p:cNvSpPr/>
          <p:nvPr/>
        </p:nvSpPr>
        <p:spPr>
          <a:xfrm>
            <a:off x="7040880" y="22129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9" name="Shape 9"/>
          <p:cNvSpPr/>
          <p:nvPr/>
        </p:nvSpPr>
        <p:spPr>
          <a:xfrm>
            <a:off x="7315200" y="21031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0" name="Text 10"/>
          <p:cNvSpPr/>
          <p:nvPr/>
        </p:nvSpPr>
        <p:spPr>
          <a:xfrm>
            <a:off x="7315200" y="21031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API</a:t>
            </a:r>
            <a:endParaRPr lang="en-IN" sz="700" b="0" u="none" strike="noStrike">
              <a:solidFill>
                <a:srgbClr val="000000"/>
              </a:solidFill>
              <a:effectLst/>
              <a:uFillTx/>
              <a:latin typeface="Arial"/>
            </a:endParaRPr>
          </a:p>
        </p:txBody>
      </p:sp>
      <p:sp>
        <p:nvSpPr>
          <p:cNvPr id="181" name="Shape 11"/>
          <p:cNvSpPr/>
          <p:nvPr/>
        </p:nvSpPr>
        <p:spPr>
          <a:xfrm>
            <a:off x="7040880" y="26701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2" name="Shape 12"/>
          <p:cNvSpPr/>
          <p:nvPr/>
        </p:nvSpPr>
        <p:spPr>
          <a:xfrm>
            <a:off x="7315200" y="25603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3" name="Text 13"/>
          <p:cNvSpPr/>
          <p:nvPr/>
        </p:nvSpPr>
        <p:spPr>
          <a:xfrm>
            <a:off x="7315200" y="25603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Microservice</a:t>
            </a:r>
            <a:endParaRPr lang="en-IN" sz="700" b="0" u="none" strike="noStrike">
              <a:solidFill>
                <a:srgbClr val="000000"/>
              </a:solidFill>
              <a:effectLst/>
              <a:uFillTx/>
              <a:latin typeface="Arial"/>
            </a:endParaRPr>
          </a:p>
        </p:txBody>
      </p:sp>
      <p:sp>
        <p:nvSpPr>
          <p:cNvPr id="184" name="Shape 14"/>
          <p:cNvSpPr/>
          <p:nvPr/>
        </p:nvSpPr>
        <p:spPr>
          <a:xfrm>
            <a:off x="7040880" y="31273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5" name="Shape 15"/>
          <p:cNvSpPr/>
          <p:nvPr/>
        </p:nvSpPr>
        <p:spPr>
          <a:xfrm>
            <a:off x="7315200" y="30175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6" name="Text 16"/>
          <p:cNvSpPr/>
          <p:nvPr/>
        </p:nvSpPr>
        <p:spPr>
          <a:xfrm>
            <a:off x="7315200" y="30175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ML Model</a:t>
            </a:r>
            <a:endParaRPr lang="en-IN" sz="700" b="0" u="none" strike="noStrike">
              <a:solidFill>
                <a:srgbClr val="000000"/>
              </a:solidFill>
              <a:effectLst/>
              <a:uFillTx/>
              <a:latin typeface="Arial"/>
            </a:endParaRPr>
          </a:p>
        </p:txBody>
      </p:sp>
      <p:sp>
        <p:nvSpPr>
          <p:cNvPr id="187"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8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Event Life Cycle</a:t>
            </a:r>
            <a:endParaRPr lang="en-IN" sz="2000" b="0" u="none" strike="noStrike">
              <a:solidFill>
                <a:srgbClr val="000000"/>
              </a:solidFill>
              <a:effectLst/>
              <a:uFillTx/>
              <a:latin typeface="Arial"/>
            </a:endParaRPr>
          </a:p>
        </p:txBody>
      </p:sp>
      <p:sp>
        <p:nvSpPr>
          <p:cNvPr id="190" name="Shape 2"/>
          <p:cNvSpPr/>
          <p:nvPr/>
        </p:nvSpPr>
        <p:spPr>
          <a:xfrm>
            <a:off x="45720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1" name="Text 3"/>
          <p:cNvSpPr/>
          <p:nvPr/>
        </p:nvSpPr>
        <p:spPr>
          <a:xfrm>
            <a:off x="45720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Capture</a:t>
            </a:r>
            <a:endParaRPr lang="en-IN" sz="800" b="0" u="none" strike="noStrike">
              <a:solidFill>
                <a:srgbClr val="000000"/>
              </a:solidFill>
              <a:effectLst/>
              <a:uFillTx/>
              <a:latin typeface="Arial"/>
            </a:endParaRPr>
          </a:p>
        </p:txBody>
      </p:sp>
      <p:sp>
        <p:nvSpPr>
          <p:cNvPr id="192" name="Shape 4"/>
          <p:cNvSpPr/>
          <p:nvPr/>
        </p:nvSpPr>
        <p:spPr>
          <a:xfrm>
            <a:off x="137160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3" name="Shape 5"/>
          <p:cNvSpPr/>
          <p:nvPr/>
        </p:nvSpPr>
        <p:spPr>
          <a:xfrm>
            <a:off x="1554480" y="1828800"/>
            <a:ext cx="914040" cy="456840"/>
          </a:xfrm>
          <a:prstGeom prst="roundRect">
            <a:avLst>
              <a:gd name="adj" fmla="val 20000"/>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4" name="Text 6"/>
          <p:cNvSpPr/>
          <p:nvPr/>
        </p:nvSpPr>
        <p:spPr>
          <a:xfrm>
            <a:off x="155448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Ingest</a:t>
            </a:r>
            <a:endParaRPr lang="en-IN" sz="800" b="0" u="none" strike="noStrike">
              <a:solidFill>
                <a:srgbClr val="000000"/>
              </a:solidFill>
              <a:effectLst/>
              <a:uFillTx/>
              <a:latin typeface="Arial"/>
            </a:endParaRPr>
          </a:p>
        </p:txBody>
      </p:sp>
      <p:sp>
        <p:nvSpPr>
          <p:cNvPr id="195" name="Shape 7"/>
          <p:cNvSpPr/>
          <p:nvPr/>
        </p:nvSpPr>
        <p:spPr>
          <a:xfrm>
            <a:off x="246888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6" name="Shape 8"/>
          <p:cNvSpPr/>
          <p:nvPr/>
        </p:nvSpPr>
        <p:spPr>
          <a:xfrm>
            <a:off x="2651760" y="1828800"/>
            <a:ext cx="914040" cy="456840"/>
          </a:xfrm>
          <a:prstGeom prst="roundRect">
            <a:avLst>
              <a:gd name="adj" fmla="val 20000"/>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7" name="Text 9"/>
          <p:cNvSpPr/>
          <p:nvPr/>
        </p:nvSpPr>
        <p:spPr>
          <a:xfrm>
            <a:off x="265176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Transform</a:t>
            </a:r>
            <a:endParaRPr lang="en-IN" sz="800" b="0" u="none" strike="noStrike">
              <a:solidFill>
                <a:srgbClr val="000000"/>
              </a:solidFill>
              <a:effectLst/>
              <a:uFillTx/>
              <a:latin typeface="Arial"/>
            </a:endParaRPr>
          </a:p>
        </p:txBody>
      </p:sp>
      <p:sp>
        <p:nvSpPr>
          <p:cNvPr id="198" name="Shape 10"/>
          <p:cNvSpPr/>
          <p:nvPr/>
        </p:nvSpPr>
        <p:spPr>
          <a:xfrm>
            <a:off x="356616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9" name="Shape 11"/>
          <p:cNvSpPr/>
          <p:nvPr/>
        </p:nvSpPr>
        <p:spPr>
          <a:xfrm>
            <a:off x="374904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0" name="Text 12"/>
          <p:cNvSpPr/>
          <p:nvPr/>
        </p:nvSpPr>
        <p:spPr>
          <a:xfrm>
            <a:off x="374904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Store</a:t>
            </a:r>
            <a:endParaRPr lang="en-IN" sz="800" b="0" u="none" strike="noStrike">
              <a:solidFill>
                <a:srgbClr val="000000"/>
              </a:solidFill>
              <a:effectLst/>
              <a:uFillTx/>
              <a:latin typeface="Arial"/>
            </a:endParaRPr>
          </a:p>
        </p:txBody>
      </p:sp>
      <p:sp>
        <p:nvSpPr>
          <p:cNvPr id="201" name="Shape 13"/>
          <p:cNvSpPr/>
          <p:nvPr/>
        </p:nvSpPr>
        <p:spPr>
          <a:xfrm>
            <a:off x="466344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2" name="Shape 14"/>
          <p:cNvSpPr/>
          <p:nvPr/>
        </p:nvSpPr>
        <p:spPr>
          <a:xfrm>
            <a:off x="4846320" y="1828800"/>
            <a:ext cx="914040" cy="456840"/>
          </a:xfrm>
          <a:prstGeom prst="roundRect">
            <a:avLst>
              <a:gd name="adj" fmla="val 20000"/>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3" name="Text 15"/>
          <p:cNvSpPr/>
          <p:nvPr/>
        </p:nvSpPr>
        <p:spPr>
          <a:xfrm>
            <a:off x="484632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Orchestrate</a:t>
            </a:r>
            <a:endParaRPr lang="en-IN" sz="800" b="0" u="none" strike="noStrike">
              <a:solidFill>
                <a:srgbClr val="000000"/>
              </a:solidFill>
              <a:effectLst/>
              <a:uFillTx/>
              <a:latin typeface="Arial"/>
            </a:endParaRPr>
          </a:p>
        </p:txBody>
      </p:sp>
      <p:sp>
        <p:nvSpPr>
          <p:cNvPr id="204" name="Shape 16"/>
          <p:cNvSpPr/>
          <p:nvPr/>
        </p:nvSpPr>
        <p:spPr>
          <a:xfrm>
            <a:off x="576072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5" name="Shape 17"/>
          <p:cNvSpPr/>
          <p:nvPr/>
        </p:nvSpPr>
        <p:spPr>
          <a:xfrm>
            <a:off x="5943600" y="1828800"/>
            <a:ext cx="914040" cy="456840"/>
          </a:xfrm>
          <a:prstGeom prst="roundRect">
            <a:avLst>
              <a:gd name="adj" fmla="val 20000"/>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6" name="Text 18"/>
          <p:cNvSpPr/>
          <p:nvPr/>
        </p:nvSpPr>
        <p:spPr>
          <a:xfrm>
            <a:off x="594360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Analyse</a:t>
            </a:r>
            <a:endParaRPr lang="en-IN" sz="800" b="0" u="none" strike="noStrike">
              <a:solidFill>
                <a:srgbClr val="000000"/>
              </a:solidFill>
              <a:effectLst/>
              <a:uFillTx/>
              <a:latin typeface="Arial"/>
            </a:endParaRPr>
          </a:p>
        </p:txBody>
      </p:sp>
      <p:sp>
        <p:nvSpPr>
          <p:cNvPr id="207" name="Shape 19"/>
          <p:cNvSpPr/>
          <p:nvPr/>
        </p:nvSpPr>
        <p:spPr>
          <a:xfrm>
            <a:off x="685800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8" name="Shape 20"/>
          <p:cNvSpPr/>
          <p:nvPr/>
        </p:nvSpPr>
        <p:spPr>
          <a:xfrm>
            <a:off x="704088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9" name="Text 21"/>
          <p:cNvSpPr/>
          <p:nvPr/>
        </p:nvSpPr>
        <p:spPr>
          <a:xfrm>
            <a:off x="704088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Serve</a:t>
            </a:r>
            <a:endParaRPr lang="en-IN" sz="800" b="0" u="none" strike="noStrike">
              <a:solidFill>
                <a:srgbClr val="000000"/>
              </a:solidFill>
              <a:effectLst/>
              <a:uFillTx/>
              <a:latin typeface="Arial"/>
            </a:endParaRPr>
          </a:p>
        </p:txBody>
      </p:sp>
      <p:sp>
        <p:nvSpPr>
          <p:cNvPr id="210" name="Text 22"/>
          <p:cNvSpPr/>
          <p:nvPr/>
        </p:nvSpPr>
        <p:spPr>
          <a:xfrm>
            <a:off x="457200" y="2926080"/>
            <a:ext cx="868644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6a6a6a"/>
                </a:solidFill>
                <a:effectLst/>
                <a:uFillTx/>
                <a:latin typeface="Calibri"/>
              </a:rPr>
              <a:t>Each event flows through the pipeline, being validated, enriched, stored and consumed at each stage.</a:t>
            </a:r>
            <a:endParaRPr lang="en-IN" sz="900" b="0" u="none" strike="noStrike">
              <a:solidFill>
                <a:srgbClr val="000000"/>
              </a:solidFill>
              <a:effectLst/>
              <a:uFillTx/>
              <a:latin typeface="Arial"/>
            </a:endParaRPr>
          </a:p>
        </p:txBody>
      </p:sp>
      <p:sp>
        <p:nvSpPr>
          <p:cNvPr id="211" name="Text 2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1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1: Start Environment</a:t>
            </a:r>
            <a:endParaRPr lang="en-IN" sz="2000" b="0" u="none" strike="noStrike">
              <a:solidFill>
                <a:srgbClr val="000000"/>
              </a:solidFill>
              <a:effectLst/>
              <a:uFillTx/>
              <a:latin typeface="Arial"/>
            </a:endParaRPr>
          </a:p>
        </p:txBody>
      </p:sp>
      <p:sp>
        <p:nvSpPr>
          <p:cNvPr id="214" name="Text 2"/>
          <p:cNvSpPr/>
          <p:nvPr/>
        </p:nvSpPr>
        <p:spPr>
          <a:xfrm>
            <a:off x="457200" y="731520"/>
            <a:ext cx="594324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Run the provided docker‑compose stack to start all services (Kafka, Schema Registry, ksqldb, Debezium connectors, Hop, Airflow and Kafka UI). Use a monitoring tool such as Prometheus/Grafana if available.</a:t>
            </a:r>
            <a:endParaRPr lang="en-IN" sz="1000" b="0" u="none" strike="noStrike">
              <a:solidFill>
                <a:srgbClr val="000000"/>
              </a:solidFill>
              <a:effectLst/>
              <a:uFillTx/>
              <a:latin typeface="Arial"/>
            </a:endParaRPr>
          </a:p>
        </p:txBody>
      </p:sp>
      <p:sp>
        <p:nvSpPr>
          <p:cNvPr id="215" name="Shape 3"/>
          <p:cNvSpPr/>
          <p:nvPr/>
        </p:nvSpPr>
        <p:spPr>
          <a:xfrm>
            <a:off x="6583680" y="822960"/>
            <a:ext cx="2468520" cy="914040"/>
          </a:xfrm>
          <a:prstGeom prst="roundRect">
            <a:avLst>
              <a:gd name="adj" fmla="val 5000"/>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6" name="Text 4"/>
          <p:cNvSpPr/>
          <p:nvPr/>
        </p:nvSpPr>
        <p:spPr>
          <a:xfrm>
            <a:off x="6629400" y="841320"/>
            <a:ext cx="237708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6a9955"/>
                </a:solidFill>
                <a:effectLst/>
                <a:uFillTx/>
                <a:latin typeface="Consolas"/>
                <a:ea typeface="Consolas"/>
              </a:rPr>
              <a:t># terminal</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cd day10_final</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/lab-code</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docker compose up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
            </a:r>
            <a:endParaRPr lang="en-IN" sz="800" b="0" u="none" strike="noStrike">
              <a:solidFill>
                <a:srgbClr val="000000"/>
              </a:solidFill>
              <a:effectLst/>
              <a:uFillTx/>
              <a:latin typeface="Arial"/>
            </a:endParaRPr>
          </a:p>
        </p:txBody>
      </p:sp>
      <p:sp>
        <p:nvSpPr>
          <p:cNvPr id="217"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1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2: Capture Changes</a:t>
            </a:r>
            <a:endParaRPr lang="en-IN" sz="2000" b="0" u="none" strike="noStrike">
              <a:solidFill>
                <a:srgbClr val="000000"/>
              </a:solidFill>
              <a:effectLst/>
              <a:uFillTx/>
              <a:latin typeface="Arial"/>
            </a:endParaRPr>
          </a:p>
        </p:txBody>
      </p:sp>
      <p:sp>
        <p:nvSpPr>
          <p:cNvPr id="220" name="Text 2"/>
          <p:cNvSpPr/>
          <p:nvPr/>
        </p:nvSpPr>
        <p:spPr>
          <a:xfrm>
            <a:off x="457200" y="731520"/>
            <a:ext cx="5943240" cy="1371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Create PostgreSQL and MySQL source tables with sample data. Register Debezium source connectors via REST API or UI to stream row‑level changes into Kafka topics.</a:t>
            </a:r>
            <a:endParaRPr lang="en-IN" sz="1000" b="0" u="none" strike="noStrike">
              <a:solidFill>
                <a:srgbClr val="000000"/>
              </a:solidFill>
              <a:effectLst/>
              <a:uFillTx/>
              <a:latin typeface="Arial"/>
            </a:endParaRPr>
          </a:p>
        </p:txBody>
      </p:sp>
      <p:sp>
        <p:nvSpPr>
          <p:cNvPr id="221" name="Shape 3"/>
          <p:cNvSpPr/>
          <p:nvPr/>
        </p:nvSpPr>
        <p:spPr>
          <a:xfrm>
            <a:off x="6300000" y="720000"/>
            <a:ext cx="2468520" cy="4140000"/>
          </a:xfrm>
          <a:prstGeom prst="roundRect">
            <a:avLst>
              <a:gd name="adj" fmla="val 3333"/>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2" name="Text 4"/>
          <p:cNvSpPr/>
          <p:nvPr/>
        </p:nvSpPr>
        <p:spPr>
          <a:xfrm>
            <a:off x="6485400" y="2228760"/>
            <a:ext cx="2377080" cy="1325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"orders-connector"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"config":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"connector.class": </a:t>
            </a:r>
            <a:r>
              <a:rPr lang="en-US" sz="800" b="0" u="none" strike="noStrike">
                <a:solidFill>
                  <a:srgbClr val="a31515"/>
                </a:solidFill>
                <a:effectLst/>
                <a:uFillTx/>
                <a:latin typeface="Consolas"/>
                <a:ea typeface="Consolas"/>
              </a:rPr>
              <a:t>"io.debezium.connector.postgresql.PostgresConnector"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"database.hostname": </a:t>
            </a:r>
            <a:r>
              <a:rPr lang="en-US" sz="800" b="0" u="none" strike="noStrike">
                <a:solidFill>
                  <a:srgbClr val="a31515"/>
                </a:solidFill>
                <a:effectLst/>
                <a:uFillTx/>
                <a:latin typeface="Consolas"/>
                <a:ea typeface="Consolas"/>
              </a:rPr>
              <a:t>"postgres"</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"database.port": </a:t>
            </a:r>
            <a:r>
              <a:rPr lang="en-US" sz="800" b="0" u="none" strike="noStrike">
                <a:solidFill>
                  <a:srgbClr val="a31515"/>
                </a:solidFill>
                <a:effectLst/>
                <a:uFillTx/>
                <a:latin typeface="Consolas"/>
                <a:ea typeface="Consolas"/>
              </a:rPr>
              <a:t>"5432"</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"database.user": </a:t>
            </a:r>
            <a:r>
              <a:rPr lang="en-US" sz="800" b="0" u="none" strike="noStrike">
                <a:solidFill>
                  <a:srgbClr val="a31515"/>
                </a:solidFill>
                <a:effectLst/>
                <a:uFillTx/>
                <a:latin typeface="Consolas"/>
                <a:ea typeface="Consolas"/>
              </a:rPr>
              <a:t>"debezium"</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"database.password": </a:t>
            </a:r>
            <a:r>
              <a:rPr lang="en-US" sz="800" b="0" u="none" strike="noStrike">
                <a:solidFill>
                  <a:srgbClr val="a31515"/>
                </a:solidFill>
                <a:effectLst/>
                <a:uFillTx/>
                <a:latin typeface="Consolas"/>
                <a:ea typeface="Consolas"/>
              </a:rPr>
              <a:t>"dbz"</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"database.dbname": </a:t>
            </a:r>
            <a:r>
              <a:rPr lang="en-US" sz="800" b="0" u="none" strike="noStrike">
                <a:solidFill>
                  <a:srgbClr val="a31515"/>
                </a:solidFill>
                <a:effectLst/>
                <a:uFillTx/>
                <a:latin typeface="Consolas"/>
                <a:ea typeface="Consolas"/>
              </a:rPr>
              <a:t>"retail"</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"database.server.name": </a:t>
            </a:r>
            <a:r>
              <a:rPr lang="en-US" sz="800" b="0" u="none" strike="noStrike">
                <a:solidFill>
                  <a:srgbClr val="a31515"/>
                </a:solidFill>
                <a:effectLst/>
                <a:uFillTx/>
                <a:latin typeface="Consolas"/>
                <a:ea typeface="Consolas"/>
              </a:rPr>
              <a:t>"retail"</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"table.include.list": </a:t>
            </a:r>
            <a:r>
              <a:rPr lang="en-US" sz="800" b="0" u="none" strike="noStrike">
                <a:solidFill>
                  <a:srgbClr val="a31515"/>
                </a:solidFill>
                <a:effectLst/>
                <a:uFillTx/>
                <a:latin typeface="Consolas"/>
                <a:ea typeface="Consolas"/>
              </a:rPr>
              <a:t>"public.orders"</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"plugin.name": </a:t>
            </a:r>
            <a:r>
              <a:rPr lang="en-US" sz="800" b="0" u="none" strike="noStrike">
                <a:solidFill>
                  <a:srgbClr val="a31515"/>
                </a:solidFill>
                <a:effectLst/>
                <a:uFillTx/>
                <a:latin typeface="Consolas"/>
                <a:ea typeface="Consolas"/>
              </a:rPr>
              <a:t>"pgoutput"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23"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2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3: Ingest &amp; Validate</a:t>
            </a:r>
            <a:endParaRPr lang="en-IN" sz="2000" b="0" u="none" strike="noStrike">
              <a:solidFill>
                <a:srgbClr val="000000"/>
              </a:solidFill>
              <a:effectLst/>
              <a:uFillTx/>
              <a:latin typeface="Arial"/>
            </a:endParaRPr>
          </a:p>
        </p:txBody>
      </p:sp>
      <p:sp>
        <p:nvSpPr>
          <p:cNvPr id="226" name="Text 2"/>
          <p:cNvSpPr/>
          <p:nvPr/>
        </p:nvSpPr>
        <p:spPr>
          <a:xfrm>
            <a:off x="457200" y="731520"/>
            <a:ext cx="5943240" cy="1462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Define schemas in Schema Registry and configure producers to validate events. Use single message transforms to extract new record state and route malformed records to a dead letter queue for investigation.</a:t>
            </a:r>
            <a:endParaRPr lang="en-IN" sz="1000" b="0" u="none" strike="noStrike">
              <a:solidFill>
                <a:srgbClr val="000000"/>
              </a:solidFill>
              <a:effectLst/>
              <a:uFillTx/>
              <a:latin typeface="Arial"/>
            </a:endParaRPr>
          </a:p>
        </p:txBody>
      </p:sp>
      <p:sp>
        <p:nvSpPr>
          <p:cNvPr id="227" name="Shape 3"/>
          <p:cNvSpPr/>
          <p:nvPr/>
        </p:nvSpPr>
        <p:spPr>
          <a:xfrm>
            <a:off x="6583680" y="914400"/>
            <a:ext cx="2468520" cy="3405600"/>
          </a:xfrm>
          <a:prstGeom prst="roundRect">
            <a:avLst>
              <a:gd name="adj" fmla="val 3846"/>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8" name="Text 4"/>
          <p:cNvSpPr/>
          <p:nvPr/>
        </p:nvSpPr>
        <p:spPr>
          <a:xfrm>
            <a:off x="6629400" y="2120760"/>
            <a:ext cx="237708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"type": </a:t>
            </a:r>
            <a:r>
              <a:rPr lang="en-US" sz="800" b="0" u="none" strike="noStrike">
                <a:solidFill>
                  <a:srgbClr val="a31515"/>
                </a:solidFill>
                <a:effectLst/>
                <a:uFillTx/>
                <a:latin typeface="Consolas"/>
                <a:ea typeface="Consolas"/>
              </a:rPr>
              <a:t>"record"</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"fields":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"order_id"</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"string"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"customer_id"</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"string"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"amount"</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"double"</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"created_at"</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"long"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29"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3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4: Transform &amp; Enrich</a:t>
            </a:r>
            <a:endParaRPr lang="en-IN" sz="2000" b="0" u="none" strike="noStrike">
              <a:solidFill>
                <a:srgbClr val="000000"/>
              </a:solidFill>
              <a:effectLst/>
              <a:uFillTx/>
              <a:latin typeface="Arial"/>
            </a:endParaRPr>
          </a:p>
        </p:txBody>
      </p:sp>
      <p:sp>
        <p:nvSpPr>
          <p:cNvPr id="232"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Extension boundary: apply the cleansing, validation and enrichment design from Days 6-7 to CDC topics or exported results. Hop/Spark pipeline artifacts are not included in the Day 10 starter files; reuse earlier work or document the mapped design and output evidence.</a:t>
            </a:r>
            <a:endParaRPr lang="en-IN" sz="1000" b="0" u="none" strike="noStrike">
              <a:solidFill>
                <a:srgbClr val="000000"/>
              </a:solidFill>
              <a:effectLst/>
              <a:uFillTx/>
              <a:latin typeface="Arial"/>
            </a:endParaRPr>
          </a:p>
        </p:txBody>
      </p:sp>
      <p:sp>
        <p:nvSpPr>
          <p:cNvPr id="233" name="Shape 3"/>
          <p:cNvSpPr/>
          <p:nvPr/>
        </p:nvSpPr>
        <p:spPr>
          <a:xfrm>
            <a:off x="6400800" y="914400"/>
            <a:ext cx="639720" cy="365400"/>
          </a:xfrm>
          <a:prstGeom prst="rect">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4" name="Text 4"/>
          <p:cNvSpPr/>
          <p:nvPr/>
        </p:nvSpPr>
        <p:spPr>
          <a:xfrm>
            <a:off x="640080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Raw</a:t>
            </a:r>
            <a:endParaRPr lang="en-IN" sz="700" b="0" u="none" strike="noStrike">
              <a:solidFill>
                <a:srgbClr val="000000"/>
              </a:solidFill>
              <a:effectLst/>
              <a:uFillTx/>
              <a:latin typeface="Arial"/>
            </a:endParaRPr>
          </a:p>
        </p:txBody>
      </p:sp>
      <p:sp>
        <p:nvSpPr>
          <p:cNvPr id="235" name="Shape 5"/>
          <p:cNvSpPr/>
          <p:nvPr/>
        </p:nvSpPr>
        <p:spPr>
          <a:xfrm>
            <a:off x="7040880" y="1069920"/>
            <a:ext cx="182520" cy="7272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6" name="Shape 6"/>
          <p:cNvSpPr/>
          <p:nvPr/>
        </p:nvSpPr>
        <p:spPr>
          <a:xfrm>
            <a:off x="7223760" y="914400"/>
            <a:ext cx="639720" cy="365400"/>
          </a:xfrm>
          <a:prstGeom prst="rect">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7" name="Text 7"/>
          <p:cNvSpPr/>
          <p:nvPr/>
        </p:nvSpPr>
        <p:spPr>
          <a:xfrm>
            <a:off x="722376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Clean</a:t>
            </a:r>
            <a:endParaRPr lang="en-IN" sz="700" b="0" u="none" strike="noStrike">
              <a:solidFill>
                <a:srgbClr val="000000"/>
              </a:solidFill>
              <a:effectLst/>
              <a:uFillTx/>
              <a:latin typeface="Arial"/>
            </a:endParaRPr>
          </a:p>
        </p:txBody>
      </p:sp>
      <p:sp>
        <p:nvSpPr>
          <p:cNvPr id="238" name="Shape 8"/>
          <p:cNvSpPr/>
          <p:nvPr/>
        </p:nvSpPr>
        <p:spPr>
          <a:xfrm>
            <a:off x="7863840" y="1069920"/>
            <a:ext cx="182520" cy="7272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9" name="Shape 9"/>
          <p:cNvSpPr/>
          <p:nvPr/>
        </p:nvSpPr>
        <p:spPr>
          <a:xfrm>
            <a:off x="8046720" y="914400"/>
            <a:ext cx="639720" cy="365400"/>
          </a:xfrm>
          <a:prstGeom prst="rect">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0" name="Text 10"/>
          <p:cNvSpPr/>
          <p:nvPr/>
        </p:nvSpPr>
        <p:spPr>
          <a:xfrm>
            <a:off x="804672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Agg</a:t>
            </a:r>
            <a:endParaRPr lang="en-IN" sz="700" b="0" u="none" strike="noStrike">
              <a:solidFill>
                <a:srgbClr val="000000"/>
              </a:solidFill>
              <a:effectLst/>
              <a:uFillTx/>
              <a:latin typeface="Arial"/>
            </a:endParaRPr>
          </a:p>
        </p:txBody>
      </p:sp>
      <p:sp>
        <p:nvSpPr>
          <p:cNvPr id="241"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4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5: Orchestrate &amp; Store</a:t>
            </a:r>
            <a:endParaRPr lang="en-IN" sz="2000" b="0" u="none" strike="noStrike">
              <a:solidFill>
                <a:srgbClr val="000000"/>
              </a:solidFill>
              <a:effectLst/>
              <a:uFillTx/>
              <a:latin typeface="Arial"/>
            </a:endParaRPr>
          </a:p>
        </p:txBody>
      </p:sp>
      <p:sp>
        <p:nvSpPr>
          <p:cNvPr id="244"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Extension boundary: describe an Airflow DAG for validation and Gold refresh, including retries and idempotent reruns. The supplied runnable stack creates CDC and ksqlDB outputs; it does not include Airflow or a configured Iceberg/Delta catalog.</a:t>
            </a:r>
            <a:endParaRPr lang="en-IN" sz="1000" b="0" u="none" strike="noStrike">
              <a:solidFill>
                <a:srgbClr val="000000"/>
              </a:solidFill>
              <a:effectLst/>
              <a:uFillTx/>
              <a:latin typeface="Arial"/>
            </a:endParaRPr>
          </a:p>
        </p:txBody>
      </p:sp>
      <p:sp>
        <p:nvSpPr>
          <p:cNvPr id="245" name="Shape 3"/>
          <p:cNvSpPr/>
          <p:nvPr/>
        </p:nvSpPr>
        <p:spPr>
          <a:xfrm>
            <a:off x="6858000" y="914400"/>
            <a:ext cx="1828440" cy="27396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6" name="Text 4"/>
          <p:cNvSpPr/>
          <p:nvPr/>
        </p:nvSpPr>
        <p:spPr>
          <a:xfrm>
            <a:off x="6858000" y="91440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Bronze Loader</a:t>
            </a:r>
            <a:endParaRPr lang="en-IN" sz="700" b="0" u="none" strike="noStrike">
              <a:solidFill>
                <a:srgbClr val="000000"/>
              </a:solidFill>
              <a:effectLst/>
              <a:uFillTx/>
              <a:latin typeface="Arial"/>
            </a:endParaRPr>
          </a:p>
        </p:txBody>
      </p:sp>
      <p:sp>
        <p:nvSpPr>
          <p:cNvPr id="247" name="Shape 5"/>
          <p:cNvSpPr/>
          <p:nvPr/>
        </p:nvSpPr>
        <p:spPr>
          <a:xfrm>
            <a:off x="6858000" y="1280160"/>
            <a:ext cx="1828440" cy="27396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8" name="Text 6"/>
          <p:cNvSpPr/>
          <p:nvPr/>
        </p:nvSpPr>
        <p:spPr>
          <a:xfrm>
            <a:off x="6858000" y="128016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Silver Cleaner</a:t>
            </a:r>
            <a:endParaRPr lang="en-IN" sz="700" b="0" u="none" strike="noStrike">
              <a:solidFill>
                <a:srgbClr val="000000"/>
              </a:solidFill>
              <a:effectLst/>
              <a:uFillTx/>
              <a:latin typeface="Arial"/>
            </a:endParaRPr>
          </a:p>
        </p:txBody>
      </p:sp>
      <p:sp>
        <p:nvSpPr>
          <p:cNvPr id="249" name="Shape 7"/>
          <p:cNvSpPr/>
          <p:nvPr/>
        </p:nvSpPr>
        <p:spPr>
          <a:xfrm>
            <a:off x="6858000" y="1645920"/>
            <a:ext cx="1828440" cy="27396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0" name="Text 8"/>
          <p:cNvSpPr/>
          <p:nvPr/>
        </p:nvSpPr>
        <p:spPr>
          <a:xfrm>
            <a:off x="6858000" y="164592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Gold Aggregator</a:t>
            </a:r>
            <a:endParaRPr lang="en-IN" sz="700" b="0" u="none" strike="noStrike">
              <a:solidFill>
                <a:srgbClr val="000000"/>
              </a:solidFill>
              <a:effectLst/>
              <a:uFillTx/>
              <a:latin typeface="Arial"/>
            </a:endParaRPr>
          </a:p>
        </p:txBody>
      </p:sp>
      <p:sp>
        <p:nvSpPr>
          <p:cNvPr id="251" name="Text 9"/>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5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6: Analyse &amp; Serve</a:t>
            </a:r>
            <a:endParaRPr lang="en-IN" sz="2000" b="0" u="none" strike="noStrike">
              <a:solidFill>
                <a:srgbClr val="000000"/>
              </a:solidFill>
              <a:effectLst/>
              <a:uFillTx/>
              <a:latin typeface="Arial"/>
            </a:endParaRPr>
          </a:p>
        </p:txBody>
      </p:sp>
      <p:sp>
        <p:nvSpPr>
          <p:cNvPr id="254"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Run the supplied ksqlDB aggregate queries and validate the resulting metric topic. Then expose one Gold-style result to Apache Superset, Metabase, Power BI or Tableau. Submission must include one KPI, two charts, the metric grain and a freshness note.</a:t>
            </a:r>
            <a:endParaRPr lang="en-IN" sz="1000" b="0" u="none" strike="noStrike">
              <a:solidFill>
                <a:srgbClr val="000000"/>
              </a:solidFill>
              <a:effectLst/>
              <a:uFillTx/>
              <a:latin typeface="Arial"/>
            </a:endParaRPr>
          </a:p>
        </p:txBody>
      </p:sp>
      <p:sp>
        <p:nvSpPr>
          <p:cNvPr id="255" name="Shape 3"/>
          <p:cNvSpPr/>
          <p:nvPr/>
        </p:nvSpPr>
        <p:spPr>
          <a:xfrm>
            <a:off x="6583680" y="914400"/>
            <a:ext cx="2468520" cy="1279800"/>
          </a:xfrm>
          <a:prstGeom prst="roundRect">
            <a:avLst>
              <a:gd name="adj" fmla="val 3571"/>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6" name="Text 4"/>
          <p:cNvSpPr/>
          <p:nvPr/>
        </p:nvSpPr>
        <p:spPr>
          <a:xfrm>
            <a:off x="6629400" y="941760"/>
            <a:ext cx="2377080" cy="1234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77cc"/>
                </a:solidFill>
                <a:effectLst/>
                <a:uFillTx/>
                <a:latin typeface="Consolas"/>
                <a:ea typeface="Consolas"/>
              </a:rPr>
              <a:t>CREATE</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TABLE</a:t>
            </a:r>
            <a:r>
              <a:rPr lang="en-US" sz="800" b="0" u="none" strike="noStrike">
                <a:solidFill>
                  <a:srgbClr val="003c54"/>
                </a:solidFill>
                <a:effectLst/>
                <a:uFillTx/>
                <a:latin typeface="Consolas"/>
                <a:ea typeface="Consolas"/>
              </a:rPr>
              <a:t> top_products </a:t>
            </a:r>
            <a:r>
              <a:rPr lang="en-US" sz="800" b="0" u="none" strike="noStrike">
                <a:solidFill>
                  <a:srgbClr val="0077cc"/>
                </a:solidFill>
                <a:effectLst/>
                <a:uFillTx/>
                <a:latin typeface="Consolas"/>
                <a:ea typeface="Consolas"/>
              </a:rPr>
              <a:t>AS</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SELECT</a:t>
            </a:r>
            <a:r>
              <a:rPr lang="en-US" sz="800" b="0" u="none" strike="noStrike">
                <a:solidFill>
                  <a:srgbClr val="003c54"/>
                </a:solidFill>
                <a:effectLst/>
                <a:uFillTx/>
                <a:latin typeface="Consolas"/>
                <a:ea typeface="Consolas"/>
              </a:rPr>
              <a:t> product_id,</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795e26"/>
                </a:solidFill>
                <a:effectLst/>
                <a:uFillTx/>
                <a:latin typeface="Consolas"/>
                <a:ea typeface="Consolas"/>
              </a:rPr>
              <a:t>COUNT</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AS</a:t>
            </a:r>
            <a:r>
              <a:rPr lang="en-US" sz="800" b="0" u="none" strike="noStrike">
                <a:solidFill>
                  <a:srgbClr val="003c54"/>
                </a:solidFill>
                <a:effectLst/>
                <a:uFillTx/>
                <a:latin typeface="Consolas"/>
                <a:ea typeface="Consolas"/>
              </a:rPr>
              <a:t> order_count,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795e26"/>
                </a:solidFill>
                <a:effectLst/>
                <a:uFillTx/>
                <a:latin typeface="Consolas"/>
                <a:ea typeface="Consolas"/>
              </a:rPr>
              <a:t>SUM</a:t>
            </a:r>
            <a:r>
              <a:rPr lang="en-US" sz="800" b="0" u="none" strike="noStrike">
                <a:solidFill>
                  <a:srgbClr val="003c54"/>
                </a:solidFill>
                <a:effectLst/>
                <a:uFillTx/>
                <a:latin typeface="Consolas"/>
                <a:ea typeface="Consolas"/>
              </a:rPr>
              <a:t>(amount) </a:t>
            </a:r>
            <a:r>
              <a:rPr lang="en-US" sz="800" b="0" u="none" strike="noStrike">
                <a:solidFill>
                  <a:srgbClr val="0077cc"/>
                </a:solidFill>
                <a:effectLst/>
                <a:uFillTx/>
                <a:latin typeface="Consolas"/>
                <a:ea typeface="Consolas"/>
              </a:rPr>
              <a:t>AS</a:t>
            </a:r>
            <a:r>
              <a:rPr lang="en-US" sz="800" b="0" u="none" strike="noStrike">
                <a:solidFill>
                  <a:srgbClr val="003c54"/>
                </a:solidFill>
                <a:effectLst/>
                <a:uFillTx/>
                <a:latin typeface="Consolas"/>
                <a:ea typeface="Consolas"/>
              </a:rPr>
              <a:t> total_revenue</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FROM</a:t>
            </a:r>
            <a:r>
              <a:rPr lang="en-US" sz="800" b="0" u="none" strike="noStrike">
                <a:solidFill>
                  <a:srgbClr val="003c54"/>
                </a:solidFill>
                <a:effectLst/>
                <a:uFillTx/>
                <a:latin typeface="Consolas"/>
                <a:ea typeface="Consolas"/>
              </a:rPr>
              <a:t> orders_raw</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WINDOW HOPPING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(SIZE </a:t>
            </a:r>
            <a:r>
              <a:rPr lang="en-US" sz="800" b="0" u="none" strike="noStrike">
                <a:solidFill>
                  <a:srgbClr val="098658"/>
                </a:solidFill>
                <a:effectLst/>
                <a:uFillTx/>
                <a:latin typeface="Consolas"/>
                <a:ea typeface="Consolas"/>
              </a:rPr>
              <a:t>10</a:t>
            </a:r>
            <a:r>
              <a:rPr lang="en-US" sz="800" b="0" u="none" strike="noStrike">
                <a:solidFill>
                  <a:srgbClr val="003c54"/>
                </a:solidFill>
                <a:effectLst/>
                <a:uFillTx/>
                <a:latin typeface="Consolas"/>
                <a:ea typeface="Consolas"/>
              </a:rPr>
              <a:t> MINUTES, ADVANCE </a:t>
            </a:r>
            <a:r>
              <a:rPr lang="en-US" sz="800" b="0" u="none" strike="noStrike">
                <a:solidFill>
                  <a:srgbClr val="0077cc"/>
                </a:solidFill>
                <a:effectLst/>
                <a:uFillTx/>
                <a:latin typeface="Consolas"/>
                <a:ea typeface="Consolas"/>
              </a:rPr>
              <a:t>BY</a:t>
            </a:r>
            <a:r>
              <a:rPr lang="en-US" sz="800" b="0" u="none" strike="noStrike">
                <a:solidFill>
                  <a:srgbClr val="003c54"/>
                </a:solidFill>
                <a:effectLst/>
                <a:uFillTx/>
                <a:latin typeface="Consolas"/>
                <a:ea typeface="Consolas"/>
              </a:rPr>
              <a:t> </a:t>
            </a:r>
            <a:r>
              <a:rPr lang="en-US" sz="800" b="0" u="none" strike="noStrike">
                <a:solidFill>
                  <a:srgbClr val="098658"/>
                </a:solidFill>
                <a:effectLst/>
                <a:uFillTx/>
                <a:latin typeface="Consolas"/>
                <a:ea typeface="Consolas"/>
              </a:rPr>
              <a:t>1</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MINUTE</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GROUP</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BY</a:t>
            </a:r>
            <a:r>
              <a:rPr lang="en-US" sz="800" b="0" u="none" strike="noStrike">
                <a:solidFill>
                  <a:srgbClr val="003c54"/>
                </a:solidFill>
                <a:effectLst/>
                <a:uFillTx/>
                <a:latin typeface="Consolas"/>
                <a:ea typeface="Consolas"/>
              </a:rPr>
              <a:t> product_id</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EMIT CHANGES</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57"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5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1: Design a Pipeline</a:t>
            </a:r>
            <a:endParaRPr lang="en-IN" sz="2000" b="0" u="none" strike="noStrike">
              <a:solidFill>
                <a:srgbClr val="000000"/>
              </a:solidFill>
              <a:effectLst/>
              <a:uFillTx/>
              <a:latin typeface="Arial"/>
            </a:endParaRPr>
          </a:p>
        </p:txBody>
      </p:sp>
      <p:sp>
        <p:nvSpPr>
          <p:cNvPr id="260"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Sketch the complete architecture, marking which components run in the supplied Day 10 stack and which are integration extensions. Include sources, CDC, schema handling, cleaned/aggregate output, BI dashboard, operational checks and evidence captured.</a:t>
            </a:r>
            <a:endParaRPr lang="en-IN" sz="900" b="0" u="none" strike="noStrike">
              <a:solidFill>
                <a:srgbClr val="000000"/>
              </a:solidFill>
              <a:effectLst/>
              <a:uFillTx/>
              <a:latin typeface="Arial"/>
            </a:endParaRPr>
          </a:p>
        </p:txBody>
      </p:sp>
      <p:sp>
        <p:nvSpPr>
          <p:cNvPr id="261"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6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6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2: Define Schemas &amp; Topics</a:t>
            </a:r>
            <a:endParaRPr lang="en-IN" sz="2000" b="0" u="none" strike="noStrike">
              <a:solidFill>
                <a:srgbClr val="000000"/>
              </a:solidFill>
              <a:effectLst/>
              <a:uFillTx/>
              <a:latin typeface="Arial"/>
            </a:endParaRPr>
          </a:p>
        </p:txBody>
      </p:sp>
      <p:sp>
        <p:nvSpPr>
          <p:cNvPr id="264"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For the user registration pipeline, propose Avro schemas for events and choose topic names. Describe how you would handle optional fields and schema evolution over time.</a:t>
            </a:r>
            <a:endParaRPr lang="en-IN" sz="900" b="0" u="none" strike="noStrike">
              <a:solidFill>
                <a:srgbClr val="000000"/>
              </a:solidFill>
              <a:effectLst/>
              <a:uFillTx/>
              <a:latin typeface="Arial"/>
            </a:endParaRPr>
          </a:p>
        </p:txBody>
      </p:sp>
      <p:sp>
        <p:nvSpPr>
          <p:cNvPr id="265"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6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6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3: Streaming SQL</a:t>
            </a:r>
            <a:endParaRPr lang="en-IN" sz="2000" b="0" u="none" strike="noStrike">
              <a:solidFill>
                <a:srgbClr val="000000"/>
              </a:solidFill>
              <a:effectLst/>
              <a:uFillTx/>
              <a:latin typeface="Arial"/>
            </a:endParaRPr>
          </a:p>
        </p:txBody>
      </p:sp>
      <p:sp>
        <p:nvSpPr>
          <p:cNvPr id="268"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Write a ksqlDB query to compute the number of registrations per region in a 5‑minute tumbling window. How would you handle late events arriving after the window closes?</a:t>
            </a:r>
            <a:endParaRPr lang="en-IN" sz="900" b="0" u="none" strike="noStrike">
              <a:solidFill>
                <a:srgbClr val="000000"/>
              </a:solidFill>
              <a:effectLst/>
              <a:uFillTx/>
              <a:latin typeface="Arial"/>
            </a:endParaRPr>
          </a:p>
        </p:txBody>
      </p:sp>
      <p:sp>
        <p:nvSpPr>
          <p:cNvPr id="269"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7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7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4: Troubleshooting &amp; Optimisation</a:t>
            </a:r>
            <a:endParaRPr lang="en-IN" sz="2000" b="0" u="none" strike="noStrike">
              <a:solidFill>
                <a:srgbClr val="000000"/>
              </a:solidFill>
              <a:effectLst/>
              <a:uFillTx/>
              <a:latin typeface="Arial"/>
            </a:endParaRPr>
          </a:p>
        </p:txBody>
      </p:sp>
      <p:sp>
        <p:nvSpPr>
          <p:cNvPr id="272" name="Text 2"/>
          <p:cNvSpPr/>
          <p:nvPr/>
        </p:nvSpPr>
        <p:spPr>
          <a:xfrm>
            <a:off x="457200" y="731520"/>
            <a:ext cx="8229240" cy="2285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Your dashboard is stale. Trace the path from source change to CDC topic, ksqlDB aggregate and BI refresh. Identify three evidence checks, one likely cause, one recovery action and one prevention control. State whether the issue is in the runnable stack or an extension component.</a:t>
            </a:r>
            <a:endParaRPr lang="en-IN" sz="900" b="0" u="none" strike="noStrike">
              <a:solidFill>
                <a:srgbClr val="000000"/>
              </a:solidFill>
              <a:effectLst/>
              <a:uFillTx/>
              <a:latin typeface="Arial"/>
            </a:endParaRPr>
          </a:p>
        </p:txBody>
      </p:sp>
      <p:sp>
        <p:nvSpPr>
          <p:cNvPr id="273"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7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7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Knowledge Check</a:t>
            </a:r>
            <a:endParaRPr lang="en-IN" sz="2000" b="0" u="none" strike="noStrike">
              <a:solidFill>
                <a:srgbClr val="000000"/>
              </a:solidFill>
              <a:effectLst/>
              <a:uFillTx/>
              <a:latin typeface="Arial"/>
            </a:endParaRPr>
          </a:p>
        </p:txBody>
      </p:sp>
      <p:sp>
        <p:nvSpPr>
          <p:cNvPr id="276" name="Text 2"/>
          <p:cNvSpPr/>
          <p:nvPr/>
        </p:nvSpPr>
        <p:spPr>
          <a:xfrm>
            <a:off x="4572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1. Which layer should contain cleansed &amp; conformed data ready for analytics?</a:t>
            </a:r>
            <a:endParaRPr lang="en-IN" sz="900" b="0" u="none" strike="noStrike">
              <a:solidFill>
                <a:srgbClr val="000000"/>
              </a:solidFill>
              <a:effectLst/>
              <a:uFillTx/>
              <a:latin typeface="Arial"/>
            </a:endParaRPr>
          </a:p>
        </p:txBody>
      </p:sp>
      <p:sp>
        <p:nvSpPr>
          <p:cNvPr id="277" name="Text 3"/>
          <p:cNvSpPr/>
          <p:nvPr/>
        </p:nvSpPr>
        <p:spPr>
          <a:xfrm>
            <a:off x="640080" y="8960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Bronze</a:t>
            </a:r>
            <a:endParaRPr lang="en-IN" sz="800" b="0" u="none" strike="noStrike">
              <a:solidFill>
                <a:srgbClr val="000000"/>
              </a:solidFill>
              <a:effectLst/>
              <a:uFillTx/>
              <a:latin typeface="Arial"/>
            </a:endParaRPr>
          </a:p>
        </p:txBody>
      </p:sp>
      <p:sp>
        <p:nvSpPr>
          <p:cNvPr id="278" name="Text 4"/>
          <p:cNvSpPr/>
          <p:nvPr/>
        </p:nvSpPr>
        <p:spPr>
          <a:xfrm>
            <a:off x="640080" y="10605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Silver</a:t>
            </a:r>
            <a:endParaRPr lang="en-IN" sz="800" b="0" u="none" strike="noStrike">
              <a:solidFill>
                <a:srgbClr val="000000"/>
              </a:solidFill>
              <a:effectLst/>
              <a:uFillTx/>
              <a:latin typeface="Arial"/>
            </a:endParaRPr>
          </a:p>
        </p:txBody>
      </p:sp>
      <p:sp>
        <p:nvSpPr>
          <p:cNvPr id="279" name="Text 5"/>
          <p:cNvSpPr/>
          <p:nvPr/>
        </p:nvSpPr>
        <p:spPr>
          <a:xfrm>
            <a:off x="640080" y="1225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Gold</a:t>
            </a:r>
            <a:endParaRPr lang="en-IN" sz="800" b="0" u="none" strike="noStrike">
              <a:solidFill>
                <a:srgbClr val="000000"/>
              </a:solidFill>
              <a:effectLst/>
              <a:uFillTx/>
              <a:latin typeface="Arial"/>
            </a:endParaRPr>
          </a:p>
        </p:txBody>
      </p:sp>
      <p:sp>
        <p:nvSpPr>
          <p:cNvPr id="280" name="Text 6"/>
          <p:cNvSpPr/>
          <p:nvPr/>
        </p:nvSpPr>
        <p:spPr>
          <a:xfrm>
            <a:off x="640080" y="1389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None</a:t>
            </a:r>
            <a:endParaRPr lang="en-IN" sz="800" b="0" u="none" strike="noStrike">
              <a:solidFill>
                <a:srgbClr val="000000"/>
              </a:solidFill>
              <a:effectLst/>
              <a:uFillTx/>
              <a:latin typeface="Arial"/>
            </a:endParaRPr>
          </a:p>
        </p:txBody>
      </p:sp>
      <p:sp>
        <p:nvSpPr>
          <p:cNvPr id="281" name="Text 7"/>
          <p:cNvSpPr/>
          <p:nvPr/>
        </p:nvSpPr>
        <p:spPr>
          <a:xfrm>
            <a:off x="457200" y="16459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2. In a DLQ pattern, malformed messages are:</a:t>
            </a:r>
            <a:endParaRPr lang="en-IN" sz="900" b="0" u="none" strike="noStrike">
              <a:solidFill>
                <a:srgbClr val="000000"/>
              </a:solidFill>
              <a:effectLst/>
              <a:uFillTx/>
              <a:latin typeface="Arial"/>
            </a:endParaRPr>
          </a:p>
        </p:txBody>
      </p:sp>
      <p:sp>
        <p:nvSpPr>
          <p:cNvPr id="282" name="Text 8"/>
          <p:cNvSpPr/>
          <p:nvPr/>
        </p:nvSpPr>
        <p:spPr>
          <a:xfrm>
            <a:off x="640080" y="1810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Sent back to the producer</a:t>
            </a:r>
            <a:endParaRPr lang="en-IN" sz="800" b="0" u="none" strike="noStrike">
              <a:solidFill>
                <a:srgbClr val="000000"/>
              </a:solidFill>
              <a:effectLst/>
              <a:uFillTx/>
              <a:latin typeface="Arial"/>
            </a:endParaRPr>
          </a:p>
        </p:txBody>
      </p:sp>
      <p:sp>
        <p:nvSpPr>
          <p:cNvPr id="283" name="Text 9"/>
          <p:cNvSpPr/>
          <p:nvPr/>
        </p:nvSpPr>
        <p:spPr>
          <a:xfrm>
            <a:off x="640080" y="1974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Stored in a dedicated topic for later inspection</a:t>
            </a:r>
            <a:endParaRPr lang="en-IN" sz="800" b="0" u="none" strike="noStrike">
              <a:solidFill>
                <a:srgbClr val="000000"/>
              </a:solidFill>
              <a:effectLst/>
              <a:uFillTx/>
              <a:latin typeface="Arial"/>
            </a:endParaRPr>
          </a:p>
        </p:txBody>
      </p:sp>
      <p:sp>
        <p:nvSpPr>
          <p:cNvPr id="284" name="Text 10"/>
          <p:cNvSpPr/>
          <p:nvPr/>
        </p:nvSpPr>
        <p:spPr>
          <a:xfrm>
            <a:off x="640080" y="2139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Discarded completely</a:t>
            </a:r>
            <a:endParaRPr lang="en-IN" sz="800" b="0" u="none" strike="noStrike">
              <a:solidFill>
                <a:srgbClr val="000000"/>
              </a:solidFill>
              <a:effectLst/>
              <a:uFillTx/>
              <a:latin typeface="Arial"/>
            </a:endParaRPr>
          </a:p>
        </p:txBody>
      </p:sp>
      <p:sp>
        <p:nvSpPr>
          <p:cNvPr id="285" name="Text 11"/>
          <p:cNvSpPr/>
          <p:nvPr/>
        </p:nvSpPr>
        <p:spPr>
          <a:xfrm>
            <a:off x="640080" y="2304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Ignored by consumers</a:t>
            </a:r>
            <a:endParaRPr lang="en-IN" sz="800" b="0" u="none" strike="noStrike">
              <a:solidFill>
                <a:srgbClr val="000000"/>
              </a:solidFill>
              <a:effectLst/>
              <a:uFillTx/>
              <a:latin typeface="Arial"/>
            </a:endParaRPr>
          </a:p>
        </p:txBody>
      </p:sp>
      <p:sp>
        <p:nvSpPr>
          <p:cNvPr id="286" name="Text 12"/>
          <p:cNvSpPr/>
          <p:nvPr/>
        </p:nvSpPr>
        <p:spPr>
          <a:xfrm>
            <a:off x="457200" y="25603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3. ksqlDB pull queries are used to:</a:t>
            </a:r>
            <a:endParaRPr lang="en-IN" sz="900" b="0" u="none" strike="noStrike">
              <a:solidFill>
                <a:srgbClr val="000000"/>
              </a:solidFill>
              <a:effectLst/>
              <a:uFillTx/>
              <a:latin typeface="Arial"/>
            </a:endParaRPr>
          </a:p>
        </p:txBody>
      </p:sp>
      <p:sp>
        <p:nvSpPr>
          <p:cNvPr id="287" name="Text 13"/>
          <p:cNvSpPr/>
          <p:nvPr/>
        </p:nvSpPr>
        <p:spPr>
          <a:xfrm>
            <a:off x="640080" y="2724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Continuously process streaming events</a:t>
            </a:r>
            <a:endParaRPr lang="en-IN" sz="800" b="0" u="none" strike="noStrike">
              <a:solidFill>
                <a:srgbClr val="000000"/>
              </a:solidFill>
              <a:effectLst/>
              <a:uFillTx/>
              <a:latin typeface="Arial"/>
            </a:endParaRPr>
          </a:p>
        </p:txBody>
      </p:sp>
      <p:sp>
        <p:nvSpPr>
          <p:cNvPr id="288" name="Text 14"/>
          <p:cNvSpPr/>
          <p:nvPr/>
        </p:nvSpPr>
        <p:spPr>
          <a:xfrm>
            <a:off x="640080" y="2889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Create new Kafka topics</a:t>
            </a:r>
            <a:endParaRPr lang="en-IN" sz="800" b="0" u="none" strike="noStrike">
              <a:solidFill>
                <a:srgbClr val="000000"/>
              </a:solidFill>
              <a:effectLst/>
              <a:uFillTx/>
              <a:latin typeface="Arial"/>
            </a:endParaRPr>
          </a:p>
        </p:txBody>
      </p:sp>
      <p:sp>
        <p:nvSpPr>
          <p:cNvPr id="289" name="Text 15"/>
          <p:cNvSpPr/>
          <p:nvPr/>
        </p:nvSpPr>
        <p:spPr>
          <a:xfrm>
            <a:off x="640080" y="30542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Retrieve the current state of a materialized view on demand</a:t>
            </a:r>
            <a:endParaRPr lang="en-IN" sz="800" b="0" u="none" strike="noStrike">
              <a:solidFill>
                <a:srgbClr val="000000"/>
              </a:solidFill>
              <a:effectLst/>
              <a:uFillTx/>
              <a:latin typeface="Arial"/>
            </a:endParaRPr>
          </a:p>
        </p:txBody>
      </p:sp>
      <p:sp>
        <p:nvSpPr>
          <p:cNvPr id="290" name="Text 16"/>
          <p:cNvSpPr/>
          <p:nvPr/>
        </p:nvSpPr>
        <p:spPr>
          <a:xfrm>
            <a:off x="640080" y="32187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Persist aggregated results to another stream</a:t>
            </a:r>
            <a:endParaRPr lang="en-IN" sz="800" b="0" u="none" strike="noStrike">
              <a:solidFill>
                <a:srgbClr val="000000"/>
              </a:solidFill>
              <a:effectLst/>
              <a:uFillTx/>
              <a:latin typeface="Arial"/>
            </a:endParaRPr>
          </a:p>
        </p:txBody>
      </p:sp>
      <p:sp>
        <p:nvSpPr>
          <p:cNvPr id="291"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9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9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Knowledge Check (cont.)</a:t>
            </a:r>
            <a:endParaRPr lang="en-IN" sz="2000" b="0" u="none" strike="noStrike">
              <a:solidFill>
                <a:srgbClr val="000000"/>
              </a:solidFill>
              <a:effectLst/>
              <a:uFillTx/>
              <a:latin typeface="Arial"/>
            </a:endParaRPr>
          </a:p>
        </p:txBody>
      </p:sp>
      <p:sp>
        <p:nvSpPr>
          <p:cNvPr id="294" name="Text 2"/>
          <p:cNvSpPr/>
          <p:nvPr/>
        </p:nvSpPr>
        <p:spPr>
          <a:xfrm>
            <a:off x="4572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4. Which component manages task scheduling and execution in Airflow?</a:t>
            </a:r>
            <a:endParaRPr lang="en-IN" sz="900" b="0" u="none" strike="noStrike">
              <a:solidFill>
                <a:srgbClr val="000000"/>
              </a:solidFill>
              <a:effectLst/>
              <a:uFillTx/>
              <a:latin typeface="Arial"/>
            </a:endParaRPr>
          </a:p>
        </p:txBody>
      </p:sp>
      <p:sp>
        <p:nvSpPr>
          <p:cNvPr id="295" name="Text 3"/>
          <p:cNvSpPr/>
          <p:nvPr/>
        </p:nvSpPr>
        <p:spPr>
          <a:xfrm>
            <a:off x="640080" y="8960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Worker</a:t>
            </a:r>
            <a:endParaRPr lang="en-IN" sz="800" b="0" u="none" strike="noStrike">
              <a:solidFill>
                <a:srgbClr val="000000"/>
              </a:solidFill>
              <a:effectLst/>
              <a:uFillTx/>
              <a:latin typeface="Arial"/>
            </a:endParaRPr>
          </a:p>
        </p:txBody>
      </p:sp>
      <p:sp>
        <p:nvSpPr>
          <p:cNvPr id="296" name="Text 4"/>
          <p:cNvSpPr/>
          <p:nvPr/>
        </p:nvSpPr>
        <p:spPr>
          <a:xfrm>
            <a:off x="640080" y="10605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Scheduler</a:t>
            </a:r>
            <a:endParaRPr lang="en-IN" sz="800" b="0" u="none" strike="noStrike">
              <a:solidFill>
                <a:srgbClr val="000000"/>
              </a:solidFill>
              <a:effectLst/>
              <a:uFillTx/>
              <a:latin typeface="Arial"/>
            </a:endParaRPr>
          </a:p>
        </p:txBody>
      </p:sp>
      <p:sp>
        <p:nvSpPr>
          <p:cNvPr id="297" name="Text 5"/>
          <p:cNvSpPr/>
          <p:nvPr/>
        </p:nvSpPr>
        <p:spPr>
          <a:xfrm>
            <a:off x="640080" y="1225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Triggerer</a:t>
            </a:r>
            <a:endParaRPr lang="en-IN" sz="800" b="0" u="none" strike="noStrike">
              <a:solidFill>
                <a:srgbClr val="000000"/>
              </a:solidFill>
              <a:effectLst/>
              <a:uFillTx/>
              <a:latin typeface="Arial"/>
            </a:endParaRPr>
          </a:p>
        </p:txBody>
      </p:sp>
      <p:sp>
        <p:nvSpPr>
          <p:cNvPr id="298" name="Text 6"/>
          <p:cNvSpPr/>
          <p:nvPr/>
        </p:nvSpPr>
        <p:spPr>
          <a:xfrm>
            <a:off x="640080" y="1389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Webserver</a:t>
            </a:r>
            <a:endParaRPr lang="en-IN" sz="800" b="0" u="none" strike="noStrike">
              <a:solidFill>
                <a:srgbClr val="000000"/>
              </a:solidFill>
              <a:effectLst/>
              <a:uFillTx/>
              <a:latin typeface="Arial"/>
            </a:endParaRPr>
          </a:p>
        </p:txBody>
      </p:sp>
      <p:sp>
        <p:nvSpPr>
          <p:cNvPr id="299" name="Text 7"/>
          <p:cNvSpPr/>
          <p:nvPr/>
        </p:nvSpPr>
        <p:spPr>
          <a:xfrm>
            <a:off x="457200" y="16459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5. What ensures exactly‑once semantics in Kafka Streams?</a:t>
            </a:r>
            <a:endParaRPr lang="en-IN" sz="900" b="0" u="none" strike="noStrike">
              <a:solidFill>
                <a:srgbClr val="000000"/>
              </a:solidFill>
              <a:effectLst/>
              <a:uFillTx/>
              <a:latin typeface="Arial"/>
            </a:endParaRPr>
          </a:p>
        </p:txBody>
      </p:sp>
      <p:sp>
        <p:nvSpPr>
          <p:cNvPr id="300" name="Text 8"/>
          <p:cNvSpPr/>
          <p:nvPr/>
        </p:nvSpPr>
        <p:spPr>
          <a:xfrm>
            <a:off x="640080" y="1810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Idempotent producers &amp; transactions</a:t>
            </a:r>
            <a:endParaRPr lang="en-IN" sz="800" b="0" u="none" strike="noStrike">
              <a:solidFill>
                <a:srgbClr val="000000"/>
              </a:solidFill>
              <a:effectLst/>
              <a:uFillTx/>
              <a:latin typeface="Arial"/>
            </a:endParaRPr>
          </a:p>
        </p:txBody>
      </p:sp>
      <p:sp>
        <p:nvSpPr>
          <p:cNvPr id="301" name="Text 9"/>
          <p:cNvSpPr/>
          <p:nvPr/>
        </p:nvSpPr>
        <p:spPr>
          <a:xfrm>
            <a:off x="640080" y="1974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Setting acks=0</a:t>
            </a:r>
            <a:endParaRPr lang="en-IN" sz="800" b="0" u="none" strike="noStrike">
              <a:solidFill>
                <a:srgbClr val="000000"/>
              </a:solidFill>
              <a:effectLst/>
              <a:uFillTx/>
              <a:latin typeface="Arial"/>
            </a:endParaRPr>
          </a:p>
        </p:txBody>
      </p:sp>
      <p:sp>
        <p:nvSpPr>
          <p:cNvPr id="302" name="Text 10"/>
          <p:cNvSpPr/>
          <p:nvPr/>
        </p:nvSpPr>
        <p:spPr>
          <a:xfrm>
            <a:off x="640080" y="2139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Using at‑most‑once consumers</a:t>
            </a:r>
            <a:endParaRPr lang="en-IN" sz="800" b="0" u="none" strike="noStrike">
              <a:solidFill>
                <a:srgbClr val="000000"/>
              </a:solidFill>
              <a:effectLst/>
              <a:uFillTx/>
              <a:latin typeface="Arial"/>
            </a:endParaRPr>
          </a:p>
        </p:txBody>
      </p:sp>
      <p:sp>
        <p:nvSpPr>
          <p:cNvPr id="303" name="Text 11"/>
          <p:cNvSpPr/>
          <p:nvPr/>
        </p:nvSpPr>
        <p:spPr>
          <a:xfrm>
            <a:off x="640080" y="2304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Disabling retries</a:t>
            </a:r>
            <a:endParaRPr lang="en-IN" sz="800" b="0" u="none" strike="noStrike">
              <a:solidFill>
                <a:srgbClr val="000000"/>
              </a:solidFill>
              <a:effectLst/>
              <a:uFillTx/>
              <a:latin typeface="Arial"/>
            </a:endParaRPr>
          </a:p>
        </p:txBody>
      </p:sp>
      <p:sp>
        <p:nvSpPr>
          <p:cNvPr id="304" name="Text 12"/>
          <p:cNvSpPr/>
          <p:nvPr/>
        </p:nvSpPr>
        <p:spPr>
          <a:xfrm>
            <a:off x="457200" y="25603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6. When would you choose Kafka Streams over ksqlDB?</a:t>
            </a:r>
            <a:endParaRPr lang="en-IN" sz="900" b="0" u="none" strike="noStrike">
              <a:solidFill>
                <a:srgbClr val="000000"/>
              </a:solidFill>
              <a:effectLst/>
              <a:uFillTx/>
              <a:latin typeface="Arial"/>
            </a:endParaRPr>
          </a:p>
        </p:txBody>
      </p:sp>
      <p:sp>
        <p:nvSpPr>
          <p:cNvPr id="305" name="Text 13"/>
          <p:cNvSpPr/>
          <p:nvPr/>
        </p:nvSpPr>
        <p:spPr>
          <a:xfrm>
            <a:off x="640080" y="2724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When you need a no‑code solution for streaming SQL</a:t>
            </a:r>
            <a:endParaRPr lang="en-IN" sz="800" b="0" u="none" strike="noStrike">
              <a:solidFill>
                <a:srgbClr val="000000"/>
              </a:solidFill>
              <a:effectLst/>
              <a:uFillTx/>
              <a:latin typeface="Arial"/>
            </a:endParaRPr>
          </a:p>
        </p:txBody>
      </p:sp>
      <p:sp>
        <p:nvSpPr>
          <p:cNvPr id="306" name="Text 14"/>
          <p:cNvSpPr/>
          <p:nvPr/>
        </p:nvSpPr>
        <p:spPr>
          <a:xfrm>
            <a:off x="640080" y="2889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When you want to embed stream processing in a custom microservice</a:t>
            </a:r>
            <a:endParaRPr lang="en-IN" sz="800" b="0" u="none" strike="noStrike">
              <a:solidFill>
                <a:srgbClr val="000000"/>
              </a:solidFill>
              <a:effectLst/>
              <a:uFillTx/>
              <a:latin typeface="Arial"/>
            </a:endParaRPr>
          </a:p>
        </p:txBody>
      </p:sp>
      <p:sp>
        <p:nvSpPr>
          <p:cNvPr id="307" name="Text 15"/>
          <p:cNvSpPr/>
          <p:nvPr/>
        </p:nvSpPr>
        <p:spPr>
          <a:xfrm>
            <a:off x="640080" y="30542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When your use case requires interactive queries via REST</a:t>
            </a:r>
            <a:endParaRPr lang="en-IN" sz="800" b="0" u="none" strike="noStrike">
              <a:solidFill>
                <a:srgbClr val="000000"/>
              </a:solidFill>
              <a:effectLst/>
              <a:uFillTx/>
              <a:latin typeface="Arial"/>
            </a:endParaRPr>
          </a:p>
        </p:txBody>
      </p:sp>
      <p:sp>
        <p:nvSpPr>
          <p:cNvPr id="308" name="Text 16"/>
          <p:cNvSpPr/>
          <p:nvPr/>
        </p:nvSpPr>
        <p:spPr>
          <a:xfrm>
            <a:off x="640080" y="32187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When you need to ingest batch files</a:t>
            </a:r>
            <a:endParaRPr lang="en-IN" sz="800" b="0" u="none" strike="noStrike">
              <a:solidFill>
                <a:srgbClr val="000000"/>
              </a:solidFill>
              <a:effectLst/>
              <a:uFillTx/>
              <a:latin typeface="Arial"/>
            </a:endParaRPr>
          </a:p>
        </p:txBody>
      </p:sp>
      <p:sp>
        <p:nvSpPr>
          <p:cNvPr id="309"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31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31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Answer Key</a:t>
            </a:r>
            <a:endParaRPr lang="en-IN" sz="2000" b="0" u="none" strike="noStrike">
              <a:solidFill>
                <a:srgbClr val="000000"/>
              </a:solidFill>
              <a:effectLst/>
              <a:uFillTx/>
              <a:latin typeface="Arial"/>
            </a:endParaRPr>
          </a:p>
        </p:txBody>
      </p:sp>
      <p:pic>
        <p:nvPicPr>
          <p:cNvPr id="312" name="Image 0"/>
          <p:cNvPicPr/>
          <p:nvPr/>
        </p:nvPicPr>
        <p:blipFill>
          <a:blip r:embed="rId1"/>
          <a:stretch/>
        </p:blipFill>
        <p:spPr>
          <a:xfrm>
            <a:off x="457200" y="731520"/>
            <a:ext cx="182520" cy="182520"/>
          </a:xfrm>
          <a:prstGeom prst="rect">
            <a:avLst/>
          </a:prstGeom>
          <a:noFill/>
          <a:ln w="0">
            <a:noFill/>
          </a:ln>
        </p:spPr>
      </p:pic>
      <p:sp>
        <p:nvSpPr>
          <p:cNvPr id="313" name="Text 2"/>
          <p:cNvSpPr/>
          <p:nvPr/>
        </p:nvSpPr>
        <p:spPr>
          <a:xfrm>
            <a:off x="6858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1. Answer: B – Silver layer stores cleansed, conformed data ready for analytics.</a:t>
            </a:r>
            <a:endParaRPr lang="en-IN" sz="900" b="0" u="none" strike="noStrike">
              <a:solidFill>
                <a:srgbClr val="000000"/>
              </a:solidFill>
              <a:effectLst/>
              <a:uFillTx/>
              <a:latin typeface="Arial"/>
            </a:endParaRPr>
          </a:p>
        </p:txBody>
      </p:sp>
      <p:pic>
        <p:nvPicPr>
          <p:cNvPr id="314" name="Image 1"/>
          <p:cNvPicPr/>
          <p:nvPr/>
        </p:nvPicPr>
        <p:blipFill>
          <a:blip r:embed="rId2"/>
          <a:stretch/>
        </p:blipFill>
        <p:spPr>
          <a:xfrm>
            <a:off x="457200" y="987480"/>
            <a:ext cx="182520" cy="182520"/>
          </a:xfrm>
          <a:prstGeom prst="rect">
            <a:avLst/>
          </a:prstGeom>
          <a:noFill/>
          <a:ln w="0">
            <a:noFill/>
          </a:ln>
        </p:spPr>
      </p:pic>
      <p:sp>
        <p:nvSpPr>
          <p:cNvPr id="315" name="Text 3"/>
          <p:cNvSpPr/>
          <p:nvPr/>
        </p:nvSpPr>
        <p:spPr>
          <a:xfrm>
            <a:off x="685800" y="98748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2. Answer: B – Dead letter queues capture failed records for later inspection.</a:t>
            </a:r>
            <a:endParaRPr lang="en-IN" sz="900" b="0" u="none" strike="noStrike">
              <a:solidFill>
                <a:srgbClr val="000000"/>
              </a:solidFill>
              <a:effectLst/>
              <a:uFillTx/>
              <a:latin typeface="Arial"/>
            </a:endParaRPr>
          </a:p>
        </p:txBody>
      </p:sp>
      <p:pic>
        <p:nvPicPr>
          <p:cNvPr id="316" name="Image 2"/>
          <p:cNvPicPr/>
          <p:nvPr/>
        </p:nvPicPr>
        <p:blipFill>
          <a:blip r:embed="rId3"/>
          <a:stretch/>
        </p:blipFill>
        <p:spPr>
          <a:xfrm>
            <a:off x="457200" y="1243440"/>
            <a:ext cx="182520" cy="182520"/>
          </a:xfrm>
          <a:prstGeom prst="rect">
            <a:avLst/>
          </a:prstGeom>
          <a:noFill/>
          <a:ln w="0">
            <a:noFill/>
          </a:ln>
        </p:spPr>
      </p:pic>
      <p:sp>
        <p:nvSpPr>
          <p:cNvPr id="317" name="Text 4"/>
          <p:cNvSpPr/>
          <p:nvPr/>
        </p:nvSpPr>
        <p:spPr>
          <a:xfrm>
            <a:off x="685800" y="124344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3. Answer: C – Pull queries read from materialized views on demand.</a:t>
            </a:r>
            <a:endParaRPr lang="en-IN" sz="900" b="0" u="none" strike="noStrike">
              <a:solidFill>
                <a:srgbClr val="000000"/>
              </a:solidFill>
              <a:effectLst/>
              <a:uFillTx/>
              <a:latin typeface="Arial"/>
            </a:endParaRPr>
          </a:p>
        </p:txBody>
      </p:sp>
      <p:pic>
        <p:nvPicPr>
          <p:cNvPr id="318" name="Image 3"/>
          <p:cNvPicPr/>
          <p:nvPr/>
        </p:nvPicPr>
        <p:blipFill>
          <a:blip r:embed="rId4"/>
          <a:stretch/>
        </p:blipFill>
        <p:spPr>
          <a:xfrm>
            <a:off x="457200" y="1499760"/>
            <a:ext cx="182520" cy="182520"/>
          </a:xfrm>
          <a:prstGeom prst="rect">
            <a:avLst/>
          </a:prstGeom>
          <a:noFill/>
          <a:ln w="0">
            <a:noFill/>
          </a:ln>
        </p:spPr>
      </p:pic>
      <p:sp>
        <p:nvSpPr>
          <p:cNvPr id="319" name="Text 5"/>
          <p:cNvSpPr/>
          <p:nvPr/>
        </p:nvSpPr>
        <p:spPr>
          <a:xfrm>
            <a:off x="685800" y="149976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4. Answer: B – The scheduler monitors DAG schedules and triggers task execution.</a:t>
            </a:r>
            <a:endParaRPr lang="en-IN" sz="900" b="0" u="none" strike="noStrike">
              <a:solidFill>
                <a:srgbClr val="000000"/>
              </a:solidFill>
              <a:effectLst/>
              <a:uFillTx/>
              <a:latin typeface="Arial"/>
            </a:endParaRPr>
          </a:p>
        </p:txBody>
      </p:sp>
      <p:pic>
        <p:nvPicPr>
          <p:cNvPr id="320" name="Image 4"/>
          <p:cNvPicPr/>
          <p:nvPr/>
        </p:nvPicPr>
        <p:blipFill>
          <a:blip r:embed="rId5"/>
          <a:stretch/>
        </p:blipFill>
        <p:spPr>
          <a:xfrm>
            <a:off x="457200" y="1755720"/>
            <a:ext cx="182520" cy="182520"/>
          </a:xfrm>
          <a:prstGeom prst="rect">
            <a:avLst/>
          </a:prstGeom>
          <a:noFill/>
          <a:ln w="0">
            <a:noFill/>
          </a:ln>
        </p:spPr>
      </p:pic>
      <p:sp>
        <p:nvSpPr>
          <p:cNvPr id="321" name="Text 6"/>
          <p:cNvSpPr/>
          <p:nvPr/>
        </p:nvSpPr>
        <p:spPr>
          <a:xfrm>
            <a:off x="685800" y="17557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5. Answer: A – Idempotent producers and transactions enable exactly‑once semantics.</a:t>
            </a:r>
            <a:endParaRPr lang="en-IN" sz="900" b="0" u="none" strike="noStrike">
              <a:solidFill>
                <a:srgbClr val="000000"/>
              </a:solidFill>
              <a:effectLst/>
              <a:uFillTx/>
              <a:latin typeface="Arial"/>
            </a:endParaRPr>
          </a:p>
        </p:txBody>
      </p:sp>
      <p:pic>
        <p:nvPicPr>
          <p:cNvPr id="322" name="Image 5"/>
          <p:cNvPicPr/>
          <p:nvPr/>
        </p:nvPicPr>
        <p:blipFill>
          <a:blip r:embed="rId6"/>
          <a:stretch/>
        </p:blipFill>
        <p:spPr>
          <a:xfrm>
            <a:off x="457200" y="2011680"/>
            <a:ext cx="182520" cy="182520"/>
          </a:xfrm>
          <a:prstGeom prst="rect">
            <a:avLst/>
          </a:prstGeom>
          <a:noFill/>
          <a:ln w="0">
            <a:noFill/>
          </a:ln>
        </p:spPr>
      </p:pic>
      <p:sp>
        <p:nvSpPr>
          <p:cNvPr id="323" name="Text 7"/>
          <p:cNvSpPr/>
          <p:nvPr/>
        </p:nvSpPr>
        <p:spPr>
          <a:xfrm>
            <a:off x="685800" y="201168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6. Answer: B – Kafka Streams is used when embedding stream logic inside your own application.</a:t>
            </a:r>
            <a:endParaRPr lang="en-IN" sz="900" b="0" u="none" strike="noStrike">
              <a:solidFill>
                <a:srgbClr val="000000"/>
              </a:solidFill>
              <a:effectLst/>
              <a:uFillTx/>
              <a:latin typeface="Arial"/>
            </a:endParaRPr>
          </a:p>
        </p:txBody>
      </p:sp>
      <p:sp>
        <p:nvSpPr>
          <p:cNvPr id="324" name="Text 8"/>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325"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326"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Recap &amp; Closing</a:t>
            </a:r>
            <a:endParaRPr lang="en-IN" sz="2000" b="0" u="none" strike="noStrike">
              <a:solidFill>
                <a:srgbClr val="000000"/>
              </a:solidFill>
              <a:effectLst/>
              <a:uFillTx/>
              <a:latin typeface="Arial"/>
            </a:endParaRPr>
          </a:p>
        </p:txBody>
      </p:sp>
      <p:sp>
        <p:nvSpPr>
          <p:cNvPr id="327" name="Text 2"/>
          <p:cNvSpPr/>
          <p:nvPr/>
        </p:nvSpPr>
        <p:spPr>
          <a:xfrm>
            <a:off x="457200" y="731520"/>
            <a:ext cx="8686440" cy="274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400" b="1" u="none" strike="noStrike">
                <a:solidFill>
                  <a:srgbClr val="003c54"/>
                </a:solidFill>
                <a:effectLst/>
                <a:uFillTx/>
                <a:latin typeface="Calibri"/>
              </a:rPr>
              <a:t>Today you:</a:t>
            </a:r>
            <a:endParaRPr lang="en-IN" sz="14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Ran or designed the final CDC-to-serving pipeline using the supplied capstone stack.</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Distinguished implemented components from Hop, Airflow, lakehouse and BI extensions.</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Validated an aggregate output and created a Gold-layer dashboard proof.</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Captured operational evidence and a production-readiness review.</a:t>
            </a:r>
            <a:endParaRPr lang="en-IN" sz="1000" b="0" u="none" strike="noStrike">
              <a:solidFill>
                <a:srgbClr val="000000"/>
              </a:solidFill>
              <a:effectLst/>
              <a:uFillTx/>
              <a:latin typeface="Arial"/>
            </a:endParaRPr>
          </a:p>
          <a:p>
            <a:pPr defTabSz="914400">
              <a:lnSpc>
                <a:spcPct val="100000"/>
              </a:lnSpc>
              <a:tabLst>
                <a:tab algn="l" pos="0"/>
              </a:tabLst>
            </a:pP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Final submission: architecture, commands/screenshots, metric query/output, dashboard artifact and troubleshooting note.</a:t>
            </a:r>
            <a:endParaRPr lang="en-IN" sz="1000" b="0" u="none" strike="noStrike">
              <a:solidFill>
                <a:srgbClr val="000000"/>
              </a:solidFill>
              <a:effectLst/>
              <a:uFillTx/>
              <a:latin typeface="Arial"/>
            </a:endParaRPr>
          </a:p>
        </p:txBody>
      </p:sp>
      <p:sp>
        <p:nvSpPr>
          <p:cNvPr id="328"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8229600" cy="1097280"/>
          </a:xfrm>
          <a:prstGeom prst="rect">
            <a:avLst/>
          </a:prstGeom>
          <a:noFill/>
        </p:spPr>
        <p:txBody>
          <a:bodyPr wrap="square" lIns="45720" rIns="45720" tIns="18288" bIns="18288">
            <a:spAutoFit/>
          </a:bodyPr>
          <a:lstStyle/>
          <a:p>
            <a:r>
              <a:rPr sz="4000" b="1">
                <a:solidFill>
                  <a:srgbClr val="FFFFFF"/>
                </a:solidFill>
              </a:rPr>
              <a:t>Capstone — Business Objectives</a:t>
            </a:r>
          </a:p>
        </p:txBody>
      </p:sp>
      <p:sp>
        <p:nvSpPr>
          <p:cNvPr id="4" name="TextBox 3"/>
          <p:cNvSpPr txBox="1"/>
          <p:nvPr/>
        </p:nvSpPr>
        <p:spPr>
          <a:xfrm>
            <a:off x="457200" y="3291840"/>
            <a:ext cx="8229600" cy="731520"/>
          </a:xfrm>
          <a:prstGeom prst="rect">
            <a:avLst/>
          </a:prstGeom>
          <a:noFill/>
        </p:spPr>
        <p:txBody>
          <a:bodyPr wrap="square" lIns="45720" rIns="45720" tIns="18288" bIns="18288">
            <a:spAutoFit/>
          </a:bodyPr>
          <a:lstStyle/>
          <a:p>
            <a:r>
              <a:rPr sz="1800" b="0">
                <a:solidFill>
                  <a:srgbClr val="CCDDEE"/>
                </a:solidFill>
              </a:rPr>
              <a:t>End-to-end real-time platform on the Day-10 stack</a:t>
            </a:r>
          </a:p>
        </p:txBody>
      </p:sp>
      <p:sp>
        <p:nvSpPr>
          <p:cNvPr id="5" name="TextBox 4"/>
          <p:cNvSpPr txBox="1"/>
          <p:nvPr/>
        </p:nvSpPr>
        <p:spPr>
          <a:xfrm>
            <a:off x="457200" y="4114800"/>
            <a:ext cx="8229600" cy="1828800"/>
          </a:xfrm>
          <a:prstGeom prst="rect">
            <a:avLst/>
          </a:prstGeom>
          <a:noFill/>
        </p:spPr>
        <p:txBody>
          <a:bodyPr wrap="square" lIns="45720" rIns="45720" tIns="18288" bIns="18288">
            <a:spAutoFit/>
          </a:bodyPr>
          <a:lstStyle/>
          <a:p>
            <a:r>
              <a:rPr sz="1800" b="0">
                <a:solidFill>
                  <a:srgbClr val="FFFFFF"/>
                </a:solidFill>
              </a:rPr>
              <a:t>1.  Designing End-to-End Architecture</a:t>
            </a:r>
          </a:p>
          <a:p>
            <a:r>
              <a:rPr sz="1800" b="0">
                <a:solidFill>
                  <a:srgbClr val="FFFFFF"/>
                </a:solidFill>
              </a:rPr>
              <a:t>2.  Integrating Debezium, Kafka, Hop, Airflow</a:t>
            </a:r>
          </a:p>
          <a:p>
            <a:r>
              <a:rPr sz="1800" b="0">
                <a:solidFill>
                  <a:srgbClr val="FFFFFF"/>
                </a:solidFill>
              </a:rPr>
              <a:t>3.  Building a Real-Time Data Pipeline</a:t>
            </a:r>
          </a:p>
          <a:p>
            <a:r>
              <a:rPr sz="1800" b="0">
                <a:solidFill>
                  <a:srgbClr val="FFFFFF"/>
                </a:solidFill>
              </a:rPr>
              <a:t>4.  Deployment and Best Practices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1. Designing End-to-End Architecture</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Three real public streams + Postgres CDC → medallion on MinIO → dashboards</a:t>
            </a:r>
          </a:p>
        </p:txBody>
      </p:sp>
      <p:sp>
        <p:nvSpPr>
          <p:cNvPr id="5" name="TextBox 4"/>
          <p:cNvSpPr txBox="1"/>
          <p:nvPr/>
        </p:nvSpPr>
        <p:spPr>
          <a:xfrm>
            <a:off x="365760" y="960120"/>
            <a:ext cx="4206240" cy="365760"/>
          </a:xfrm>
          <a:prstGeom prst="rect">
            <a:avLst/>
          </a:prstGeom>
          <a:noFill/>
        </p:spPr>
        <p:txBody>
          <a:bodyPr wrap="square" lIns="45720" rIns="45720" tIns="18288" bIns="18288">
            <a:spAutoFit/>
          </a:bodyPr>
          <a:lstStyle/>
          <a:p>
            <a:r>
              <a:rPr sz="1500" b="1">
                <a:solidFill>
                  <a:srgbClr val="1F77B4"/>
                </a:solidFill>
              </a:rPr>
              <a:t>Design pillars</a:t>
            </a:r>
          </a:p>
        </p:txBody>
      </p:sp>
      <p:sp>
        <p:nvSpPr>
          <p:cNvPr id="6" name="TextBox 5"/>
          <p:cNvSpPr txBox="1"/>
          <p:nvPr/>
        </p:nvSpPr>
        <p:spPr>
          <a:xfrm>
            <a:off x="365760" y="1325880"/>
            <a:ext cx="4297680" cy="5029200"/>
          </a:xfrm>
          <a:prstGeom prst="rect">
            <a:avLst/>
          </a:prstGeom>
          <a:noFill/>
        </p:spPr>
        <p:txBody>
          <a:bodyPr wrap="square">
            <a:spAutoFit/>
          </a:bodyPr>
          <a:lstStyle/>
          <a:p>
            <a:pPr>
              <a:spcAft>
                <a:spcPts val="400"/>
              </a:spcAft>
            </a:pPr>
            <a:r>
              <a:rPr sz="1200">
                <a:solidFill>
                  <a:srgbClr val="0B2A4A"/>
                </a:solidFill>
              </a:rPr>
              <a:t>• Real streams, not simulators — OGN APRS (TCP), NOAA REST, EMSC WebSocket each exercise a different ingestion pattern.</a:t>
            </a:r>
          </a:p>
          <a:p>
            <a:pPr>
              <a:spcAft>
                <a:spcPts val="400"/>
              </a:spcAft>
            </a:pPr>
            <a:r>
              <a:rPr sz="1200">
                <a:solidFill>
                  <a:srgbClr val="0B2A4A"/>
                </a:solidFill>
              </a:rPr>
              <a:t>• CDC where CDC belongs — Postgres holds only config: regions, alert thresholds, subscriber watchlist. Debezium streams changes so consumers reload without restart.</a:t>
            </a:r>
          </a:p>
          <a:p>
            <a:pPr>
              <a:spcAft>
                <a:spcPts val="400"/>
              </a:spcAft>
            </a:pPr>
            <a:r>
              <a:rPr sz="1200">
                <a:solidFill>
                  <a:srgbClr val="0B2A4A"/>
                </a:solidFill>
              </a:rPr>
              <a:t>• Medallion in object storage — Avro at bronze + silver (schema-bound), Parquet at gold (analytic-friendly).</a:t>
            </a:r>
          </a:p>
          <a:p>
            <a:pPr>
              <a:spcAft>
                <a:spcPts val="400"/>
              </a:spcAft>
            </a:pPr>
            <a:r>
              <a:rPr sz="1200">
                <a:solidFill>
                  <a:srgbClr val="0B2A4A"/>
                </a:solidFill>
              </a:rPr>
              <a:t>• Hop is the canonical engine; Python is the executable spec — .hpl / .hwf openable in Hop GUI, Python equivalents run from Airflow so tests don't need a GUI.</a:t>
            </a:r>
          </a:p>
          <a:p>
            <a:pPr>
              <a:spcAft>
                <a:spcPts val="400"/>
              </a:spcAft>
            </a:pPr>
            <a:r>
              <a:rPr sz="1200">
                <a:solidFill>
                  <a:srgbClr val="0B2A4A"/>
                </a:solidFill>
              </a:rPr>
              <a:t>• Two dashboards, two audiences — quality for DataOps, business for mart consumers.</a:t>
            </a:r>
          </a:p>
          <a:p>
            <a:pPr>
              <a:spcAft>
                <a:spcPts val="400"/>
              </a:spcAft>
            </a:pPr>
            <a:r>
              <a:rPr sz="1200">
                <a:solidFill>
                  <a:srgbClr val="0B2A4A"/>
                </a:solidFill>
              </a:rPr>
              <a:t>• Everything observable — Prometheus scrapes Kafka JMX, Postgres, MinIO, Connect, both dashboards. Alertmanager routes alerts back into the quality dashboard.</a:t>
            </a:r>
          </a:p>
        </p:txBody>
      </p:sp>
      <p:sp>
        <p:nvSpPr>
          <p:cNvPr id="7" name="TextBox 6"/>
          <p:cNvSpPr txBox="1"/>
          <p:nvPr/>
        </p:nvSpPr>
        <p:spPr>
          <a:xfrm>
            <a:off x="4937760" y="960120"/>
            <a:ext cx="4023360" cy="365760"/>
          </a:xfrm>
          <a:prstGeom prst="rect">
            <a:avLst/>
          </a:prstGeom>
          <a:noFill/>
        </p:spPr>
        <p:txBody>
          <a:bodyPr wrap="square" lIns="45720" rIns="45720" tIns="18288" bIns="18288">
            <a:spAutoFit/>
          </a:bodyPr>
          <a:lstStyle/>
          <a:p>
            <a:r>
              <a:rPr sz="1500" b="1">
                <a:solidFill>
                  <a:srgbClr val="1F77B4"/>
                </a:solidFill>
              </a:rPr>
              <a:t>Logical flow</a:t>
            </a:r>
          </a:p>
        </p:txBody>
      </p:sp>
      <p:sp>
        <p:nvSpPr>
          <p:cNvPr id="8" name="Rectangle 7"/>
          <p:cNvSpPr/>
          <p:nvPr/>
        </p:nvSpPr>
        <p:spPr>
          <a:xfrm>
            <a:off x="4937760" y="1325880"/>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1399032"/>
            <a:ext cx="3749040" cy="274320"/>
          </a:xfrm>
          <a:prstGeom prst="rect">
            <a:avLst/>
          </a:prstGeom>
          <a:noFill/>
        </p:spPr>
        <p:txBody>
          <a:bodyPr wrap="square" lIns="45720" rIns="45720" tIns="18288" bIns="18288">
            <a:spAutoFit/>
          </a:bodyPr>
          <a:lstStyle/>
          <a:p>
            <a:r>
              <a:rPr sz="1200" b="1">
                <a:solidFill>
                  <a:srgbClr val="0B2A4A"/>
                </a:solidFill>
              </a:rPr>
              <a:t>Sources: OGN  /  NOAA  /  EMSC  /  config-db</a:t>
            </a:r>
          </a:p>
        </p:txBody>
      </p:sp>
      <p:sp>
        <p:nvSpPr>
          <p:cNvPr id="10" name="TextBox 9"/>
          <p:cNvSpPr txBox="1"/>
          <p:nvPr/>
        </p:nvSpPr>
        <p:spPr>
          <a:xfrm>
            <a:off x="4937760" y="1737360"/>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11" name="Rectangle 10"/>
          <p:cNvSpPr/>
          <p:nvPr/>
        </p:nvSpPr>
        <p:spPr>
          <a:xfrm>
            <a:off x="4937760" y="1938528"/>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4920" y="2011680"/>
            <a:ext cx="3749040" cy="274320"/>
          </a:xfrm>
          <a:prstGeom prst="rect">
            <a:avLst/>
          </a:prstGeom>
          <a:noFill/>
        </p:spPr>
        <p:txBody>
          <a:bodyPr wrap="square" lIns="45720" rIns="45720" tIns="18288" bIns="18288">
            <a:spAutoFit/>
          </a:bodyPr>
          <a:lstStyle/>
          <a:p>
            <a:r>
              <a:rPr sz="1200" b="1">
                <a:solidFill>
                  <a:srgbClr val="0B2A4A"/>
                </a:solidFill>
              </a:rPr>
              <a:t>Kafka topics  +  Schema Registry (Avro)</a:t>
            </a:r>
          </a:p>
        </p:txBody>
      </p:sp>
      <p:sp>
        <p:nvSpPr>
          <p:cNvPr id="13" name="TextBox 12"/>
          <p:cNvSpPr txBox="1"/>
          <p:nvPr/>
        </p:nvSpPr>
        <p:spPr>
          <a:xfrm>
            <a:off x="4937760" y="2350008"/>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14" name="Rectangle 13"/>
          <p:cNvSpPr/>
          <p:nvPr/>
        </p:nvSpPr>
        <p:spPr>
          <a:xfrm>
            <a:off x="4937760" y="2551176"/>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74920" y="2624328"/>
            <a:ext cx="3749040" cy="274320"/>
          </a:xfrm>
          <a:prstGeom prst="rect">
            <a:avLst/>
          </a:prstGeom>
          <a:noFill/>
        </p:spPr>
        <p:txBody>
          <a:bodyPr wrap="square" lIns="45720" rIns="45720" tIns="18288" bIns="18288">
            <a:spAutoFit/>
          </a:bodyPr>
          <a:lstStyle/>
          <a:p>
            <a:r>
              <a:rPr sz="1200" b="1">
                <a:solidFill>
                  <a:srgbClr val="0B2A4A"/>
                </a:solidFill>
              </a:rPr>
              <a:t>Kafka Connect: Debezium PG  +  2× S3 sink</a:t>
            </a:r>
          </a:p>
        </p:txBody>
      </p:sp>
      <p:sp>
        <p:nvSpPr>
          <p:cNvPr id="16" name="TextBox 15"/>
          <p:cNvSpPr txBox="1"/>
          <p:nvPr/>
        </p:nvSpPr>
        <p:spPr>
          <a:xfrm>
            <a:off x="4937760" y="2962656"/>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17" name="Rectangle 16"/>
          <p:cNvSpPr/>
          <p:nvPr/>
        </p:nvSpPr>
        <p:spPr>
          <a:xfrm>
            <a:off x="4937760" y="3163824"/>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3236976"/>
            <a:ext cx="3749040" cy="274320"/>
          </a:xfrm>
          <a:prstGeom prst="rect">
            <a:avLst/>
          </a:prstGeom>
          <a:noFill/>
        </p:spPr>
        <p:txBody>
          <a:bodyPr wrap="square" lIns="45720" rIns="45720" tIns="18288" bIns="18288">
            <a:spAutoFit/>
          </a:bodyPr>
          <a:lstStyle/>
          <a:p>
            <a:r>
              <a:rPr sz="1200" b="1">
                <a:solidFill>
                  <a:srgbClr val="0B2A4A"/>
                </a:solidFill>
              </a:rPr>
              <a:t>Bronze (Avro, hourly partitions in MinIO)</a:t>
            </a:r>
          </a:p>
        </p:txBody>
      </p:sp>
      <p:sp>
        <p:nvSpPr>
          <p:cNvPr id="19" name="TextBox 18"/>
          <p:cNvSpPr txBox="1"/>
          <p:nvPr/>
        </p:nvSpPr>
        <p:spPr>
          <a:xfrm>
            <a:off x="4937760" y="3575304"/>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20" name="Rectangle 19"/>
          <p:cNvSpPr/>
          <p:nvPr/>
        </p:nvSpPr>
        <p:spPr>
          <a:xfrm>
            <a:off x="4937760" y="3776472"/>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3849624"/>
            <a:ext cx="3749040" cy="274320"/>
          </a:xfrm>
          <a:prstGeom prst="rect">
            <a:avLst/>
          </a:prstGeom>
          <a:noFill/>
        </p:spPr>
        <p:txBody>
          <a:bodyPr wrap="square" lIns="45720" rIns="45720" tIns="18288" bIns="18288">
            <a:spAutoFit/>
          </a:bodyPr>
          <a:lstStyle/>
          <a:p>
            <a:r>
              <a:rPr sz="1200" b="1">
                <a:solidFill>
                  <a:srgbClr val="0B2A4A"/>
                </a:solidFill>
              </a:rPr>
              <a:t>Silver (Hop/Python: dedupe, late filter, audit)</a:t>
            </a:r>
          </a:p>
        </p:txBody>
      </p:sp>
      <p:sp>
        <p:nvSpPr>
          <p:cNvPr id="22" name="TextBox 21"/>
          <p:cNvSpPr txBox="1"/>
          <p:nvPr/>
        </p:nvSpPr>
        <p:spPr>
          <a:xfrm>
            <a:off x="4937760" y="4187952"/>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23" name="Rectangle 22"/>
          <p:cNvSpPr/>
          <p:nvPr/>
        </p:nvSpPr>
        <p:spPr>
          <a:xfrm>
            <a:off x="4937760" y="4389120"/>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74920" y="4462272"/>
            <a:ext cx="3749040" cy="274320"/>
          </a:xfrm>
          <a:prstGeom prst="rect">
            <a:avLst/>
          </a:prstGeom>
          <a:noFill/>
        </p:spPr>
        <p:txBody>
          <a:bodyPr wrap="square" lIns="45720" rIns="45720" tIns="18288" bIns="18288">
            <a:spAutoFit/>
          </a:bodyPr>
          <a:lstStyle/>
          <a:p>
            <a:r>
              <a:rPr sz="1200" b="1">
                <a:solidFill>
                  <a:srgbClr val="0B2A4A"/>
                </a:solidFill>
              </a:rPr>
              <a:t>Gold (DuckDB → 4 Parquet marts + latest.parquet)</a:t>
            </a:r>
          </a:p>
        </p:txBody>
      </p:sp>
      <p:sp>
        <p:nvSpPr>
          <p:cNvPr id="25" name="TextBox 24"/>
          <p:cNvSpPr txBox="1"/>
          <p:nvPr/>
        </p:nvSpPr>
        <p:spPr>
          <a:xfrm>
            <a:off x="4937760" y="4800600"/>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26" name="Rectangle 25"/>
          <p:cNvSpPr/>
          <p:nvPr/>
        </p:nvSpPr>
        <p:spPr>
          <a:xfrm>
            <a:off x="4937760" y="5001768"/>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0" y="5074920"/>
            <a:ext cx="3749040" cy="274320"/>
          </a:xfrm>
          <a:prstGeom prst="rect">
            <a:avLst/>
          </a:prstGeom>
          <a:noFill/>
        </p:spPr>
        <p:txBody>
          <a:bodyPr wrap="square" lIns="45720" rIns="45720" tIns="18288" bIns="18288">
            <a:spAutoFit/>
          </a:bodyPr>
          <a:lstStyle/>
          <a:p>
            <a:r>
              <a:rPr sz="1200" b="1">
                <a:solidFill>
                  <a:srgbClr val="0B2A4A"/>
                </a:solidFill>
              </a:rPr>
              <a:t>Dashboards: quality / business / live map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2. Integrating Debezium, Kafka, Hop, Airflow</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Each tool owns one job; contracts (Avro + topic naming + DAG names) glue them together</a:t>
            </a:r>
          </a:p>
        </p:txBody>
      </p:sp>
      <p:sp>
        <p:nvSpPr>
          <p:cNvPr id="5" name="Rectangle 4"/>
          <p:cNvSpPr/>
          <p:nvPr/>
        </p:nvSpPr>
        <p:spPr>
          <a:xfrm>
            <a:off x="365760" y="960120"/>
            <a:ext cx="4297680" cy="38404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14984"/>
            <a:ext cx="4023360" cy="274320"/>
          </a:xfrm>
          <a:prstGeom prst="rect">
            <a:avLst/>
          </a:prstGeom>
          <a:noFill/>
        </p:spPr>
        <p:txBody>
          <a:bodyPr wrap="square" lIns="45720" rIns="45720" tIns="18288" bIns="18288">
            <a:spAutoFit/>
          </a:bodyPr>
          <a:lstStyle/>
          <a:p>
            <a:r>
              <a:rPr sz="1400" b="1">
                <a:solidFill>
                  <a:srgbClr val="FFFFFF"/>
                </a:solidFill>
              </a:rPr>
              <a:t>Debezium</a:t>
            </a:r>
          </a:p>
        </p:txBody>
      </p:sp>
      <p:sp>
        <p:nvSpPr>
          <p:cNvPr id="7" name="Rectangle 6"/>
          <p:cNvSpPr/>
          <p:nvPr/>
        </p:nvSpPr>
        <p:spPr>
          <a:xfrm>
            <a:off x="365760" y="1344168"/>
            <a:ext cx="4297680" cy="2084832"/>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17320"/>
            <a:ext cx="4023360" cy="1965960"/>
          </a:xfrm>
          <a:prstGeom prst="rect">
            <a:avLst/>
          </a:prstGeom>
          <a:noFill/>
        </p:spPr>
        <p:txBody>
          <a:bodyPr wrap="square">
            <a:spAutoFit/>
          </a:bodyPr>
          <a:lstStyle/>
          <a:p>
            <a:pPr>
              <a:spcAft>
                <a:spcPts val="400"/>
              </a:spcAft>
            </a:pPr>
            <a:r>
              <a:rPr sz="1100">
                <a:solidFill>
                  <a:srgbClr val="0B2A4A"/>
                </a:solidFill>
              </a:rPr>
              <a:t>• Source: config-db (Postgres 15, wal_level=logical) via pgoutput.</a:t>
            </a:r>
          </a:p>
          <a:p>
            <a:pPr>
              <a:spcAft>
                <a:spcPts val="400"/>
              </a:spcAft>
            </a:pPr>
            <a:r>
              <a:rPr sz="1100">
                <a:solidFill>
                  <a:srgbClr val="0B2A4A"/>
                </a:solidFill>
              </a:rPr>
              <a:t>• Topics: config.public.regions / alert_thresholds / subscriber_watchlist.</a:t>
            </a:r>
          </a:p>
          <a:p>
            <a:pPr>
              <a:spcAft>
                <a:spcPts val="400"/>
              </a:spcAft>
            </a:pPr>
            <a:r>
              <a:rPr sz="1100">
                <a:solidFill>
                  <a:srgbClr val="0B2A4A"/>
                </a:solidFill>
              </a:rPr>
              <a:t>• Heartbeat topic + DLQ (dlq.config-source) for poison events.</a:t>
            </a:r>
          </a:p>
          <a:p>
            <a:pPr>
              <a:spcAft>
                <a:spcPts val="400"/>
              </a:spcAft>
            </a:pPr>
            <a:r>
              <a:rPr sz="1100">
                <a:solidFill>
                  <a:srgbClr val="0B2A4A"/>
                </a:solidFill>
              </a:rPr>
              <a:t>• Pinned to debezium-connector-postgres 2.5.4.Final.</a:t>
            </a:r>
          </a:p>
        </p:txBody>
      </p:sp>
      <p:sp>
        <p:nvSpPr>
          <p:cNvPr id="9" name="Rectangle 8"/>
          <p:cNvSpPr/>
          <p:nvPr/>
        </p:nvSpPr>
        <p:spPr>
          <a:xfrm>
            <a:off x="4754880" y="960120"/>
            <a:ext cx="4297680" cy="384048"/>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1014984"/>
            <a:ext cx="4023360" cy="274320"/>
          </a:xfrm>
          <a:prstGeom prst="rect">
            <a:avLst/>
          </a:prstGeom>
          <a:noFill/>
        </p:spPr>
        <p:txBody>
          <a:bodyPr wrap="square" lIns="45720" rIns="45720" tIns="18288" bIns="18288">
            <a:spAutoFit/>
          </a:bodyPr>
          <a:lstStyle/>
          <a:p>
            <a:r>
              <a:rPr sz="1400" b="1">
                <a:solidFill>
                  <a:srgbClr val="FFFFFF"/>
                </a:solidFill>
              </a:rPr>
              <a:t>Kafka + Connect</a:t>
            </a:r>
          </a:p>
        </p:txBody>
      </p:sp>
      <p:sp>
        <p:nvSpPr>
          <p:cNvPr id="11" name="Rectangle 10"/>
          <p:cNvSpPr/>
          <p:nvPr/>
        </p:nvSpPr>
        <p:spPr>
          <a:xfrm>
            <a:off x="4754880" y="1344168"/>
            <a:ext cx="4297680" cy="2084832"/>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417320"/>
            <a:ext cx="4023360" cy="1965960"/>
          </a:xfrm>
          <a:prstGeom prst="rect">
            <a:avLst/>
          </a:prstGeom>
          <a:noFill/>
        </p:spPr>
        <p:txBody>
          <a:bodyPr wrap="square">
            <a:spAutoFit/>
          </a:bodyPr>
          <a:lstStyle/>
          <a:p>
            <a:pPr>
              <a:spcAft>
                <a:spcPts val="400"/>
              </a:spcAft>
            </a:pPr>
            <a:r>
              <a:rPr sz="1100">
                <a:solidFill>
                  <a:srgbClr val="0B2A4A"/>
                </a:solidFill>
              </a:rPr>
              <a:t>• 4 stream topics (ogn / noaa.observations / noaa.alerts / seismic) + Debezium CDC topics.</a:t>
            </a:r>
          </a:p>
          <a:p>
            <a:pPr>
              <a:spcAft>
                <a:spcPts val="400"/>
              </a:spcAft>
            </a:pPr>
            <a:r>
              <a:rPr sz="1100">
                <a:solidFill>
                  <a:srgbClr val="0B2A4A"/>
                </a:solidFill>
              </a:rPr>
              <a:t>• Schema Registry holds Avro subjects, BACKWARD compatibility.</a:t>
            </a:r>
          </a:p>
          <a:p>
            <a:pPr>
              <a:spcAft>
                <a:spcPts val="400"/>
              </a:spcAft>
            </a:pPr>
            <a:r>
              <a:rPr sz="1100">
                <a:solidFill>
                  <a:srgbClr val="0B2A4A"/>
                </a:solidFill>
              </a:rPr>
              <a:t>• 2× S3 sink (one for CDC, one for streams) writes to s3://bronze/&lt;topic&gt;/year=…/hour=…</a:t>
            </a:r>
          </a:p>
          <a:p>
            <a:pPr>
              <a:spcAft>
                <a:spcPts val="400"/>
              </a:spcAft>
            </a:pPr>
            <a:r>
              <a:rPr sz="1100">
                <a:solidFill>
                  <a:srgbClr val="0B2A4A"/>
                </a:solidFill>
              </a:rPr>
              <a:t>• JMX → :9404 for Prometheus.</a:t>
            </a:r>
          </a:p>
        </p:txBody>
      </p:sp>
      <p:sp>
        <p:nvSpPr>
          <p:cNvPr id="13" name="Rectangle 12"/>
          <p:cNvSpPr/>
          <p:nvPr/>
        </p:nvSpPr>
        <p:spPr>
          <a:xfrm>
            <a:off x="365760" y="3611880"/>
            <a:ext cx="4297680" cy="384048"/>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666744"/>
            <a:ext cx="4023360" cy="274320"/>
          </a:xfrm>
          <a:prstGeom prst="rect">
            <a:avLst/>
          </a:prstGeom>
          <a:noFill/>
        </p:spPr>
        <p:txBody>
          <a:bodyPr wrap="square" lIns="45720" rIns="45720" tIns="18288" bIns="18288">
            <a:spAutoFit/>
          </a:bodyPr>
          <a:lstStyle/>
          <a:p>
            <a:r>
              <a:rPr sz="1400" b="1">
                <a:solidFill>
                  <a:srgbClr val="FFFFFF"/>
                </a:solidFill>
              </a:rPr>
              <a:t>Apache Hop</a:t>
            </a:r>
          </a:p>
        </p:txBody>
      </p:sp>
      <p:sp>
        <p:nvSpPr>
          <p:cNvPr id="15" name="Rectangle 14"/>
          <p:cNvSpPr/>
          <p:nvPr/>
        </p:nvSpPr>
        <p:spPr>
          <a:xfrm>
            <a:off x="365760" y="3995928"/>
            <a:ext cx="4297680" cy="2084832"/>
          </a:xfrm>
          <a:prstGeom prst="rect">
            <a:avLst/>
          </a:prstGeom>
          <a:solidFill>
            <a:srgbClr val="F1F5F9"/>
          </a:solidFill>
          <a:ln>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069080"/>
            <a:ext cx="4023360" cy="1965960"/>
          </a:xfrm>
          <a:prstGeom prst="rect">
            <a:avLst/>
          </a:prstGeom>
          <a:noFill/>
        </p:spPr>
        <p:txBody>
          <a:bodyPr wrap="square">
            <a:spAutoFit/>
          </a:bodyPr>
          <a:lstStyle/>
          <a:p>
            <a:pPr>
              <a:spcAft>
                <a:spcPts val="400"/>
              </a:spcAft>
            </a:pPr>
            <a:r>
              <a:rPr sz="1100">
                <a:solidFill>
                  <a:srgbClr val="0B2A4A"/>
                </a:solidFill>
              </a:rPr>
              <a:t>• Canonical pipelines in .hpl / .hwf (openable in Hop GUI).</a:t>
            </a:r>
          </a:p>
          <a:p>
            <a:pPr>
              <a:spcAft>
                <a:spcPts val="400"/>
              </a:spcAft>
            </a:pPr>
            <a:r>
              <a:rPr sz="1100">
                <a:solidFill>
                  <a:srgbClr val="0B2A4A"/>
                </a:solidFill>
              </a:rPr>
              <a:t>• bronze_to_silver.py: dedupe on PK, drop events older than max(ts_ms)−24h, write _quality audit.</a:t>
            </a:r>
          </a:p>
          <a:p>
            <a:pPr>
              <a:spcAft>
                <a:spcPts val="400"/>
              </a:spcAft>
            </a:pPr>
            <a:r>
              <a:rPr sz="1100">
                <a:solidFill>
                  <a:srgbClr val="0B2A4A"/>
                </a:solidFill>
              </a:rPr>
              <a:t>• silver_to_gold.py: DuckDB over silver Avro → 4 Parquet marts (snapshot + latest).</a:t>
            </a:r>
          </a:p>
          <a:p>
            <a:pPr>
              <a:spcAft>
                <a:spcPts val="400"/>
              </a:spcAft>
            </a:pPr>
            <a:r>
              <a:rPr sz="1100">
                <a:solidFill>
                  <a:srgbClr val="0B2A4A"/>
                </a:solidFill>
              </a:rPr>
              <a:t>• Python reference transforms run from Airflow without the GUI.</a:t>
            </a:r>
          </a:p>
        </p:txBody>
      </p:sp>
      <p:sp>
        <p:nvSpPr>
          <p:cNvPr id="17" name="Rectangle 16"/>
          <p:cNvSpPr/>
          <p:nvPr/>
        </p:nvSpPr>
        <p:spPr>
          <a:xfrm>
            <a:off x="4754880" y="3611880"/>
            <a:ext cx="4297680" cy="384048"/>
          </a:xfrm>
          <a:prstGeom prst="rect">
            <a:avLst/>
          </a:prstGeom>
          <a:solidFill>
            <a:srgbClr val="8C5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92040" y="3666744"/>
            <a:ext cx="4023360" cy="274320"/>
          </a:xfrm>
          <a:prstGeom prst="rect">
            <a:avLst/>
          </a:prstGeom>
          <a:noFill/>
        </p:spPr>
        <p:txBody>
          <a:bodyPr wrap="square" lIns="45720" rIns="45720" tIns="18288" bIns="18288">
            <a:spAutoFit/>
          </a:bodyPr>
          <a:lstStyle/>
          <a:p>
            <a:r>
              <a:rPr sz="1400" b="1">
                <a:solidFill>
                  <a:srgbClr val="FFFFFF"/>
                </a:solidFill>
              </a:rPr>
              <a:t>Airflow</a:t>
            </a:r>
          </a:p>
        </p:txBody>
      </p:sp>
      <p:sp>
        <p:nvSpPr>
          <p:cNvPr id="19" name="Rectangle 18"/>
          <p:cNvSpPr/>
          <p:nvPr/>
        </p:nvSpPr>
        <p:spPr>
          <a:xfrm>
            <a:off x="4754880" y="3995928"/>
            <a:ext cx="4297680" cy="2084832"/>
          </a:xfrm>
          <a:prstGeom prst="rect">
            <a:avLst/>
          </a:prstGeom>
          <a:solidFill>
            <a:srgbClr val="F1F5F9"/>
          </a:solidFill>
          <a:ln>
            <a:solidFill>
              <a:srgbClr val="8C5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4069080"/>
            <a:ext cx="4023360" cy="1965960"/>
          </a:xfrm>
          <a:prstGeom prst="rect">
            <a:avLst/>
          </a:prstGeom>
          <a:noFill/>
        </p:spPr>
        <p:txBody>
          <a:bodyPr wrap="square">
            <a:spAutoFit/>
          </a:bodyPr>
          <a:lstStyle/>
          <a:p>
            <a:pPr>
              <a:spcAft>
                <a:spcPts val="400"/>
              </a:spcAft>
            </a:pPr>
            <a:r>
              <a:rPr sz="1100">
                <a:solidFill>
                  <a:srgbClr val="0B2A4A"/>
                </a:solidFill>
              </a:rPr>
              <a:t>• 00_bootstrap (manual)   — create topics, buckets, schemas, connectors.</a:t>
            </a:r>
          </a:p>
          <a:p>
            <a:pPr>
              <a:spcAft>
                <a:spcPts val="400"/>
              </a:spcAft>
            </a:pPr>
            <a:r>
              <a:rPr sz="1100">
                <a:solidFill>
                  <a:srgbClr val="0B2A4A"/>
                </a:solidFill>
              </a:rPr>
              <a:t>• 15_config_drift (2 min)  — mutate config tables to exercise Debezium.</a:t>
            </a:r>
          </a:p>
          <a:p>
            <a:pPr>
              <a:spcAft>
                <a:spcPts val="400"/>
              </a:spcAft>
            </a:pPr>
            <a:r>
              <a:rPr sz="1100">
                <a:solidFill>
                  <a:srgbClr val="0B2A4A"/>
                </a:solidFill>
              </a:rPr>
              <a:t>• 30_hop_medallion (5 min) — silver streams ∥ silver CDC → 4 gold marts.</a:t>
            </a:r>
          </a:p>
          <a:p>
            <a:pPr>
              <a:spcAft>
                <a:spcPts val="400"/>
              </a:spcAft>
            </a:pPr>
            <a:r>
              <a:rPr sz="1100">
                <a:solidFill>
                  <a:srgbClr val="0B2A4A"/>
                </a:solidFill>
              </a:rPr>
              <a:t>• 40_data_quality (5 min) + 50_business_kpis (5 min) — push results to dashboards.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3. Building a Real-Time Data Pipeline</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From an APRS packet to a refreshed dashboard tile — what runs, where, and how fast</a:t>
            </a:r>
          </a:p>
        </p:txBody>
      </p:sp>
      <p:sp>
        <p:nvSpPr>
          <p:cNvPr id="5" name="Rectangle 4"/>
          <p:cNvSpPr/>
          <p:nvPr/>
        </p:nvSpPr>
        <p:spPr>
          <a:xfrm>
            <a:off x="365760" y="960120"/>
            <a:ext cx="5852160" cy="3657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05840"/>
            <a:ext cx="5669280" cy="274320"/>
          </a:xfrm>
          <a:prstGeom prst="rect">
            <a:avLst/>
          </a:prstGeom>
          <a:noFill/>
        </p:spPr>
        <p:txBody>
          <a:bodyPr wrap="square" lIns="45720" rIns="45720" tIns="18288" bIns="18288">
            <a:spAutoFit/>
          </a:bodyPr>
          <a:lstStyle/>
          <a:p>
            <a:r>
              <a:rPr sz="1300" b="1">
                <a:solidFill>
                  <a:srgbClr val="FFFFFF"/>
                </a:solidFill>
              </a:rPr>
              <a:t>① Ingest  (continuous services)</a:t>
            </a:r>
          </a:p>
        </p:txBody>
      </p:sp>
      <p:sp>
        <p:nvSpPr>
          <p:cNvPr id="7" name="Rectangle 6"/>
          <p:cNvSpPr/>
          <p:nvPr/>
        </p:nvSpPr>
        <p:spPr>
          <a:xfrm>
            <a:off x="365760" y="1325880"/>
            <a:ext cx="5852160" cy="8686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71600"/>
            <a:ext cx="5669280" cy="822960"/>
          </a:xfrm>
          <a:prstGeom prst="rect">
            <a:avLst/>
          </a:prstGeom>
          <a:noFill/>
        </p:spPr>
        <p:txBody>
          <a:bodyPr wrap="square" lIns="45720" rIns="45720" tIns="18288" bIns="18288">
            <a:spAutoFit/>
          </a:bodyPr>
          <a:lstStyle/>
          <a:p>
            <a:r>
              <a:rPr sz="1100" b="0">
                <a:solidFill>
                  <a:srgbClr val="0B2A4A"/>
                </a:solidFill>
              </a:rPr>
              <a:t>OGN / NOAA / EMSC ingestor containers publish Avro records to Kafka.</a:t>
            </a:r>
          </a:p>
          <a:p>
            <a:r>
              <a:rPr sz="1100" b="0">
                <a:solidFill>
                  <a:srgbClr val="0B2A4A"/>
                </a:solidFill>
              </a:rPr>
              <a:t>Latency budget: source event → topic  ~  seconds.</a:t>
            </a:r>
          </a:p>
        </p:txBody>
      </p:sp>
      <p:sp>
        <p:nvSpPr>
          <p:cNvPr id="9" name="Rectangle 8"/>
          <p:cNvSpPr/>
          <p:nvPr/>
        </p:nvSpPr>
        <p:spPr>
          <a:xfrm>
            <a:off x="365760" y="2286000"/>
            <a:ext cx="5852160" cy="3657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331720"/>
            <a:ext cx="5669280" cy="274320"/>
          </a:xfrm>
          <a:prstGeom prst="rect">
            <a:avLst/>
          </a:prstGeom>
          <a:noFill/>
        </p:spPr>
        <p:txBody>
          <a:bodyPr wrap="square" lIns="45720" rIns="45720" tIns="18288" bIns="18288">
            <a:spAutoFit/>
          </a:bodyPr>
          <a:lstStyle/>
          <a:p>
            <a:r>
              <a:rPr sz="1300" b="1">
                <a:solidFill>
                  <a:srgbClr val="FFFFFF"/>
                </a:solidFill>
              </a:rPr>
              <a:t>② Land in Bronze  (Kafka Connect)</a:t>
            </a:r>
          </a:p>
        </p:txBody>
      </p:sp>
      <p:sp>
        <p:nvSpPr>
          <p:cNvPr id="11" name="Rectangle 10"/>
          <p:cNvSpPr/>
          <p:nvPr/>
        </p:nvSpPr>
        <p:spPr>
          <a:xfrm>
            <a:off x="365760" y="2651760"/>
            <a:ext cx="5852160" cy="8686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697480"/>
            <a:ext cx="5669280" cy="822960"/>
          </a:xfrm>
          <a:prstGeom prst="rect">
            <a:avLst/>
          </a:prstGeom>
          <a:noFill/>
        </p:spPr>
        <p:txBody>
          <a:bodyPr wrap="square" lIns="45720" rIns="45720" tIns="18288" bIns="18288">
            <a:spAutoFit/>
          </a:bodyPr>
          <a:lstStyle/>
          <a:p>
            <a:r>
              <a:rPr sz="1100" b="0">
                <a:solidFill>
                  <a:srgbClr val="0B2A4A"/>
                </a:solidFill>
              </a:rPr>
              <a:t>S3 sink flushes hourly partitions to s3://bronze/&lt;topic&gt;/year=…/hour=….</a:t>
            </a:r>
          </a:p>
          <a:p>
            <a:r>
              <a:rPr sz="1100" b="0">
                <a:solidFill>
                  <a:srgbClr val="0B2A4A"/>
                </a:solidFill>
              </a:rPr>
              <a:t>Latency budget: topic → bronze object  ~  ≤ flush interval.</a:t>
            </a:r>
          </a:p>
        </p:txBody>
      </p:sp>
      <p:sp>
        <p:nvSpPr>
          <p:cNvPr id="13" name="Rectangle 12"/>
          <p:cNvSpPr/>
          <p:nvPr/>
        </p:nvSpPr>
        <p:spPr>
          <a:xfrm>
            <a:off x="365760" y="3611880"/>
            <a:ext cx="5852160" cy="3657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657600"/>
            <a:ext cx="5669280" cy="274320"/>
          </a:xfrm>
          <a:prstGeom prst="rect">
            <a:avLst/>
          </a:prstGeom>
          <a:noFill/>
        </p:spPr>
        <p:txBody>
          <a:bodyPr wrap="square" lIns="45720" rIns="45720" tIns="18288" bIns="18288">
            <a:spAutoFit/>
          </a:bodyPr>
          <a:lstStyle/>
          <a:p>
            <a:r>
              <a:rPr sz="1300" b="1">
                <a:solidFill>
                  <a:srgbClr val="FFFFFF"/>
                </a:solidFill>
              </a:rPr>
              <a:t>③ Promote to Silver, then Gold  (Hop / Python, Airflow)</a:t>
            </a:r>
          </a:p>
        </p:txBody>
      </p:sp>
      <p:sp>
        <p:nvSpPr>
          <p:cNvPr id="15" name="Rectangle 14"/>
          <p:cNvSpPr/>
          <p:nvPr/>
        </p:nvSpPr>
        <p:spPr>
          <a:xfrm>
            <a:off x="365760" y="3977640"/>
            <a:ext cx="5852160" cy="8686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023360"/>
            <a:ext cx="5669280" cy="822960"/>
          </a:xfrm>
          <a:prstGeom prst="rect">
            <a:avLst/>
          </a:prstGeom>
          <a:noFill/>
        </p:spPr>
        <p:txBody>
          <a:bodyPr wrap="square" lIns="45720" rIns="45720" tIns="18288" bIns="18288">
            <a:spAutoFit/>
          </a:bodyPr>
          <a:lstStyle/>
          <a:p>
            <a:r>
              <a:rPr sz="1100" b="0">
                <a:solidFill>
                  <a:srgbClr val="0B2A4A"/>
                </a:solidFill>
              </a:rPr>
              <a:t>bronze_to_silver: dedupe on PK + keep max(ts_ms), drop late &gt; 24h, write _quality audit.</a:t>
            </a:r>
          </a:p>
          <a:p>
            <a:r>
              <a:rPr sz="1100" b="0">
                <a:solidFill>
                  <a:srgbClr val="0B2A4A"/>
                </a:solidFill>
              </a:rPr>
              <a:t>silver_to_gold: DuckDB query → snapshot=YYYYMMDD…/part-0.parquet + latest.parquet.</a:t>
            </a:r>
          </a:p>
          <a:p>
            <a:r>
              <a:rPr sz="1100" b="0">
                <a:solidFill>
                  <a:srgbClr val="0B2A4A"/>
                </a:solidFill>
              </a:rPr>
              <a:t>Latency budget: bronze → gold  ~  5 min (30_hop_medallion schedule).</a:t>
            </a:r>
          </a:p>
        </p:txBody>
      </p:sp>
      <p:sp>
        <p:nvSpPr>
          <p:cNvPr id="17" name="Rectangle 16"/>
          <p:cNvSpPr/>
          <p:nvPr/>
        </p:nvSpPr>
        <p:spPr>
          <a:xfrm>
            <a:off x="365760" y="4937760"/>
            <a:ext cx="5852160" cy="3657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983480"/>
            <a:ext cx="5669280" cy="274320"/>
          </a:xfrm>
          <a:prstGeom prst="rect">
            <a:avLst/>
          </a:prstGeom>
          <a:noFill/>
        </p:spPr>
        <p:txBody>
          <a:bodyPr wrap="square" lIns="45720" rIns="45720" tIns="18288" bIns="18288">
            <a:spAutoFit/>
          </a:bodyPr>
          <a:lstStyle/>
          <a:p>
            <a:r>
              <a:rPr sz="1300" b="1">
                <a:solidFill>
                  <a:srgbClr val="FFFFFF"/>
                </a:solidFill>
              </a:rPr>
              <a:t>④ Serve</a:t>
            </a:r>
          </a:p>
        </p:txBody>
      </p:sp>
      <p:sp>
        <p:nvSpPr>
          <p:cNvPr id="19" name="Rectangle 18"/>
          <p:cNvSpPr/>
          <p:nvPr/>
        </p:nvSpPr>
        <p:spPr>
          <a:xfrm>
            <a:off x="365760" y="5303520"/>
            <a:ext cx="5852160" cy="8686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349240"/>
            <a:ext cx="5669280" cy="822960"/>
          </a:xfrm>
          <a:prstGeom prst="rect">
            <a:avLst/>
          </a:prstGeom>
          <a:noFill/>
        </p:spPr>
        <p:txBody>
          <a:bodyPr wrap="square" lIns="45720" rIns="45720" tIns="18288" bIns="18288">
            <a:spAutoFit/>
          </a:bodyPr>
          <a:lstStyle/>
          <a:p>
            <a:r>
              <a:rPr sz="1100" b="0">
                <a:solidFill>
                  <a:srgbClr val="0B2A4A"/>
                </a:solidFill>
              </a:rPr>
              <a:t>quality-dashboard :5001, business-dashboard :5002, live-map :5003.</a:t>
            </a:r>
          </a:p>
          <a:p>
            <a:r>
              <a:rPr sz="1100" b="0">
                <a:solidFill>
                  <a:srgbClr val="0B2A4A"/>
                </a:solidFill>
              </a:rPr>
              <a:t>40_data_quality + 50_business_kpis POST to each dashboard every 5 min.</a:t>
            </a:r>
          </a:p>
        </p:txBody>
      </p:sp>
      <p:sp>
        <p:nvSpPr>
          <p:cNvPr id="21" name="TextBox 20"/>
          <p:cNvSpPr txBox="1"/>
          <p:nvPr/>
        </p:nvSpPr>
        <p:spPr>
          <a:xfrm>
            <a:off x="6400800" y="960120"/>
            <a:ext cx="2651760" cy="365760"/>
          </a:xfrm>
          <a:prstGeom prst="rect">
            <a:avLst/>
          </a:prstGeom>
          <a:noFill/>
        </p:spPr>
        <p:txBody>
          <a:bodyPr wrap="square" lIns="45720" rIns="45720" tIns="18288" bIns="18288">
            <a:spAutoFit/>
          </a:bodyPr>
          <a:lstStyle/>
          <a:p>
            <a:r>
              <a:rPr sz="1300" b="1">
                <a:solidFill>
                  <a:srgbClr val="1F77B4"/>
                </a:solidFill>
              </a:rPr>
              <a:t>Gold marts produced</a:t>
            </a:r>
          </a:p>
        </p:txBody>
      </p:sp>
      <p:sp>
        <p:nvSpPr>
          <p:cNvPr id="22" name="Rectangle 21"/>
          <p:cNvSpPr/>
          <p:nvPr/>
        </p:nvSpPr>
        <p:spPr>
          <a:xfrm>
            <a:off x="6400800" y="1325880"/>
            <a:ext cx="2651760" cy="109728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371600"/>
            <a:ext cx="2468880" cy="274320"/>
          </a:xfrm>
          <a:prstGeom prst="rect">
            <a:avLst/>
          </a:prstGeom>
          <a:noFill/>
        </p:spPr>
        <p:txBody>
          <a:bodyPr wrap="square" lIns="45720" rIns="45720" tIns="18288" bIns="18288">
            <a:spAutoFit/>
          </a:bodyPr>
          <a:lstStyle/>
          <a:p>
            <a:r>
              <a:rPr sz="1200" b="1">
                <a:solidFill>
                  <a:srgbClr val="2CA02C"/>
                </a:solidFill>
              </a:rPr>
              <a:t>aircraft_density_by_region</a:t>
            </a:r>
          </a:p>
        </p:txBody>
      </p:sp>
      <p:sp>
        <p:nvSpPr>
          <p:cNvPr id="24" name="TextBox 23"/>
          <p:cNvSpPr txBox="1"/>
          <p:nvPr/>
        </p:nvSpPr>
        <p:spPr>
          <a:xfrm>
            <a:off x="6492240" y="1691640"/>
            <a:ext cx="2468880" cy="731520"/>
          </a:xfrm>
          <a:prstGeom prst="rect">
            <a:avLst/>
          </a:prstGeom>
          <a:noFill/>
        </p:spPr>
        <p:txBody>
          <a:bodyPr wrap="square" lIns="45720" rIns="45720" tIns="18288" bIns="18288">
            <a:spAutoFit/>
          </a:bodyPr>
          <a:lstStyle/>
          <a:p>
            <a:r>
              <a:rPr sz="1000" b="0">
                <a:solidFill>
                  <a:srgbClr val="0B2A4A"/>
                </a:solidFill>
              </a:rPr>
              <a:t>ogn_positions + regions → per-region 1h count, altitude, speed.</a:t>
            </a:r>
          </a:p>
        </p:txBody>
      </p:sp>
      <p:sp>
        <p:nvSpPr>
          <p:cNvPr id="25" name="Rectangle 24"/>
          <p:cNvSpPr/>
          <p:nvPr/>
        </p:nvSpPr>
        <p:spPr>
          <a:xfrm>
            <a:off x="6400800" y="2514600"/>
            <a:ext cx="2651760" cy="109728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560320"/>
            <a:ext cx="2468880" cy="274320"/>
          </a:xfrm>
          <a:prstGeom prst="rect">
            <a:avLst/>
          </a:prstGeom>
          <a:noFill/>
        </p:spPr>
        <p:txBody>
          <a:bodyPr wrap="square" lIns="45720" rIns="45720" tIns="18288" bIns="18288">
            <a:spAutoFit/>
          </a:bodyPr>
          <a:lstStyle/>
          <a:p>
            <a:r>
              <a:rPr sz="1200" b="1">
                <a:solidFill>
                  <a:srgbClr val="2CA02C"/>
                </a:solidFill>
              </a:rPr>
              <a:t>weather_snapshot</a:t>
            </a:r>
          </a:p>
        </p:txBody>
      </p:sp>
      <p:sp>
        <p:nvSpPr>
          <p:cNvPr id="27" name="TextBox 26"/>
          <p:cNvSpPr txBox="1"/>
          <p:nvPr/>
        </p:nvSpPr>
        <p:spPr>
          <a:xfrm>
            <a:off x="6492240" y="2880360"/>
            <a:ext cx="2468880" cy="731520"/>
          </a:xfrm>
          <a:prstGeom prst="rect">
            <a:avLst/>
          </a:prstGeom>
          <a:noFill/>
        </p:spPr>
        <p:txBody>
          <a:bodyPr wrap="square" lIns="45720" rIns="45720" tIns="18288" bIns="18288">
            <a:spAutoFit/>
          </a:bodyPr>
          <a:lstStyle/>
          <a:p>
            <a:r>
              <a:rPr sz="1000" b="0">
                <a:solidFill>
                  <a:srgbClr val="0B2A4A"/>
                </a:solidFill>
              </a:rPr>
              <a:t>noaa_obs + regions joined on station_code → latest per station.</a:t>
            </a:r>
          </a:p>
        </p:txBody>
      </p:sp>
      <p:sp>
        <p:nvSpPr>
          <p:cNvPr id="28" name="Rectangle 27"/>
          <p:cNvSpPr/>
          <p:nvPr/>
        </p:nvSpPr>
        <p:spPr>
          <a:xfrm>
            <a:off x="6400800" y="3703320"/>
            <a:ext cx="2651760" cy="109728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749040"/>
            <a:ext cx="2468880" cy="274320"/>
          </a:xfrm>
          <a:prstGeom prst="rect">
            <a:avLst/>
          </a:prstGeom>
          <a:noFill/>
        </p:spPr>
        <p:txBody>
          <a:bodyPr wrap="square" lIns="45720" rIns="45720" tIns="18288" bIns="18288">
            <a:spAutoFit/>
          </a:bodyPr>
          <a:lstStyle/>
          <a:p>
            <a:r>
              <a:rPr sz="1200" b="1">
                <a:solidFill>
                  <a:srgbClr val="2CA02C"/>
                </a:solidFill>
              </a:rPr>
              <a:t>seismic_24h_summary</a:t>
            </a:r>
          </a:p>
        </p:txBody>
      </p:sp>
      <p:sp>
        <p:nvSpPr>
          <p:cNvPr id="30" name="TextBox 29"/>
          <p:cNvSpPr txBox="1"/>
          <p:nvPr/>
        </p:nvSpPr>
        <p:spPr>
          <a:xfrm>
            <a:off x="6492240" y="4069080"/>
            <a:ext cx="2468880" cy="731520"/>
          </a:xfrm>
          <a:prstGeom prst="rect">
            <a:avLst/>
          </a:prstGeom>
          <a:noFill/>
        </p:spPr>
        <p:txBody>
          <a:bodyPr wrap="square" lIns="45720" rIns="45720" tIns="18288" bIns="18288">
            <a:spAutoFit/>
          </a:bodyPr>
          <a:lstStyle/>
          <a:p>
            <a:r>
              <a:rPr sz="1000" b="0">
                <a:solidFill>
                  <a:srgbClr val="0B2A4A"/>
                </a:solidFill>
              </a:rPr>
              <a:t>seismic_events bucketed by magnitude × region over last 24h.</a:t>
            </a:r>
          </a:p>
        </p:txBody>
      </p:sp>
      <p:sp>
        <p:nvSpPr>
          <p:cNvPr id="31" name="Rectangle 30"/>
          <p:cNvSpPr/>
          <p:nvPr/>
        </p:nvSpPr>
        <p:spPr>
          <a:xfrm>
            <a:off x="6400800" y="4892040"/>
            <a:ext cx="2651760" cy="109728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937760"/>
            <a:ext cx="2468880" cy="274320"/>
          </a:xfrm>
          <a:prstGeom prst="rect">
            <a:avLst/>
          </a:prstGeom>
          <a:noFill/>
        </p:spPr>
        <p:txBody>
          <a:bodyPr wrap="square" lIns="45720" rIns="45720" tIns="18288" bIns="18288">
            <a:spAutoFit/>
          </a:bodyPr>
          <a:lstStyle/>
          <a:p>
            <a:r>
              <a:rPr sz="1200" b="1">
                <a:solidFill>
                  <a:srgbClr val="2CA02C"/>
                </a:solidFill>
              </a:rPr>
              <a:t>region_alert_correlation</a:t>
            </a:r>
          </a:p>
        </p:txBody>
      </p:sp>
      <p:sp>
        <p:nvSpPr>
          <p:cNvPr id="33" name="TextBox 32"/>
          <p:cNvSpPr txBox="1"/>
          <p:nvPr/>
        </p:nvSpPr>
        <p:spPr>
          <a:xfrm>
            <a:off x="6492240" y="5257800"/>
            <a:ext cx="2468880" cy="731520"/>
          </a:xfrm>
          <a:prstGeom prst="rect">
            <a:avLst/>
          </a:prstGeom>
          <a:noFill/>
        </p:spPr>
        <p:txBody>
          <a:bodyPr wrap="square" lIns="45720" rIns="45720" tIns="18288" bIns="18288">
            <a:spAutoFit/>
          </a:bodyPr>
          <a:lstStyle/>
          <a:p>
            <a:r>
              <a:rPr sz="1000" b="0">
                <a:solidFill>
                  <a:srgbClr val="0B2A4A"/>
                </a:solidFill>
              </a:rPr>
              <a:t>Cross-stream: quakes over the live threshold inside any subscribed region.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4. Deployment &amp; Best Practices</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Reproducible startup, observable runtime, recoverable failure modes</a:t>
            </a:r>
          </a:p>
        </p:txBody>
      </p:sp>
      <p:sp>
        <p:nvSpPr>
          <p:cNvPr id="5" name="Rectangle 4"/>
          <p:cNvSpPr/>
          <p:nvPr/>
        </p:nvSpPr>
        <p:spPr>
          <a:xfrm>
            <a:off x="365760" y="960120"/>
            <a:ext cx="2651760" cy="4114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05840"/>
            <a:ext cx="2468880" cy="320040"/>
          </a:xfrm>
          <a:prstGeom prst="rect">
            <a:avLst/>
          </a:prstGeom>
          <a:noFill/>
        </p:spPr>
        <p:txBody>
          <a:bodyPr wrap="square" lIns="45720" rIns="45720" tIns="18288" bIns="18288">
            <a:spAutoFit/>
          </a:bodyPr>
          <a:lstStyle/>
          <a:p>
            <a:r>
              <a:rPr sz="1400" b="1">
                <a:solidFill>
                  <a:srgbClr val="FFFFFF"/>
                </a:solidFill>
              </a:rPr>
              <a:t>Deployment</a:t>
            </a:r>
          </a:p>
        </p:txBody>
      </p:sp>
      <p:sp>
        <p:nvSpPr>
          <p:cNvPr id="7" name="Rectangle 6"/>
          <p:cNvSpPr/>
          <p:nvPr/>
        </p:nvSpPr>
        <p:spPr>
          <a:xfrm>
            <a:off x="365760" y="1371600"/>
            <a:ext cx="2651760" cy="4937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63040"/>
            <a:ext cx="2468880" cy="4754880"/>
          </a:xfrm>
          <a:prstGeom prst="rect">
            <a:avLst/>
          </a:prstGeom>
          <a:noFill/>
        </p:spPr>
        <p:txBody>
          <a:bodyPr wrap="square">
            <a:spAutoFit/>
          </a:bodyPr>
          <a:lstStyle/>
          <a:p>
            <a:pPr>
              <a:spcAft>
                <a:spcPts val="400"/>
              </a:spcAft>
            </a:pPr>
            <a:r>
              <a:rPr sz="1000">
                <a:solidFill>
                  <a:srgbClr val="0B2A4A"/>
                </a:solidFill>
              </a:rPr>
              <a:t>• Single command: bootstrap.ps1 / bootstrap.sh — idempotent, safe to re-run.</a:t>
            </a:r>
          </a:p>
          <a:p>
            <a:pPr>
              <a:spcAft>
                <a:spcPts val="400"/>
              </a:spcAft>
            </a:pPr>
            <a:r>
              <a:rPr sz="1000">
                <a:solidFill>
                  <a:srgbClr val="0B2A4A"/>
                </a:solidFill>
              </a:rPr>
              <a:t>• Build local image once (day10-app), then `compose pull` so slow remote pulls don't time out `up -d`.</a:t>
            </a:r>
          </a:p>
          <a:p>
            <a:pPr>
              <a:spcAft>
                <a:spcPts val="400"/>
              </a:spcAft>
            </a:pPr>
            <a:r>
              <a:rPr sz="1000">
                <a:solidFill>
                  <a:srgbClr val="0B2A4A"/>
                </a:solidFill>
              </a:rPr>
              <a:t>• All config from .env; image versions pinned (Kafka 7.5.0, Debezium 2.5.4.Final, Postgres 15).</a:t>
            </a:r>
          </a:p>
          <a:p>
            <a:pPr>
              <a:spcAft>
                <a:spcPts val="400"/>
              </a:spcAft>
            </a:pPr>
            <a:r>
              <a:rPr sz="1000">
                <a:solidFill>
                  <a:srgbClr val="0B2A4A"/>
                </a:solidFill>
              </a:rPr>
              <a:t>• Plugins downloaded into debezium/plugins (S3 sink + Debezium PG + JMX agent) and mounted into Connect.</a:t>
            </a:r>
          </a:p>
          <a:p>
            <a:pPr>
              <a:spcAft>
                <a:spcPts val="400"/>
              </a:spcAft>
            </a:pPr>
            <a:r>
              <a:rPr sz="1000">
                <a:solidFill>
                  <a:srgbClr val="0B2A4A"/>
                </a:solidFill>
              </a:rPr>
              <a:t>• Run smoke test: tests/smoke_test.py after bootstrap.</a:t>
            </a:r>
          </a:p>
        </p:txBody>
      </p:sp>
      <p:sp>
        <p:nvSpPr>
          <p:cNvPr id="9" name="Rectangle 8"/>
          <p:cNvSpPr/>
          <p:nvPr/>
        </p:nvSpPr>
        <p:spPr>
          <a:xfrm>
            <a:off x="3383280" y="960120"/>
            <a:ext cx="2651760" cy="4114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005840"/>
            <a:ext cx="2468880" cy="320040"/>
          </a:xfrm>
          <a:prstGeom prst="rect">
            <a:avLst/>
          </a:prstGeom>
          <a:noFill/>
        </p:spPr>
        <p:txBody>
          <a:bodyPr wrap="square" lIns="45720" rIns="45720" tIns="18288" bIns="18288">
            <a:spAutoFit/>
          </a:bodyPr>
          <a:lstStyle/>
          <a:p>
            <a:r>
              <a:rPr sz="1400" b="1">
                <a:solidFill>
                  <a:srgbClr val="FFFFFF"/>
                </a:solidFill>
              </a:rPr>
              <a:t>Observability</a:t>
            </a:r>
          </a:p>
        </p:txBody>
      </p:sp>
      <p:sp>
        <p:nvSpPr>
          <p:cNvPr id="11" name="Rectangle 10"/>
          <p:cNvSpPr/>
          <p:nvPr/>
        </p:nvSpPr>
        <p:spPr>
          <a:xfrm>
            <a:off x="3383280" y="1371600"/>
            <a:ext cx="2651760" cy="4937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463040"/>
            <a:ext cx="2468880" cy="4754880"/>
          </a:xfrm>
          <a:prstGeom prst="rect">
            <a:avLst/>
          </a:prstGeom>
          <a:noFill/>
        </p:spPr>
        <p:txBody>
          <a:bodyPr wrap="square">
            <a:spAutoFit/>
          </a:bodyPr>
          <a:lstStyle/>
          <a:p>
            <a:pPr>
              <a:spcAft>
                <a:spcPts val="400"/>
              </a:spcAft>
            </a:pPr>
            <a:r>
              <a:rPr sz="1000">
                <a:solidFill>
                  <a:srgbClr val="0B2A4A"/>
                </a:solidFill>
              </a:rPr>
              <a:t>• Prometheus scrapes: Kafka JMX :9404, postgres-exporter :9187, MinIO :9000, Connect REST :8083, both dashboards.</a:t>
            </a:r>
          </a:p>
          <a:p>
            <a:pPr>
              <a:spcAft>
                <a:spcPts val="400"/>
              </a:spcAft>
            </a:pPr>
            <a:r>
              <a:rPr sz="1000">
                <a:solidFill>
                  <a:srgbClr val="0B2A4A"/>
                </a:solidFill>
              </a:rPr>
              <a:t>• Alert rule files: monitoring/alerts/data_quality_alerts.yml + pipeline_alerts.yml.</a:t>
            </a:r>
          </a:p>
          <a:p>
            <a:pPr>
              <a:spcAft>
                <a:spcPts val="400"/>
              </a:spcAft>
            </a:pPr>
            <a:r>
              <a:rPr sz="1000">
                <a:solidFill>
                  <a:srgbClr val="0B2A4A"/>
                </a:solidFill>
              </a:rPr>
              <a:t>• Alertmanager → POST quality-dashboard /webhook/alerts so DataOps sees firing alerts in-app.</a:t>
            </a:r>
          </a:p>
          <a:p>
            <a:pPr>
              <a:spcAft>
                <a:spcPts val="400"/>
              </a:spcAft>
            </a:pPr>
            <a:r>
              <a:rPr sz="1000">
                <a:solidFill>
                  <a:srgbClr val="0B2A4A"/>
                </a:solidFill>
              </a:rPr>
              <a:t>• Grafana auto-provisioned (admin/admin) — pipeline overview dashboard included.</a:t>
            </a:r>
          </a:p>
        </p:txBody>
      </p:sp>
      <p:sp>
        <p:nvSpPr>
          <p:cNvPr id="13" name="Rectangle 12"/>
          <p:cNvSpPr/>
          <p:nvPr/>
        </p:nvSpPr>
        <p:spPr>
          <a:xfrm>
            <a:off x="6400800" y="960120"/>
            <a:ext cx="2651760" cy="4114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005840"/>
            <a:ext cx="2468880" cy="320040"/>
          </a:xfrm>
          <a:prstGeom prst="rect">
            <a:avLst/>
          </a:prstGeom>
          <a:noFill/>
        </p:spPr>
        <p:txBody>
          <a:bodyPr wrap="square" lIns="45720" rIns="45720" tIns="18288" bIns="18288">
            <a:spAutoFit/>
          </a:bodyPr>
          <a:lstStyle/>
          <a:p>
            <a:r>
              <a:rPr sz="1400" b="1">
                <a:solidFill>
                  <a:srgbClr val="FFFFFF"/>
                </a:solidFill>
              </a:rPr>
              <a:t>Quality &amp; Recovery</a:t>
            </a:r>
          </a:p>
        </p:txBody>
      </p:sp>
      <p:sp>
        <p:nvSpPr>
          <p:cNvPr id="15" name="Rectangle 14"/>
          <p:cNvSpPr/>
          <p:nvPr/>
        </p:nvSpPr>
        <p:spPr>
          <a:xfrm>
            <a:off x="6400800" y="1371600"/>
            <a:ext cx="2651760" cy="4937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463040"/>
            <a:ext cx="2468880" cy="4754880"/>
          </a:xfrm>
          <a:prstGeom prst="rect">
            <a:avLst/>
          </a:prstGeom>
          <a:noFill/>
        </p:spPr>
        <p:txBody>
          <a:bodyPr wrap="square">
            <a:spAutoFit/>
          </a:bodyPr>
          <a:lstStyle/>
          <a:p>
            <a:pPr>
              <a:spcAft>
                <a:spcPts val="400"/>
              </a:spcAft>
            </a:pPr>
            <a:r>
              <a:rPr sz="1000">
                <a:solidFill>
                  <a:srgbClr val="0B2A4A"/>
                </a:solidFill>
              </a:rPr>
              <a:t>• DLQs: dlq.config-source, dlq.s3-sink-bronze-cdc, dlq.s3-sink-bronze-streams.</a:t>
            </a:r>
          </a:p>
          <a:p>
            <a:pPr>
              <a:spcAft>
                <a:spcPts val="400"/>
              </a:spcAft>
            </a:pPr>
            <a:r>
              <a:rPr sz="1000">
                <a:solidFill>
                  <a:srgbClr val="0B2A4A"/>
                </a:solidFill>
              </a:rPr>
              <a:t>• Silver audit: silver/_quality/&lt;entity&gt;/&lt;iso&gt;.avro on every run.</a:t>
            </a:r>
          </a:p>
          <a:p>
            <a:pPr>
              <a:spcAft>
                <a:spcPts val="400"/>
              </a:spcAft>
            </a:pPr>
            <a:r>
              <a:rPr sz="1000">
                <a:solidFill>
                  <a:srgbClr val="0B2A4A"/>
                </a:solidFill>
              </a:rPr>
              <a:t>• Schema Registry enforces BACKWARD compatibility — consumers evolve safely.</a:t>
            </a:r>
          </a:p>
          <a:p>
            <a:pPr>
              <a:spcAft>
                <a:spcPts val="400"/>
              </a:spcAft>
            </a:pPr>
            <a:r>
              <a:rPr sz="1000">
                <a:solidFill>
                  <a:srgbClr val="0B2A4A"/>
                </a:solidFill>
              </a:rPr>
              <a:t>• Debezium resumes from last LSN; S3 sink is idempotent on (topic, partition, offset).</a:t>
            </a:r>
          </a:p>
          <a:p>
            <a:pPr>
              <a:spcAft>
                <a:spcPts val="400"/>
              </a:spcAft>
            </a:pPr>
            <a:r>
              <a:rPr sz="1000">
                <a:solidFill>
                  <a:srgbClr val="0B2A4A"/>
                </a:solidFill>
              </a:rPr>
              <a:t>• Silver dedupes on PK keeping max(ts_ms); Gold writes snapshot AND latest.parquet so re-runs are non-destructive.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Capstone in one picture</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What the four objectives produce when you run bootstrap.ps1</a:t>
            </a:r>
          </a:p>
        </p:txBody>
      </p:sp>
      <p:sp>
        <p:nvSpPr>
          <p:cNvPr id="5" name="TextBox 4"/>
          <p:cNvSpPr txBox="1"/>
          <p:nvPr/>
        </p:nvSpPr>
        <p:spPr>
          <a:xfrm>
            <a:off x="548640" y="1005840"/>
            <a:ext cx="8046720" cy="3863340"/>
          </a:xfrm>
          <a:prstGeom prst="rect">
            <a:avLst/>
          </a:prstGeom>
          <a:noFill/>
        </p:spPr>
        <p:txBody>
          <a:bodyPr wrap="none">
            <a:spAutoFit/>
          </a:bodyPr>
          <a:lstStyle/>
          <a:p>
            <a:pPr>
              <a:spcAft>
                <a:spcPts val="0"/>
              </a:spcAft>
            </a:pPr>
            <a:r>
              <a:rPr sz="1200">
                <a:solidFill>
                  <a:srgbClr val="0B2A4A"/>
                </a:solidFill>
                <a:latin typeface="Consolas"/>
              </a:rPr>
              <a:t>OGN APRS    NOAA REST    EMSC WS    config-db (PG, WAL)</a:t>
            </a:r>
          </a:p>
          <a:p>
            <a:pPr>
              <a:spcAft>
                <a:spcPts val="0"/>
              </a:spcAft>
            </a:pPr>
            <a:r>
              <a:rPr sz="1200">
                <a:solidFill>
                  <a:srgbClr val="0B2A4A"/>
                </a:solidFill>
                <a:latin typeface="Consolas"/>
              </a:rPr>
              <a:t>    │           │            │              │</a:t>
            </a:r>
          </a:p>
          <a:p>
            <a:pPr>
              <a:spcAft>
                <a:spcPts val="0"/>
              </a:spcAft>
            </a:pPr>
            <a:r>
              <a:rPr sz="1200">
                <a:solidFill>
                  <a:srgbClr val="0B2A4A"/>
                </a:solidFill>
                <a:latin typeface="Consolas"/>
              </a:rPr>
              <a:t>    └────────┬──┴─────┬──────┘              │ Debezium pgoutput</a:t>
            </a:r>
          </a:p>
          <a:p>
            <a:pPr>
              <a:spcAft>
                <a:spcPts val="0"/>
              </a:spcAft>
            </a:pPr>
            <a:r>
              <a:rPr sz="1200">
                <a:solidFill>
                  <a:srgbClr val="0B2A4A"/>
                </a:solidFill>
                <a:latin typeface="Consolas"/>
              </a:rPr>
              <a:t>             ▼        ▼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KAFKA  +  Schema Registry (Avro)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S3 sink (streams)│ S3 sink (CDC)</a:t>
            </a:r>
          </a:p>
          <a:p>
            <a:pPr>
              <a:spcAft>
                <a:spcPts val="0"/>
              </a:spcAft>
            </a:pPr>
            <a:r>
              <a:rPr sz="1200">
                <a:solidFill>
                  <a:srgbClr val="0B2A4A"/>
                </a:solidFill>
                <a:latin typeface="Consolas"/>
              </a:rPr>
              <a:t>                  ▼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MinIO  s3://bronze (Avro)  │</a:t>
            </a:r>
          </a:p>
          <a:p>
            <a:pPr>
              <a:spcAft>
                <a:spcPts val="0"/>
              </a:spcAft>
            </a:pPr>
            <a:r>
              <a:rPr sz="1200">
                <a:solidFill>
                  <a:srgbClr val="0B2A4A"/>
                </a:solidFill>
                <a:latin typeface="Consolas"/>
              </a:rPr>
              <a:t>         └──────────────┬───────────────┘</a:t>
            </a:r>
          </a:p>
          <a:p>
            <a:pPr>
              <a:spcAft>
                <a:spcPts val="0"/>
              </a:spcAft>
            </a:pPr>
            <a:r>
              <a:rPr sz="1200">
                <a:solidFill>
                  <a:srgbClr val="0B2A4A"/>
                </a:solidFill>
                <a:latin typeface="Consolas"/>
              </a:rPr>
              <a:t>        Hop / Python  bronze_to_silver  (dedupe, audit)</a:t>
            </a:r>
          </a:p>
          <a:p>
            <a:pPr>
              <a:spcAft>
                <a:spcPts val="0"/>
              </a:spcAft>
            </a:pPr>
            <a:r>
              <a:rPr sz="1200">
                <a:solidFill>
                  <a:srgbClr val="0B2A4A"/>
                </a:solidFill>
                <a:latin typeface="Consolas"/>
              </a:rPr>
              <a:t>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MinIO  s3://silver (Avro)  │</a:t>
            </a:r>
          </a:p>
          <a:p>
            <a:pPr>
              <a:spcAft>
                <a:spcPts val="0"/>
              </a:spcAft>
            </a:pPr>
            <a:r>
              <a:rPr sz="1200">
                <a:solidFill>
                  <a:srgbClr val="0B2A4A"/>
                </a:solidFill>
                <a:latin typeface="Consolas"/>
              </a:rPr>
              <a:t>         └──────────────┬───────────────┘</a:t>
            </a:r>
          </a:p>
          <a:p>
            <a:pPr>
              <a:spcAft>
                <a:spcPts val="0"/>
              </a:spcAft>
            </a:pPr>
            <a:r>
              <a:rPr sz="1200">
                <a:solidFill>
                  <a:srgbClr val="0B2A4A"/>
                </a:solidFill>
                <a:latin typeface="Consolas"/>
              </a:rPr>
              <a:t>        DuckDB  silver_to_gold  → 4 marts</a:t>
            </a:r>
          </a:p>
          <a:p>
            <a:pPr>
              <a:spcAft>
                <a:spcPts val="0"/>
              </a:spcAft>
            </a:pPr>
            <a:r>
              <a:rPr sz="1200">
                <a:solidFill>
                  <a:srgbClr val="0B2A4A"/>
                </a:solidFill>
                <a:latin typeface="Consolas"/>
              </a:rPr>
              <a:t>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MinIO  s3://gold  (Parquet)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a:t>
            </a:r>
          </a:p>
          <a:p>
            <a:pPr>
              <a:spcAft>
                <a:spcPts val="0"/>
              </a:spcAft>
            </a:pPr>
            <a:r>
              <a:rPr sz="1200">
                <a:solidFill>
                  <a:srgbClr val="0B2A4A"/>
                </a:solidFill>
                <a:latin typeface="Consolas"/>
              </a:rPr>
              <a:t>   quality-dashboard         business-dashboard</a:t>
            </a:r>
          </a:p>
          <a:p>
            <a:pPr>
              <a:spcAft>
                <a:spcPts val="0"/>
              </a:spcAft>
            </a:pPr>
            <a:r>
              <a:rPr sz="1200">
                <a:solidFill>
                  <a:srgbClr val="0B2A4A"/>
                </a:solidFill>
                <a:latin typeface="Consolas"/>
              </a:rPr>
              <a:t>   :5001 (+ /metrics)        :5002 (+ /metrics)</a:t>
            </a:r>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solidFill>
          <a:schemeClr val="dk1"/>
        </a:solidFill>
        <a:solidFill>
          <a:schemeClr val="accent1"/>
        </a:soli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LibreOffice/25.8.6.2$Windows_X86_64 LibreOffice_project/b4b39682cd9868fa725bc664aff94278d315bd04</Application>
  <AppVersion>15.0000</AppVersion>
  <Words>2110</Words>
  <Paragraphs>267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2026-05-26T10:20:04Z</dcterms:created>
  <dc:creator>Walnut Exporter</dc:creator>
  <dc:description/>
  <dc:language>en-IN</dc:language>
  <cp:lastModifiedBy/>
  <dcterms:modified xsi:type="dcterms:W3CDTF">2026-05-29T16:45:14Z</dcterms:modified>
  <cp:revision>3</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27</vt:i4>
  </property>
  <property fmtid="{D5CDD505-2E9C-101B-9397-08002B2CF9AE}" pid="3" name="PresentationFormat">
    <vt:lpwstr>On-screen Show (16:9)</vt:lpwstr>
  </property>
  <property fmtid="{D5CDD505-2E9C-101B-9397-08002B2CF9AE}" pid="4" name="Slides">
    <vt:i4>27</vt:i4>
  </property>
</Properties>
</file>