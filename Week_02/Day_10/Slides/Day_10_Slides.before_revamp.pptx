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extended-properties" Target="docProps/app.xml"/><Relationship Id="rId3" Type="http://schemas.openxmlformats.org/officeDocument/2006/relationships/custom-properties" Target="docProps/custom.xml"/><Relationship Id="rId4" Type="http://schemas.openxmlformats.org/officeDocument/2006/relationships/officeDocument" Target="ppt/presentation.xml"/></Relationships>
</file>

<file path=ppt/presentation.xml><?xml version="1.0" encoding="utf-8"?>
<p:presentation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sldMasterIdLst>
    <p:sldMasterId id="2147483648" r:id="rId2"/>
    <p:sldMasterId id="2147483650" r:id="rId3"/>
  </p:sldMasterIdLst>
  <p:notesMasterIdLst>
    <p:notesMasterId r:id="rId4"/>
  </p:notesMasterIdLst>
  <p:sldIdLst>
    <p:sldId id="256" r:id="rId5"/>
    <p:sldId id="257" r:id="rId6"/>
    <p:sldId id="258" r:id="rId7"/>
    <p:sldId id="259" r:id="rId8"/>
    <p:sldId id="260" r:id="rId9"/>
    <p:sldId id="261" r:id="rId10"/>
    <p:sldId id="262" r:id="rId11"/>
    <p:sldId id="263" r:id="rId12"/>
    <p:sldId id="264" r:id="rId13"/>
    <p:sldId id="265" r:id="rId14"/>
    <p:sldId id="266" r:id="rId15"/>
    <p:sldId id="267" r:id="rId16"/>
    <p:sldId id="268" r:id="rId17"/>
    <p:sldId id="269" r:id="rId18"/>
    <p:sldId id="270" r:id="rId19"/>
    <p:sldId id="271" r:id="rId20"/>
    <p:sldId id="272" r:id="rId21"/>
    <p:sldId id="273" r:id="rId22"/>
    <p:sldId id="274" r:id="rId23"/>
    <p:sldId id="275" r:id="rId24"/>
    <p:sldId id="276" r:id="rId25"/>
    <p:sldId id="277" r:id="rId26"/>
    <p:sldId id="278" r:id="rId27"/>
    <p:sldId id="279" r:id="rId28"/>
    <p:sldId id="280" r:id="rId29"/>
    <p:sldId id="281" r:id="rId30"/>
    <p:sldId id="282" r:id="rId32"/>
    <p:sldId id="283" r:id="rId33"/>
    <p:sldId id="284" r:id="rId34"/>
    <p:sldId id="285" r:id="rId35"/>
    <p:sldId id="286" r:id="rId36"/>
    <p:sldId id="287" r:id="rId37"/>
    <p:sldId id="288" r:id="rId38"/>
    <p:sldId id="289" r:id="rId39"/>
    <p:sldId id="290" r:id="rId40"/>
    <p:sldId id="291" r:id="rId41"/>
    <p:sldId id="292" r:id="rId42"/>
    <p:sldId id="293" r:id="rId43"/>
    <p:sldId id="294" r:id="rId44"/>
    <p:sldId id="295" r:id="rId45"/>
    <p:sldId id="296" r:id="rId46"/>
    <p:sldId id="297" r:id="rId47"/>
    <p:sldId id="298" r:id="rId48"/>
    <p:sldId id="299" r:id="rId49"/>
    <p:sldId id="300" r:id="rId50"/>
    <p:sldId id="301" r:id="rId51"/>
    <p:sldId id="302" r:id="rId52"/>
    <p:sldId id="303" r:id="rId53"/>
    <p:sldId id="304" r:id="rId54"/>
    <p:sldId id="305" r:id="rId55"/>
    <p:sldId id="306" r:id="rId56"/>
    <p:sldId id="307" r:id="rId57"/>
    <p:sldId id="308" r:id="rId58"/>
    <p:sldId id="309" r:id="rId59"/>
    <p:sldId id="310" r:id="rId60"/>
    <p:sldId id="311" r:id="rId61"/>
    <p:sldId id="312" r:id="rId62"/>
    <p:sldId id="313" r:id="rId63"/>
    <p:sldId id="314" r:id="rId64"/>
    <p:sldId id="315" r:id="rId65"/>
    <p:sldId id="316" r:id="rId66"/>
    <p:sldId id="317" r:id="rId67"/>
    <p:sldId id="318" r:id="rId68"/>
    <p:sldId id="319" r:id="rId69"/>
    <p:sldId id="320" r:id="rId70"/>
    <p:sldId id="321" r:id="rId71"/>
    <p:sldId id="322" r:id="rId72"/>
    <p:sldId id="323" r:id="rId73"/>
    <p:sldId id="324" r:id="rId74"/>
    <p:sldId id="325" r:id="rId75"/>
    <p:sldId id="326" r:id="rId76"/>
    <p:sldId id="327" r:id="rId77"/>
  </p:sldIdLst>
  <p:sldSz cx="9144000" cy="5143500"/>
  <p:notesSz cx="6858000" cy="9144000"/>
</p:presentation>
</file>

<file path=ppt/presProps.xml><?xml version="1.0" encoding="utf-8"?>
<p:presentationPr xmlns:a="http://schemas.openxmlformats.org/drawingml/2006/main" xmlns:p="http://schemas.openxmlformats.org/presentationml/2006/main" xmlns:r="http://schemas.openxmlformats.org/officeDocument/2006/relationships">
  <p:showPr showNarration="1"/>
</p:presentation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Master" Target="slideMasters/slideMaster1.xml"/><Relationship Id="rId3" Type="http://schemas.openxmlformats.org/officeDocument/2006/relationships/slideMaster" Target="slideMasters/slideMaster2.xml"/><Relationship Id="rId4" Type="http://schemas.openxmlformats.org/officeDocument/2006/relationships/notesMaster" Target="notesMasters/notesMaster1.xml"/><Relationship Id="rId5" Type="http://schemas.openxmlformats.org/officeDocument/2006/relationships/slide" Target="slides/slide1.xml"/><Relationship Id="rId6" Type="http://schemas.openxmlformats.org/officeDocument/2006/relationships/slide" Target="slides/slide2.xml"/><Relationship Id="rId7" Type="http://schemas.openxmlformats.org/officeDocument/2006/relationships/slide" Target="slides/slide3.xml"/><Relationship Id="rId8" Type="http://schemas.openxmlformats.org/officeDocument/2006/relationships/slide" Target="slides/slide4.xml"/><Relationship Id="rId9" Type="http://schemas.openxmlformats.org/officeDocument/2006/relationships/slide" Target="slides/slide5.xml"/><Relationship Id="rId10" Type="http://schemas.openxmlformats.org/officeDocument/2006/relationships/slide" Target="slides/slide6.xml"/><Relationship Id="rId11" Type="http://schemas.openxmlformats.org/officeDocument/2006/relationships/slide" Target="slides/slide7.xml"/><Relationship Id="rId12" Type="http://schemas.openxmlformats.org/officeDocument/2006/relationships/slide" Target="slides/slide8.xml"/><Relationship Id="rId13" Type="http://schemas.openxmlformats.org/officeDocument/2006/relationships/slide" Target="slides/slide9.xml"/><Relationship Id="rId14" Type="http://schemas.openxmlformats.org/officeDocument/2006/relationships/slide" Target="slides/slide10.xml"/><Relationship Id="rId15" Type="http://schemas.openxmlformats.org/officeDocument/2006/relationships/slide" Target="slides/slide11.xml"/><Relationship Id="rId16" Type="http://schemas.openxmlformats.org/officeDocument/2006/relationships/slide" Target="slides/slide12.xml"/><Relationship Id="rId17" Type="http://schemas.openxmlformats.org/officeDocument/2006/relationships/slide" Target="slides/slide13.xml"/><Relationship Id="rId18" Type="http://schemas.openxmlformats.org/officeDocument/2006/relationships/slide" Target="slides/slide14.xml"/><Relationship Id="rId19" Type="http://schemas.openxmlformats.org/officeDocument/2006/relationships/slide" Target="slides/slide15.xml"/><Relationship Id="rId20" Type="http://schemas.openxmlformats.org/officeDocument/2006/relationships/slide" Target="slides/slide16.xml"/><Relationship Id="rId21" Type="http://schemas.openxmlformats.org/officeDocument/2006/relationships/slide" Target="slides/slide17.xml"/><Relationship Id="rId22" Type="http://schemas.openxmlformats.org/officeDocument/2006/relationships/slide" Target="slides/slide18.xml"/><Relationship Id="rId23" Type="http://schemas.openxmlformats.org/officeDocument/2006/relationships/slide" Target="slides/slide19.xml"/><Relationship Id="rId24" Type="http://schemas.openxmlformats.org/officeDocument/2006/relationships/slide" Target="slides/slide20.xml"/><Relationship Id="rId25" Type="http://schemas.openxmlformats.org/officeDocument/2006/relationships/slide" Target="slides/slide21.xml"/><Relationship Id="rId26" Type="http://schemas.openxmlformats.org/officeDocument/2006/relationships/slide" Target="slides/slide22.xml"/><Relationship Id="rId27" Type="http://schemas.openxmlformats.org/officeDocument/2006/relationships/slide" Target="slides/slide23.xml"/><Relationship Id="rId28" Type="http://schemas.openxmlformats.org/officeDocument/2006/relationships/slide" Target="slides/slide24.xml"/><Relationship Id="rId29" Type="http://schemas.openxmlformats.org/officeDocument/2006/relationships/slide" Target="slides/slide25.xml"/><Relationship Id="rId30" Type="http://schemas.openxmlformats.org/officeDocument/2006/relationships/slide" Target="slides/slide26.xml"/><Relationship Id="rId31" Type="http://schemas.openxmlformats.org/officeDocument/2006/relationships/presProps" Target="presProps.xml"/><Relationship Id="rId32" Type="http://schemas.openxmlformats.org/officeDocument/2006/relationships/slide" Target="slides/slide27.xml"/><Relationship Id="rId33" Type="http://schemas.openxmlformats.org/officeDocument/2006/relationships/slide" Target="slides/slide28.xml"/><Relationship Id="rId34" Type="http://schemas.openxmlformats.org/officeDocument/2006/relationships/slide" Target="slides/slide29.xml"/><Relationship Id="rId35" Type="http://schemas.openxmlformats.org/officeDocument/2006/relationships/slide" Target="slides/slide30.xml"/><Relationship Id="rId36" Type="http://schemas.openxmlformats.org/officeDocument/2006/relationships/slide" Target="slides/slide31.xml"/><Relationship Id="rId37" Type="http://schemas.openxmlformats.org/officeDocument/2006/relationships/slide" Target="slides/slide32.xml"/><Relationship Id="rId38" Type="http://schemas.openxmlformats.org/officeDocument/2006/relationships/slide" Target="slides/slide33.xml"/><Relationship Id="rId39" Type="http://schemas.openxmlformats.org/officeDocument/2006/relationships/slide" Target="slides/slide34.xml"/><Relationship Id="rId40" Type="http://schemas.openxmlformats.org/officeDocument/2006/relationships/slide" Target="slides/slide35.xml"/><Relationship Id="rId41" Type="http://schemas.openxmlformats.org/officeDocument/2006/relationships/slide" Target="slides/slide36.xml"/><Relationship Id="rId42" Type="http://schemas.openxmlformats.org/officeDocument/2006/relationships/slide" Target="slides/slide37.xml"/><Relationship Id="rId43" Type="http://schemas.openxmlformats.org/officeDocument/2006/relationships/slide" Target="slides/slide38.xml"/><Relationship Id="rId44" Type="http://schemas.openxmlformats.org/officeDocument/2006/relationships/slide" Target="slides/slide39.xml"/><Relationship Id="rId45" Type="http://schemas.openxmlformats.org/officeDocument/2006/relationships/slide" Target="slides/slide40.xml"/><Relationship Id="rId46" Type="http://schemas.openxmlformats.org/officeDocument/2006/relationships/slide" Target="slides/slide41.xml"/><Relationship Id="rId47" Type="http://schemas.openxmlformats.org/officeDocument/2006/relationships/slide" Target="slides/slide42.xml"/><Relationship Id="rId48" Type="http://schemas.openxmlformats.org/officeDocument/2006/relationships/slide" Target="slides/slide43.xml"/><Relationship Id="rId49" Type="http://schemas.openxmlformats.org/officeDocument/2006/relationships/slide" Target="slides/slide44.xml"/><Relationship Id="rId50" Type="http://schemas.openxmlformats.org/officeDocument/2006/relationships/slide" Target="slides/slide45.xml"/><Relationship Id="rId51" Type="http://schemas.openxmlformats.org/officeDocument/2006/relationships/slide" Target="slides/slide46.xml"/><Relationship Id="rId52" Type="http://schemas.openxmlformats.org/officeDocument/2006/relationships/slide" Target="slides/slide47.xml"/><Relationship Id="rId53" Type="http://schemas.openxmlformats.org/officeDocument/2006/relationships/slide" Target="slides/slide48.xml"/><Relationship Id="rId54" Type="http://schemas.openxmlformats.org/officeDocument/2006/relationships/slide" Target="slides/slide49.xml"/><Relationship Id="rId55" Type="http://schemas.openxmlformats.org/officeDocument/2006/relationships/slide" Target="slides/slide50.xml"/><Relationship Id="rId56" Type="http://schemas.openxmlformats.org/officeDocument/2006/relationships/slide" Target="slides/slide51.xml"/><Relationship Id="rId57" Type="http://schemas.openxmlformats.org/officeDocument/2006/relationships/slide" Target="slides/slide52.xml"/><Relationship Id="rId58" Type="http://schemas.openxmlformats.org/officeDocument/2006/relationships/slide" Target="slides/slide53.xml"/><Relationship Id="rId59" Type="http://schemas.openxmlformats.org/officeDocument/2006/relationships/slide" Target="slides/slide54.xml"/><Relationship Id="rId60" Type="http://schemas.openxmlformats.org/officeDocument/2006/relationships/slide" Target="slides/slide55.xml"/><Relationship Id="rId61" Type="http://schemas.openxmlformats.org/officeDocument/2006/relationships/slide" Target="slides/slide56.xml"/><Relationship Id="rId62" Type="http://schemas.openxmlformats.org/officeDocument/2006/relationships/slide" Target="slides/slide57.xml"/><Relationship Id="rId63" Type="http://schemas.openxmlformats.org/officeDocument/2006/relationships/slide" Target="slides/slide58.xml"/><Relationship Id="rId64" Type="http://schemas.openxmlformats.org/officeDocument/2006/relationships/slide" Target="slides/slide59.xml"/><Relationship Id="rId65" Type="http://schemas.openxmlformats.org/officeDocument/2006/relationships/slide" Target="slides/slide60.xml"/><Relationship Id="rId66" Type="http://schemas.openxmlformats.org/officeDocument/2006/relationships/slide" Target="slides/slide61.xml"/><Relationship Id="rId67" Type="http://schemas.openxmlformats.org/officeDocument/2006/relationships/slide" Target="slides/slide62.xml"/><Relationship Id="rId68" Type="http://schemas.openxmlformats.org/officeDocument/2006/relationships/slide" Target="slides/slide63.xml"/><Relationship Id="rId69" Type="http://schemas.openxmlformats.org/officeDocument/2006/relationships/slide" Target="slides/slide64.xml"/><Relationship Id="rId70" Type="http://schemas.openxmlformats.org/officeDocument/2006/relationships/slide" Target="slides/slide65.xml"/><Relationship Id="rId71" Type="http://schemas.openxmlformats.org/officeDocument/2006/relationships/slide" Target="slides/slide66.xml"/><Relationship Id="rId72" Type="http://schemas.openxmlformats.org/officeDocument/2006/relationships/slide" Target="slides/slide67.xml"/><Relationship Id="rId73" Type="http://schemas.openxmlformats.org/officeDocument/2006/relationships/slide" Target="slides/slide68.xml"/><Relationship Id="rId74" Type="http://schemas.openxmlformats.org/officeDocument/2006/relationships/slide" Target="slides/slide69.xml"/><Relationship Id="rId75" Type="http://schemas.openxmlformats.org/officeDocument/2006/relationships/slide" Target="slides/slide70.xml"/><Relationship Id="rId76" Type="http://schemas.openxmlformats.org/officeDocument/2006/relationships/slide" Target="slides/slide71.xml"/><Relationship Id="rId77" Type="http://schemas.openxmlformats.org/officeDocument/2006/relationships/slide" Target="slides/slide7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6" name="PlaceHolder 1"/>
          <p:cNvSpPr>
            <a:spLocks noGrp="1"/>
          </p:cNvSpPr>
          <p:nvPr>
            <p:ph type="sldImg"/>
          </p:nvPr>
        </p:nvSpPr>
        <p:spPr>
          <a:xfrm>
            <a:off x="216000" y="812520"/>
            <a:ext cx="7127280" cy="4008960"/>
          </a:xfrm>
          <a:prstGeom prst="rect">
            <a:avLst/>
          </a:prstGeom>
          <a:noFill/>
          <a:ln w="0">
            <a:noFill/>
          </a:ln>
        </p:spPr>
        <p:txBody>
          <a:bodyPr lIns="0" rIns="0" tIns="0" bIns="0" anchor="ctr">
            <a:noAutofit/>
          </a:bodyPr>
          <a:p>
            <a:r>
              <a:rPr lang="en-US" sz="1800" b="0" u="none" strike="noStrike">
                <a:solidFill>
                  <a:schemeClr val="dk1"/>
                </a:solidFill>
                <a:effectLst/>
                <a:uFillTx/>
                <a:latin typeface="Calibri"/>
              </a:rPr>
              <a:t>Click to move the slide</a:t>
            </a:r>
            <a:endParaRPr lang="en-US" sz="1800" b="0" u="none" strike="noStrike">
              <a:solidFill>
                <a:schemeClr val="dk1"/>
              </a:solidFill>
              <a:effectLst/>
              <a:uFillTx/>
              <a:latin typeface="Calibri"/>
            </a:endParaRPr>
          </a:p>
        </p:txBody>
      </p:sp>
      <p:sp>
        <p:nvSpPr>
          <p:cNvPr id="7" name="PlaceHolder 2"/>
          <p:cNvSpPr>
            <a:spLocks noGrp="1"/>
          </p:cNvSpPr>
          <p:nvPr>
            <p:ph type="body"/>
          </p:nvPr>
        </p:nvSpPr>
        <p:spPr>
          <a:xfrm>
            <a:off x="756000" y="5078520"/>
            <a:ext cx="6047640" cy="4811040"/>
          </a:xfrm>
          <a:prstGeom prst="rect">
            <a:avLst/>
          </a:prstGeom>
          <a:noFill/>
          <a:ln w="0">
            <a:noFill/>
          </a:ln>
        </p:spPr>
        <p:txBody>
          <a:bodyPr lIns="0" rIns="0" tIns="0" bIns="0" anchor="t">
            <a:noAutofit/>
          </a:bodyPr>
          <a:p>
            <a:pPr indent="0">
              <a:buNone/>
            </a:pPr>
            <a:r>
              <a:rPr lang="en-IN" sz="2000" b="0" u="none" strike="noStrike">
                <a:solidFill>
                  <a:srgbClr val="000000"/>
                </a:solidFill>
                <a:effectLst/>
                <a:uFillTx/>
                <a:latin typeface="Arial"/>
              </a:rPr>
              <a:t>Click to edit the notes format</a:t>
            </a:r>
            <a:endParaRPr lang="en-IN" sz="2000" b="0" u="none" strike="noStrike">
              <a:solidFill>
                <a:srgbClr val="000000"/>
              </a:solidFill>
              <a:effectLst/>
              <a:uFillTx/>
              <a:latin typeface="Arial"/>
            </a:endParaRPr>
          </a:p>
        </p:txBody>
      </p:sp>
      <p:sp>
        <p:nvSpPr>
          <p:cNvPr id="8" name="PlaceHolder 3"/>
          <p:cNvSpPr>
            <a:spLocks noGrp="1"/>
          </p:cNvSpPr>
          <p:nvPr>
            <p:ph type="hdr"/>
          </p:nvPr>
        </p:nvSpPr>
        <p:spPr>
          <a:xfrm>
            <a:off x="0" y="0"/>
            <a:ext cx="3280680" cy="534240"/>
          </a:xfrm>
          <a:prstGeom prst="rect">
            <a:avLst/>
          </a:prstGeom>
          <a:noFill/>
          <a:ln w="0">
            <a:noFill/>
          </a:ln>
        </p:spPr>
        <p:txBody>
          <a:bodyPr lIns="0" rIns="0" tIns="0" bIns="0" anchor="t">
            <a:noAutofit/>
          </a:bodyPr>
          <a:p>
            <a:pPr indent="0">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9" name="PlaceHolder 4"/>
          <p:cNvSpPr>
            <a:spLocks noGrp="1"/>
          </p:cNvSpPr>
          <p:nvPr>
            <p:ph type="dt" idx="1"/>
          </p:nvPr>
        </p:nvSpPr>
        <p:spPr>
          <a:xfrm>
            <a:off x="4278960" y="0"/>
            <a:ext cx="3280680" cy="534240"/>
          </a:xfrm>
          <a:prstGeom prst="rect">
            <a:avLst/>
          </a:prstGeom>
          <a:noFill/>
          <a:ln w="0">
            <a:noFill/>
          </a:ln>
        </p:spPr>
        <p:txBody>
          <a:bodyPr lIns="0" rIns="0" tIns="0" bIns="0" anchor="t">
            <a:noAutofit/>
          </a:bodyPr>
          <a:lstStyle>
            <a:lvl1pPr indent="0" algn="r">
              <a:buNone/>
              <a:defRPr lang="en-IN" sz="1400" b="0" u="none" strike="noStrike">
                <a:solidFill>
                  <a:srgbClr val="000000"/>
                </a:solidFill>
                <a:effectLst/>
                <a:uFillTx/>
                <a:latin typeface="Times New Roman"/>
              </a:defRPr>
            </a:lvl1pPr>
          </a:lstStyle>
          <a:p>
            <a:pPr indent="0" algn="r">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10" name="PlaceHolder 5"/>
          <p:cNvSpPr>
            <a:spLocks noGrp="1"/>
          </p:cNvSpPr>
          <p:nvPr>
            <p:ph type="ftr" idx="2"/>
          </p:nvPr>
        </p:nvSpPr>
        <p:spPr>
          <a:xfrm>
            <a:off x="0" y="10157400"/>
            <a:ext cx="3280680" cy="534240"/>
          </a:xfrm>
          <a:prstGeom prst="rect">
            <a:avLst/>
          </a:prstGeom>
          <a:noFill/>
          <a:ln w="0">
            <a:noFill/>
          </a:ln>
        </p:spPr>
        <p:txBody>
          <a:bodyPr lIns="0" rIns="0" tIns="0" bIns="0" anchor="b">
            <a:noAutofit/>
          </a:bodyPr>
          <a:lstStyle>
            <a:lvl1pPr indent="0">
              <a:buNone/>
              <a:defRPr lang="en-IN" sz="1400" b="0" u="none" strike="noStrike">
                <a:solidFill>
                  <a:srgbClr val="000000"/>
                </a:solidFill>
                <a:effectLst/>
                <a:uFillTx/>
                <a:latin typeface="Times New Roman"/>
              </a:defRPr>
            </a:lvl1pPr>
          </a:lstStyle>
          <a:p>
            <a:pPr indent="0">
              <a:buNone/>
            </a:pPr>
            <a:r>
              <a:rPr lang="en-IN" sz="1400" b="0" u="none" strike="noStrike">
                <a:solidFill>
                  <a:srgbClr val="000000"/>
                </a:solidFill>
                <a:effectLst/>
                <a:uFillTx/>
                <a:latin typeface="Times New Roman"/>
              </a:rPr>
              <a:t> </a:t>
            </a:r>
            <a:endParaRPr lang="en-IN" sz="1400" b="0" u="none" strike="noStrike">
              <a:solidFill>
                <a:srgbClr val="000000"/>
              </a:solidFill>
              <a:effectLst/>
              <a:uFillTx/>
              <a:latin typeface="Times New Roman"/>
            </a:endParaRPr>
          </a:p>
        </p:txBody>
      </p:sp>
      <p:sp>
        <p:nvSpPr>
          <p:cNvPr id="11" name="PlaceHolder 6"/>
          <p:cNvSpPr>
            <a:spLocks noGrp="1"/>
          </p:cNvSpPr>
          <p:nvPr>
            <p:ph type="sldNum" idx="3"/>
          </p:nvPr>
        </p:nvSpPr>
        <p:spPr>
          <a:xfrm>
            <a:off x="4278960" y="10157400"/>
            <a:ext cx="3280680" cy="534240"/>
          </a:xfrm>
          <a:prstGeom prst="rect">
            <a:avLst/>
          </a:prstGeom>
          <a:noFill/>
          <a:ln w="0">
            <a:noFill/>
          </a:ln>
        </p:spPr>
        <p:txBody>
          <a:bodyPr lIns="0" rIns="0" tIns="0" bIns="0" anchor="b">
            <a:noAutofit/>
          </a:bodyPr>
          <a:lstStyle>
            <a:lvl1pPr indent="0" algn="r">
              <a:buNone/>
              <a:defRPr lang="en-IN" sz="1400" b="0" u="none" strike="noStrike">
                <a:solidFill>
                  <a:srgbClr val="000000"/>
                </a:solidFill>
                <a:effectLst/>
                <a:uFillTx/>
                <a:latin typeface="Times New Roman"/>
              </a:defRPr>
            </a:lvl1pPr>
          </a:lstStyle>
          <a:p>
            <a:pPr indent="0" algn="r">
              <a:buNone/>
            </a:pPr>
            <a:fld id="{80DF5083-2F90-49C2-B733-581E2EFD1F2D}" type="slidenum">
              <a:rPr lang="en-IN" sz="1400" b="0" u="none" strike="noStrike">
                <a:solidFill>
                  <a:srgbClr val="000000"/>
                </a:solidFill>
                <a:effectLst/>
                <a:uFillTx/>
                <a:latin typeface="Times New Roman"/>
              </a:rPr>
              <a:t>1</a:t>
            </a:fld>
            <a:endParaRPr lang="en-IN" sz="1400" b="0" u="none" strike="noStrike">
              <a:solidFill>
                <a:srgbClr val="000000"/>
              </a:solidFill>
              <a:effectLst/>
              <a:uFillTx/>
              <a:latin typeface="Times New Roman"/>
            </a:endParaRPr>
          </a:p>
        </p:txBody>
      </p:sp>
    </p:spTree>
  </p:cSld>
  <p:clrMap bg1="lt1" bg2="lt2" tx1="dk1" tx2="dk2" accent1="accent1" accent2="accent2" accent3="accent3" accent4="accent4" accent5="accent5" accent6="accent6" hlink="hlink" folHlink="folHlink"/>
</p:notesMaster>
</file>

<file path=ppt/notesSlides/_rels/notesSlide1.xml.rels><?xml version='1.0' encoding='UTF-8' standalone='yes'?>
<Relationships xmlns="http://schemas.openxmlformats.org/package/2006/relationships"><Relationship Id="rId1" Type="http://schemas.openxmlformats.org/officeDocument/2006/relationships/slide" Target="../slides/slide1.xml"/><Relationship Id="rId2"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slide" Target="../slides/slide2.xml"/><Relationship Id="rId2"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slide" Target="../slides/slide3.xml"/><Relationship Id="rId2"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slide" Target="../slides/slide4.xml"/><Relationship Id="rId2"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slide" Target="../slides/slide5.xml"/><Relationship Id="rId2"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slide" Target="../slides/slide6.xml"/><Relationship Id="rId2"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slide" Target="../slides/slide7.xml"/><Relationship Id="rId2"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slide" Target="../slides/slide8.xml"/><Relationship Id="rId2"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slide" Target="../slides/slide9.xml"/><Relationship Id="rId2"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slide" Target="../slides/slide10.xml"/><Relationship Id="rId2"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slide" Target="../slides/slide11.xml"/><Relationship Id="rId2"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slide" Target="../slides/slide12.xml"/><Relationship Id="rId2"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slide" Target="../slides/slide13.xml"/><Relationship Id="rId2"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slide" Target="../slides/slide14.xml"/><Relationship Id="rId2"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slide" Target="../slides/slide15.xml"/><Relationship Id="rId2"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slide" Target="../slides/slide16.xml"/><Relationship Id="rId2"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slide" Target="../slides/slide17.xml"/><Relationship Id="rId2"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slide" Target="../slides/slide18.xml"/><Relationship Id="rId2"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slide" Target="../slides/slide19.xml"/><Relationship Id="rId2"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slide" Target="../slides/slide20.xml"/><Relationship Id="rId2"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slide" Target="../slides/slide21.xml"/><Relationship Id="rId2"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slide" Target="../slides/slide22.xml"/><Relationship Id="rId2"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slide" Target="../slides/slide23.xml"/><Relationship Id="rId2"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1" Type="http://schemas.openxmlformats.org/officeDocument/2006/relationships/slide" Target="../slides/slide24.xml"/><Relationship Id="rId2"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1" Type="http://schemas.openxmlformats.org/officeDocument/2006/relationships/slide" Target="../slides/slide25.xml"/><Relationship Id="rId2"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1" Type="http://schemas.openxmlformats.org/officeDocument/2006/relationships/slide" Target="../slides/slide26.xml"/><Relationship Id="rId2" Type="http://schemas.openxmlformats.org/officeDocument/2006/relationships/notesMaster" Target="../notesMasters/notesMaster1.xml"/></Relationships>
</file>

<file path=ppt/notesSlides/notesSlide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29" name="PlaceHolder 1"/>
          <p:cNvSpPr>
            <a:spLocks noGrp="1"/>
          </p:cNvSpPr>
          <p:nvPr>
            <p:ph type="sldImg"/>
          </p:nvPr>
        </p:nvSpPr>
        <p:spPr>
          <a:xfrm>
            <a:off x="0" y="0"/>
            <a:ext cx="0" cy="0"/>
          </a:xfrm>
          <a:prstGeom prst="rect">
            <a:avLst/>
          </a:prstGeom>
          <a:ln w="0">
            <a:noFill/>
          </a:ln>
        </p:spPr>
      </p:sp>
      <p:sp>
        <p:nvSpPr>
          <p:cNvPr id="33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31" name="PlaceHolder 3"/>
          <p:cNvSpPr>
            <a:spLocks noGrp="1"/>
          </p:cNvSpPr>
          <p:nvPr>
            <p:ph type="sldNum" idx="4"/>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2" name="PlaceHolder 1"/>
          <p:cNvSpPr>
            <a:spLocks noGrp="1"/>
          </p:cNvSpPr>
          <p:nvPr>
            <p:ph type="sldImg"/>
          </p:nvPr>
        </p:nvSpPr>
        <p:spPr>
          <a:xfrm>
            <a:off x="0" y="0"/>
            <a:ext cx="0" cy="0"/>
          </a:xfrm>
          <a:prstGeom prst="rect">
            <a:avLst/>
          </a:prstGeom>
          <a:ln w="0">
            <a:noFill/>
          </a:ln>
        </p:spPr>
      </p:sp>
      <p:sp>
        <p:nvSpPr>
          <p:cNvPr id="33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34" name="PlaceHolder 3"/>
          <p:cNvSpPr>
            <a:spLocks noGrp="1"/>
          </p:cNvSpPr>
          <p:nvPr>
            <p:ph type="sldNum" idx="5"/>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5" name="PlaceHolder 1"/>
          <p:cNvSpPr>
            <a:spLocks noGrp="1"/>
          </p:cNvSpPr>
          <p:nvPr>
            <p:ph type="sldImg"/>
          </p:nvPr>
        </p:nvSpPr>
        <p:spPr>
          <a:xfrm>
            <a:off x="685800" y="1143000"/>
            <a:ext cx="5486040" cy="3085920"/>
          </a:xfrm>
          <a:prstGeom prst="rect">
            <a:avLst/>
          </a:prstGeom>
          <a:ln w="0">
            <a:noFill/>
          </a:ln>
        </p:spPr>
      </p:sp>
      <p:sp>
        <p:nvSpPr>
          <p:cNvPr id="336"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IN" sz="1800" b="0" u="none" strike="noStrike">
              <a:solidFill>
                <a:srgbClr val="000000"/>
              </a:solidFill>
              <a:effectLst/>
              <a:uFillTx/>
              <a:latin typeface="Arial"/>
            </a:endParaRPr>
          </a:p>
        </p:txBody>
      </p:sp>
      <p:sp>
        <p:nvSpPr>
          <p:cNvPr id="337" name="PlaceHolder 3"/>
          <p:cNvSpPr>
            <a:spLocks noGrp="1"/>
          </p:cNvSpPr>
          <p:nvPr>
            <p:ph type="sldNum" idx="6"/>
          </p:nvPr>
        </p:nvSpPr>
        <p:spPr>
          <a:xfrm>
            <a:off x="3884760" y="8685360"/>
            <a:ext cx="2971440" cy="458280"/>
          </a:xfrm>
          <a:prstGeom prst="rect">
            <a:avLst/>
          </a:prstGeom>
          <a:noFill/>
          <a:ln w="0">
            <a:noFill/>
          </a:ln>
        </p:spPr>
        <p:txBody>
          <a:bodyPr lIns="91440" rIns="91440" tIns="45720" bIns="45720" anchor="b">
            <a:noAutofit/>
          </a:bodyPr>
          <a:p>
            <a:pPr indent="0">
              <a:buNone/>
            </a:pPr>
            <a:endParaRPr lang="en-IN" sz="1200" b="0" u="none" strike="noStrike">
              <a:solidFill>
                <a:srgbClr val="000000"/>
              </a:solidFill>
              <a:effectLst/>
              <a:uFillTx/>
              <a:latin typeface="Times New Roman"/>
            </a:endParaRPr>
          </a:p>
        </p:txBody>
      </p:sp>
    </p:spTree>
  </p:cSld>
</p:notes>
</file>

<file path=ppt/notesSlides/notesSlide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38" name="PlaceHolder 1"/>
          <p:cNvSpPr>
            <a:spLocks noGrp="1"/>
          </p:cNvSpPr>
          <p:nvPr>
            <p:ph type="sldImg"/>
          </p:nvPr>
        </p:nvSpPr>
        <p:spPr>
          <a:xfrm>
            <a:off x="0" y="0"/>
            <a:ext cx="0" cy="0"/>
          </a:xfrm>
          <a:prstGeom prst="rect">
            <a:avLst/>
          </a:prstGeom>
          <a:ln w="0">
            <a:noFill/>
          </a:ln>
        </p:spPr>
      </p:sp>
      <p:sp>
        <p:nvSpPr>
          <p:cNvPr id="33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40" name="PlaceHolder 3"/>
          <p:cNvSpPr>
            <a:spLocks noGrp="1"/>
          </p:cNvSpPr>
          <p:nvPr>
            <p:ph type="sldNum" idx="7"/>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1" name="PlaceHolder 1"/>
          <p:cNvSpPr>
            <a:spLocks noGrp="1"/>
          </p:cNvSpPr>
          <p:nvPr>
            <p:ph type="sldImg"/>
          </p:nvPr>
        </p:nvSpPr>
        <p:spPr>
          <a:xfrm>
            <a:off x="0" y="0"/>
            <a:ext cx="0" cy="0"/>
          </a:xfrm>
          <a:prstGeom prst="rect">
            <a:avLst/>
          </a:prstGeom>
          <a:ln w="0">
            <a:noFill/>
          </a:ln>
        </p:spPr>
      </p:sp>
      <p:sp>
        <p:nvSpPr>
          <p:cNvPr id="34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43" name="PlaceHolder 3"/>
          <p:cNvSpPr>
            <a:spLocks noGrp="1"/>
          </p:cNvSpPr>
          <p:nvPr>
            <p:ph type="sldNum" idx="8"/>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4" name="PlaceHolder 1"/>
          <p:cNvSpPr>
            <a:spLocks noGrp="1"/>
          </p:cNvSpPr>
          <p:nvPr>
            <p:ph type="sldImg"/>
          </p:nvPr>
        </p:nvSpPr>
        <p:spPr>
          <a:xfrm>
            <a:off x="685800" y="1143000"/>
            <a:ext cx="5486040" cy="3085920"/>
          </a:xfrm>
          <a:prstGeom prst="rect">
            <a:avLst/>
          </a:prstGeom>
          <a:ln w="0">
            <a:noFill/>
          </a:ln>
        </p:spPr>
      </p:sp>
      <p:sp>
        <p:nvSpPr>
          <p:cNvPr id="345" name="PlaceHolder 2"/>
          <p:cNvSpPr>
            <a:spLocks noGrp="1"/>
          </p:cNvSpPr>
          <p:nvPr>
            <p:ph type="body"/>
          </p:nvPr>
        </p:nvSpPr>
        <p:spPr>
          <a:xfrm>
            <a:off x="685800" y="4400640"/>
            <a:ext cx="5486040" cy="3600000"/>
          </a:xfrm>
          <a:prstGeom prst="rect">
            <a:avLst/>
          </a:prstGeom>
          <a:noFill/>
          <a:ln w="0">
            <a:noFill/>
          </a:ln>
        </p:spPr>
        <p:txBody>
          <a:bodyPr lIns="91440" rIns="91440" tIns="45720" bIns="45720" anchor="t">
            <a:noAutofit/>
          </a:bodyPr>
          <a:p>
            <a:pPr indent="0">
              <a:buNone/>
            </a:pPr>
            <a:endParaRPr lang="en-IN" sz="1800" b="0" u="none" strike="noStrike">
              <a:solidFill>
                <a:srgbClr val="000000"/>
              </a:solidFill>
              <a:effectLst/>
              <a:uFillTx/>
              <a:latin typeface="Arial"/>
            </a:endParaRPr>
          </a:p>
        </p:txBody>
      </p:sp>
      <p:sp>
        <p:nvSpPr>
          <p:cNvPr id="346" name="PlaceHolder 3"/>
          <p:cNvSpPr>
            <a:spLocks noGrp="1"/>
          </p:cNvSpPr>
          <p:nvPr>
            <p:ph type="sldNum" idx="9"/>
          </p:nvPr>
        </p:nvSpPr>
        <p:spPr>
          <a:xfrm>
            <a:off x="3884760" y="8685360"/>
            <a:ext cx="2971440" cy="458280"/>
          </a:xfrm>
          <a:prstGeom prst="rect">
            <a:avLst/>
          </a:prstGeom>
          <a:noFill/>
          <a:ln w="0">
            <a:noFill/>
          </a:ln>
        </p:spPr>
        <p:txBody>
          <a:bodyPr lIns="91440" rIns="91440" tIns="45720" bIns="45720" anchor="b">
            <a:noAutofit/>
          </a:bodyPr>
          <a:p>
            <a:pPr indent="0">
              <a:buNone/>
            </a:pPr>
            <a:endParaRPr lang="en-IN" sz="1200" b="0" u="none" strike="noStrike">
              <a:solidFill>
                <a:srgbClr val="000000"/>
              </a:solidFill>
              <a:effectLst/>
              <a:uFillTx/>
              <a:latin typeface="Times New Roman"/>
            </a:endParaRPr>
          </a:p>
        </p:txBody>
      </p:sp>
    </p:spTree>
  </p:cSld>
</p:notes>
</file>

<file path=ppt/notesSlides/notesSlide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47" name="PlaceHolder 1"/>
          <p:cNvSpPr>
            <a:spLocks noGrp="1"/>
          </p:cNvSpPr>
          <p:nvPr>
            <p:ph type="sldImg"/>
          </p:nvPr>
        </p:nvSpPr>
        <p:spPr>
          <a:xfrm>
            <a:off x="0" y="0"/>
            <a:ext cx="0" cy="0"/>
          </a:xfrm>
          <a:prstGeom prst="rect">
            <a:avLst/>
          </a:prstGeom>
          <a:ln w="0">
            <a:noFill/>
          </a:ln>
        </p:spPr>
      </p:sp>
      <p:sp>
        <p:nvSpPr>
          <p:cNvPr id="34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49" name="PlaceHolder 3"/>
          <p:cNvSpPr>
            <a:spLocks noGrp="1"/>
          </p:cNvSpPr>
          <p:nvPr>
            <p:ph type="sldNum" idx="10"/>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0" name="PlaceHolder 1"/>
          <p:cNvSpPr>
            <a:spLocks noGrp="1"/>
          </p:cNvSpPr>
          <p:nvPr>
            <p:ph type="sldImg"/>
          </p:nvPr>
        </p:nvSpPr>
        <p:spPr>
          <a:xfrm>
            <a:off x="0" y="0"/>
            <a:ext cx="0" cy="0"/>
          </a:xfrm>
          <a:prstGeom prst="rect">
            <a:avLst/>
          </a:prstGeom>
          <a:ln w="0">
            <a:noFill/>
          </a:ln>
        </p:spPr>
      </p:sp>
      <p:sp>
        <p:nvSpPr>
          <p:cNvPr id="35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52" name="PlaceHolder 3"/>
          <p:cNvSpPr>
            <a:spLocks noGrp="1"/>
          </p:cNvSpPr>
          <p:nvPr>
            <p:ph type="sldNum" idx="11"/>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3" name="PlaceHolder 1"/>
          <p:cNvSpPr>
            <a:spLocks noGrp="1"/>
          </p:cNvSpPr>
          <p:nvPr>
            <p:ph type="sldImg"/>
          </p:nvPr>
        </p:nvSpPr>
        <p:spPr>
          <a:xfrm>
            <a:off x="0" y="0"/>
            <a:ext cx="0" cy="0"/>
          </a:xfrm>
          <a:prstGeom prst="rect">
            <a:avLst/>
          </a:prstGeom>
          <a:ln w="0">
            <a:noFill/>
          </a:ln>
        </p:spPr>
      </p:sp>
      <p:sp>
        <p:nvSpPr>
          <p:cNvPr id="35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55" name="PlaceHolder 3"/>
          <p:cNvSpPr>
            <a:spLocks noGrp="1"/>
          </p:cNvSpPr>
          <p:nvPr>
            <p:ph type="sldNum" idx="12"/>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6" name="PlaceHolder 1"/>
          <p:cNvSpPr>
            <a:spLocks noGrp="1"/>
          </p:cNvSpPr>
          <p:nvPr>
            <p:ph type="sldImg"/>
          </p:nvPr>
        </p:nvSpPr>
        <p:spPr>
          <a:xfrm>
            <a:off x="0" y="0"/>
            <a:ext cx="0" cy="0"/>
          </a:xfrm>
          <a:prstGeom prst="rect">
            <a:avLst/>
          </a:prstGeom>
          <a:ln w="0">
            <a:noFill/>
          </a:ln>
        </p:spPr>
      </p:sp>
      <p:sp>
        <p:nvSpPr>
          <p:cNvPr id="35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58" name="PlaceHolder 3"/>
          <p:cNvSpPr>
            <a:spLocks noGrp="1"/>
          </p:cNvSpPr>
          <p:nvPr>
            <p:ph type="sldNum" idx="13"/>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9" name="PlaceHolder 1"/>
          <p:cNvSpPr>
            <a:spLocks noGrp="1"/>
          </p:cNvSpPr>
          <p:nvPr>
            <p:ph type="sldImg"/>
          </p:nvPr>
        </p:nvSpPr>
        <p:spPr>
          <a:xfrm>
            <a:off x="0" y="0"/>
            <a:ext cx="0" cy="0"/>
          </a:xfrm>
          <a:prstGeom prst="rect">
            <a:avLst/>
          </a:prstGeom>
          <a:ln w="0">
            <a:noFill/>
          </a:ln>
        </p:spPr>
      </p:sp>
      <p:sp>
        <p:nvSpPr>
          <p:cNvPr id="36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61" name="PlaceHolder 3"/>
          <p:cNvSpPr>
            <a:spLocks noGrp="1"/>
          </p:cNvSpPr>
          <p:nvPr>
            <p:ph type="sldNum" idx="14"/>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2" name="PlaceHolder 1"/>
          <p:cNvSpPr>
            <a:spLocks noGrp="1"/>
          </p:cNvSpPr>
          <p:nvPr>
            <p:ph type="sldImg"/>
          </p:nvPr>
        </p:nvSpPr>
        <p:spPr>
          <a:xfrm>
            <a:off x="0" y="0"/>
            <a:ext cx="0" cy="0"/>
          </a:xfrm>
          <a:prstGeom prst="rect">
            <a:avLst/>
          </a:prstGeom>
          <a:ln w="0">
            <a:noFill/>
          </a:ln>
        </p:spPr>
      </p:sp>
      <p:sp>
        <p:nvSpPr>
          <p:cNvPr id="36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64" name="PlaceHolder 3"/>
          <p:cNvSpPr>
            <a:spLocks noGrp="1"/>
          </p:cNvSpPr>
          <p:nvPr>
            <p:ph type="sldNum" idx="15"/>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5" name="PlaceHolder 1"/>
          <p:cNvSpPr>
            <a:spLocks noGrp="1"/>
          </p:cNvSpPr>
          <p:nvPr>
            <p:ph type="sldImg"/>
          </p:nvPr>
        </p:nvSpPr>
        <p:spPr>
          <a:xfrm>
            <a:off x="0" y="0"/>
            <a:ext cx="0" cy="0"/>
          </a:xfrm>
          <a:prstGeom prst="rect">
            <a:avLst/>
          </a:prstGeom>
          <a:ln w="0">
            <a:noFill/>
          </a:ln>
        </p:spPr>
      </p:sp>
      <p:sp>
        <p:nvSpPr>
          <p:cNvPr id="36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67" name="PlaceHolder 3"/>
          <p:cNvSpPr>
            <a:spLocks noGrp="1"/>
          </p:cNvSpPr>
          <p:nvPr>
            <p:ph type="sldNum" idx="16"/>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68" name="PlaceHolder 1"/>
          <p:cNvSpPr>
            <a:spLocks noGrp="1"/>
          </p:cNvSpPr>
          <p:nvPr>
            <p:ph type="sldImg"/>
          </p:nvPr>
        </p:nvSpPr>
        <p:spPr>
          <a:xfrm>
            <a:off x="0" y="0"/>
            <a:ext cx="0" cy="0"/>
          </a:xfrm>
          <a:prstGeom prst="rect">
            <a:avLst/>
          </a:prstGeom>
          <a:ln w="0">
            <a:noFill/>
          </a:ln>
        </p:spPr>
      </p:sp>
      <p:sp>
        <p:nvSpPr>
          <p:cNvPr id="36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70" name="PlaceHolder 3"/>
          <p:cNvSpPr>
            <a:spLocks noGrp="1"/>
          </p:cNvSpPr>
          <p:nvPr>
            <p:ph type="sldNum" idx="17"/>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1" name="PlaceHolder 1"/>
          <p:cNvSpPr>
            <a:spLocks noGrp="1"/>
          </p:cNvSpPr>
          <p:nvPr>
            <p:ph type="sldImg"/>
          </p:nvPr>
        </p:nvSpPr>
        <p:spPr>
          <a:xfrm>
            <a:off x="0" y="0"/>
            <a:ext cx="0" cy="0"/>
          </a:xfrm>
          <a:prstGeom prst="rect">
            <a:avLst/>
          </a:prstGeom>
          <a:ln w="0">
            <a:noFill/>
          </a:ln>
        </p:spPr>
      </p:sp>
      <p:sp>
        <p:nvSpPr>
          <p:cNvPr id="37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73" name="PlaceHolder 3"/>
          <p:cNvSpPr>
            <a:spLocks noGrp="1"/>
          </p:cNvSpPr>
          <p:nvPr>
            <p:ph type="sldNum" idx="18"/>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4" name="PlaceHolder 1"/>
          <p:cNvSpPr>
            <a:spLocks noGrp="1"/>
          </p:cNvSpPr>
          <p:nvPr>
            <p:ph type="sldImg"/>
          </p:nvPr>
        </p:nvSpPr>
        <p:spPr>
          <a:xfrm>
            <a:off x="0" y="0"/>
            <a:ext cx="0" cy="0"/>
          </a:xfrm>
          <a:prstGeom prst="rect">
            <a:avLst/>
          </a:prstGeom>
          <a:ln w="0">
            <a:noFill/>
          </a:ln>
        </p:spPr>
      </p:sp>
      <p:sp>
        <p:nvSpPr>
          <p:cNvPr id="37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76" name="PlaceHolder 3"/>
          <p:cNvSpPr>
            <a:spLocks noGrp="1"/>
          </p:cNvSpPr>
          <p:nvPr>
            <p:ph type="sldNum" idx="19"/>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7.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77" name="PlaceHolder 1"/>
          <p:cNvSpPr>
            <a:spLocks noGrp="1"/>
          </p:cNvSpPr>
          <p:nvPr>
            <p:ph type="sldImg"/>
          </p:nvPr>
        </p:nvSpPr>
        <p:spPr>
          <a:xfrm>
            <a:off x="0" y="0"/>
            <a:ext cx="0" cy="0"/>
          </a:xfrm>
          <a:prstGeom prst="rect">
            <a:avLst/>
          </a:prstGeom>
          <a:ln w="0">
            <a:noFill/>
          </a:ln>
        </p:spPr>
      </p:sp>
      <p:sp>
        <p:nvSpPr>
          <p:cNvPr id="378"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79" name="PlaceHolder 3"/>
          <p:cNvSpPr>
            <a:spLocks noGrp="1"/>
          </p:cNvSpPr>
          <p:nvPr>
            <p:ph type="sldNum" idx="20"/>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8.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0" name="PlaceHolder 1"/>
          <p:cNvSpPr>
            <a:spLocks noGrp="1"/>
          </p:cNvSpPr>
          <p:nvPr>
            <p:ph type="sldImg"/>
          </p:nvPr>
        </p:nvSpPr>
        <p:spPr>
          <a:xfrm>
            <a:off x="0" y="0"/>
            <a:ext cx="0" cy="0"/>
          </a:xfrm>
          <a:prstGeom prst="rect">
            <a:avLst/>
          </a:prstGeom>
          <a:ln w="0">
            <a:noFill/>
          </a:ln>
        </p:spPr>
      </p:sp>
      <p:sp>
        <p:nvSpPr>
          <p:cNvPr id="381"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82" name="PlaceHolder 3"/>
          <p:cNvSpPr>
            <a:spLocks noGrp="1"/>
          </p:cNvSpPr>
          <p:nvPr>
            <p:ph type="sldNum" idx="21"/>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19.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3" name="PlaceHolder 1"/>
          <p:cNvSpPr>
            <a:spLocks noGrp="1"/>
          </p:cNvSpPr>
          <p:nvPr>
            <p:ph type="sldImg"/>
          </p:nvPr>
        </p:nvSpPr>
        <p:spPr>
          <a:xfrm>
            <a:off x="0" y="0"/>
            <a:ext cx="0" cy="0"/>
          </a:xfrm>
          <a:prstGeom prst="rect">
            <a:avLst/>
          </a:prstGeom>
          <a:ln w="0">
            <a:noFill/>
          </a:ln>
        </p:spPr>
      </p:sp>
      <p:sp>
        <p:nvSpPr>
          <p:cNvPr id="384"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85" name="PlaceHolder 3"/>
          <p:cNvSpPr>
            <a:spLocks noGrp="1"/>
          </p:cNvSpPr>
          <p:nvPr>
            <p:ph type="sldNum" idx="22"/>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0.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6" name="PlaceHolder 1"/>
          <p:cNvSpPr>
            <a:spLocks noGrp="1"/>
          </p:cNvSpPr>
          <p:nvPr>
            <p:ph type="sldImg"/>
          </p:nvPr>
        </p:nvSpPr>
        <p:spPr>
          <a:xfrm>
            <a:off x="0" y="0"/>
            <a:ext cx="0" cy="0"/>
          </a:xfrm>
          <a:prstGeom prst="rect">
            <a:avLst/>
          </a:prstGeom>
          <a:ln w="0">
            <a:noFill/>
          </a:ln>
        </p:spPr>
      </p:sp>
      <p:sp>
        <p:nvSpPr>
          <p:cNvPr id="387"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88" name="PlaceHolder 3"/>
          <p:cNvSpPr>
            <a:spLocks noGrp="1"/>
          </p:cNvSpPr>
          <p:nvPr>
            <p:ph type="sldNum" idx="23"/>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1.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89" name="PlaceHolder 1"/>
          <p:cNvSpPr>
            <a:spLocks noGrp="1"/>
          </p:cNvSpPr>
          <p:nvPr>
            <p:ph type="sldImg"/>
          </p:nvPr>
        </p:nvSpPr>
        <p:spPr>
          <a:xfrm>
            <a:off x="0" y="0"/>
            <a:ext cx="0" cy="0"/>
          </a:xfrm>
          <a:prstGeom prst="rect">
            <a:avLst/>
          </a:prstGeom>
          <a:ln w="0">
            <a:noFill/>
          </a:ln>
        </p:spPr>
      </p:sp>
      <p:sp>
        <p:nvSpPr>
          <p:cNvPr id="390"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91" name="PlaceHolder 3"/>
          <p:cNvSpPr>
            <a:spLocks noGrp="1"/>
          </p:cNvSpPr>
          <p:nvPr>
            <p:ph type="sldNum" idx="24"/>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2.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2" name="PlaceHolder 1"/>
          <p:cNvSpPr>
            <a:spLocks noGrp="1"/>
          </p:cNvSpPr>
          <p:nvPr>
            <p:ph type="sldImg"/>
          </p:nvPr>
        </p:nvSpPr>
        <p:spPr>
          <a:xfrm>
            <a:off x="0" y="0"/>
            <a:ext cx="0" cy="0"/>
          </a:xfrm>
          <a:prstGeom prst="rect">
            <a:avLst/>
          </a:prstGeom>
          <a:ln w="0">
            <a:noFill/>
          </a:ln>
        </p:spPr>
      </p:sp>
      <p:sp>
        <p:nvSpPr>
          <p:cNvPr id="393"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94" name="PlaceHolder 3"/>
          <p:cNvSpPr>
            <a:spLocks noGrp="1"/>
          </p:cNvSpPr>
          <p:nvPr>
            <p:ph type="sldNum" idx="25"/>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3.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5" name="PlaceHolder 1"/>
          <p:cNvSpPr>
            <a:spLocks noGrp="1"/>
          </p:cNvSpPr>
          <p:nvPr>
            <p:ph type="sldImg"/>
          </p:nvPr>
        </p:nvSpPr>
        <p:spPr>
          <a:xfrm>
            <a:off x="0" y="0"/>
            <a:ext cx="0" cy="0"/>
          </a:xfrm>
          <a:prstGeom prst="rect">
            <a:avLst/>
          </a:prstGeom>
          <a:ln w="0">
            <a:noFill/>
          </a:ln>
        </p:spPr>
      </p:sp>
      <p:sp>
        <p:nvSpPr>
          <p:cNvPr id="396"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397" name="PlaceHolder 3"/>
          <p:cNvSpPr>
            <a:spLocks noGrp="1"/>
          </p:cNvSpPr>
          <p:nvPr>
            <p:ph type="sldNum" idx="26"/>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4.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98" name="PlaceHolder 1"/>
          <p:cNvSpPr>
            <a:spLocks noGrp="1"/>
          </p:cNvSpPr>
          <p:nvPr>
            <p:ph type="sldImg"/>
          </p:nvPr>
        </p:nvSpPr>
        <p:spPr>
          <a:xfrm>
            <a:off x="0" y="0"/>
            <a:ext cx="0" cy="0"/>
          </a:xfrm>
          <a:prstGeom prst="rect">
            <a:avLst/>
          </a:prstGeom>
          <a:ln w="0">
            <a:noFill/>
          </a:ln>
        </p:spPr>
      </p:sp>
      <p:sp>
        <p:nvSpPr>
          <p:cNvPr id="399"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400" name="PlaceHolder 3"/>
          <p:cNvSpPr>
            <a:spLocks noGrp="1"/>
          </p:cNvSpPr>
          <p:nvPr>
            <p:ph type="sldNum" idx="27"/>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5.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1" name="PlaceHolder 1"/>
          <p:cNvSpPr>
            <a:spLocks noGrp="1"/>
          </p:cNvSpPr>
          <p:nvPr>
            <p:ph type="sldImg"/>
          </p:nvPr>
        </p:nvSpPr>
        <p:spPr>
          <a:xfrm>
            <a:off x="0" y="0"/>
            <a:ext cx="0" cy="0"/>
          </a:xfrm>
          <a:prstGeom prst="rect">
            <a:avLst/>
          </a:prstGeom>
          <a:ln w="0">
            <a:noFill/>
          </a:ln>
        </p:spPr>
      </p:sp>
      <p:sp>
        <p:nvSpPr>
          <p:cNvPr id="402"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403" name="PlaceHolder 3"/>
          <p:cNvSpPr>
            <a:spLocks noGrp="1"/>
          </p:cNvSpPr>
          <p:nvPr>
            <p:ph type="sldNum" idx="28"/>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notesSlides/notesSlide26.xml><?xml version="1.0" encoding="utf-8"?>
<p:notes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404" name="PlaceHolder 1"/>
          <p:cNvSpPr>
            <a:spLocks noGrp="1"/>
          </p:cNvSpPr>
          <p:nvPr>
            <p:ph type="sldImg"/>
          </p:nvPr>
        </p:nvSpPr>
        <p:spPr>
          <a:xfrm>
            <a:off x="0" y="0"/>
            <a:ext cx="0" cy="0"/>
          </a:xfrm>
          <a:prstGeom prst="rect">
            <a:avLst/>
          </a:prstGeom>
          <a:ln w="0">
            <a:noFill/>
          </a:ln>
        </p:spPr>
      </p:sp>
      <p:sp>
        <p:nvSpPr>
          <p:cNvPr id="405" name="PlaceHolder 2"/>
          <p:cNvSpPr>
            <a:spLocks noGrp="1"/>
          </p:cNvSpPr>
          <p:nvPr>
            <p:ph type="body"/>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Arial"/>
            </a:endParaRPr>
          </a:p>
        </p:txBody>
      </p:sp>
      <p:sp>
        <p:nvSpPr>
          <p:cNvPr id="406" name="PlaceHolder 3"/>
          <p:cNvSpPr>
            <a:spLocks noGrp="1"/>
          </p:cNvSpPr>
          <p:nvPr>
            <p:ph type="sldNum" idx="29"/>
          </p:nvPr>
        </p:nvSpPr>
        <p:spPr>
          <a:xfrm>
            <a:off x="0" y="0"/>
            <a:ext cx="0" cy="0"/>
          </a:xfrm>
          <a:prstGeom prst="rect">
            <a:avLst/>
          </a:prstGeom>
          <a:noFill/>
          <a:ln w="0">
            <a:noFill/>
          </a:ln>
        </p:spPr>
        <p:txBody>
          <a:bodyPr lIns="90000" rIns="90000" tIns="-45000" bIns="-45000" anchor="t">
            <a:noAutofit/>
          </a:bodyPr>
          <a:p>
            <a:pPr indent="0">
              <a:buNone/>
            </a:pPr>
            <a:endParaRPr lang="en-IN" sz="1800" b="0" u="none" strike="noStrike">
              <a:solidFill>
                <a:srgbClr val="000000"/>
              </a:solidFill>
              <a:effectLst/>
              <a:uFillTx/>
              <a:latin typeface="Times New Roman"/>
            </a:endParaRPr>
          </a:p>
        </p:txBody>
      </p:sp>
    </p:spTree>
  </p:cSld>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DEFAULT">
    <p:spTree>
      <p:nvGrpSpPr>
        <p:cNvPr id="1" name=""/>
        <p:cNvGrpSpPr/>
        <p:nvPr/>
      </p:nvGrpSpPr>
      <p:grpSpPr>
        <a:xfrm>
          <a:off x="0" y="0"/>
          <a:ext cx="0" cy="0"/>
          <a:chOff x="0" y="0"/>
          <a:chExt cx="0" cy="0"/>
        </a:xfrm>
      </p:grpSpPr>
    </p:spTree>
  </p:cSld>
</p:sldLayout>
</file>

<file path=ppt/slideLayouts/slideLayout2.xml><?xml version="1.0" encoding="utf-8"?>
<p:sldLayout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type="blank" preserve="1">
  <p:cSld name="1_DEFAULT">
    <p:spTree>
      <p:nvGrpSpPr>
        <p:cNvPr id="1" name=""/>
        <p:cNvGrpSpPr/>
        <p:nvPr/>
      </p:nvGrpSpPr>
      <p:grpSpPr>
        <a:xfrm>
          <a:off x="0" y="0"/>
          <a:ext cx="0" cy="0"/>
          <a:chOff x="0" y="0"/>
          <a:chExt cx="0" cy="0"/>
        </a:xfrm>
      </p:grpSpPr>
    </p:spTree>
  </p:cSld>
</p:sldLayout>
</file>

<file path=ppt/slideMasters/_rels/slideMaster1.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slideLayout" Target="../slideLayouts/slideLayout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slideLayout" Target="../slideLayouts/slideLayout2.xml"/></Relationships>
</file>

<file path=ppt/slideMasters/slideMaster1.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2" name="PlaceHolder 1"/>
          <p:cNvSpPr>
            <a:spLocks noGrp="1"/>
          </p:cNvSpPr>
          <p:nvPr>
            <p:ph type="title"/>
          </p:nvPr>
        </p:nvSpPr>
        <p:spPr>
          <a:xfrm>
            <a:off x="457200" y="205200"/>
            <a:ext cx="8229240" cy="858600"/>
          </a:xfrm>
          <a:prstGeom prst="rect">
            <a:avLst/>
          </a:prstGeom>
          <a:noFill/>
          <a:ln w="0">
            <a:noFill/>
          </a:ln>
        </p:spPr>
        <p:txBody>
          <a:bodyPr lIns="0" rIns="0" tIns="0" bIns="0" anchor="ctr">
            <a:noAutofit/>
          </a:bodyPr>
          <a:p>
            <a:pPr indent="0">
              <a:buNone/>
            </a:pPr>
            <a:r>
              <a:rPr lang="en-US" sz="1800" b="0" u="none" strike="noStrike">
                <a:solidFill>
                  <a:schemeClr val="dk1"/>
                </a:solidFill>
                <a:effectLst/>
                <a:uFillTx/>
                <a:latin typeface="Calibri"/>
              </a:rPr>
              <a:t>Click to edit the title text format</a:t>
            </a:r>
            <a:endParaRPr lang="en-US" sz="1800" b="0" u="none" strike="noStrike">
              <a:solidFill>
                <a:schemeClr val="dk1"/>
              </a:solidFill>
              <a:effectLst/>
              <a:uFillTx/>
              <a:latin typeface="Calibri"/>
            </a:endParaRPr>
          </a:p>
        </p:txBody>
      </p:sp>
      <p:sp>
        <p:nvSpPr>
          <p:cNvPr id="3" name="PlaceHolder 2"/>
          <p:cNvSpPr>
            <a:spLocks noGrp="1"/>
          </p:cNvSpPr>
          <p:nvPr>
            <p:ph type="body"/>
          </p:nvPr>
        </p:nvSpPr>
        <p:spPr>
          <a:xfrm>
            <a:off x="457200" y="1203480"/>
            <a:ext cx="8229240" cy="2982960"/>
          </a:xfrm>
          <a:prstGeom prst="rect">
            <a:avLst/>
          </a:prstGeom>
          <a:noFill/>
          <a:ln w="0">
            <a:noFill/>
          </a:ln>
        </p:spPr>
        <p:txBody>
          <a:bodyPr lIns="0" rIns="0" tIns="0" bIns="0" anchor="t">
            <a:normAutofit/>
          </a:bodyPr>
          <a:p>
            <a:pPr marL="432000" indent="-324000">
              <a:spcBef>
                <a:spcPts val="1417"/>
              </a:spcBef>
              <a:buClr>
                <a:srgbClr val="000000"/>
              </a:buClr>
              <a:buSzPct val="45000"/>
              <a:buFont typeface="Wingdings" charset="2"/>
              <a:buChar char=""/>
            </a:pPr>
            <a:r>
              <a:rPr lang="en-US" sz="3200" b="0" u="none" strike="noStrike">
                <a:solidFill>
                  <a:schemeClr val="dk1"/>
                </a:solidFill>
                <a:effectLst/>
                <a:uFillTx/>
                <a:latin typeface="Calibri"/>
              </a:rPr>
              <a:t>Click to edit the outline text format</a:t>
            </a:r>
            <a:endParaRPr lang="en-US" sz="3200" b="0" u="none" strike="noStrike">
              <a:solidFill>
                <a:schemeClr val="dk1"/>
              </a:solidFill>
              <a:effectLst/>
              <a:uFillTx/>
              <a:latin typeface="Calibri"/>
            </a:endParaRPr>
          </a:p>
          <a:p>
            <a:pPr marL="864000" lvl="1" indent="-324000">
              <a:spcBef>
                <a:spcPts val="1134"/>
              </a:spcBef>
              <a:buClr>
                <a:srgbClr val="000000"/>
              </a:buClr>
              <a:buSzPct val="75000"/>
              <a:buFont typeface="Symbol" charset="2"/>
              <a:buChar char=""/>
            </a:pPr>
            <a:r>
              <a:rPr lang="en-US" sz="2400" b="0" u="none" strike="noStrike">
                <a:solidFill>
                  <a:schemeClr val="dk1"/>
                </a:solidFill>
                <a:effectLst/>
                <a:uFillTx/>
                <a:latin typeface="Calibri"/>
              </a:rPr>
              <a:t>Second Outline Level</a:t>
            </a:r>
            <a:endParaRPr lang="en-US" sz="2400" b="0" u="none" strike="noStrike">
              <a:solidFill>
                <a:schemeClr val="dk1"/>
              </a:solidFill>
              <a:effectLst/>
              <a:uFillTx/>
              <a:latin typeface="Calibri"/>
            </a:endParaRPr>
          </a:p>
          <a:p>
            <a:pPr marL="1296000" lvl="2" indent="-288000">
              <a:spcBef>
                <a:spcPts val="850"/>
              </a:spcBef>
              <a:buClr>
                <a:srgbClr val="000000"/>
              </a:buClr>
              <a:buSzPct val="45000"/>
              <a:buFont typeface="Wingdings" charset="2"/>
              <a:buChar char=""/>
            </a:pPr>
            <a:r>
              <a:rPr lang="en-US" sz="2000" b="0" u="none" strike="noStrike">
                <a:solidFill>
                  <a:schemeClr val="dk1"/>
                </a:solidFill>
                <a:effectLst/>
                <a:uFillTx/>
                <a:latin typeface="Calibri"/>
              </a:rPr>
              <a:t>Third Outline Level</a:t>
            </a:r>
            <a:endParaRPr lang="en-US" sz="2000" b="0" u="none" strike="noStrike">
              <a:solidFill>
                <a:schemeClr val="dk1"/>
              </a:solidFill>
              <a:effectLst/>
              <a:uFillTx/>
              <a:latin typeface="Calibri"/>
            </a:endParaRPr>
          </a:p>
          <a:p>
            <a:pPr marL="1728000" lvl="3" indent="-216000">
              <a:spcBef>
                <a:spcPts val="567"/>
              </a:spcBef>
              <a:buClr>
                <a:srgbClr val="000000"/>
              </a:buClr>
              <a:buSzPct val="75000"/>
              <a:buFont typeface="Symbol" charset="2"/>
              <a:buChar char=""/>
            </a:pPr>
            <a:r>
              <a:rPr lang="en-US" sz="2000" b="0" u="none" strike="noStrike">
                <a:solidFill>
                  <a:schemeClr val="dk1"/>
                </a:solidFill>
                <a:effectLst/>
                <a:uFillTx/>
                <a:latin typeface="Calibri"/>
              </a:rPr>
              <a:t>Fourth Outline Level</a:t>
            </a:r>
            <a:endParaRPr lang="en-US" sz="2000" b="0" u="none" strike="noStrike">
              <a:solidFill>
                <a:schemeClr val="dk1"/>
              </a:solidFill>
              <a:effectLst/>
              <a:uFillTx/>
              <a:latin typeface="Calibri"/>
            </a:endParaRPr>
          </a:p>
          <a:p>
            <a:pPr marL="2160000" lvl="4"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Fifth Outline Level</a:t>
            </a:r>
            <a:endParaRPr lang="en-US" sz="2000" b="0" u="none" strike="noStrike">
              <a:solidFill>
                <a:schemeClr val="dk1"/>
              </a:solidFill>
              <a:effectLst/>
              <a:uFillTx/>
              <a:latin typeface="Calibri"/>
            </a:endParaRPr>
          </a:p>
          <a:p>
            <a:pPr marL="2592000" lvl="5"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Sixth Outline Level</a:t>
            </a:r>
            <a:endParaRPr lang="en-US" sz="2000" b="0" u="none" strike="noStrike">
              <a:solidFill>
                <a:schemeClr val="dk1"/>
              </a:solidFill>
              <a:effectLst/>
              <a:uFillTx/>
              <a:latin typeface="Calibri"/>
            </a:endParaRPr>
          </a:p>
          <a:p>
            <a:pPr marL="3024000" lvl="6" indent="-216000">
              <a:spcBef>
                <a:spcPts val="283"/>
              </a:spcBef>
              <a:buClr>
                <a:srgbClr val="000000"/>
              </a:buClr>
              <a:buSzPct val="45000"/>
              <a:buFont typeface="Wingdings" charset="2"/>
              <a:buChar char=""/>
            </a:pPr>
            <a:r>
              <a:rPr lang="en-US" sz="2000" b="0" u="none" strike="noStrike">
                <a:solidFill>
                  <a:schemeClr val="dk1"/>
                </a:solidFill>
                <a:effectLst/>
                <a:uFillTx/>
                <a:latin typeface="Calibri"/>
              </a:rPr>
              <a:t>Seventh Outline Level</a:t>
            </a:r>
            <a:endParaRPr lang="en-US" sz="2000" b="0" u="none" strike="noStrike">
              <a:solidFill>
                <a:schemeClr val="dk1"/>
              </a:solidFill>
              <a:effectLst/>
              <a:uFillTx/>
              <a:latin typeface="Calibri"/>
            </a:endParaRPr>
          </a:p>
        </p:txBody>
      </p:sp>
    </p:spTree>
  </p:cSld>
  <p:clrMap bg1="lt1" tx1="dk1" bg2="lt2" tx2="dk2" accent1="accent1" accent2="accent2" accent3="accent3" accent4="accent4" accent5="accent5" accent6="accent6" hlink="hlink" folHlink="folHlink"/>
  <p:sldLayoutIdLst>
    <p:sldLayoutId id="2147483649" r:id="rId2"/>
  </p:sldLayoutIdLst>
</p:sldMaster>
</file>

<file path=ppt/slideMasters/slideMaster2.xml><?xml version="1.0" encoding="utf-8"?>
<p:sldMaster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fffff"/>
        </a:solidFill>
      </p:bgPr>
    </p:bg>
    <p:spTree>
      <p:nvGrpSpPr>
        <p:cNvPr id="1" name=""/>
        <p:cNvGrpSpPr/>
        <p:nvPr/>
      </p:nvGrpSpPr>
      <p:grpSpPr>
        <a:xfrm>
          <a:off x="0" y="0"/>
          <a:ext cx="0" cy="0"/>
          <a:chOff x="0" y="0"/>
          <a:chExt cx="0" cy="0"/>
        </a:xfrm>
      </p:grpSpPr>
      <p:sp>
        <p:nvSpPr>
          <p:cNvPr id="4" name="PlaceHolder 1"/>
          <p:cNvSpPr>
            <a:spLocks noGrp="1"/>
          </p:cNvSpPr>
          <p:nvPr>
            <p:ph type="title"/>
          </p:nvPr>
        </p:nvSpPr>
        <p:spPr>
          <a:xfrm>
            <a:off x="456840" y="205200"/>
            <a:ext cx="8229240" cy="858600"/>
          </a:xfrm>
          <a:prstGeom prst="rect">
            <a:avLst/>
          </a:prstGeom>
          <a:noFill/>
          <a:ln w="0">
            <a:noFill/>
          </a:ln>
        </p:spPr>
        <p:txBody>
          <a:bodyPr lIns="0" rIns="0" tIns="0" bIns="0" anchor="ctr">
            <a:noAutofit/>
          </a:bodyPr>
          <a:p>
            <a:pPr indent="0">
              <a:buNone/>
            </a:pPr>
            <a:r>
              <a:rPr lang="en-US" sz="1350" b="0" u="none" strike="noStrike">
                <a:solidFill>
                  <a:schemeClr val="dk1"/>
                </a:solidFill>
                <a:effectLst/>
                <a:uFillTx/>
                <a:latin typeface="Aptos"/>
              </a:rPr>
              <a:t>Click to edit the title text format</a:t>
            </a:r>
            <a:endParaRPr lang="en-US" sz="1350" b="0" u="none" strike="noStrike">
              <a:solidFill>
                <a:schemeClr val="dk1"/>
              </a:solidFill>
              <a:effectLst/>
              <a:uFillTx/>
              <a:latin typeface="Aptos"/>
            </a:endParaRPr>
          </a:p>
        </p:txBody>
      </p:sp>
      <p:sp>
        <p:nvSpPr>
          <p:cNvPr id="5" name="PlaceHolder 2"/>
          <p:cNvSpPr>
            <a:spLocks noGrp="1"/>
          </p:cNvSpPr>
          <p:nvPr>
            <p:ph type="body"/>
          </p:nvPr>
        </p:nvSpPr>
        <p:spPr>
          <a:xfrm>
            <a:off x="456840" y="1203120"/>
            <a:ext cx="8229240" cy="2982960"/>
          </a:xfrm>
          <a:prstGeom prst="rect">
            <a:avLst/>
          </a:prstGeom>
          <a:noFill/>
          <a:ln w="0">
            <a:noFill/>
          </a:ln>
        </p:spPr>
        <p:txBody>
          <a:bodyPr lIns="0" rIns="0" tIns="0" bIns="0" anchor="t">
            <a:normAutofit/>
          </a:bodyPr>
          <a:p>
            <a:pPr marL="432000" indent="-324000">
              <a:lnSpc>
                <a:spcPct val="90000"/>
              </a:lnSpc>
              <a:spcBef>
                <a:spcPts val="1063"/>
              </a:spcBef>
              <a:buClr>
                <a:srgbClr val="000000"/>
              </a:buClr>
              <a:buSzPct val="45000"/>
              <a:buFont typeface="Wingdings" charset="2"/>
              <a:buChar char=""/>
            </a:pPr>
            <a:r>
              <a:rPr lang="en-US" sz="2100" b="0" u="none" strike="noStrike">
                <a:solidFill>
                  <a:schemeClr val="dk1"/>
                </a:solidFill>
                <a:effectLst/>
                <a:uFillTx/>
                <a:latin typeface="Aptos"/>
              </a:rPr>
              <a:t>Click to edit the outline text format</a:t>
            </a:r>
            <a:endParaRPr lang="en-US" sz="2100" b="0" u="none" strike="noStrike">
              <a:solidFill>
                <a:schemeClr val="dk1"/>
              </a:solidFill>
              <a:effectLst/>
              <a:uFillTx/>
              <a:latin typeface="Aptos"/>
            </a:endParaRPr>
          </a:p>
          <a:p>
            <a:pPr marL="864000" lvl="1" indent="-324000">
              <a:lnSpc>
                <a:spcPct val="90000"/>
              </a:lnSpc>
              <a:spcBef>
                <a:spcPts val="848"/>
              </a:spcBef>
              <a:buClr>
                <a:srgbClr val="000000"/>
              </a:buClr>
              <a:buSzPct val="75000"/>
              <a:buFont typeface="Symbol" charset="2"/>
              <a:buChar char=""/>
            </a:pPr>
            <a:r>
              <a:rPr lang="en-US" sz="1500" b="0" u="none" strike="noStrike">
                <a:solidFill>
                  <a:schemeClr val="dk1"/>
                </a:solidFill>
                <a:effectLst/>
                <a:uFillTx/>
                <a:latin typeface="Aptos"/>
              </a:rPr>
              <a:t>Second Outline Level</a:t>
            </a:r>
            <a:endParaRPr lang="en-US" sz="1500" b="0" u="none" strike="noStrike">
              <a:solidFill>
                <a:schemeClr val="dk1"/>
              </a:solidFill>
              <a:effectLst/>
              <a:uFillTx/>
              <a:latin typeface="Aptos"/>
            </a:endParaRPr>
          </a:p>
          <a:p>
            <a:pPr marL="1296000" lvl="2" indent="-288000">
              <a:lnSpc>
                <a:spcPct val="90000"/>
              </a:lnSpc>
              <a:spcBef>
                <a:spcPts val="635"/>
              </a:spcBef>
              <a:buClr>
                <a:srgbClr val="000000"/>
              </a:buClr>
              <a:buSzPct val="45000"/>
              <a:buFont typeface="Wingdings" charset="2"/>
              <a:buChar char=""/>
            </a:pPr>
            <a:r>
              <a:rPr lang="en-US" sz="1350" b="0" u="none" strike="noStrike">
                <a:solidFill>
                  <a:schemeClr val="dk1"/>
                </a:solidFill>
                <a:effectLst/>
                <a:uFillTx/>
                <a:latin typeface="Aptos"/>
              </a:rPr>
              <a:t>Third Outline Level</a:t>
            </a:r>
            <a:endParaRPr lang="en-US" sz="1350" b="0" u="none" strike="noStrike">
              <a:solidFill>
                <a:schemeClr val="dk1"/>
              </a:solidFill>
              <a:effectLst/>
              <a:uFillTx/>
              <a:latin typeface="Aptos"/>
            </a:endParaRPr>
          </a:p>
          <a:p>
            <a:pPr marL="1728000" lvl="3" indent="-216000">
              <a:lnSpc>
                <a:spcPct val="90000"/>
              </a:lnSpc>
              <a:spcBef>
                <a:spcPts val="422"/>
              </a:spcBef>
              <a:buClr>
                <a:srgbClr val="000000"/>
              </a:buClr>
              <a:buSzPct val="75000"/>
              <a:buFont typeface="Symbol" charset="2"/>
              <a:buChar char=""/>
            </a:pPr>
            <a:r>
              <a:rPr lang="en-US" sz="1350" b="0" u="none" strike="noStrike">
                <a:solidFill>
                  <a:schemeClr val="dk1"/>
                </a:solidFill>
                <a:effectLst/>
                <a:uFillTx/>
                <a:latin typeface="Aptos"/>
              </a:rPr>
              <a:t>Fourth Outline Level</a:t>
            </a:r>
            <a:endParaRPr lang="en-US" sz="1350" b="0" u="none" strike="noStrike">
              <a:solidFill>
                <a:schemeClr val="dk1"/>
              </a:solidFill>
              <a:effectLst/>
              <a:uFillTx/>
              <a:latin typeface="Aptos"/>
            </a:endParaRPr>
          </a:p>
          <a:p>
            <a:pPr marL="2160000" lvl="4" indent="-216000">
              <a:lnSpc>
                <a:spcPct val="9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Fifth Outline Level</a:t>
            </a:r>
            <a:endParaRPr lang="en-US" sz="1500" b="0" u="none" strike="noStrike">
              <a:solidFill>
                <a:schemeClr val="dk1"/>
              </a:solidFill>
              <a:effectLst/>
              <a:uFillTx/>
              <a:latin typeface="Aptos"/>
            </a:endParaRPr>
          </a:p>
          <a:p>
            <a:pPr marL="2592000" lvl="5" indent="-216000">
              <a:lnSpc>
                <a:spcPct val="9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Sixth Outline Level</a:t>
            </a:r>
            <a:endParaRPr lang="en-US" sz="1500" b="0" u="none" strike="noStrike">
              <a:solidFill>
                <a:schemeClr val="dk1"/>
              </a:solidFill>
              <a:effectLst/>
              <a:uFillTx/>
              <a:latin typeface="Aptos"/>
            </a:endParaRPr>
          </a:p>
          <a:p>
            <a:pPr marL="3024000" lvl="6" indent="-216000">
              <a:lnSpc>
                <a:spcPct val="90000"/>
              </a:lnSpc>
              <a:spcBef>
                <a:spcPts val="210"/>
              </a:spcBef>
              <a:buClr>
                <a:srgbClr val="000000"/>
              </a:buClr>
              <a:buSzPct val="45000"/>
              <a:buFont typeface="Wingdings" charset="2"/>
              <a:buChar char=""/>
            </a:pPr>
            <a:r>
              <a:rPr lang="en-US" sz="1500" b="0" u="none" strike="noStrike">
                <a:solidFill>
                  <a:schemeClr val="dk1"/>
                </a:solidFill>
                <a:effectLst/>
                <a:uFillTx/>
                <a:latin typeface="Aptos"/>
              </a:rPr>
              <a:t>Seventh Outline Level</a:t>
            </a:r>
            <a:endParaRPr lang="en-US" sz="1500" b="0" u="none" strike="noStrike">
              <a:solidFill>
                <a:schemeClr val="dk1"/>
              </a:solidFill>
              <a:effectLst/>
              <a:uFillTx/>
              <a:latin typeface="Aptos"/>
            </a:endParaRPr>
          </a:p>
        </p:txBody>
      </p:sp>
    </p:spTree>
  </p:cSld>
  <p:clrMap bg1="lt1" tx1="dk1" bg2="lt2" tx2="dk2" accent1="accent1" accent2="accent2" accent3="accent3" accent4="accent4" accent5="accent5" accent6="accent6" hlink="hlink" folHlink="folHlink"/>
  <p:sldLayoutIdLst>
    <p:sldLayoutId id="2147483651" r:id="rId2"/>
  </p:sldLayoutId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1.png"/><Relationship Id="rId2" Type="http://schemas.openxmlformats.org/officeDocument/2006/relationships/image" Target="../media/image2.png"/><Relationship Id="rId3" Type="http://schemas.openxmlformats.org/officeDocument/2006/relationships/image" Target="../media/image3.png"/><Relationship Id="rId4" Type="http://schemas.openxmlformats.org/officeDocument/2006/relationships/image" Target="../media/image4.png"/><Relationship Id="rId5" Type="http://schemas.openxmlformats.org/officeDocument/2006/relationships/image" Target="../media/image5.png"/><Relationship Id="rId6" Type="http://schemas.openxmlformats.org/officeDocument/2006/relationships/image" Target="../media/image6.png"/><Relationship Id="rId7" Type="http://schemas.openxmlformats.org/officeDocument/2006/relationships/image" Target="../media/image7.png"/><Relationship Id="rId8" Type="http://schemas.openxmlformats.org/officeDocument/2006/relationships/image" Target="../media/image8.png"/><Relationship Id="rId9" Type="http://schemas.openxmlformats.org/officeDocument/2006/relationships/hyperlink" Target="file:///C:/Users/Gamer/Documents/GitHub/Medallion%20pipeline/Week_02/Day_10/Slides/&#12304;264677521234698&#8224;L16-L31&#12305;" TargetMode="External"/><Relationship Id="rId10" Type="http://schemas.openxmlformats.org/officeDocument/2006/relationships/hyperlink" Target="file:///C:/Users/Gamer/Documents/GitHub/Medallion%20pipeline/Week_02/Day_10/Slides/&#12304;914129425933635&#8224;L69-L87&#12305;" TargetMode="External"/><Relationship Id="rId11" Type="http://schemas.openxmlformats.org/officeDocument/2006/relationships/hyperlink" Target="file:///C:/Users/Gamer/Documents/GitHub/Medallion%20pipeline/Week_02/Day_10/Slides/&#12304;832184536137635&#8224;L50-L71&#12305;" TargetMode="External"/><Relationship Id="rId12" Type="http://schemas.openxmlformats.org/officeDocument/2006/relationships/slideLayout" Target="../slideLayouts/slideLayout1.xml"/><Relationship Id="rId1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9.png"/><Relationship Id="rId2" Type="http://schemas.openxmlformats.org/officeDocument/2006/relationships/image" Target="../media/image2.png"/><Relationship Id="rId3" Type="http://schemas.openxmlformats.org/officeDocument/2006/relationships/image" Target="../media/image10.png"/><Relationship Id="rId4" Type="http://schemas.openxmlformats.org/officeDocument/2006/relationships/image" Target="../media/image11.png"/><Relationship Id="rId5" Type="http://schemas.openxmlformats.org/officeDocument/2006/relationships/image" Target="../media/image7.png"/><Relationship Id="rId6" Type="http://schemas.openxmlformats.org/officeDocument/2006/relationships/image" Target="../media/image12.png"/><Relationship Id="rId7" Type="http://schemas.openxmlformats.org/officeDocument/2006/relationships/image" Target="../media/image8.png"/><Relationship Id="rId8" Type="http://schemas.openxmlformats.org/officeDocument/2006/relationships/image" Target="../media/image13.png"/><Relationship Id="rId9" Type="http://schemas.openxmlformats.org/officeDocument/2006/relationships/hyperlink" Target="file:///C:/Users/Gamer/Documents/&#12304;914129425933635&#8224;L107-L141&#12305;" TargetMode="External"/><Relationship Id="rId10" Type="http://schemas.openxmlformats.org/officeDocument/2006/relationships/hyperlink" Target="file:///C:/Users/Gamer/Documents/&#12304;757855153343287&#8224;L133-L150&#12305;" TargetMode="External"/><Relationship Id="rId11" Type="http://schemas.openxmlformats.org/officeDocument/2006/relationships/slideLayout" Target="../slideLayouts/slideLayout2.xml"/><Relationship Id="rId1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764676770703156&#8224;L185-L196&#12305;" TargetMode="External"/><Relationship Id="rId2" Type="http://schemas.openxmlformats.org/officeDocument/2006/relationships/hyperlink" Target="file:///C:/Users/Gamer/Documents/GitHub/Medallion%20pipeline/Week_02/Day_10/Slides/&#12304;161651347344140&#8224;L248-L255&#12305;" TargetMode="External"/><Relationship Id="rId3" Type="http://schemas.openxmlformats.org/officeDocument/2006/relationships/hyperlink" Target="file:///C:/Users/Gamer/Documents/GitHub/Medallion%20pipeline/Week_02/Day_10/Slides/&#12304;76655757129239&#8224;L164-L176&#12305;" TargetMode="External"/><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3.png"/><Relationship Id="rId2" Type="http://schemas.openxmlformats.org/officeDocument/2006/relationships/image" Target="../media/image3.png"/><Relationship Id="rId3" Type="http://schemas.openxmlformats.org/officeDocument/2006/relationships/image" Target="../media/image6.png"/><Relationship Id="rId4" Type="http://schemas.openxmlformats.org/officeDocument/2006/relationships/image" Target="../media/image14.png"/><Relationship Id="rId5" Type="http://schemas.openxmlformats.org/officeDocument/2006/relationships/hyperlink" Target="file:///C:/Users/Gamer/Documents/GitHub/Medallion%20pipeline/Week_02/Day_10/Slides/&#12304;832184536137635&#8224;L24-L46&#12305;" TargetMode="External"/><Relationship Id="rId6" Type="http://schemas.openxmlformats.org/officeDocument/2006/relationships/hyperlink" Target="file:///C:/Users/Gamer/Documents/GitHub/Medallion%20pipeline/Week_02/Day_10/Slides/&#12304;161651347344140&#8224;L210-L222&#12305;" TargetMode="External"/><Relationship Id="rId7" Type="http://schemas.openxmlformats.org/officeDocument/2006/relationships/slideLayout" Target="../slideLayouts/slideLayout1.xml"/><Relationship Id="rId8"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hyperlink" Target="file:///C:/Users/Gamer/Documents/&#12304;764676770703156&#8224;L297-L321&#12305;" TargetMode="External"/><Relationship Id="rId2" Type="http://schemas.openxmlformats.org/officeDocument/2006/relationships/hyperlink" Target="file:///C:/Users/Gamer/Documents/&#12304;240411915442221&#8224;L571-L594&#12305;" TargetMode="External"/><Relationship Id="rId3" Type="http://schemas.openxmlformats.org/officeDocument/2006/relationships/hyperlink" Target="file:///C:/Users/Gamer/Documents/&#12304;76655757129239&#8224;L187-L207&#12305;" TargetMode="External"/><Relationship Id="rId4" Type="http://schemas.openxmlformats.org/officeDocument/2006/relationships/slideLayout" Target="../slideLayouts/slideLayout2.xml"/><Relationship Id="rId5"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264677521234698&#8224;L16-L31&#12305;" TargetMode="External"/><Relationship Id="rId2" Type="http://schemas.openxmlformats.org/officeDocument/2006/relationships/hyperlink" Target="file:///C:/Users/Gamer/Documents/GitHub/Medallion%20pipeline/Week_02/Day_10/Slides/&#12304;73443659327933&#8224;L127-L148&#12305;" TargetMode="External"/><Relationship Id="rId3" Type="http://schemas.openxmlformats.org/officeDocument/2006/relationships/hyperlink" Target="file:///C:/Users/Gamer/Documents/GitHub/Medallion%20pipeline/Week_02/Day_10/Slides/&#12304;764676770703156&#8224;L234-L248&#12305;" TargetMode="External"/><Relationship Id="rId4" Type="http://schemas.openxmlformats.org/officeDocument/2006/relationships/slideLayout" Target="../slideLayouts/slideLayout1.xml"/><Relationship Id="rId5"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645518690862239&#8224;L139-L173&#12305;" TargetMode="External"/><Relationship Id="rId2" Type="http://schemas.openxmlformats.org/officeDocument/2006/relationships/hyperlink" Target="file:///C:/Users/Gamer/Documents/GitHub/Medallion%20pipeline/Week_02/Day_10/Slides/&#12304;645518690862239&#8224;L284-L296&#12305;" TargetMode="External"/><Relationship Id="rId3" Type="http://schemas.openxmlformats.org/officeDocument/2006/relationships/slideLayout" Target="../slideLayouts/slideLayout1.xml"/><Relationship Id="rId4"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738270415585089&#8224;L571-L594&#12305;" TargetMode="External"/><Relationship Id="rId2" Type="http://schemas.openxmlformats.org/officeDocument/2006/relationships/hyperlink" Target="file:///C:/Users/Gamer/Documents/GitHub/Medallion%20pipeline/Week_02/Day_10/Slides/&#12304;161651347344140&#8224;L248-L255&#12305;" TargetMode="External"/><Relationship Id="rId3" Type="http://schemas.openxmlformats.org/officeDocument/2006/relationships/hyperlink" Target="file:///C:/Users/Gamer/Documents/GitHub/Medallion%20pipeline/Week_02/Day_10/Slides/&#12304;161651347344140&#8224;L259-L279&#12305;" TargetMode="External"/><Relationship Id="rId4" Type="http://schemas.openxmlformats.org/officeDocument/2006/relationships/hyperlink" Target="file:///C:/Users/Gamer/Documents/GitHub/Medallion%20pipeline/Week_02/Day_10/Slides/&#12304;161651347344140&#8224;L288-L298&#12305;" TargetMode="External"/><Relationship Id="rId5" Type="http://schemas.openxmlformats.org/officeDocument/2006/relationships/slideLayout" Target="../slideLayouts/slideLayout1.xml"/><Relationship Id="rId6"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76655757129239&#8224;L187-L207&#12305;" TargetMode="External"/><Relationship Id="rId2" Type="http://schemas.openxmlformats.org/officeDocument/2006/relationships/hyperlink" Target="file:///C:/Users/Gamer/Documents/GitHub/Medallion%20pipeline/Week_02/Day_10/Slides/&#12304;298368715109598&#8224;L154-L180&#12305;" TargetMode="External"/><Relationship Id="rId3" Type="http://schemas.openxmlformats.org/officeDocument/2006/relationships/slideLayout" Target="../slideLayouts/slideLayout1.xml"/><Relationship Id="rId4"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914129425933635&#8224;L107-L141&#12305;" TargetMode="External"/><Relationship Id="rId2" Type="http://schemas.openxmlformats.org/officeDocument/2006/relationships/hyperlink" Target="file:///C:/Users/Gamer/Documents/GitHub/Medallion%20pipeline/Week_02/Day_10/Slides/&#12304;757855153343287&#8224;L133-L150&#12305;" TargetMode="External"/><Relationship Id="rId3" Type="http://schemas.openxmlformats.org/officeDocument/2006/relationships/hyperlink" Target="file:///C:/Users/Gamer/Documents/GitHub/Medallion%20pipeline/Week_02/Day_10/Slides/&#12304;831215892819426&#8224;L136-L154&#12305;" TargetMode="External"/><Relationship Id="rId4" Type="http://schemas.openxmlformats.org/officeDocument/2006/relationships/slideLayout" Target="../slideLayouts/slideLayout1.xml"/><Relationship Id="rId5"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764676770703156&#8224;L327-L329&#12305;" TargetMode="External"/><Relationship Id="rId2" Type="http://schemas.openxmlformats.org/officeDocument/2006/relationships/hyperlink" Target="file:///C:/Users/Gamer/Documents/GitHub/Medallion%20pipeline/Week_02/Day_10/Slides/&#12304;240411915442221&#8224;L571-L594&#12305;" TargetMode="External"/><Relationship Id="rId3" Type="http://schemas.openxmlformats.org/officeDocument/2006/relationships/hyperlink" Target="file:///C:/Users/Gamer/Documents/GitHub/Medallion%20pipeline/Week_02/Day_10/Slides/&#12304;298368715109598&#8224;L154-L180&#12305;" TargetMode="External"/><Relationship Id="rId4" Type="http://schemas.openxmlformats.org/officeDocument/2006/relationships/slideLayout" Target="../slideLayouts/slideLayout1.xml"/><Relationship Id="rId5"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702206152357481&#8224;L131-L153&#12305;" TargetMode="External"/><Relationship Id="rId2" Type="http://schemas.openxmlformats.org/officeDocument/2006/relationships/slideLayout" Target="../slideLayouts/slideLayout1.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73443659327933&#8224;L127-L148&#12305;" TargetMode="External"/><Relationship Id="rId2" Type="http://schemas.openxmlformats.org/officeDocument/2006/relationships/hyperlink" Target="file:///C:/Users/Gamer/Documents/GitHub/Medallion%20pipeline/Week_02/Day_10/Slides/&#12304;764676770703156&#8224;L185-L196&#12305;" TargetMode="External"/><Relationship Id="rId3" Type="http://schemas.openxmlformats.org/officeDocument/2006/relationships/slideLayout" Target="../slideLayouts/slideLayout1.xml"/><Relationship Id="rId4"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645518690862239&#8224;L213-L232&#12305;" TargetMode="External"/><Relationship Id="rId2" Type="http://schemas.openxmlformats.org/officeDocument/2006/relationships/hyperlink" Target="file:///C:/Users/Gamer/Documents/GitHub/Medallion%20pipeline/Week_02/Day_10/Slides/&#12304;645518690862239&#8224;L284-L296&#12305;" TargetMode="External"/><Relationship Id="rId3" Type="http://schemas.openxmlformats.org/officeDocument/2006/relationships/slideLayout" Target="../slideLayouts/slideLayout1.xml"/><Relationship Id="rId4"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709367339829282&#8224;L361-L401&#12305;" TargetMode="External"/><Relationship Id="rId2" Type="http://schemas.openxmlformats.org/officeDocument/2006/relationships/hyperlink" Target="file:///C:/Users/Gamer/Documents/GitHub/Medallion%20pipeline/Week_02/Day_10/Slides/&#12304;161651347344140&#8224;L259-L279&#12305;" TargetMode="External"/><Relationship Id="rId3" Type="http://schemas.openxmlformats.org/officeDocument/2006/relationships/hyperlink" Target="file:///C:/Users/Gamer/Documents/GitHub/Medallion%20pipeline/Week_02/Day_10/Slides/&#12304;161651347344140&#8224;L288-L298&#12305;" TargetMode="External"/><Relationship Id="rId4" Type="http://schemas.openxmlformats.org/officeDocument/2006/relationships/slideLayout" Target="../slideLayouts/slideLayout1.xml"/><Relationship Id="rId5"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76655757129239&#8224;L217-L224&#12305;" TargetMode="External"/><Relationship Id="rId2" Type="http://schemas.openxmlformats.org/officeDocument/2006/relationships/hyperlink" Target="file:///C:/Users/Gamer/Documents/GitHub/Medallion%20pipeline/Week_02/Day_10/Slides/&#12304;161651347344140&#8224;L310-L316&#12305;" TargetMode="External"/><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831215892819426&#8224;L165-L179&#12305;" TargetMode="External"/><Relationship Id="rId2" Type="http://schemas.openxmlformats.org/officeDocument/2006/relationships/hyperlink" Target="file:///C:/Users/Gamer/Documents/GitHub/Medallion%20pipeline/Week_02/Day_10/Slides/&#12304;11958451080285&#8224;L326-L347&#12305;" TargetMode="External"/><Relationship Id="rId3" Type="http://schemas.openxmlformats.org/officeDocument/2006/relationships/slideLayout" Target="../slideLayouts/slideLayout1.xml"/><Relationship Id="rId4"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13.png"/><Relationship Id="rId2" Type="http://schemas.openxmlformats.org/officeDocument/2006/relationships/image" Target="../media/image13.png"/><Relationship Id="rId3" Type="http://schemas.openxmlformats.org/officeDocument/2006/relationships/image" Target="../media/image13.png"/><Relationship Id="rId4" Type="http://schemas.openxmlformats.org/officeDocument/2006/relationships/image" Target="../media/image13.png"/><Relationship Id="rId5" Type="http://schemas.openxmlformats.org/officeDocument/2006/relationships/image" Target="../media/image13.png"/><Relationship Id="rId6" Type="http://schemas.openxmlformats.org/officeDocument/2006/relationships/image" Target="../media/image13.png"/><Relationship Id="rId7" Type="http://schemas.openxmlformats.org/officeDocument/2006/relationships/slideLayout" Target="../slideLayouts/slideLayout1.xml"/><Relationship Id="rId8"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hyperlink" Target="file:///C:/Users/Gamer/Documents/GitHub/Medallion%20pipeline/Week_02/Day_10/Slides/&#12304;831215892819426&#8224;L213-L219&#12305;" TargetMode="External"/><Relationship Id="rId2" Type="http://schemas.openxmlformats.org/officeDocument/2006/relationships/hyperlink" Target="file:///C:/Users/Gamer/Documents/GitHub/Medallion%20pipeline/Week_02/Day_10/Slides/&#12304;11958451080285&#8224;L451-L459&#12305;" TargetMode="External"/><Relationship Id="rId3" Type="http://schemas.openxmlformats.org/officeDocument/2006/relationships/slideLayout" Target="../slideLayouts/slideLayout1.xml"/><Relationship Id="rId4"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9.png"/></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0.png"/></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8.png"/></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6.png"/><Relationship Id="rId3" Type="http://schemas.openxmlformats.org/officeDocument/2006/relationships/image" Target="../media/image15.png"/><Relationship Id="rId4" Type="http://schemas.openxmlformats.org/officeDocument/2006/relationships/image" Target="../media/image21.png"/><Relationship Id="rId5" Type="http://schemas.openxmlformats.org/officeDocument/2006/relationships/image" Target="../media/image17.png"/></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1.png"/></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 Id="rId3" Type="http://schemas.openxmlformats.org/officeDocument/2006/relationships/image" Target="../media/image18.png"/><Relationship Id="rId4" Type="http://schemas.openxmlformats.org/officeDocument/2006/relationships/image" Target="../media/image23.png"/><Relationship Id="rId5" Type="http://schemas.openxmlformats.org/officeDocument/2006/relationships/image" Target="../media/image24.png"/></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5.png"/></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3.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4.png"/></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 Id="rId3" Type="http://schemas.openxmlformats.org/officeDocument/2006/relationships/image" Target="../media/image26.png"/><Relationship Id="rId4" Type="http://schemas.openxmlformats.org/officeDocument/2006/relationships/image" Target="../media/image24.png"/><Relationship Id="rId5" Type="http://schemas.openxmlformats.org/officeDocument/2006/relationships/image" Target="../media/image19.png"/></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15.png"/></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2.png"/></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image" Target="../media/image26.png"/></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2" name="Shape 0"/>
          <p:cNvSpPr/>
          <p:nvPr/>
        </p:nvSpPr>
        <p:spPr>
          <a:xfrm>
            <a:off x="0" y="0"/>
            <a:ext cx="9143640" cy="54828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3" name="Text 1"/>
          <p:cNvSpPr/>
          <p:nvPr/>
        </p:nvSpPr>
        <p:spPr>
          <a:xfrm>
            <a:off x="457200" y="91440"/>
            <a:ext cx="7314840" cy="3654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400" b="1" u="none" strike="noStrike">
                <a:solidFill>
                  <a:srgbClr val="ffffff"/>
                </a:solidFill>
                <a:effectLst/>
                <a:uFillTx/>
                <a:latin typeface="Calibri"/>
              </a:rPr>
              <a:t>Day 10</a:t>
            </a:r>
            <a:r>
              <a:rPr lang="en-US" sz="1600" b="0" u="none" strike="noStrike">
                <a:solidFill>
                  <a:srgbClr val="ffffff"/>
                </a:solidFill>
                <a:effectLst/>
                <a:uFillTx/>
                <a:latin typeface="Calibri"/>
              </a:rPr>
              <a:t>  Final Project: Unified Streaming Data Platform</a:t>
            </a:r>
            <a:endParaRPr lang="en-IN" sz="1600" b="0" u="none" strike="noStrike">
              <a:solidFill>
                <a:srgbClr val="000000"/>
              </a:solidFill>
              <a:effectLst/>
              <a:uFillTx/>
              <a:latin typeface="Arial"/>
            </a:endParaRPr>
          </a:p>
        </p:txBody>
      </p:sp>
      <p:sp>
        <p:nvSpPr>
          <p:cNvPr id="14" name="Text 2"/>
          <p:cNvSpPr/>
          <p:nvPr/>
        </p:nvSpPr>
        <p:spPr>
          <a:xfrm>
            <a:off x="457200" y="914400"/>
            <a:ext cx="7772040" cy="731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600" b="0" i="1" u="none" strike="noStrike">
                <a:solidFill>
                  <a:srgbClr val="003c54"/>
                </a:solidFill>
                <a:effectLst/>
                <a:uFillTx/>
                <a:latin typeface="Calibri"/>
              </a:rPr>
              <a:t>Capstone Project</a:t>
            </a:r>
            <a:br>
              <a:rPr sz="1600"/>
            </a:br>
            <a:r>
              <a:rPr lang="en-US" sz="1600" b="0" i="1" u="none" strike="noStrike">
                <a:solidFill>
                  <a:srgbClr val="003c54"/>
                </a:solidFill>
                <a:effectLst/>
                <a:uFillTx/>
                <a:latin typeface="Calibri"/>
              </a:rPr>
              <a:t>Bringing it all together: from CDC to serving</a:t>
            </a:r>
            <a:endParaRPr lang="en-IN" sz="1600" b="0" u="none" strike="noStrike">
              <a:solidFill>
                <a:srgbClr val="000000"/>
              </a:solidFill>
              <a:effectLst/>
              <a:uFillTx/>
              <a:latin typeface="Arial"/>
            </a:endParaRPr>
          </a:p>
        </p:txBody>
      </p:sp>
      <p:sp>
        <p:nvSpPr>
          <p:cNvPr id="15" name="Text 12"/>
          <p:cNvSpPr/>
          <p:nvPr/>
        </p:nvSpPr>
        <p:spPr>
          <a:xfrm>
            <a:off x="7315200" y="91440"/>
            <a:ext cx="1371240" cy="365400"/>
          </a:xfrm>
          <a:prstGeom prst="rect">
            <a:avLst/>
          </a:prstGeom>
          <a:noFill/>
          <a:ln w="0">
            <a:noFill/>
          </a:ln>
        </p:spPr>
        <p:style>
          <a:lnRef idx="0"/>
          <a:fillRef idx="0"/>
          <a:effectRef idx="0"/>
          <a:fontRef idx="minor"/>
        </p:style>
        <p:txBody>
          <a:bodyPr lIns="90000" rIns="90000" tIns="45000" bIns="45000" anchor="ctr">
            <a:noAutofit/>
          </a:bodyPr>
          <a:p>
            <a:pPr algn="r" defTabSz="914400">
              <a:lnSpc>
                <a:spcPct val="100000"/>
              </a:lnSpc>
              <a:tabLst>
                <a:tab algn="l" pos="0"/>
              </a:tabLst>
            </a:pPr>
            <a:endParaRPr lang="en-IN" sz="1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6"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7"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Learning Objectives</a:t>
            </a:r>
            <a:endParaRPr lang="en-IN" sz="2000" b="0" u="none" strike="noStrike">
              <a:solidFill>
                <a:srgbClr val="000000"/>
              </a:solidFill>
              <a:effectLst/>
              <a:uFillTx/>
              <a:latin typeface="Arial"/>
            </a:endParaRPr>
          </a:p>
        </p:txBody>
      </p:sp>
      <p:pic>
        <p:nvPicPr>
          <p:cNvPr id="18" name="Image 0"/>
          <p:cNvPicPr/>
          <p:nvPr/>
        </p:nvPicPr>
        <p:blipFill>
          <a:blip r:embed="rId1"/>
          <a:stretch/>
        </p:blipFill>
        <p:spPr>
          <a:xfrm>
            <a:off x="457200" y="640080"/>
            <a:ext cx="228240" cy="228240"/>
          </a:xfrm>
          <a:prstGeom prst="rect">
            <a:avLst/>
          </a:prstGeom>
          <a:noFill/>
          <a:ln w="0">
            <a:noFill/>
          </a:ln>
        </p:spPr>
      </p:pic>
      <p:sp>
        <p:nvSpPr>
          <p:cNvPr id="19" name="Text 2"/>
          <p:cNvSpPr/>
          <p:nvPr/>
        </p:nvSpPr>
        <p:spPr>
          <a:xfrm>
            <a:off x="777240" y="68580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Articulate the business problem and map data sources</a:t>
            </a:r>
            <a:endParaRPr lang="en-IN" sz="1100" b="0" u="none" strike="noStrike">
              <a:solidFill>
                <a:srgbClr val="000000"/>
              </a:solidFill>
              <a:effectLst/>
              <a:uFillTx/>
              <a:latin typeface="Arial"/>
            </a:endParaRPr>
          </a:p>
        </p:txBody>
      </p:sp>
      <p:pic>
        <p:nvPicPr>
          <p:cNvPr id="20" name="Image 1"/>
          <p:cNvPicPr/>
          <p:nvPr/>
        </p:nvPicPr>
        <p:blipFill>
          <a:blip r:embed="rId2"/>
          <a:stretch/>
        </p:blipFill>
        <p:spPr>
          <a:xfrm>
            <a:off x="457200" y="960120"/>
            <a:ext cx="228240" cy="228240"/>
          </a:xfrm>
          <a:prstGeom prst="rect">
            <a:avLst/>
          </a:prstGeom>
          <a:noFill/>
          <a:ln w="0">
            <a:noFill/>
          </a:ln>
        </p:spPr>
      </p:pic>
      <p:sp>
        <p:nvSpPr>
          <p:cNvPr id="21" name="Text 3"/>
          <p:cNvSpPr/>
          <p:nvPr/>
        </p:nvSpPr>
        <p:spPr>
          <a:xfrm>
            <a:off x="777240" y="100584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Design an end‑to‑end streaming data architecture</a:t>
            </a:r>
            <a:endParaRPr lang="en-IN" sz="1100" b="0" u="none" strike="noStrike">
              <a:solidFill>
                <a:srgbClr val="000000"/>
              </a:solidFill>
              <a:effectLst/>
              <a:uFillTx/>
              <a:latin typeface="Arial"/>
            </a:endParaRPr>
          </a:p>
        </p:txBody>
      </p:sp>
      <p:pic>
        <p:nvPicPr>
          <p:cNvPr id="22" name="Image 2"/>
          <p:cNvPicPr/>
          <p:nvPr/>
        </p:nvPicPr>
        <p:blipFill>
          <a:blip r:embed="rId3"/>
          <a:stretch/>
        </p:blipFill>
        <p:spPr>
          <a:xfrm>
            <a:off x="457200" y="1280160"/>
            <a:ext cx="228240" cy="228240"/>
          </a:xfrm>
          <a:prstGeom prst="rect">
            <a:avLst/>
          </a:prstGeom>
          <a:noFill/>
          <a:ln w="0">
            <a:noFill/>
          </a:ln>
        </p:spPr>
      </p:pic>
      <p:sp>
        <p:nvSpPr>
          <p:cNvPr id="23" name="Text 4"/>
          <p:cNvSpPr/>
          <p:nvPr/>
        </p:nvSpPr>
        <p:spPr>
          <a:xfrm>
            <a:off x="777240" y="132588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Capture changes with Debezium and manage schemas</a:t>
            </a:r>
            <a:endParaRPr lang="en-IN" sz="1100" b="0" u="none" strike="noStrike">
              <a:solidFill>
                <a:srgbClr val="000000"/>
              </a:solidFill>
              <a:effectLst/>
              <a:uFillTx/>
              <a:latin typeface="Arial"/>
            </a:endParaRPr>
          </a:p>
        </p:txBody>
      </p:sp>
      <p:pic>
        <p:nvPicPr>
          <p:cNvPr id="24" name="Image 3"/>
          <p:cNvPicPr/>
          <p:nvPr/>
        </p:nvPicPr>
        <p:blipFill>
          <a:blip r:embed="rId4"/>
          <a:stretch/>
        </p:blipFill>
        <p:spPr>
          <a:xfrm>
            <a:off x="457200" y="1600200"/>
            <a:ext cx="228240" cy="228240"/>
          </a:xfrm>
          <a:prstGeom prst="rect">
            <a:avLst/>
          </a:prstGeom>
          <a:noFill/>
          <a:ln w="0">
            <a:noFill/>
          </a:ln>
        </p:spPr>
      </p:pic>
      <p:sp>
        <p:nvSpPr>
          <p:cNvPr id="25" name="Text 5"/>
          <p:cNvSpPr/>
          <p:nvPr/>
        </p:nvSpPr>
        <p:spPr>
          <a:xfrm>
            <a:off x="777240" y="164592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Map transformation and medallion-storage extensions from earlier days</a:t>
            </a:r>
            <a:endParaRPr lang="en-IN" sz="1100" b="0" u="none" strike="noStrike">
              <a:solidFill>
                <a:srgbClr val="000000"/>
              </a:solidFill>
              <a:effectLst/>
              <a:uFillTx/>
              <a:latin typeface="Arial"/>
            </a:endParaRPr>
          </a:p>
        </p:txBody>
      </p:sp>
      <p:pic>
        <p:nvPicPr>
          <p:cNvPr id="26" name="Image 4"/>
          <p:cNvPicPr/>
          <p:nvPr/>
        </p:nvPicPr>
        <p:blipFill>
          <a:blip r:embed="rId5"/>
          <a:stretch/>
        </p:blipFill>
        <p:spPr>
          <a:xfrm>
            <a:off x="457200" y="1920240"/>
            <a:ext cx="228240" cy="228240"/>
          </a:xfrm>
          <a:prstGeom prst="rect">
            <a:avLst/>
          </a:prstGeom>
          <a:noFill/>
          <a:ln w="0">
            <a:noFill/>
          </a:ln>
        </p:spPr>
      </p:pic>
      <p:sp>
        <p:nvSpPr>
          <p:cNvPr id="27" name="Text 6"/>
          <p:cNvSpPr/>
          <p:nvPr/>
        </p:nvSpPr>
        <p:spPr>
          <a:xfrm>
            <a:off x="777240" y="196596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Explain where Airflow orchestration would coordinate bounded jobs</a:t>
            </a:r>
            <a:endParaRPr lang="en-IN" sz="1100" b="0" u="none" strike="noStrike">
              <a:solidFill>
                <a:srgbClr val="000000"/>
              </a:solidFill>
              <a:effectLst/>
              <a:uFillTx/>
              <a:latin typeface="Arial"/>
            </a:endParaRPr>
          </a:p>
        </p:txBody>
      </p:sp>
      <p:pic>
        <p:nvPicPr>
          <p:cNvPr id="28" name="Image 5"/>
          <p:cNvPicPr/>
          <p:nvPr/>
        </p:nvPicPr>
        <p:blipFill>
          <a:blip r:embed="rId6"/>
          <a:stretch/>
        </p:blipFill>
        <p:spPr>
          <a:xfrm>
            <a:off x="457200" y="2240280"/>
            <a:ext cx="228240" cy="228240"/>
          </a:xfrm>
          <a:prstGeom prst="rect">
            <a:avLst/>
          </a:prstGeom>
          <a:noFill/>
          <a:ln w="0">
            <a:noFill/>
          </a:ln>
        </p:spPr>
      </p:pic>
      <p:sp>
        <p:nvSpPr>
          <p:cNvPr id="29" name="Text 7"/>
          <p:cNvSpPr/>
          <p:nvPr/>
        </p:nvSpPr>
        <p:spPr>
          <a:xfrm>
            <a:off x="777240" y="228600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Query &amp; serve data in real time with ksqlDB and Kafka Streams</a:t>
            </a:r>
            <a:endParaRPr lang="en-IN" sz="1100" b="0" u="none" strike="noStrike">
              <a:solidFill>
                <a:srgbClr val="000000"/>
              </a:solidFill>
              <a:effectLst/>
              <a:uFillTx/>
              <a:latin typeface="Arial"/>
            </a:endParaRPr>
          </a:p>
        </p:txBody>
      </p:sp>
      <p:pic>
        <p:nvPicPr>
          <p:cNvPr id="30" name="Image 6"/>
          <p:cNvPicPr/>
          <p:nvPr/>
        </p:nvPicPr>
        <p:blipFill>
          <a:blip r:embed="rId7"/>
          <a:stretch/>
        </p:blipFill>
        <p:spPr>
          <a:xfrm>
            <a:off x="457200" y="2560320"/>
            <a:ext cx="228240" cy="228240"/>
          </a:xfrm>
          <a:prstGeom prst="rect">
            <a:avLst/>
          </a:prstGeom>
          <a:noFill/>
          <a:ln w="0">
            <a:noFill/>
          </a:ln>
        </p:spPr>
      </p:pic>
      <p:sp>
        <p:nvSpPr>
          <p:cNvPr id="31" name="Text 8"/>
          <p:cNvSpPr/>
          <p:nvPr/>
        </p:nvSpPr>
        <p:spPr>
          <a:xfrm>
            <a:off x="777240" y="260604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Implement the supplied CDC-to-ksqlDB capstone and diagnose issues</a:t>
            </a:r>
            <a:endParaRPr lang="en-IN" sz="1100" b="0" u="none" strike="noStrike">
              <a:solidFill>
                <a:srgbClr val="000000"/>
              </a:solidFill>
              <a:effectLst/>
              <a:uFillTx/>
              <a:latin typeface="Arial"/>
            </a:endParaRPr>
          </a:p>
        </p:txBody>
      </p:sp>
      <p:pic>
        <p:nvPicPr>
          <p:cNvPr id="32" name="Image 7"/>
          <p:cNvPicPr/>
          <p:nvPr/>
        </p:nvPicPr>
        <p:blipFill>
          <a:blip r:embed="rId8"/>
          <a:stretch/>
        </p:blipFill>
        <p:spPr>
          <a:xfrm>
            <a:off x="457200" y="2880360"/>
            <a:ext cx="228240" cy="228240"/>
          </a:xfrm>
          <a:prstGeom prst="rect">
            <a:avLst/>
          </a:prstGeom>
          <a:noFill/>
          <a:ln w="0">
            <a:noFill/>
          </a:ln>
        </p:spPr>
      </p:pic>
      <p:sp>
        <p:nvSpPr>
          <p:cNvPr id="33" name="Text 9"/>
          <p:cNvSpPr/>
          <p:nvPr/>
        </p:nvSpPr>
        <p:spPr>
          <a:xfrm>
            <a:off x="777240" y="2926080"/>
            <a:ext cx="77720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100" b="0" u="none" strike="noStrike">
                <a:solidFill>
                  <a:srgbClr val="003c54"/>
                </a:solidFill>
                <a:effectLst/>
                <a:uFillTx/>
                <a:latin typeface="Calibri"/>
              </a:rPr>
              <a:t>Submit architecture, evidence, Gold metric and BI dashboard artifact</a:t>
            </a:r>
            <a:endParaRPr lang="en-IN" sz="1100" b="0" u="none" strike="noStrike">
              <a:solidFill>
                <a:srgbClr val="000000"/>
              </a:solidFill>
              <a:effectLst/>
              <a:uFillTx/>
              <a:latin typeface="Arial"/>
            </a:endParaRPr>
          </a:p>
        </p:txBody>
      </p:sp>
      <p:sp>
        <p:nvSpPr>
          <p:cNvPr id="34" name="Text 10"/>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9"/>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10"/>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11"/>
              </a:rPr>
              <a:t>[3]</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35" name="Shape 29"/>
          <p:cNvSpPr/>
          <p:nvPr/>
        </p:nvSpPr>
        <p:spPr>
          <a:xfrm>
            <a:off x="0" y="360"/>
            <a:ext cx="914400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36" name="Text 42"/>
          <p:cNvSpPr/>
          <p:nvPr/>
        </p:nvSpPr>
        <p:spPr>
          <a:xfrm>
            <a:off x="45684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lang="en-US" sz="2660" b="1" u="none" strike="noStrike">
                <a:solidFill>
                  <a:srgbClr val="ffffff"/>
                </a:solidFill>
                <a:effectLst/>
                <a:uFillTx/>
                <a:latin typeface="Aptos"/>
              </a:rPr>
              <a:t>Agenda</a:t>
            </a:r>
            <a:endParaRPr lang="en-IN" sz="2660" b="0" u="none" strike="noStrike">
              <a:solidFill>
                <a:srgbClr val="000000"/>
              </a:solidFill>
              <a:effectLst/>
              <a:uFillTx/>
              <a:latin typeface="Arial"/>
            </a:endParaRPr>
          </a:p>
        </p:txBody>
      </p:sp>
      <p:sp>
        <p:nvSpPr>
          <p:cNvPr id="37" name="Shape 48"/>
          <p:cNvSpPr/>
          <p:nvPr/>
        </p:nvSpPr>
        <p:spPr>
          <a:xfrm>
            <a:off x="1081080" y="1097280"/>
            <a:ext cx="808920" cy="45360"/>
          </a:xfrm>
          <a:prstGeom prst="rect">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38" name="Shape 49"/>
          <p:cNvSpPr/>
          <p:nvPr/>
        </p:nvSpPr>
        <p:spPr>
          <a:xfrm>
            <a:off x="86148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39" name="Image 16"/>
          <p:cNvPicPr/>
          <p:nvPr/>
        </p:nvPicPr>
        <p:blipFill>
          <a:blip r:embed="rId1"/>
          <a:stretch/>
        </p:blipFill>
        <p:spPr>
          <a:xfrm>
            <a:off x="879840" y="1023840"/>
            <a:ext cx="182520" cy="182520"/>
          </a:xfrm>
          <a:prstGeom prst="rect">
            <a:avLst/>
          </a:prstGeom>
          <a:solidFill>
            <a:schemeClr val="bg1"/>
          </a:solidFill>
          <a:ln w="0">
            <a:noFill/>
          </a:ln>
        </p:spPr>
      </p:pic>
      <p:sp>
        <p:nvSpPr>
          <p:cNvPr id="40" name="Text 43"/>
          <p:cNvSpPr/>
          <p:nvPr/>
        </p:nvSpPr>
        <p:spPr>
          <a:xfrm>
            <a:off x="27396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9:00</a:t>
            </a:r>
            <a:endParaRPr lang="en-IN" sz="1070" b="0" u="none" strike="noStrike">
              <a:solidFill>
                <a:srgbClr val="000000"/>
              </a:solidFill>
              <a:effectLst/>
              <a:uFillTx/>
              <a:latin typeface="Arial"/>
            </a:endParaRPr>
          </a:p>
        </p:txBody>
      </p:sp>
      <p:sp>
        <p:nvSpPr>
          <p:cNvPr id="41" name="Text 44"/>
          <p:cNvSpPr/>
          <p:nvPr/>
        </p:nvSpPr>
        <p:spPr>
          <a:xfrm>
            <a:off x="91440" y="141696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Recap &amp; Problem Definition</a:t>
            </a:r>
            <a:endParaRPr lang="en-IN" sz="939" b="0" u="none" strike="noStrike">
              <a:solidFill>
                <a:srgbClr val="000000"/>
              </a:solidFill>
              <a:effectLst/>
              <a:uFillTx/>
              <a:latin typeface="Arial"/>
            </a:endParaRPr>
          </a:p>
        </p:txBody>
      </p:sp>
      <p:sp>
        <p:nvSpPr>
          <p:cNvPr id="42" name="Shape 50"/>
          <p:cNvSpPr/>
          <p:nvPr/>
        </p:nvSpPr>
        <p:spPr>
          <a:xfrm>
            <a:off x="2127600" y="1097280"/>
            <a:ext cx="808920" cy="45360"/>
          </a:xfrm>
          <a:prstGeom prst="rect">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43" name="Shape 51"/>
          <p:cNvSpPr/>
          <p:nvPr/>
        </p:nvSpPr>
        <p:spPr>
          <a:xfrm>
            <a:off x="189000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44" name="Image 17"/>
          <p:cNvPicPr/>
          <p:nvPr/>
        </p:nvPicPr>
        <p:blipFill>
          <a:blip r:embed="rId2"/>
          <a:stretch/>
        </p:blipFill>
        <p:spPr>
          <a:xfrm>
            <a:off x="1908720" y="1023840"/>
            <a:ext cx="182520" cy="182520"/>
          </a:xfrm>
          <a:prstGeom prst="rect">
            <a:avLst/>
          </a:prstGeom>
          <a:solidFill>
            <a:schemeClr val="bg1"/>
          </a:solidFill>
          <a:ln w="0">
            <a:noFill/>
          </a:ln>
        </p:spPr>
      </p:pic>
      <p:sp>
        <p:nvSpPr>
          <p:cNvPr id="45" name="Text 45"/>
          <p:cNvSpPr/>
          <p:nvPr/>
        </p:nvSpPr>
        <p:spPr>
          <a:xfrm>
            <a:off x="130284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9:30</a:t>
            </a:r>
            <a:endParaRPr lang="en-IN" sz="1070" b="0" u="none" strike="noStrike">
              <a:solidFill>
                <a:srgbClr val="000000"/>
              </a:solidFill>
              <a:effectLst/>
              <a:uFillTx/>
              <a:latin typeface="Arial"/>
            </a:endParaRPr>
          </a:p>
        </p:txBody>
      </p:sp>
      <p:sp>
        <p:nvSpPr>
          <p:cNvPr id="46" name="Text 46"/>
          <p:cNvSpPr/>
          <p:nvPr/>
        </p:nvSpPr>
        <p:spPr>
          <a:xfrm>
            <a:off x="1119960" y="181296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Architecture Design</a:t>
            </a:r>
            <a:endParaRPr lang="en-IN" sz="939" b="0" u="none" strike="noStrike">
              <a:solidFill>
                <a:srgbClr val="000000"/>
              </a:solidFill>
              <a:effectLst/>
              <a:uFillTx/>
              <a:latin typeface="Arial"/>
            </a:endParaRPr>
          </a:p>
        </p:txBody>
      </p:sp>
      <p:sp>
        <p:nvSpPr>
          <p:cNvPr id="47" name="Shape 52"/>
          <p:cNvSpPr/>
          <p:nvPr/>
        </p:nvSpPr>
        <p:spPr>
          <a:xfrm>
            <a:off x="3019320" y="1097280"/>
            <a:ext cx="927720" cy="33840"/>
          </a:xfrm>
          <a:prstGeom prst="rect">
            <a:avLst/>
          </a:prstGeom>
          <a:solidFill>
            <a:srgbClr val="6a6a6a"/>
          </a:solidFill>
          <a:ln w="12700">
            <a:solidFill>
              <a:srgbClr val="6a6a6a"/>
            </a:solidFill>
            <a:round/>
          </a:ln>
        </p:spPr>
        <p:style>
          <a:lnRef idx="0"/>
          <a:fillRef idx="0"/>
          <a:effectRef idx="0"/>
          <a:fontRef idx="minor"/>
        </p:style>
        <p:txBody>
          <a:bodyPr lIns="90000" rIns="90000" tIns="-10800" bIns="-10800" anchor="t">
            <a:noAutofit/>
          </a:bodyPr>
          <a:p>
            <a:endParaRPr lang="en-IN" sz="2400" b="0" u="none" strike="noStrike">
              <a:solidFill>
                <a:schemeClr val="dk1"/>
              </a:solidFill>
              <a:effectLst/>
              <a:uFillTx/>
              <a:latin typeface="Aptos"/>
            </a:endParaRPr>
          </a:p>
        </p:txBody>
      </p:sp>
      <p:sp>
        <p:nvSpPr>
          <p:cNvPr id="48" name="Shape 53"/>
          <p:cNvSpPr/>
          <p:nvPr/>
        </p:nvSpPr>
        <p:spPr>
          <a:xfrm>
            <a:off x="291888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49" name="Image 18"/>
          <p:cNvPicPr/>
          <p:nvPr/>
        </p:nvPicPr>
        <p:blipFill>
          <a:blip r:embed="rId3"/>
          <a:stretch/>
        </p:blipFill>
        <p:spPr>
          <a:xfrm>
            <a:off x="2937240" y="1023840"/>
            <a:ext cx="182520" cy="182520"/>
          </a:xfrm>
          <a:prstGeom prst="rect">
            <a:avLst/>
          </a:prstGeom>
          <a:solidFill>
            <a:schemeClr val="bg1"/>
          </a:solidFill>
          <a:ln w="0">
            <a:noFill/>
          </a:ln>
        </p:spPr>
      </p:pic>
      <p:sp>
        <p:nvSpPr>
          <p:cNvPr id="50" name="Text 47"/>
          <p:cNvSpPr/>
          <p:nvPr/>
        </p:nvSpPr>
        <p:spPr>
          <a:xfrm>
            <a:off x="233136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10:15</a:t>
            </a:r>
            <a:endParaRPr lang="en-IN" sz="1070" b="0" u="none" strike="noStrike">
              <a:solidFill>
                <a:srgbClr val="000000"/>
              </a:solidFill>
              <a:effectLst/>
              <a:uFillTx/>
              <a:latin typeface="Arial"/>
            </a:endParaRPr>
          </a:p>
        </p:txBody>
      </p:sp>
      <p:sp>
        <p:nvSpPr>
          <p:cNvPr id="51" name="Text 48"/>
          <p:cNvSpPr/>
          <p:nvPr/>
        </p:nvSpPr>
        <p:spPr>
          <a:xfrm>
            <a:off x="2148840" y="141696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Components Deep Dive</a:t>
            </a:r>
            <a:endParaRPr lang="en-IN" sz="939" b="0" u="none" strike="noStrike">
              <a:solidFill>
                <a:srgbClr val="000000"/>
              </a:solidFill>
              <a:effectLst/>
              <a:uFillTx/>
              <a:latin typeface="Arial"/>
            </a:endParaRPr>
          </a:p>
        </p:txBody>
      </p:sp>
      <p:sp>
        <p:nvSpPr>
          <p:cNvPr id="52" name="Shape 54"/>
          <p:cNvSpPr/>
          <p:nvPr/>
        </p:nvSpPr>
        <p:spPr>
          <a:xfrm>
            <a:off x="4047840" y="1097280"/>
            <a:ext cx="927720" cy="45360"/>
          </a:xfrm>
          <a:prstGeom prst="rect">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53" name="Shape 55"/>
          <p:cNvSpPr/>
          <p:nvPr/>
        </p:nvSpPr>
        <p:spPr>
          <a:xfrm>
            <a:off x="394740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54" name="Image 19"/>
          <p:cNvPicPr/>
          <p:nvPr/>
        </p:nvPicPr>
        <p:blipFill>
          <a:blip r:embed="rId4"/>
          <a:stretch/>
        </p:blipFill>
        <p:spPr>
          <a:xfrm>
            <a:off x="3966120" y="1023840"/>
            <a:ext cx="182520" cy="182520"/>
          </a:xfrm>
          <a:prstGeom prst="rect">
            <a:avLst/>
          </a:prstGeom>
          <a:solidFill>
            <a:schemeClr val="bg1"/>
          </a:solidFill>
          <a:ln w="0">
            <a:noFill/>
          </a:ln>
        </p:spPr>
      </p:pic>
      <p:sp>
        <p:nvSpPr>
          <p:cNvPr id="55" name="Text 49"/>
          <p:cNvSpPr/>
          <p:nvPr/>
        </p:nvSpPr>
        <p:spPr>
          <a:xfrm>
            <a:off x="336024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12:00</a:t>
            </a:r>
            <a:endParaRPr lang="en-IN" sz="1070" b="0" u="none" strike="noStrike">
              <a:solidFill>
                <a:srgbClr val="000000"/>
              </a:solidFill>
              <a:effectLst/>
              <a:uFillTx/>
              <a:latin typeface="Arial"/>
            </a:endParaRPr>
          </a:p>
        </p:txBody>
      </p:sp>
      <p:sp>
        <p:nvSpPr>
          <p:cNvPr id="56" name="Text 50"/>
          <p:cNvSpPr/>
          <p:nvPr/>
        </p:nvSpPr>
        <p:spPr>
          <a:xfrm>
            <a:off x="3177360" y="188496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Lunch Break</a:t>
            </a:r>
            <a:endParaRPr lang="en-IN" sz="939" b="0" u="none" strike="noStrike">
              <a:solidFill>
                <a:srgbClr val="000000"/>
              </a:solidFill>
              <a:effectLst/>
              <a:uFillTx/>
              <a:latin typeface="Arial"/>
            </a:endParaRPr>
          </a:p>
        </p:txBody>
      </p:sp>
      <p:sp>
        <p:nvSpPr>
          <p:cNvPr id="57" name="Shape 56"/>
          <p:cNvSpPr/>
          <p:nvPr/>
        </p:nvSpPr>
        <p:spPr>
          <a:xfrm>
            <a:off x="5076720" y="1097280"/>
            <a:ext cx="946080" cy="33840"/>
          </a:xfrm>
          <a:prstGeom prst="rect">
            <a:avLst/>
          </a:prstGeom>
          <a:solidFill>
            <a:srgbClr val="6a6a6a"/>
          </a:solidFill>
          <a:ln w="12700">
            <a:solidFill>
              <a:srgbClr val="6a6a6a"/>
            </a:solidFill>
            <a:round/>
          </a:ln>
        </p:spPr>
        <p:style>
          <a:lnRef idx="0"/>
          <a:fillRef idx="0"/>
          <a:effectRef idx="0"/>
          <a:fontRef idx="minor"/>
        </p:style>
        <p:txBody>
          <a:bodyPr lIns="90000" rIns="90000" tIns="-10800" bIns="-10800" anchor="t">
            <a:noAutofit/>
          </a:bodyPr>
          <a:p>
            <a:endParaRPr lang="en-IN" sz="2400" b="0" u="none" strike="noStrike">
              <a:solidFill>
                <a:schemeClr val="dk1"/>
              </a:solidFill>
              <a:effectLst/>
              <a:uFillTx/>
              <a:latin typeface="Aptos"/>
            </a:endParaRPr>
          </a:p>
        </p:txBody>
      </p:sp>
      <p:sp>
        <p:nvSpPr>
          <p:cNvPr id="58" name="Shape 57"/>
          <p:cNvSpPr/>
          <p:nvPr/>
        </p:nvSpPr>
        <p:spPr>
          <a:xfrm>
            <a:off x="497628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59" name="Image 20"/>
          <p:cNvPicPr/>
          <p:nvPr/>
        </p:nvPicPr>
        <p:blipFill>
          <a:blip r:embed="rId5"/>
          <a:stretch/>
        </p:blipFill>
        <p:spPr>
          <a:xfrm>
            <a:off x="4994640" y="1023840"/>
            <a:ext cx="182520" cy="182520"/>
          </a:xfrm>
          <a:prstGeom prst="rect">
            <a:avLst/>
          </a:prstGeom>
          <a:solidFill>
            <a:schemeClr val="bg1"/>
          </a:solidFill>
          <a:ln w="0">
            <a:noFill/>
          </a:ln>
        </p:spPr>
      </p:pic>
      <p:sp>
        <p:nvSpPr>
          <p:cNvPr id="60" name="Text 51"/>
          <p:cNvSpPr/>
          <p:nvPr/>
        </p:nvSpPr>
        <p:spPr>
          <a:xfrm>
            <a:off x="438876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13:00</a:t>
            </a:r>
            <a:endParaRPr lang="en-IN" sz="1070" b="0" u="none" strike="noStrike">
              <a:solidFill>
                <a:srgbClr val="000000"/>
              </a:solidFill>
              <a:effectLst/>
              <a:uFillTx/>
              <a:latin typeface="Arial"/>
            </a:endParaRPr>
          </a:p>
        </p:txBody>
      </p:sp>
      <p:sp>
        <p:nvSpPr>
          <p:cNvPr id="61" name="Text 52"/>
          <p:cNvSpPr/>
          <p:nvPr/>
        </p:nvSpPr>
        <p:spPr>
          <a:xfrm>
            <a:off x="4206240" y="141696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Implementation Plan &amp; Lab</a:t>
            </a:r>
            <a:endParaRPr lang="en-IN" sz="939" b="0" u="none" strike="noStrike">
              <a:solidFill>
                <a:srgbClr val="000000"/>
              </a:solidFill>
              <a:effectLst/>
              <a:uFillTx/>
              <a:latin typeface="Arial"/>
            </a:endParaRPr>
          </a:p>
        </p:txBody>
      </p:sp>
      <p:sp>
        <p:nvSpPr>
          <p:cNvPr id="62" name="Shape 58"/>
          <p:cNvSpPr/>
          <p:nvPr/>
        </p:nvSpPr>
        <p:spPr>
          <a:xfrm>
            <a:off x="6105600" y="1097280"/>
            <a:ext cx="980280" cy="45360"/>
          </a:xfrm>
          <a:prstGeom prst="rect">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63" name="Shape 59"/>
          <p:cNvSpPr/>
          <p:nvPr/>
        </p:nvSpPr>
        <p:spPr>
          <a:xfrm>
            <a:off x="600480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64" name="Image 21"/>
          <p:cNvPicPr/>
          <p:nvPr/>
        </p:nvPicPr>
        <p:blipFill>
          <a:blip r:embed="rId6"/>
          <a:stretch/>
        </p:blipFill>
        <p:spPr>
          <a:xfrm>
            <a:off x="6023520" y="1023840"/>
            <a:ext cx="182520" cy="182520"/>
          </a:xfrm>
          <a:prstGeom prst="rect">
            <a:avLst/>
          </a:prstGeom>
          <a:solidFill>
            <a:schemeClr val="bg1"/>
          </a:solidFill>
          <a:ln w="0">
            <a:noFill/>
          </a:ln>
        </p:spPr>
      </p:pic>
      <p:sp>
        <p:nvSpPr>
          <p:cNvPr id="65" name="Text 53"/>
          <p:cNvSpPr/>
          <p:nvPr/>
        </p:nvSpPr>
        <p:spPr>
          <a:xfrm>
            <a:off x="541764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14:30</a:t>
            </a:r>
            <a:endParaRPr lang="en-IN" sz="1070" b="0" u="none" strike="noStrike">
              <a:solidFill>
                <a:srgbClr val="000000"/>
              </a:solidFill>
              <a:effectLst/>
              <a:uFillTx/>
              <a:latin typeface="Arial"/>
            </a:endParaRPr>
          </a:p>
        </p:txBody>
      </p:sp>
      <p:sp>
        <p:nvSpPr>
          <p:cNvPr id="66" name="Text 54"/>
          <p:cNvSpPr/>
          <p:nvPr/>
        </p:nvSpPr>
        <p:spPr>
          <a:xfrm>
            <a:off x="5260320" y="190224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Mini Exercises &amp; Quiz</a:t>
            </a:r>
            <a:endParaRPr lang="en-IN" sz="939" b="0" u="none" strike="noStrike">
              <a:solidFill>
                <a:srgbClr val="000000"/>
              </a:solidFill>
              <a:effectLst/>
              <a:uFillTx/>
              <a:latin typeface="Arial"/>
            </a:endParaRPr>
          </a:p>
        </p:txBody>
      </p:sp>
      <p:sp>
        <p:nvSpPr>
          <p:cNvPr id="67" name="Shape 60"/>
          <p:cNvSpPr/>
          <p:nvPr/>
        </p:nvSpPr>
        <p:spPr>
          <a:xfrm>
            <a:off x="703368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68" name="Image 22"/>
          <p:cNvPicPr/>
          <p:nvPr/>
        </p:nvPicPr>
        <p:blipFill>
          <a:blip r:embed="rId7"/>
          <a:stretch/>
        </p:blipFill>
        <p:spPr>
          <a:xfrm>
            <a:off x="7052040" y="1023840"/>
            <a:ext cx="182520" cy="182520"/>
          </a:xfrm>
          <a:prstGeom prst="rect">
            <a:avLst/>
          </a:prstGeom>
          <a:solidFill>
            <a:schemeClr val="bg1"/>
          </a:solidFill>
          <a:ln w="0">
            <a:noFill/>
          </a:ln>
        </p:spPr>
      </p:pic>
      <p:sp>
        <p:nvSpPr>
          <p:cNvPr id="69" name="Text 55"/>
          <p:cNvSpPr/>
          <p:nvPr/>
        </p:nvSpPr>
        <p:spPr>
          <a:xfrm>
            <a:off x="644616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15:30</a:t>
            </a:r>
            <a:endParaRPr lang="en-IN" sz="1070" b="0" u="none" strike="noStrike">
              <a:solidFill>
                <a:srgbClr val="000000"/>
              </a:solidFill>
              <a:effectLst/>
              <a:uFillTx/>
              <a:latin typeface="Arial"/>
            </a:endParaRPr>
          </a:p>
        </p:txBody>
      </p:sp>
      <p:sp>
        <p:nvSpPr>
          <p:cNvPr id="70" name="Text 56"/>
          <p:cNvSpPr/>
          <p:nvPr/>
        </p:nvSpPr>
        <p:spPr>
          <a:xfrm>
            <a:off x="6263640" y="140400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Project Walkthrough</a:t>
            </a:r>
            <a:endParaRPr lang="en-IN" sz="939" b="0" u="none" strike="noStrike">
              <a:solidFill>
                <a:srgbClr val="000000"/>
              </a:solidFill>
              <a:effectLst/>
              <a:uFillTx/>
              <a:latin typeface="Arial"/>
            </a:endParaRPr>
          </a:p>
        </p:txBody>
      </p:sp>
      <p:sp>
        <p:nvSpPr>
          <p:cNvPr id="71" name="Shape 61"/>
          <p:cNvSpPr/>
          <p:nvPr/>
        </p:nvSpPr>
        <p:spPr>
          <a:xfrm flipH="1">
            <a:off x="7234560" y="1097280"/>
            <a:ext cx="927720" cy="63720"/>
          </a:xfrm>
          <a:prstGeom prst="rect">
            <a:avLst/>
          </a:prstGeom>
          <a:solidFill>
            <a:srgbClr val="6a6a6a"/>
          </a:solidFill>
          <a:ln w="12700">
            <a:solidFill>
              <a:srgbClr val="6a6a6a"/>
            </a:solidFill>
            <a:round/>
          </a:ln>
        </p:spPr>
        <p:style>
          <a:lnRef idx="0"/>
          <a:fillRef idx="0"/>
          <a:effectRef idx="0"/>
          <a:fontRef idx="minor"/>
        </p:style>
        <p:txBody>
          <a:bodyPr lIns="90000" rIns="90000" tIns="19080" bIns="19080" anchor="t">
            <a:noAutofit/>
          </a:bodyPr>
          <a:p>
            <a:endParaRPr lang="en-IN" sz="2400" b="0" u="none" strike="noStrike">
              <a:solidFill>
                <a:schemeClr val="dk1"/>
              </a:solidFill>
              <a:effectLst/>
              <a:uFillTx/>
              <a:latin typeface="Aptos"/>
            </a:endParaRPr>
          </a:p>
        </p:txBody>
      </p:sp>
      <p:sp>
        <p:nvSpPr>
          <p:cNvPr id="72" name="Shape 62"/>
          <p:cNvSpPr/>
          <p:nvPr/>
        </p:nvSpPr>
        <p:spPr>
          <a:xfrm>
            <a:off x="8062200" y="1005840"/>
            <a:ext cx="219240" cy="21924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pic>
        <p:nvPicPr>
          <p:cNvPr id="73" name="Image 23"/>
          <p:cNvPicPr/>
          <p:nvPr/>
        </p:nvPicPr>
        <p:blipFill>
          <a:blip r:embed="rId8"/>
          <a:stretch/>
        </p:blipFill>
        <p:spPr>
          <a:xfrm>
            <a:off x="8080920" y="1023840"/>
            <a:ext cx="182520" cy="182520"/>
          </a:xfrm>
          <a:prstGeom prst="rect">
            <a:avLst/>
          </a:prstGeom>
          <a:solidFill>
            <a:schemeClr val="bg1"/>
          </a:solidFill>
          <a:ln w="0">
            <a:noFill/>
          </a:ln>
        </p:spPr>
      </p:pic>
      <p:sp>
        <p:nvSpPr>
          <p:cNvPr id="74" name="Text 57"/>
          <p:cNvSpPr/>
          <p:nvPr/>
        </p:nvSpPr>
        <p:spPr>
          <a:xfrm>
            <a:off x="7475040" y="1234440"/>
            <a:ext cx="1394280" cy="1825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1070" b="0" u="none" strike="noStrike">
                <a:solidFill>
                  <a:srgbClr val="003c54"/>
                </a:solidFill>
                <a:effectLst/>
                <a:uFillTx/>
                <a:latin typeface="Aptos"/>
              </a:rPr>
              <a:t>16:30</a:t>
            </a:r>
            <a:endParaRPr lang="en-IN" sz="1070" b="0" u="none" strike="noStrike">
              <a:solidFill>
                <a:srgbClr val="000000"/>
              </a:solidFill>
              <a:effectLst/>
              <a:uFillTx/>
              <a:latin typeface="Arial"/>
            </a:endParaRPr>
          </a:p>
        </p:txBody>
      </p:sp>
      <p:sp>
        <p:nvSpPr>
          <p:cNvPr id="75" name="Text 58"/>
          <p:cNvSpPr/>
          <p:nvPr/>
        </p:nvSpPr>
        <p:spPr>
          <a:xfrm>
            <a:off x="7292160" y="1884960"/>
            <a:ext cx="1759680" cy="3657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939" b="0" u="none" strike="noStrike">
                <a:solidFill>
                  <a:srgbClr val="003c54"/>
                </a:solidFill>
                <a:effectLst/>
                <a:uFillTx/>
                <a:latin typeface="Aptos"/>
              </a:rPr>
              <a:t>Wrap‑Up &amp; Next Steps</a:t>
            </a:r>
            <a:endParaRPr lang="en-IN" sz="939" b="0" u="none" strike="noStrike">
              <a:solidFill>
                <a:srgbClr val="000000"/>
              </a:solidFill>
              <a:effectLst/>
              <a:uFillTx/>
              <a:latin typeface="Arial"/>
            </a:endParaRPr>
          </a:p>
        </p:txBody>
      </p:sp>
      <p:sp>
        <p:nvSpPr>
          <p:cNvPr id="76" name="Text 59"/>
          <p:cNvSpPr/>
          <p:nvPr/>
        </p:nvSpPr>
        <p:spPr>
          <a:xfrm>
            <a:off x="456840" y="6217920"/>
            <a:ext cx="822960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sng" strike="noStrike">
                <a:solidFill>
                  <a:srgbClr val="467886"/>
                </a:solidFill>
                <a:effectLst/>
                <a:uFillTx/>
                <a:latin typeface="Aptos"/>
                <a:hlinkClick r:id="rId9"/>
              </a:rPr>
              <a:t>[1]</a:t>
            </a:r>
            <a:r>
              <a:rPr lang="en-US" sz="800" b="0" u="none" strike="noStrike">
                <a:solidFill>
                  <a:srgbClr val="000000"/>
                </a:solidFill>
                <a:effectLst/>
                <a:uFillTx/>
                <a:latin typeface="Aptos"/>
              </a:rPr>
              <a:t>  </a:t>
            </a:r>
            <a:r>
              <a:rPr lang="en-US" sz="800" b="0" u="sng" strike="noStrike">
                <a:solidFill>
                  <a:srgbClr val="467886"/>
                </a:solidFill>
                <a:effectLst/>
                <a:uFillTx/>
                <a:latin typeface="Aptos"/>
                <a:hlinkClick r:id="rId10"/>
              </a:rPr>
              <a:t>[2]</a:t>
            </a:r>
            <a:endParaRPr lang="en-IN" sz="8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77"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78"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Recap &amp; Problem Definition</a:t>
            </a:r>
            <a:endParaRPr lang="en-IN" sz="2000" b="0" u="none" strike="noStrike">
              <a:solidFill>
                <a:srgbClr val="000000"/>
              </a:solidFill>
              <a:effectLst/>
              <a:uFillTx/>
              <a:latin typeface="Arial"/>
            </a:endParaRPr>
          </a:p>
        </p:txBody>
      </p:sp>
      <p:sp>
        <p:nvSpPr>
          <p:cNvPr id="79" name="Text 2"/>
          <p:cNvSpPr/>
          <p:nvPr/>
        </p:nvSpPr>
        <p:spPr>
          <a:xfrm>
            <a:off x="457200" y="731520"/>
            <a:ext cx="8229240" cy="2742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400" b="1" u="none" strike="noStrike">
                <a:solidFill>
                  <a:srgbClr val="003c54"/>
                </a:solidFill>
                <a:effectLst/>
                <a:uFillTx/>
                <a:latin typeface="Calibri"/>
              </a:rPr>
              <a:t>What have we built so far?</a:t>
            </a:r>
            <a:endParaRPr lang="en-IN" sz="1400" b="0" u="none" strike="noStrike">
              <a:solidFill>
                <a:srgbClr val="000000"/>
              </a:solidFill>
              <a:effectLst/>
              <a:uFillTx/>
              <a:latin typeface="Arial"/>
            </a:endParaRPr>
          </a:p>
          <a:p>
            <a:pPr defTabSz="914400">
              <a:lnSpc>
                <a:spcPct val="100000"/>
              </a:lnSpc>
              <a:tabLst>
                <a:tab algn="l" pos="0"/>
              </a:tabLst>
            </a:pPr>
            <a:r>
              <a:rPr lang="en-US" sz="1400" b="1" u="none" strike="noStrike">
                <a:solidFill>
                  <a:srgbClr val="003c54"/>
                </a:solidFill>
                <a:effectLst/>
                <a:uFillTx/>
                <a:latin typeface="Calibri"/>
              </a:rPr>
              <a:t>- Captured and validated event changes with Kafka and Debezium concepts.</a:t>
            </a:r>
            <a:endParaRPr lang="en-IN" sz="1400" b="0" u="none" strike="noStrike">
              <a:solidFill>
                <a:srgbClr val="000000"/>
              </a:solidFill>
              <a:effectLst/>
              <a:uFillTx/>
              <a:latin typeface="Arial"/>
            </a:endParaRPr>
          </a:p>
          <a:p>
            <a:pPr defTabSz="914400">
              <a:lnSpc>
                <a:spcPct val="100000"/>
              </a:lnSpc>
              <a:tabLst>
                <a:tab algn="l" pos="0"/>
              </a:tabLst>
            </a:pPr>
            <a:r>
              <a:rPr lang="en-US" sz="1400" b="1" u="none" strike="noStrike">
                <a:solidFill>
                  <a:srgbClr val="003c54"/>
                </a:solidFill>
                <a:effectLst/>
                <a:uFillTx/>
                <a:latin typeface="Calibri"/>
              </a:rPr>
              <a:t>- Designed Bronze/Silver/Gold transformation and storage responsibilities.</a:t>
            </a:r>
            <a:endParaRPr lang="en-IN" sz="1400" b="0" u="none" strike="noStrike">
              <a:solidFill>
                <a:srgbClr val="000000"/>
              </a:solidFill>
              <a:effectLst/>
              <a:uFillTx/>
              <a:latin typeface="Arial"/>
            </a:endParaRPr>
          </a:p>
          <a:p>
            <a:pPr defTabSz="914400">
              <a:lnSpc>
                <a:spcPct val="100000"/>
              </a:lnSpc>
              <a:tabLst>
                <a:tab algn="l" pos="0"/>
              </a:tabLst>
            </a:pPr>
            <a:r>
              <a:rPr lang="en-US" sz="1400" b="1" u="none" strike="noStrike">
                <a:solidFill>
                  <a:srgbClr val="003c54"/>
                </a:solidFill>
                <a:effectLst/>
                <a:uFillTx/>
                <a:latin typeface="Calibri"/>
              </a:rPr>
              <a:t>- Scheduled bounded pipeline tasks with Airflow and documented operational evidence.</a:t>
            </a:r>
            <a:endParaRPr lang="en-IN" sz="1400" b="0" u="none" strike="noStrike">
              <a:solidFill>
                <a:srgbClr val="000000"/>
              </a:solidFill>
              <a:effectLst/>
              <a:uFillTx/>
              <a:latin typeface="Arial"/>
            </a:endParaRPr>
          </a:p>
          <a:p>
            <a:pPr defTabSz="914400">
              <a:lnSpc>
                <a:spcPct val="100000"/>
              </a:lnSpc>
              <a:tabLst>
                <a:tab algn="l" pos="0"/>
              </a:tabLst>
            </a:pPr>
            <a:r>
              <a:rPr lang="en-US" sz="1400" b="1" u="none" strike="noStrike">
                <a:solidFill>
                  <a:srgbClr val="003c54"/>
                </a:solidFill>
                <a:effectLst/>
                <a:uFillTx/>
                <a:latin typeface="Calibri"/>
              </a:rPr>
              <a:t>- Established monitoring and recovery thinking.</a:t>
            </a:r>
            <a:endParaRPr lang="en-IN" sz="1400" b="0" u="none" strike="noStrike">
              <a:solidFill>
                <a:srgbClr val="000000"/>
              </a:solidFill>
              <a:effectLst/>
              <a:uFillTx/>
              <a:latin typeface="Arial"/>
            </a:endParaRPr>
          </a:p>
          <a:p>
            <a:pPr defTabSz="914400">
              <a:lnSpc>
                <a:spcPct val="100000"/>
              </a:lnSpc>
              <a:tabLst>
                <a:tab algn="l" pos="0"/>
              </a:tabLst>
            </a:pPr>
            <a:endParaRPr lang="en-IN" sz="1400" b="0" u="none" strike="noStrike">
              <a:solidFill>
                <a:srgbClr val="000000"/>
              </a:solidFill>
              <a:effectLst/>
              <a:uFillTx/>
              <a:latin typeface="Arial"/>
            </a:endParaRPr>
          </a:p>
          <a:p>
            <a:pPr defTabSz="914400">
              <a:lnSpc>
                <a:spcPct val="100000"/>
              </a:lnSpc>
              <a:tabLst>
                <a:tab algn="l" pos="0"/>
              </a:tabLst>
            </a:pPr>
            <a:r>
              <a:rPr lang="en-US" sz="1400" b="1" u="none" strike="noStrike">
                <a:solidFill>
                  <a:srgbClr val="003c54"/>
                </a:solidFill>
                <a:effectLst/>
                <a:uFillTx/>
                <a:latin typeface="Calibri"/>
              </a:rPr>
              <a:t>Today the supplied runnable stack implements CDC, Schema Registry and ksqlDB; Hop, Airflow, lakehouse storage and BI are integration deliverables or extensions.</a:t>
            </a:r>
            <a:endParaRPr lang="en-IN" sz="1400" b="0" u="none" strike="noStrike">
              <a:solidFill>
                <a:srgbClr val="000000"/>
              </a:solidFill>
              <a:effectLst/>
              <a:uFillTx/>
              <a:latin typeface="Arial"/>
            </a:endParaRPr>
          </a:p>
        </p:txBody>
      </p:sp>
      <p:sp>
        <p:nvSpPr>
          <p:cNvPr id="80" name="Text 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3"/>
              </a:rPr>
              <a:t>[3]</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81"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82"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Use Case &amp; Data Sources</a:t>
            </a:r>
            <a:endParaRPr lang="en-IN" sz="2000" b="0" u="none" strike="noStrike">
              <a:solidFill>
                <a:srgbClr val="000000"/>
              </a:solidFill>
              <a:effectLst/>
              <a:uFillTx/>
              <a:latin typeface="Arial"/>
            </a:endParaRPr>
          </a:p>
        </p:txBody>
      </p:sp>
      <p:sp>
        <p:nvSpPr>
          <p:cNvPr id="83" name="Text 2"/>
          <p:cNvSpPr/>
          <p:nvPr/>
        </p:nvSpPr>
        <p:spPr>
          <a:xfrm>
            <a:off x="457200" y="731520"/>
            <a:ext cx="4571640" cy="2742840"/>
          </a:xfrm>
          <a:prstGeom prst="rect">
            <a:avLst/>
          </a:prstGeom>
          <a:noFill/>
          <a:ln w="0">
            <a:noFill/>
          </a:ln>
        </p:spPr>
        <p:style>
          <a:lnRef idx="0"/>
          <a:fillRef idx="0"/>
          <a:effectRef idx="0"/>
          <a:fontRef idx="minor"/>
        </p:style>
        <p:txBody>
          <a:bodyPr lIns="90000" rIns="90000" tIns="45000" bIns="45000" anchor="ctr">
            <a:noAutofit/>
          </a:bodyPr>
          <a:p>
            <a:r>
              <a:rPr lang="en-US" sz="1200" b="1" u="none" strike="noStrike">
                <a:solidFill>
                  <a:srgbClr val="003c54"/>
                </a:solidFill>
                <a:effectLst/>
                <a:uFillTx/>
                <a:latin typeface="Calibri"/>
              </a:rPr>
              <a:t>Scenario:</a:t>
            </a:r>
            <a:endParaRPr lang="en-IN" sz="1200" b="0" u="none" strike="noStrike">
              <a:solidFill>
                <a:srgbClr val="000000"/>
              </a:solidFill>
              <a:effectLst/>
              <a:uFillTx/>
              <a:latin typeface="Arial"/>
            </a:endParaRPr>
          </a:p>
          <a:p>
            <a:r>
              <a:rPr lang="en-US" sz="1000" b="0" u="none" strike="noStrike">
                <a:solidFill>
                  <a:srgbClr val="6a6a6a"/>
                </a:solidFill>
                <a:effectLst/>
                <a:uFillTx/>
                <a:latin typeface="Calibri"/>
              </a:rPr>
              <a:t>Northstar Retail wants to build a real‑time dashboard and alerting system for its e‑commerce platform. Orders, inventory updates, product catalogue changes and user clickstream events must be ingested, transformed and served within seconds.</a:t>
            </a:r>
            <a:endParaRPr lang="en-IN" sz="1000" b="0" u="none" strike="noStrike">
              <a:solidFill>
                <a:srgbClr val="000000"/>
              </a:solidFill>
              <a:effectLst/>
              <a:uFillTx/>
              <a:latin typeface="Arial"/>
            </a:endParaRPr>
          </a:p>
          <a:p>
            <a:endParaRPr lang="en-IN" sz="10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Data Sources:</a:t>
            </a:r>
            <a:endParaRPr lang="en-IN" sz="1200" b="0" u="none" strike="noStrike">
              <a:solidFill>
                <a:srgbClr val="000000"/>
              </a:solidFill>
              <a:effectLst/>
              <a:uFillTx/>
              <a:latin typeface="Arial"/>
            </a:endParaRPr>
          </a:p>
        </p:txBody>
      </p:sp>
      <p:pic>
        <p:nvPicPr>
          <p:cNvPr id="84" name="Image 0"/>
          <p:cNvPicPr/>
          <p:nvPr/>
        </p:nvPicPr>
        <p:blipFill>
          <a:blip r:embed="rId1"/>
          <a:stretch/>
        </p:blipFill>
        <p:spPr>
          <a:xfrm>
            <a:off x="5577840" y="1828800"/>
            <a:ext cx="228240" cy="228240"/>
          </a:xfrm>
          <a:prstGeom prst="rect">
            <a:avLst/>
          </a:prstGeom>
          <a:noFill/>
          <a:ln w="0">
            <a:noFill/>
          </a:ln>
        </p:spPr>
      </p:pic>
      <p:sp>
        <p:nvSpPr>
          <p:cNvPr id="85" name="Text 3"/>
          <p:cNvSpPr/>
          <p:nvPr/>
        </p:nvSpPr>
        <p:spPr>
          <a:xfrm>
            <a:off x="5852160" y="1847160"/>
            <a:ext cx="182844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1" u="none" strike="noStrike">
                <a:solidFill>
                  <a:srgbClr val="003c54"/>
                </a:solidFill>
                <a:effectLst/>
                <a:uFillTx/>
                <a:latin typeface="Calibri"/>
              </a:rPr>
              <a:t>Orders DB</a:t>
            </a:r>
            <a:endParaRPr lang="en-IN" sz="1000" b="0" u="none" strike="noStrike">
              <a:solidFill>
                <a:srgbClr val="000000"/>
              </a:solidFill>
              <a:effectLst/>
              <a:uFillTx/>
              <a:latin typeface="Arial"/>
            </a:endParaRPr>
          </a:p>
        </p:txBody>
      </p:sp>
      <p:sp>
        <p:nvSpPr>
          <p:cNvPr id="86" name="Text 4"/>
          <p:cNvSpPr/>
          <p:nvPr/>
        </p:nvSpPr>
        <p:spPr>
          <a:xfrm>
            <a:off x="5852160" y="1993320"/>
            <a:ext cx="329148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6a6a6a"/>
                </a:solidFill>
                <a:effectLst/>
                <a:uFillTx/>
                <a:latin typeface="Calibri"/>
              </a:rPr>
              <a:t>PostgreSQL table capturing new orders</a:t>
            </a:r>
            <a:endParaRPr lang="en-IN" sz="800" b="0" u="none" strike="noStrike">
              <a:solidFill>
                <a:srgbClr val="000000"/>
              </a:solidFill>
              <a:effectLst/>
              <a:uFillTx/>
              <a:latin typeface="Arial"/>
            </a:endParaRPr>
          </a:p>
        </p:txBody>
      </p:sp>
      <p:pic>
        <p:nvPicPr>
          <p:cNvPr id="87" name="Image 1"/>
          <p:cNvPicPr/>
          <p:nvPr/>
        </p:nvPicPr>
        <p:blipFill>
          <a:blip r:embed="rId2"/>
          <a:stretch/>
        </p:blipFill>
        <p:spPr>
          <a:xfrm>
            <a:off x="5577840" y="2331720"/>
            <a:ext cx="228240" cy="228240"/>
          </a:xfrm>
          <a:prstGeom prst="rect">
            <a:avLst/>
          </a:prstGeom>
          <a:noFill/>
          <a:ln w="0">
            <a:noFill/>
          </a:ln>
        </p:spPr>
      </p:pic>
      <p:sp>
        <p:nvSpPr>
          <p:cNvPr id="88" name="Text 5"/>
          <p:cNvSpPr/>
          <p:nvPr/>
        </p:nvSpPr>
        <p:spPr>
          <a:xfrm>
            <a:off x="5852160" y="2350080"/>
            <a:ext cx="182844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1" u="none" strike="noStrike">
                <a:solidFill>
                  <a:srgbClr val="003c54"/>
                </a:solidFill>
                <a:effectLst/>
                <a:uFillTx/>
                <a:latin typeface="Calibri"/>
              </a:rPr>
              <a:t>Inventory DB</a:t>
            </a:r>
            <a:endParaRPr lang="en-IN" sz="1000" b="0" u="none" strike="noStrike">
              <a:solidFill>
                <a:srgbClr val="000000"/>
              </a:solidFill>
              <a:effectLst/>
              <a:uFillTx/>
              <a:latin typeface="Arial"/>
            </a:endParaRPr>
          </a:p>
        </p:txBody>
      </p:sp>
      <p:sp>
        <p:nvSpPr>
          <p:cNvPr id="89" name="Text 6"/>
          <p:cNvSpPr/>
          <p:nvPr/>
        </p:nvSpPr>
        <p:spPr>
          <a:xfrm>
            <a:off x="5852160" y="2496240"/>
            <a:ext cx="329148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6a6a6a"/>
                </a:solidFill>
                <a:effectLst/>
                <a:uFillTx/>
                <a:latin typeface="Calibri"/>
              </a:rPr>
              <a:t>MySQL table tracking stock levels</a:t>
            </a:r>
            <a:endParaRPr lang="en-IN" sz="800" b="0" u="none" strike="noStrike">
              <a:solidFill>
                <a:srgbClr val="000000"/>
              </a:solidFill>
              <a:effectLst/>
              <a:uFillTx/>
              <a:latin typeface="Arial"/>
            </a:endParaRPr>
          </a:p>
        </p:txBody>
      </p:sp>
      <p:pic>
        <p:nvPicPr>
          <p:cNvPr id="90" name="Image 2"/>
          <p:cNvPicPr/>
          <p:nvPr/>
        </p:nvPicPr>
        <p:blipFill>
          <a:blip r:embed="rId3"/>
          <a:stretch/>
        </p:blipFill>
        <p:spPr>
          <a:xfrm>
            <a:off x="5577840" y="2834640"/>
            <a:ext cx="228240" cy="228240"/>
          </a:xfrm>
          <a:prstGeom prst="rect">
            <a:avLst/>
          </a:prstGeom>
          <a:noFill/>
          <a:ln w="0">
            <a:noFill/>
          </a:ln>
        </p:spPr>
      </p:pic>
      <p:sp>
        <p:nvSpPr>
          <p:cNvPr id="91" name="Text 7"/>
          <p:cNvSpPr/>
          <p:nvPr/>
        </p:nvSpPr>
        <p:spPr>
          <a:xfrm>
            <a:off x="5852160" y="2853000"/>
            <a:ext cx="182844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1" u="none" strike="noStrike">
                <a:solidFill>
                  <a:srgbClr val="003c54"/>
                </a:solidFill>
                <a:effectLst/>
                <a:uFillTx/>
                <a:latin typeface="Calibri"/>
              </a:rPr>
              <a:t>Clickstream</a:t>
            </a:r>
            <a:endParaRPr lang="en-IN" sz="1000" b="0" u="none" strike="noStrike">
              <a:solidFill>
                <a:srgbClr val="000000"/>
              </a:solidFill>
              <a:effectLst/>
              <a:uFillTx/>
              <a:latin typeface="Arial"/>
            </a:endParaRPr>
          </a:p>
        </p:txBody>
      </p:sp>
      <p:sp>
        <p:nvSpPr>
          <p:cNvPr id="92" name="Text 8"/>
          <p:cNvSpPr/>
          <p:nvPr/>
        </p:nvSpPr>
        <p:spPr>
          <a:xfrm>
            <a:off x="5852160" y="2999160"/>
            <a:ext cx="329148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6a6a6a"/>
                </a:solidFill>
                <a:effectLst/>
                <a:uFillTx/>
                <a:latin typeface="Calibri"/>
              </a:rPr>
              <a:t>Kafka topic capturing web events</a:t>
            </a:r>
            <a:endParaRPr lang="en-IN" sz="800" b="0" u="none" strike="noStrike">
              <a:solidFill>
                <a:srgbClr val="000000"/>
              </a:solidFill>
              <a:effectLst/>
              <a:uFillTx/>
              <a:latin typeface="Arial"/>
            </a:endParaRPr>
          </a:p>
        </p:txBody>
      </p:sp>
      <p:pic>
        <p:nvPicPr>
          <p:cNvPr id="93" name="Image 3"/>
          <p:cNvPicPr/>
          <p:nvPr/>
        </p:nvPicPr>
        <p:blipFill>
          <a:blip r:embed="rId4"/>
          <a:stretch/>
        </p:blipFill>
        <p:spPr>
          <a:xfrm>
            <a:off x="5577840" y="3337560"/>
            <a:ext cx="228240" cy="228240"/>
          </a:xfrm>
          <a:prstGeom prst="rect">
            <a:avLst/>
          </a:prstGeom>
          <a:noFill/>
          <a:ln w="0">
            <a:noFill/>
          </a:ln>
        </p:spPr>
      </p:pic>
      <p:sp>
        <p:nvSpPr>
          <p:cNvPr id="94" name="Text 9"/>
          <p:cNvSpPr/>
          <p:nvPr/>
        </p:nvSpPr>
        <p:spPr>
          <a:xfrm>
            <a:off x="5852160" y="3355920"/>
            <a:ext cx="1828440" cy="18252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1" u="none" strike="noStrike">
                <a:solidFill>
                  <a:srgbClr val="003c54"/>
                </a:solidFill>
                <a:effectLst/>
                <a:uFillTx/>
                <a:latin typeface="Calibri"/>
              </a:rPr>
              <a:t>Products CSV</a:t>
            </a:r>
            <a:endParaRPr lang="en-IN" sz="1000" b="0" u="none" strike="noStrike">
              <a:solidFill>
                <a:srgbClr val="000000"/>
              </a:solidFill>
              <a:effectLst/>
              <a:uFillTx/>
              <a:latin typeface="Arial"/>
            </a:endParaRPr>
          </a:p>
        </p:txBody>
      </p:sp>
      <p:sp>
        <p:nvSpPr>
          <p:cNvPr id="95" name="Text 10"/>
          <p:cNvSpPr/>
          <p:nvPr/>
        </p:nvSpPr>
        <p:spPr>
          <a:xfrm>
            <a:off x="5852160" y="3502080"/>
            <a:ext cx="329148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6a6a6a"/>
                </a:solidFill>
                <a:effectLst/>
                <a:uFillTx/>
                <a:latin typeface="Calibri"/>
              </a:rPr>
              <a:t>Batch file with product attributes</a:t>
            </a:r>
            <a:endParaRPr lang="en-IN" sz="800" b="0" u="none" strike="noStrike">
              <a:solidFill>
                <a:srgbClr val="000000"/>
              </a:solidFill>
              <a:effectLst/>
              <a:uFillTx/>
              <a:latin typeface="Arial"/>
            </a:endParaRPr>
          </a:p>
        </p:txBody>
      </p:sp>
      <p:sp>
        <p:nvSpPr>
          <p:cNvPr id="96" name="Text 11"/>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5"/>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6"/>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spTree>
      <p:nvGrpSpPr>
        <p:cNvPr id="1" name=""/>
        <p:cNvGrpSpPr/>
        <p:nvPr/>
      </p:nvGrpSpPr>
      <p:grpSpPr>
        <a:xfrm>
          <a:off x="0" y="0"/>
          <a:ext cx="0" cy="0"/>
          <a:chOff x="0" y="0"/>
          <a:chExt cx="0" cy="0"/>
        </a:xfrm>
      </p:grpSpPr>
      <p:sp>
        <p:nvSpPr>
          <p:cNvPr id="97" name="Shape 32"/>
          <p:cNvSpPr/>
          <p:nvPr/>
        </p:nvSpPr>
        <p:spPr>
          <a:xfrm>
            <a:off x="0" y="360"/>
            <a:ext cx="914400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98" name="Text 19"/>
          <p:cNvSpPr/>
          <p:nvPr/>
        </p:nvSpPr>
        <p:spPr>
          <a:xfrm>
            <a:off x="45684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lang="en-US" sz="2660" b="1" u="none" strike="noStrike">
                <a:solidFill>
                  <a:srgbClr val="ffffff"/>
                </a:solidFill>
                <a:effectLst/>
                <a:uFillTx/>
                <a:latin typeface="Aptos"/>
              </a:rPr>
              <a:t>End‑to‑End Architecture</a:t>
            </a:r>
            <a:endParaRPr lang="en-IN" sz="2660" b="0" u="none" strike="noStrike">
              <a:solidFill>
                <a:srgbClr val="000000"/>
              </a:solidFill>
              <a:effectLst/>
              <a:uFillTx/>
              <a:latin typeface="Arial"/>
            </a:endParaRPr>
          </a:p>
        </p:txBody>
      </p:sp>
      <p:sp>
        <p:nvSpPr>
          <p:cNvPr id="99" name="Shape 33"/>
          <p:cNvSpPr/>
          <p:nvPr/>
        </p:nvSpPr>
        <p:spPr>
          <a:xfrm>
            <a:off x="499680" y="1828440"/>
            <a:ext cx="1163520" cy="548280"/>
          </a:xfrm>
          <a:prstGeom prst="roundRect">
            <a:avLst>
              <a:gd name="adj" fmla="val 16667"/>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00" name="Text 27"/>
          <p:cNvSpPr/>
          <p:nvPr/>
        </p:nvSpPr>
        <p:spPr>
          <a:xfrm>
            <a:off x="502920" y="187452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Sources</a:t>
            </a:r>
            <a:endParaRPr lang="en-IN" sz="800" b="0" u="none" strike="noStrike">
              <a:solidFill>
                <a:srgbClr val="000000"/>
              </a:solidFill>
              <a:effectLst/>
              <a:uFillTx/>
              <a:latin typeface="Arial"/>
            </a:endParaRPr>
          </a:p>
        </p:txBody>
      </p:sp>
      <p:sp>
        <p:nvSpPr>
          <p:cNvPr id="101" name="Shape 34"/>
          <p:cNvSpPr/>
          <p:nvPr/>
        </p:nvSpPr>
        <p:spPr>
          <a:xfrm>
            <a:off x="1737000" y="196596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102" name="Shape 35"/>
          <p:cNvSpPr/>
          <p:nvPr/>
        </p:nvSpPr>
        <p:spPr>
          <a:xfrm>
            <a:off x="1963080" y="1828440"/>
            <a:ext cx="1163520" cy="548280"/>
          </a:xfrm>
          <a:prstGeom prst="roundRect">
            <a:avLst>
              <a:gd name="adj" fmla="val 16667"/>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03" name="Text 30"/>
          <p:cNvSpPr/>
          <p:nvPr/>
        </p:nvSpPr>
        <p:spPr>
          <a:xfrm>
            <a:off x="1965600" y="187452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CDC (Debezium)</a:t>
            </a:r>
            <a:endParaRPr lang="en-IN" sz="800" b="0" u="none" strike="noStrike">
              <a:solidFill>
                <a:srgbClr val="000000"/>
              </a:solidFill>
              <a:effectLst/>
              <a:uFillTx/>
              <a:latin typeface="Arial"/>
            </a:endParaRPr>
          </a:p>
        </p:txBody>
      </p:sp>
      <p:sp>
        <p:nvSpPr>
          <p:cNvPr id="104" name="Shape 36"/>
          <p:cNvSpPr/>
          <p:nvPr/>
        </p:nvSpPr>
        <p:spPr>
          <a:xfrm>
            <a:off x="3200040" y="196596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105" name="Shape 37"/>
          <p:cNvSpPr/>
          <p:nvPr/>
        </p:nvSpPr>
        <p:spPr>
          <a:xfrm>
            <a:off x="3426120" y="1828440"/>
            <a:ext cx="1163520" cy="548280"/>
          </a:xfrm>
          <a:prstGeom prst="roundRect">
            <a:avLst>
              <a:gd name="adj" fmla="val 16667"/>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06" name="Text 31"/>
          <p:cNvSpPr/>
          <p:nvPr/>
        </p:nvSpPr>
        <p:spPr>
          <a:xfrm>
            <a:off x="3428640" y="187452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Kafka Topics</a:t>
            </a:r>
            <a:endParaRPr lang="en-IN" sz="800" b="0" u="none" strike="noStrike">
              <a:solidFill>
                <a:srgbClr val="000000"/>
              </a:solidFill>
              <a:effectLst/>
              <a:uFillTx/>
              <a:latin typeface="Arial"/>
            </a:endParaRPr>
          </a:p>
        </p:txBody>
      </p:sp>
      <p:sp>
        <p:nvSpPr>
          <p:cNvPr id="107" name="Shape 38"/>
          <p:cNvSpPr/>
          <p:nvPr/>
        </p:nvSpPr>
        <p:spPr>
          <a:xfrm>
            <a:off x="4663080" y="196596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108" name="Shape 39"/>
          <p:cNvSpPr/>
          <p:nvPr/>
        </p:nvSpPr>
        <p:spPr>
          <a:xfrm>
            <a:off x="4888800" y="1828440"/>
            <a:ext cx="1163520" cy="548280"/>
          </a:xfrm>
          <a:prstGeom prst="roundRect">
            <a:avLst>
              <a:gd name="adj" fmla="val 16667"/>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09" name="Text 35"/>
          <p:cNvSpPr/>
          <p:nvPr/>
        </p:nvSpPr>
        <p:spPr>
          <a:xfrm>
            <a:off x="4892040" y="187452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Schema &amp; Validation</a:t>
            </a:r>
            <a:endParaRPr lang="en-IN" sz="800" b="0" u="none" strike="noStrike">
              <a:solidFill>
                <a:srgbClr val="000000"/>
              </a:solidFill>
              <a:effectLst/>
              <a:uFillTx/>
              <a:latin typeface="Arial"/>
            </a:endParaRPr>
          </a:p>
        </p:txBody>
      </p:sp>
      <p:sp>
        <p:nvSpPr>
          <p:cNvPr id="110" name="Shape 40"/>
          <p:cNvSpPr/>
          <p:nvPr/>
        </p:nvSpPr>
        <p:spPr>
          <a:xfrm>
            <a:off x="6126120" y="196596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111" name="Shape 41"/>
          <p:cNvSpPr/>
          <p:nvPr/>
        </p:nvSpPr>
        <p:spPr>
          <a:xfrm>
            <a:off x="6309000" y="1828440"/>
            <a:ext cx="1279800" cy="548280"/>
          </a:xfrm>
          <a:prstGeom prst="roundRect">
            <a:avLst>
              <a:gd name="adj" fmla="val 16667"/>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12" name="Text 36"/>
          <p:cNvSpPr/>
          <p:nvPr/>
        </p:nvSpPr>
        <p:spPr>
          <a:xfrm>
            <a:off x="6393600" y="1874520"/>
            <a:ext cx="10800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Transformation (Hop)</a:t>
            </a:r>
            <a:endParaRPr lang="en-IN" sz="800" b="0" u="none" strike="noStrike">
              <a:solidFill>
                <a:srgbClr val="000000"/>
              </a:solidFill>
              <a:effectLst/>
              <a:uFillTx/>
              <a:latin typeface="Arial"/>
            </a:endParaRPr>
          </a:p>
        </p:txBody>
      </p:sp>
      <p:sp>
        <p:nvSpPr>
          <p:cNvPr id="113" name="Shape 42"/>
          <p:cNvSpPr/>
          <p:nvPr/>
        </p:nvSpPr>
        <p:spPr>
          <a:xfrm>
            <a:off x="7589160" y="196596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endParaRPr lang="en-IN" sz="2400" b="0" u="none" strike="noStrike">
              <a:solidFill>
                <a:schemeClr val="dk1"/>
              </a:solidFill>
              <a:effectLst/>
              <a:uFillTx/>
              <a:latin typeface="Aptos"/>
            </a:endParaRPr>
          </a:p>
        </p:txBody>
      </p:sp>
      <p:sp>
        <p:nvSpPr>
          <p:cNvPr id="114" name="Shape 43"/>
          <p:cNvSpPr/>
          <p:nvPr/>
        </p:nvSpPr>
        <p:spPr>
          <a:xfrm>
            <a:off x="7815240" y="1828440"/>
            <a:ext cx="1163520" cy="548280"/>
          </a:xfrm>
          <a:prstGeom prst="roundRect">
            <a:avLst>
              <a:gd name="adj" fmla="val 16667"/>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15" name="Text 37"/>
          <p:cNvSpPr/>
          <p:nvPr/>
        </p:nvSpPr>
        <p:spPr>
          <a:xfrm>
            <a:off x="7817760" y="187452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Storage (Bronze/Silver/Gold)</a:t>
            </a:r>
            <a:endParaRPr lang="en-IN" sz="800" b="0" u="none" strike="noStrike">
              <a:solidFill>
                <a:srgbClr val="000000"/>
              </a:solidFill>
              <a:effectLst/>
              <a:uFillTx/>
              <a:latin typeface="Arial"/>
            </a:endParaRPr>
          </a:p>
        </p:txBody>
      </p:sp>
      <p:sp>
        <p:nvSpPr>
          <p:cNvPr id="116" name="Shape 44"/>
          <p:cNvSpPr/>
          <p:nvPr/>
        </p:nvSpPr>
        <p:spPr>
          <a:xfrm rot="5400000">
            <a:off x="8304120" y="2483640"/>
            <a:ext cx="182520" cy="9144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1080" bIns="1080" anchor="t">
            <a:noAutofit/>
          </a:bodyPr>
          <a:p>
            <a:endParaRPr lang="en-IN" sz="2400" b="0" u="none" strike="noStrike">
              <a:solidFill>
                <a:schemeClr val="dk1"/>
              </a:solidFill>
              <a:effectLst/>
              <a:uFillTx/>
              <a:latin typeface="Aptos"/>
            </a:endParaRPr>
          </a:p>
        </p:txBody>
      </p:sp>
      <p:sp>
        <p:nvSpPr>
          <p:cNvPr id="117" name="Shape 45"/>
          <p:cNvSpPr/>
          <p:nvPr/>
        </p:nvSpPr>
        <p:spPr>
          <a:xfrm>
            <a:off x="7772400" y="2697480"/>
            <a:ext cx="1163520" cy="548280"/>
          </a:xfrm>
          <a:prstGeom prst="roundRect">
            <a:avLst>
              <a:gd name="adj" fmla="val 16667"/>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18" name="Text 38"/>
          <p:cNvSpPr/>
          <p:nvPr/>
        </p:nvSpPr>
        <p:spPr>
          <a:xfrm>
            <a:off x="7817760" y="2788920"/>
            <a:ext cx="118836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Orchestration (Airflow)</a:t>
            </a:r>
            <a:endParaRPr lang="en-IN" sz="800" b="0" u="none" strike="noStrike">
              <a:solidFill>
                <a:srgbClr val="000000"/>
              </a:solidFill>
              <a:effectLst/>
              <a:uFillTx/>
              <a:latin typeface="Arial"/>
            </a:endParaRPr>
          </a:p>
        </p:txBody>
      </p:sp>
      <p:sp>
        <p:nvSpPr>
          <p:cNvPr id="119" name="Shape 46"/>
          <p:cNvSpPr/>
          <p:nvPr/>
        </p:nvSpPr>
        <p:spPr>
          <a:xfrm>
            <a:off x="7772040" y="3840480"/>
            <a:ext cx="1279800" cy="548280"/>
          </a:xfrm>
          <a:prstGeom prst="roundRect">
            <a:avLst>
              <a:gd name="adj" fmla="val 16667"/>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endParaRPr lang="en-IN" sz="2400" b="0" u="none" strike="noStrike">
              <a:solidFill>
                <a:schemeClr val="dk1"/>
              </a:solidFill>
              <a:effectLst/>
              <a:uFillTx/>
              <a:latin typeface="Aptos"/>
            </a:endParaRPr>
          </a:p>
        </p:txBody>
      </p:sp>
      <p:sp>
        <p:nvSpPr>
          <p:cNvPr id="120" name="Text 39"/>
          <p:cNvSpPr/>
          <p:nvPr/>
        </p:nvSpPr>
        <p:spPr>
          <a:xfrm>
            <a:off x="7855560" y="3886200"/>
            <a:ext cx="108000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pPr>
            <a:r>
              <a:rPr lang="en-US" sz="800" b="0" u="none" strike="noStrike">
                <a:solidFill>
                  <a:srgbClr val="ffffff"/>
                </a:solidFill>
                <a:effectLst/>
                <a:uFillTx/>
                <a:latin typeface="Aptos"/>
              </a:rPr>
              <a:t>Analytics &amp; Serving</a:t>
            </a:r>
            <a:endParaRPr lang="en-IN" sz="800" b="0" u="none" strike="noStrike">
              <a:solidFill>
                <a:srgbClr val="000000"/>
              </a:solidFill>
              <a:effectLst/>
              <a:uFillTx/>
              <a:latin typeface="Arial"/>
            </a:endParaRPr>
          </a:p>
        </p:txBody>
      </p:sp>
      <p:sp>
        <p:nvSpPr>
          <p:cNvPr id="121" name="Text 40"/>
          <p:cNvSpPr/>
          <p:nvPr/>
        </p:nvSpPr>
        <p:spPr>
          <a:xfrm>
            <a:off x="456840" y="2743200"/>
            <a:ext cx="8686440" cy="5482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pPr>
            <a:r>
              <a:rPr lang="en-US" sz="1200" b="0" u="none" strike="noStrike">
                <a:solidFill>
                  <a:srgbClr val="6a6a6a"/>
                </a:solidFill>
                <a:effectLst/>
                <a:uFillTx/>
                <a:latin typeface="Aptos"/>
              </a:rPr>
              <a:t>Unified pipeline spans capture, ingest, transform, store, orchestrate, query and serve.</a:t>
            </a:r>
            <a:endParaRPr lang="en-IN" sz="1200" b="0" u="none" strike="noStrike">
              <a:solidFill>
                <a:srgbClr val="000000"/>
              </a:solidFill>
              <a:effectLst/>
              <a:uFillTx/>
              <a:latin typeface="Arial"/>
            </a:endParaRPr>
          </a:p>
        </p:txBody>
      </p:sp>
      <p:sp>
        <p:nvSpPr>
          <p:cNvPr id="122" name="Text 41"/>
          <p:cNvSpPr/>
          <p:nvPr/>
        </p:nvSpPr>
        <p:spPr>
          <a:xfrm>
            <a:off x="456840" y="6217920"/>
            <a:ext cx="822960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pPr>
            <a:r>
              <a:rPr lang="en-US" sz="800" b="0" u="sng" strike="noStrike">
                <a:solidFill>
                  <a:srgbClr val="467886"/>
                </a:solidFill>
                <a:effectLst/>
                <a:uFillTx/>
                <a:latin typeface="Aptos"/>
                <a:hlinkClick r:id="rId1"/>
              </a:rPr>
              <a:t>[1]</a:t>
            </a:r>
            <a:r>
              <a:rPr lang="en-US" sz="800" b="0" u="none" strike="noStrike">
                <a:solidFill>
                  <a:srgbClr val="000000"/>
                </a:solidFill>
                <a:effectLst/>
                <a:uFillTx/>
                <a:latin typeface="Aptos"/>
              </a:rPr>
              <a:t>  </a:t>
            </a:r>
            <a:r>
              <a:rPr lang="en-US" sz="800" b="0" u="sng" strike="noStrike">
                <a:solidFill>
                  <a:srgbClr val="467886"/>
                </a:solidFill>
                <a:effectLst/>
                <a:uFillTx/>
                <a:latin typeface="Aptos"/>
                <a:hlinkClick r:id="rId2"/>
              </a:rPr>
              <a:t>[2]</a:t>
            </a:r>
            <a:r>
              <a:rPr lang="en-US" sz="800" b="0" u="none" strike="noStrike">
                <a:solidFill>
                  <a:srgbClr val="000000"/>
                </a:solidFill>
                <a:effectLst/>
                <a:uFillTx/>
                <a:latin typeface="Aptos"/>
              </a:rPr>
              <a:t>  </a:t>
            </a:r>
            <a:r>
              <a:rPr lang="en-US" sz="800" b="0" u="sng" strike="noStrike">
                <a:solidFill>
                  <a:srgbClr val="467886"/>
                </a:solidFill>
                <a:effectLst/>
                <a:uFillTx/>
                <a:latin typeface="Aptos"/>
                <a:hlinkClick r:id="rId3"/>
              </a:rPr>
              <a:t>[3]</a:t>
            </a:r>
            <a:endParaRPr lang="en-IN" sz="800" b="0" u="none" strike="noStrike">
              <a:solidFill>
                <a:srgbClr val="000000"/>
              </a:solidFill>
              <a:effectLst/>
              <a:uFillTx/>
              <a:latin typeface="Arial"/>
            </a:endParaRPr>
          </a:p>
        </p:txBody>
      </p:sp>
      <p:sp>
        <p:nvSpPr>
          <p:cNvPr id="123" name="Shape 47"/>
          <p:cNvSpPr/>
          <p:nvPr/>
        </p:nvSpPr>
        <p:spPr>
          <a:xfrm rot="5400000">
            <a:off x="8327160" y="3451680"/>
            <a:ext cx="182520" cy="9144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1080" bIns="1080" anchor="t">
            <a:noAutofit/>
          </a:bodyPr>
          <a:p>
            <a:endParaRPr lang="en-IN" sz="2400" b="0" u="none" strike="noStrike">
              <a:solidFill>
                <a:schemeClr val="dk1"/>
              </a:solidFill>
              <a:effectLst/>
              <a:uFillTx/>
              <a:latin typeface="Aptos"/>
            </a:endParaRPr>
          </a:p>
        </p:txBody>
      </p:sp>
    </p:spTree>
  </p:cSld>
  <mc:AlternateContent>
    <mc:Choice Requires="p14">
      <p:transition spd="slow" p14:dur="2000"/>
    </mc:Choice>
    <mc:Fallback>
      <p:transition spd="slow"/>
    </mc:Fallback>
  </mc:AlternateContent>
</p:sld>
</file>

<file path=ppt/slides/slide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24"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25"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Capture &amp; Change Data Capture</a:t>
            </a:r>
            <a:endParaRPr lang="en-IN" sz="2000" b="0" u="none" strike="noStrike">
              <a:solidFill>
                <a:srgbClr val="000000"/>
              </a:solidFill>
              <a:effectLst/>
              <a:uFillTx/>
              <a:latin typeface="Arial"/>
            </a:endParaRPr>
          </a:p>
        </p:txBody>
      </p:sp>
      <p:sp>
        <p:nvSpPr>
          <p:cNvPr id="126" name="Text 2"/>
          <p:cNvSpPr/>
          <p:nvPr/>
        </p:nvSpPr>
        <p:spPr>
          <a:xfrm>
            <a:off x="457200" y="731520"/>
            <a:ext cx="5028840" cy="1828440"/>
          </a:xfrm>
          <a:prstGeom prst="rect">
            <a:avLst/>
          </a:prstGeom>
          <a:noFill/>
          <a:ln w="0">
            <a:noFill/>
          </a:ln>
        </p:spPr>
        <p:style>
          <a:lnRef idx="0"/>
          <a:fillRef idx="0"/>
          <a:effectRef idx="0"/>
          <a:fontRef idx="minor"/>
        </p:style>
        <p:txBody>
          <a:bodyPr lIns="90000" rIns="90000" tIns="45000" bIns="45000" anchor="ctr">
            <a:noAutofit/>
          </a:bodyPr>
          <a:p>
            <a:r>
              <a:rPr lang="en-US" sz="1200" b="1" u="none" strike="noStrike">
                <a:solidFill>
                  <a:srgbClr val="003c54"/>
                </a:solidFill>
                <a:effectLst/>
                <a:uFillTx/>
                <a:latin typeface="Calibri"/>
              </a:rPr>
              <a:t>Debezium converts database changes into event streams</a:t>
            </a:r>
            <a:endParaRPr lang="en-IN" sz="1200" b="0" u="none" strike="noStrike">
              <a:solidFill>
                <a:srgbClr val="000000"/>
              </a:solidFill>
              <a:effectLst/>
              <a:uFillTx/>
              <a:latin typeface="Arial"/>
            </a:endParaRPr>
          </a:p>
          <a:p>
            <a:r>
              <a:rPr lang="en-US" sz="1000" b="0" u="none" strike="noStrike">
                <a:solidFill>
                  <a:srgbClr val="6a6a6a"/>
                </a:solidFill>
                <a:effectLst/>
                <a:uFillTx/>
                <a:latin typeface="Calibri"/>
              </a:rPr>
              <a:t>• Monitors transaction logs (binlog/WAL) and captures inserts, updates &amp; deletes</a:t>
            </a:r>
            <a:endParaRPr lang="en-IN" sz="1000" b="0" u="none" strike="noStrike">
              <a:solidFill>
                <a:srgbClr val="000000"/>
              </a:solidFill>
              <a:effectLst/>
              <a:uFillTx/>
              <a:latin typeface="Arial"/>
            </a:endParaRPr>
          </a:p>
          <a:p>
            <a:r>
              <a:rPr lang="en-US" sz="1000" b="0" u="none" strike="noStrike">
                <a:solidFill>
                  <a:srgbClr val="6a6a6a"/>
                </a:solidFill>
                <a:effectLst/>
                <a:uFillTx/>
                <a:latin typeface="Calibri"/>
              </a:rPr>
              <a:t>• Sends change events to Kafka Connect which writes to topics (one per table)</a:t>
            </a:r>
            <a:endParaRPr lang="en-IN" sz="1000" b="0" u="none" strike="noStrike">
              <a:solidFill>
                <a:srgbClr val="000000"/>
              </a:solidFill>
              <a:effectLst/>
              <a:uFillTx/>
              <a:latin typeface="Arial"/>
            </a:endParaRPr>
          </a:p>
          <a:p>
            <a:r>
              <a:rPr lang="en-US" sz="1000" b="0" u="none" strike="noStrike">
                <a:solidFill>
                  <a:srgbClr val="6a6a6a"/>
                </a:solidFill>
                <a:effectLst/>
                <a:uFillTx/>
                <a:latin typeface="Calibri"/>
              </a:rPr>
              <a:t>• Ensures order, durability and fault tolerance; resumes from last offset</a:t>
            </a:r>
            <a:endParaRPr lang="en-IN" sz="1000" b="0" u="none" strike="noStrike">
              <a:solidFill>
                <a:srgbClr val="000000"/>
              </a:solidFill>
              <a:effectLst/>
              <a:uFillTx/>
              <a:latin typeface="Arial"/>
            </a:endParaRPr>
          </a:p>
          <a:p>
            <a:pPr defTabSz="914400">
              <a:lnSpc>
                <a:spcPct val="100000"/>
              </a:lnSpc>
              <a:tabLst>
                <a:tab algn="l" pos="0"/>
              </a:tabLst>
            </a:pPr>
            <a:r>
              <a:rPr lang="en-US" sz="1000" b="0" u="none" strike="noStrike">
                <a:solidFill>
                  <a:srgbClr val="6a6a6a"/>
                </a:solidFill>
                <a:effectLst/>
                <a:uFillTx/>
                <a:latin typeface="Calibri"/>
              </a:rPr>
              <a:t>• Supports snapshot, streaming &amp; incremental snapshot modes</a:t>
            </a:r>
            <a:endParaRPr lang="en-IN" sz="1000" b="0" u="none" strike="noStrike">
              <a:solidFill>
                <a:srgbClr val="000000"/>
              </a:solidFill>
              <a:effectLst/>
              <a:uFillTx/>
              <a:latin typeface="Arial"/>
            </a:endParaRPr>
          </a:p>
        </p:txBody>
      </p:sp>
      <p:sp>
        <p:nvSpPr>
          <p:cNvPr id="127" name="Shape 3"/>
          <p:cNvSpPr/>
          <p:nvPr/>
        </p:nvSpPr>
        <p:spPr>
          <a:xfrm>
            <a:off x="5943600" y="914400"/>
            <a:ext cx="1005480" cy="411120"/>
          </a:xfrm>
          <a:prstGeom prst="roundRect">
            <a:avLst>
              <a:gd name="adj" fmla="val 22222"/>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28" name="Text 4"/>
          <p:cNvSpPr/>
          <p:nvPr/>
        </p:nvSpPr>
        <p:spPr>
          <a:xfrm>
            <a:off x="5943600" y="914400"/>
            <a:ext cx="100548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Database</a:t>
            </a:r>
            <a:endParaRPr lang="en-IN" sz="800" b="0" u="none" strike="noStrike">
              <a:solidFill>
                <a:srgbClr val="000000"/>
              </a:solidFill>
              <a:effectLst/>
              <a:uFillTx/>
              <a:latin typeface="Arial"/>
            </a:endParaRPr>
          </a:p>
        </p:txBody>
      </p:sp>
      <p:sp>
        <p:nvSpPr>
          <p:cNvPr id="129" name="Shape 5"/>
          <p:cNvSpPr/>
          <p:nvPr/>
        </p:nvSpPr>
        <p:spPr>
          <a:xfrm>
            <a:off x="6949440" y="1078920"/>
            <a:ext cx="228240" cy="9108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30" name="Shape 6"/>
          <p:cNvSpPr/>
          <p:nvPr/>
        </p:nvSpPr>
        <p:spPr>
          <a:xfrm>
            <a:off x="7223760" y="914400"/>
            <a:ext cx="1005480" cy="411120"/>
          </a:xfrm>
          <a:prstGeom prst="roundRect">
            <a:avLst>
              <a:gd name="adj" fmla="val 22222"/>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31" name="Text 7"/>
          <p:cNvSpPr/>
          <p:nvPr/>
        </p:nvSpPr>
        <p:spPr>
          <a:xfrm>
            <a:off x="7223760" y="914400"/>
            <a:ext cx="100548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Debezium</a:t>
            </a:r>
            <a:endParaRPr lang="en-IN" sz="800" b="0" u="none" strike="noStrike">
              <a:solidFill>
                <a:srgbClr val="000000"/>
              </a:solidFill>
              <a:effectLst/>
              <a:uFillTx/>
              <a:latin typeface="Arial"/>
            </a:endParaRPr>
          </a:p>
        </p:txBody>
      </p:sp>
      <p:sp>
        <p:nvSpPr>
          <p:cNvPr id="132" name="Shape 8"/>
          <p:cNvSpPr/>
          <p:nvPr/>
        </p:nvSpPr>
        <p:spPr>
          <a:xfrm>
            <a:off x="8229600" y="1078920"/>
            <a:ext cx="228240" cy="9108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33" name="Shape 9"/>
          <p:cNvSpPr/>
          <p:nvPr/>
        </p:nvSpPr>
        <p:spPr>
          <a:xfrm>
            <a:off x="8458200" y="914400"/>
            <a:ext cx="639720" cy="411120"/>
          </a:xfrm>
          <a:prstGeom prst="roundRect">
            <a:avLst>
              <a:gd name="adj" fmla="val 22222"/>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34" name="Text 10"/>
          <p:cNvSpPr/>
          <p:nvPr/>
        </p:nvSpPr>
        <p:spPr>
          <a:xfrm>
            <a:off x="8458200" y="914400"/>
            <a:ext cx="63972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Topic</a:t>
            </a:r>
            <a:endParaRPr lang="en-IN" sz="800" b="0" u="none" strike="noStrike">
              <a:solidFill>
                <a:srgbClr val="000000"/>
              </a:solidFill>
              <a:effectLst/>
              <a:uFillTx/>
              <a:latin typeface="Arial"/>
            </a:endParaRPr>
          </a:p>
        </p:txBody>
      </p:sp>
      <p:sp>
        <p:nvSpPr>
          <p:cNvPr id="135" name="Text 11"/>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3"/>
              </a:rPr>
              <a:t>[3]</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36"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37"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Ingestion &amp; Schema Management</a:t>
            </a:r>
            <a:endParaRPr lang="en-IN" sz="2000" b="0" u="none" strike="noStrike">
              <a:solidFill>
                <a:srgbClr val="000000"/>
              </a:solidFill>
              <a:effectLst/>
              <a:uFillTx/>
              <a:latin typeface="Arial"/>
            </a:endParaRPr>
          </a:p>
        </p:txBody>
      </p:sp>
      <p:sp>
        <p:nvSpPr>
          <p:cNvPr id="138" name="Text 2"/>
          <p:cNvSpPr/>
          <p:nvPr/>
        </p:nvSpPr>
        <p:spPr>
          <a:xfrm>
            <a:off x="457200" y="731520"/>
            <a:ext cx="5028840" cy="1828440"/>
          </a:xfrm>
          <a:prstGeom prst="rect">
            <a:avLst/>
          </a:prstGeom>
          <a:noFill/>
          <a:ln w="0">
            <a:noFill/>
          </a:ln>
        </p:spPr>
        <p:style>
          <a:lnRef idx="0"/>
          <a:fillRef idx="0"/>
          <a:effectRef idx="0"/>
          <a:fontRef idx="minor"/>
        </p:style>
        <p:txBody>
          <a:bodyPr lIns="90000" rIns="90000" tIns="45000" bIns="45000" anchor="ctr">
            <a:noAutofit/>
          </a:bodyPr>
          <a:p>
            <a:r>
              <a:rPr lang="en-US" sz="1200" b="1" u="none" strike="noStrike">
                <a:solidFill>
                  <a:srgbClr val="003c54"/>
                </a:solidFill>
                <a:effectLst/>
                <a:uFillTx/>
                <a:latin typeface="Calibri"/>
              </a:rPr>
              <a:t>Event schemas act as contracts</a:t>
            </a:r>
            <a:endParaRPr lang="en-IN" sz="1200" b="0" u="none" strike="noStrike">
              <a:solidFill>
                <a:srgbClr val="000000"/>
              </a:solidFill>
              <a:effectLst/>
              <a:uFillTx/>
              <a:latin typeface="Arial"/>
            </a:endParaRPr>
          </a:p>
          <a:p>
            <a:r>
              <a:rPr lang="en-US" sz="1000" b="0" u="none" strike="noStrike">
                <a:solidFill>
                  <a:srgbClr val="6a6a6a"/>
                </a:solidFill>
                <a:effectLst/>
                <a:uFillTx/>
                <a:latin typeface="Calibri"/>
              </a:rPr>
              <a:t>• Avro, JSON Schema &amp; Protobuf define the structure of each record</a:t>
            </a:r>
            <a:endParaRPr lang="en-IN" sz="1000" b="0" u="none" strike="noStrike">
              <a:solidFill>
                <a:srgbClr val="000000"/>
              </a:solidFill>
              <a:effectLst/>
              <a:uFillTx/>
              <a:latin typeface="Arial"/>
            </a:endParaRPr>
          </a:p>
          <a:p>
            <a:r>
              <a:rPr lang="en-US" sz="1000" b="0" u="none" strike="noStrike">
                <a:solidFill>
                  <a:srgbClr val="6a6a6a"/>
                </a:solidFill>
                <a:effectLst/>
                <a:uFillTx/>
                <a:latin typeface="Calibri"/>
              </a:rPr>
              <a:t>• Schema Registry stores versions and enforces compatibility</a:t>
            </a:r>
            <a:endParaRPr lang="en-IN" sz="1000" b="0" u="none" strike="noStrike">
              <a:solidFill>
                <a:srgbClr val="000000"/>
              </a:solidFill>
              <a:effectLst/>
              <a:uFillTx/>
              <a:latin typeface="Arial"/>
            </a:endParaRPr>
          </a:p>
          <a:p>
            <a:r>
              <a:rPr lang="en-US" sz="1000" b="0" u="none" strike="noStrike">
                <a:solidFill>
                  <a:srgbClr val="6a6a6a"/>
                </a:solidFill>
                <a:effectLst/>
                <a:uFillTx/>
                <a:latin typeface="Calibri"/>
              </a:rPr>
              <a:t>• Producers validate events; consumers evolve independently</a:t>
            </a:r>
            <a:endParaRPr lang="en-IN" sz="1000" b="0" u="none" strike="noStrike">
              <a:solidFill>
                <a:srgbClr val="000000"/>
              </a:solidFill>
              <a:effectLst/>
              <a:uFillTx/>
              <a:latin typeface="Arial"/>
            </a:endParaRPr>
          </a:p>
          <a:p>
            <a:pPr defTabSz="914400">
              <a:lnSpc>
                <a:spcPct val="100000"/>
              </a:lnSpc>
              <a:tabLst>
                <a:tab algn="l" pos="0"/>
              </a:tabLst>
            </a:pPr>
            <a:r>
              <a:rPr lang="en-US" sz="1000" b="0" u="none" strike="noStrike">
                <a:solidFill>
                  <a:srgbClr val="6a6a6a"/>
                </a:solidFill>
                <a:effectLst/>
                <a:uFillTx/>
                <a:latin typeface="Calibri"/>
              </a:rPr>
              <a:t>• DLQ patterns handle malformed records and poison messages</a:t>
            </a:r>
            <a:endParaRPr lang="en-IN" sz="1000" b="0" u="none" strike="noStrike">
              <a:solidFill>
                <a:srgbClr val="000000"/>
              </a:solidFill>
              <a:effectLst/>
              <a:uFillTx/>
              <a:latin typeface="Arial"/>
            </a:endParaRPr>
          </a:p>
        </p:txBody>
      </p:sp>
      <p:sp>
        <p:nvSpPr>
          <p:cNvPr id="139" name="Shape 3"/>
          <p:cNvSpPr/>
          <p:nvPr/>
        </p:nvSpPr>
        <p:spPr>
          <a:xfrm>
            <a:off x="5760720" y="914400"/>
            <a:ext cx="1096920" cy="411120"/>
          </a:xfrm>
          <a:prstGeom prst="roundRect">
            <a:avLst>
              <a:gd name="adj" fmla="val 22222"/>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40" name="Text 4"/>
          <p:cNvSpPr/>
          <p:nvPr/>
        </p:nvSpPr>
        <p:spPr>
          <a:xfrm>
            <a:off x="5760720" y="914400"/>
            <a:ext cx="109692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Producer</a:t>
            </a:r>
            <a:endParaRPr lang="en-IN" sz="800" b="0" u="none" strike="noStrike">
              <a:solidFill>
                <a:srgbClr val="000000"/>
              </a:solidFill>
              <a:effectLst/>
              <a:uFillTx/>
              <a:latin typeface="Arial"/>
            </a:endParaRPr>
          </a:p>
        </p:txBody>
      </p:sp>
      <p:sp>
        <p:nvSpPr>
          <p:cNvPr id="141" name="Shape 5"/>
          <p:cNvSpPr/>
          <p:nvPr/>
        </p:nvSpPr>
        <p:spPr>
          <a:xfrm>
            <a:off x="6858000" y="1078920"/>
            <a:ext cx="228240" cy="9108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42" name="Shape 6"/>
          <p:cNvSpPr/>
          <p:nvPr/>
        </p:nvSpPr>
        <p:spPr>
          <a:xfrm>
            <a:off x="7132320" y="914400"/>
            <a:ext cx="1096920" cy="411120"/>
          </a:xfrm>
          <a:prstGeom prst="roundRect">
            <a:avLst>
              <a:gd name="adj" fmla="val 22222"/>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43" name="Text 7"/>
          <p:cNvSpPr/>
          <p:nvPr/>
        </p:nvSpPr>
        <p:spPr>
          <a:xfrm>
            <a:off x="7132320" y="914400"/>
            <a:ext cx="109692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Schema Registry</a:t>
            </a:r>
            <a:endParaRPr lang="en-IN" sz="700" b="0" u="none" strike="noStrike">
              <a:solidFill>
                <a:srgbClr val="000000"/>
              </a:solidFill>
              <a:effectLst/>
              <a:uFillTx/>
              <a:latin typeface="Arial"/>
            </a:endParaRPr>
          </a:p>
        </p:txBody>
      </p:sp>
      <p:sp>
        <p:nvSpPr>
          <p:cNvPr id="144" name="Shape 8"/>
          <p:cNvSpPr/>
          <p:nvPr/>
        </p:nvSpPr>
        <p:spPr>
          <a:xfrm>
            <a:off x="8229600" y="1078920"/>
            <a:ext cx="228240" cy="9108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45" name="Shape 9"/>
          <p:cNvSpPr/>
          <p:nvPr/>
        </p:nvSpPr>
        <p:spPr>
          <a:xfrm>
            <a:off x="8458200" y="914400"/>
            <a:ext cx="639720" cy="411120"/>
          </a:xfrm>
          <a:prstGeom prst="roundRect">
            <a:avLst>
              <a:gd name="adj" fmla="val 22222"/>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46" name="Text 10"/>
          <p:cNvSpPr/>
          <p:nvPr/>
        </p:nvSpPr>
        <p:spPr>
          <a:xfrm>
            <a:off x="8458200" y="914400"/>
            <a:ext cx="639720" cy="41112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Topic</a:t>
            </a:r>
            <a:endParaRPr lang="en-IN" sz="800" b="0" u="none" strike="noStrike">
              <a:solidFill>
                <a:srgbClr val="000000"/>
              </a:solidFill>
              <a:effectLst/>
              <a:uFillTx/>
              <a:latin typeface="Arial"/>
            </a:endParaRPr>
          </a:p>
        </p:txBody>
      </p:sp>
      <p:sp>
        <p:nvSpPr>
          <p:cNvPr id="147" name="Text 11"/>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48"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49"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Transformation &amp; Storage</a:t>
            </a:r>
            <a:endParaRPr lang="en-IN" sz="2000" b="0" u="none" strike="noStrike">
              <a:solidFill>
                <a:srgbClr val="000000"/>
              </a:solidFill>
              <a:effectLst/>
              <a:uFillTx/>
              <a:latin typeface="Arial"/>
            </a:endParaRPr>
          </a:p>
        </p:txBody>
      </p:sp>
      <p:sp>
        <p:nvSpPr>
          <p:cNvPr id="150" name="Text 2"/>
          <p:cNvSpPr/>
          <p:nvPr/>
        </p:nvSpPr>
        <p:spPr>
          <a:xfrm>
            <a:off x="457200" y="731520"/>
            <a:ext cx="5028840" cy="2285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200" b="1" u="none" strike="noStrike">
                <a:solidFill>
                  <a:srgbClr val="003c54"/>
                </a:solidFill>
                <a:effectLst/>
                <a:uFillTx/>
                <a:latin typeface="Calibri"/>
              </a:rPr>
              <a:t>Transformation and Storage Extension</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Earlier-day Hop/Spark work defines cleaning, deduplication and enrichment rules.</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Map raw CDC to Bronze, accepted records to Silver and metrics to Gold.</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The supplied Day 10 stack does not ship a running Hop/Spark lakehouse job; include the extension design or evidence from prior labs.</a:t>
            </a:r>
            <a:endParaRPr lang="en-IN" sz="1200" b="0" u="none" strike="noStrike">
              <a:solidFill>
                <a:srgbClr val="000000"/>
              </a:solidFill>
              <a:effectLst/>
              <a:uFillTx/>
              <a:latin typeface="Arial"/>
            </a:endParaRPr>
          </a:p>
        </p:txBody>
      </p:sp>
      <p:sp>
        <p:nvSpPr>
          <p:cNvPr id="151" name="Shape 3"/>
          <p:cNvSpPr/>
          <p:nvPr/>
        </p:nvSpPr>
        <p:spPr>
          <a:xfrm>
            <a:off x="5669280" y="1645920"/>
            <a:ext cx="1828440" cy="365400"/>
          </a:xfrm>
          <a:prstGeom prst="rect">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52" name="Text 4"/>
          <p:cNvSpPr/>
          <p:nvPr/>
        </p:nvSpPr>
        <p:spPr>
          <a:xfrm>
            <a:off x="5669280" y="1645920"/>
            <a:ext cx="182844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900" b="0" u="none" strike="noStrike">
                <a:solidFill>
                  <a:srgbClr val="ffffff"/>
                </a:solidFill>
                <a:effectLst/>
                <a:uFillTx/>
                <a:latin typeface="Calibri"/>
              </a:rPr>
              <a:t>Bronze</a:t>
            </a:r>
            <a:endParaRPr lang="en-IN" sz="900" b="0" u="none" strike="noStrike">
              <a:solidFill>
                <a:srgbClr val="000000"/>
              </a:solidFill>
              <a:effectLst/>
              <a:uFillTx/>
              <a:latin typeface="Arial"/>
            </a:endParaRPr>
          </a:p>
        </p:txBody>
      </p:sp>
      <p:sp>
        <p:nvSpPr>
          <p:cNvPr id="153" name="Shape 5"/>
          <p:cNvSpPr/>
          <p:nvPr/>
        </p:nvSpPr>
        <p:spPr>
          <a:xfrm>
            <a:off x="5669280" y="1280160"/>
            <a:ext cx="1828440" cy="365400"/>
          </a:xfrm>
          <a:prstGeom prst="rect">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54" name="Text 6"/>
          <p:cNvSpPr/>
          <p:nvPr/>
        </p:nvSpPr>
        <p:spPr>
          <a:xfrm>
            <a:off x="5669280" y="1280160"/>
            <a:ext cx="182844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900" b="0" u="none" strike="noStrike">
                <a:solidFill>
                  <a:srgbClr val="ffffff"/>
                </a:solidFill>
                <a:effectLst/>
                <a:uFillTx/>
                <a:latin typeface="Calibri"/>
              </a:rPr>
              <a:t>Silver</a:t>
            </a:r>
            <a:endParaRPr lang="en-IN" sz="900" b="0" u="none" strike="noStrike">
              <a:solidFill>
                <a:srgbClr val="000000"/>
              </a:solidFill>
              <a:effectLst/>
              <a:uFillTx/>
              <a:latin typeface="Arial"/>
            </a:endParaRPr>
          </a:p>
        </p:txBody>
      </p:sp>
      <p:sp>
        <p:nvSpPr>
          <p:cNvPr id="155" name="Shape 7"/>
          <p:cNvSpPr/>
          <p:nvPr/>
        </p:nvSpPr>
        <p:spPr>
          <a:xfrm>
            <a:off x="5669280" y="914400"/>
            <a:ext cx="1828440" cy="365400"/>
          </a:xfrm>
          <a:prstGeom prst="rect">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56" name="Text 8"/>
          <p:cNvSpPr/>
          <p:nvPr/>
        </p:nvSpPr>
        <p:spPr>
          <a:xfrm>
            <a:off x="5669280" y="914400"/>
            <a:ext cx="182844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900" b="0" u="none" strike="noStrike">
                <a:solidFill>
                  <a:srgbClr val="ffffff"/>
                </a:solidFill>
                <a:effectLst/>
                <a:uFillTx/>
                <a:latin typeface="Calibri"/>
              </a:rPr>
              <a:t>Gold</a:t>
            </a:r>
            <a:endParaRPr lang="en-IN" sz="900" b="0" u="none" strike="noStrike">
              <a:solidFill>
                <a:srgbClr val="000000"/>
              </a:solidFill>
              <a:effectLst/>
              <a:uFillTx/>
              <a:latin typeface="Arial"/>
            </a:endParaRPr>
          </a:p>
        </p:txBody>
      </p:sp>
      <p:sp>
        <p:nvSpPr>
          <p:cNvPr id="157" name="Text 9"/>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3"/>
              </a:rPr>
              <a:t>[3]</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4"/>
              </a:rPr>
              <a:t>[4]</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58"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59"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Orchestration &amp; Scheduling</a:t>
            </a:r>
            <a:endParaRPr lang="en-IN" sz="2000" b="0" u="none" strike="noStrike">
              <a:solidFill>
                <a:srgbClr val="000000"/>
              </a:solidFill>
              <a:effectLst/>
              <a:uFillTx/>
              <a:latin typeface="Arial"/>
            </a:endParaRPr>
          </a:p>
        </p:txBody>
      </p:sp>
      <p:sp>
        <p:nvSpPr>
          <p:cNvPr id="160" name="Text 2"/>
          <p:cNvSpPr/>
          <p:nvPr/>
        </p:nvSpPr>
        <p:spPr>
          <a:xfrm>
            <a:off x="457200" y="731520"/>
            <a:ext cx="5028840" cy="1828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200" b="1" u="none" strike="noStrike">
                <a:solidFill>
                  <a:srgbClr val="003c54"/>
                </a:solidFill>
                <a:effectLst/>
                <a:uFillTx/>
                <a:latin typeface="Calibri"/>
              </a:rPr>
              <a:t>Orchestration Extension</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Airflow coordinates bounded checks and transformation jobs; it does not replace continuous CDC capture.</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The supplied Day 10 Compose stack does not include Airflow.</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In your design, show the validation or Gold-refresh DAG, retry policy and idempotent outcome evidence.</a:t>
            </a:r>
            <a:endParaRPr lang="en-IN" sz="1200" b="0" u="none" strike="noStrike">
              <a:solidFill>
                <a:srgbClr val="000000"/>
              </a:solidFill>
              <a:effectLst/>
              <a:uFillTx/>
              <a:latin typeface="Arial"/>
            </a:endParaRPr>
          </a:p>
        </p:txBody>
      </p:sp>
      <p:sp>
        <p:nvSpPr>
          <p:cNvPr id="161" name="Shape 3"/>
          <p:cNvSpPr/>
          <p:nvPr/>
        </p:nvSpPr>
        <p:spPr>
          <a:xfrm>
            <a:off x="5760720" y="914400"/>
            <a:ext cx="548280" cy="54828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62" name="Text 4"/>
          <p:cNvSpPr/>
          <p:nvPr/>
        </p:nvSpPr>
        <p:spPr>
          <a:xfrm>
            <a:off x="5760720" y="914400"/>
            <a:ext cx="548280" cy="548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Ingest</a:t>
            </a:r>
            <a:endParaRPr lang="en-IN" sz="700" b="0" u="none" strike="noStrike">
              <a:solidFill>
                <a:srgbClr val="000000"/>
              </a:solidFill>
              <a:effectLst/>
              <a:uFillTx/>
              <a:latin typeface="Arial"/>
            </a:endParaRPr>
          </a:p>
        </p:txBody>
      </p:sp>
      <p:sp>
        <p:nvSpPr>
          <p:cNvPr id="163" name="Shape 5"/>
          <p:cNvSpPr/>
          <p:nvPr/>
        </p:nvSpPr>
        <p:spPr>
          <a:xfrm>
            <a:off x="6766560" y="914400"/>
            <a:ext cx="548280" cy="54828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64" name="Text 6"/>
          <p:cNvSpPr/>
          <p:nvPr/>
        </p:nvSpPr>
        <p:spPr>
          <a:xfrm>
            <a:off x="6766560" y="914400"/>
            <a:ext cx="548280" cy="548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Transform</a:t>
            </a:r>
            <a:endParaRPr lang="en-IN" sz="700" b="0" u="none" strike="noStrike">
              <a:solidFill>
                <a:srgbClr val="000000"/>
              </a:solidFill>
              <a:effectLst/>
              <a:uFillTx/>
              <a:latin typeface="Arial"/>
            </a:endParaRPr>
          </a:p>
        </p:txBody>
      </p:sp>
      <p:sp>
        <p:nvSpPr>
          <p:cNvPr id="165" name="Shape 7"/>
          <p:cNvSpPr/>
          <p:nvPr/>
        </p:nvSpPr>
        <p:spPr>
          <a:xfrm>
            <a:off x="7772400" y="914400"/>
            <a:ext cx="548280" cy="548280"/>
          </a:xfrm>
          <a:prstGeom prst="ellipse">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66" name="Text 8"/>
          <p:cNvSpPr/>
          <p:nvPr/>
        </p:nvSpPr>
        <p:spPr>
          <a:xfrm>
            <a:off x="7772400" y="914400"/>
            <a:ext cx="548280" cy="5482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Serve</a:t>
            </a:r>
            <a:endParaRPr lang="en-IN" sz="700" b="0" u="none" strike="noStrike">
              <a:solidFill>
                <a:srgbClr val="000000"/>
              </a:solidFill>
              <a:effectLst/>
              <a:uFillTx/>
              <a:latin typeface="Arial"/>
            </a:endParaRPr>
          </a:p>
        </p:txBody>
      </p:sp>
      <p:sp>
        <p:nvSpPr>
          <p:cNvPr id="167" name="Shape 9"/>
          <p:cNvSpPr/>
          <p:nvPr/>
        </p:nvSpPr>
        <p:spPr>
          <a:xfrm>
            <a:off x="6309360" y="1143000"/>
            <a:ext cx="456840" cy="9108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68" name="Shape 10"/>
          <p:cNvSpPr/>
          <p:nvPr/>
        </p:nvSpPr>
        <p:spPr>
          <a:xfrm>
            <a:off x="7315200" y="1143000"/>
            <a:ext cx="456840" cy="9108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69" name="Text 11"/>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70"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71"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Real‑Time Analytics &amp; Serving</a:t>
            </a:r>
            <a:endParaRPr lang="en-IN" sz="2000" b="0" u="none" strike="noStrike">
              <a:solidFill>
                <a:srgbClr val="000000"/>
              </a:solidFill>
              <a:effectLst/>
              <a:uFillTx/>
              <a:latin typeface="Arial"/>
            </a:endParaRPr>
          </a:p>
        </p:txBody>
      </p:sp>
      <p:sp>
        <p:nvSpPr>
          <p:cNvPr id="172" name="Text 2"/>
          <p:cNvSpPr/>
          <p:nvPr/>
        </p:nvSpPr>
        <p:spPr>
          <a:xfrm>
            <a:off x="457200" y="731520"/>
            <a:ext cx="5028840" cy="18284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200" b="1" u="none" strike="noStrike">
                <a:solidFill>
                  <a:srgbClr val="003c54"/>
                </a:solidFill>
                <a:effectLst/>
                <a:uFillTx/>
                <a:latin typeface="Calibri"/>
              </a:rPr>
              <a:t>Consumption and BI Proof</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The runnable capstone uses ksqlDB derived tables/topics as the analytics output.</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Export or connect a Gold-style result to a BI tool such as Apache Superset or Metabase.</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Required dashboard evidence: one KPI plus two charts, with metric grain and refresh/freshness note.</a:t>
            </a:r>
            <a:endParaRPr lang="en-IN" sz="1200" b="0" u="none" strike="noStrike">
              <a:solidFill>
                <a:srgbClr val="000000"/>
              </a:solidFill>
              <a:effectLst/>
              <a:uFillTx/>
              <a:latin typeface="Arial"/>
            </a:endParaRPr>
          </a:p>
          <a:p>
            <a:pPr defTabSz="914400">
              <a:lnSpc>
                <a:spcPct val="100000"/>
              </a:lnSpc>
              <a:tabLst>
                <a:tab algn="l" pos="0"/>
              </a:tabLst>
            </a:pPr>
            <a:r>
              <a:rPr lang="en-US" sz="1200" b="1" u="none" strike="noStrike">
                <a:solidFill>
                  <a:srgbClr val="003c54"/>
                </a:solidFill>
                <a:effectLst/>
                <a:uFillTx/>
                <a:latin typeface="Calibri"/>
              </a:rPr>
              <a:t>- A microservice is optional, not a replacement for the dashboard proof.</a:t>
            </a:r>
            <a:endParaRPr lang="en-IN" sz="1200" b="0" u="none" strike="noStrike">
              <a:solidFill>
                <a:srgbClr val="000000"/>
              </a:solidFill>
              <a:effectLst/>
              <a:uFillTx/>
              <a:latin typeface="Arial"/>
            </a:endParaRPr>
          </a:p>
        </p:txBody>
      </p:sp>
      <p:sp>
        <p:nvSpPr>
          <p:cNvPr id="173" name="Shape 3"/>
          <p:cNvSpPr/>
          <p:nvPr/>
        </p:nvSpPr>
        <p:spPr>
          <a:xfrm>
            <a:off x="5486040" y="2243160"/>
            <a:ext cx="1371240" cy="456840"/>
          </a:xfrm>
          <a:prstGeom prst="roundRect">
            <a:avLst>
              <a:gd name="adj" fmla="val 20000"/>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74" name="Text 4"/>
          <p:cNvSpPr/>
          <p:nvPr/>
        </p:nvSpPr>
        <p:spPr>
          <a:xfrm>
            <a:off x="5486040" y="2243160"/>
            <a:ext cx="13712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Derived Topic</a:t>
            </a:r>
            <a:endParaRPr lang="en-IN" sz="800" b="0" u="none" strike="noStrike">
              <a:solidFill>
                <a:srgbClr val="000000"/>
              </a:solidFill>
              <a:effectLst/>
              <a:uFillTx/>
              <a:latin typeface="Arial"/>
            </a:endParaRPr>
          </a:p>
        </p:txBody>
      </p:sp>
      <p:sp>
        <p:nvSpPr>
          <p:cNvPr id="175" name="Shape 5"/>
          <p:cNvSpPr/>
          <p:nvPr/>
        </p:nvSpPr>
        <p:spPr>
          <a:xfrm>
            <a:off x="7040880" y="1755720"/>
            <a:ext cx="273960" cy="7272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8280" bIns="-828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76" name="Shape 6"/>
          <p:cNvSpPr/>
          <p:nvPr/>
        </p:nvSpPr>
        <p:spPr>
          <a:xfrm>
            <a:off x="7315200" y="1645920"/>
            <a:ext cx="1371240" cy="319680"/>
          </a:xfrm>
          <a:prstGeom prst="roundRect">
            <a:avLst>
              <a:gd name="adj" fmla="val 14286"/>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77" name="Text 7"/>
          <p:cNvSpPr/>
          <p:nvPr/>
        </p:nvSpPr>
        <p:spPr>
          <a:xfrm>
            <a:off x="7315200" y="1645920"/>
            <a:ext cx="13712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Dashboard</a:t>
            </a:r>
            <a:endParaRPr lang="en-IN" sz="700" b="0" u="none" strike="noStrike">
              <a:solidFill>
                <a:srgbClr val="000000"/>
              </a:solidFill>
              <a:effectLst/>
              <a:uFillTx/>
              <a:latin typeface="Arial"/>
            </a:endParaRPr>
          </a:p>
        </p:txBody>
      </p:sp>
      <p:sp>
        <p:nvSpPr>
          <p:cNvPr id="178" name="Shape 8"/>
          <p:cNvSpPr/>
          <p:nvPr/>
        </p:nvSpPr>
        <p:spPr>
          <a:xfrm>
            <a:off x="7040880" y="2212920"/>
            <a:ext cx="273960" cy="7272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8280" bIns="-828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79" name="Shape 9"/>
          <p:cNvSpPr/>
          <p:nvPr/>
        </p:nvSpPr>
        <p:spPr>
          <a:xfrm>
            <a:off x="7315200" y="2103120"/>
            <a:ext cx="1371240" cy="319680"/>
          </a:xfrm>
          <a:prstGeom prst="roundRect">
            <a:avLst>
              <a:gd name="adj" fmla="val 14286"/>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80" name="Text 10"/>
          <p:cNvSpPr/>
          <p:nvPr/>
        </p:nvSpPr>
        <p:spPr>
          <a:xfrm>
            <a:off x="7315200" y="2103120"/>
            <a:ext cx="13712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API</a:t>
            </a:r>
            <a:endParaRPr lang="en-IN" sz="700" b="0" u="none" strike="noStrike">
              <a:solidFill>
                <a:srgbClr val="000000"/>
              </a:solidFill>
              <a:effectLst/>
              <a:uFillTx/>
              <a:latin typeface="Arial"/>
            </a:endParaRPr>
          </a:p>
        </p:txBody>
      </p:sp>
      <p:sp>
        <p:nvSpPr>
          <p:cNvPr id="181" name="Shape 11"/>
          <p:cNvSpPr/>
          <p:nvPr/>
        </p:nvSpPr>
        <p:spPr>
          <a:xfrm>
            <a:off x="7040880" y="2670120"/>
            <a:ext cx="273960" cy="7272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8280" bIns="-828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82" name="Shape 12"/>
          <p:cNvSpPr/>
          <p:nvPr/>
        </p:nvSpPr>
        <p:spPr>
          <a:xfrm>
            <a:off x="7315200" y="2560320"/>
            <a:ext cx="1371240" cy="319680"/>
          </a:xfrm>
          <a:prstGeom prst="roundRect">
            <a:avLst>
              <a:gd name="adj" fmla="val 14286"/>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83" name="Text 13"/>
          <p:cNvSpPr/>
          <p:nvPr/>
        </p:nvSpPr>
        <p:spPr>
          <a:xfrm>
            <a:off x="7315200" y="2560320"/>
            <a:ext cx="13712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Microservice</a:t>
            </a:r>
            <a:endParaRPr lang="en-IN" sz="700" b="0" u="none" strike="noStrike">
              <a:solidFill>
                <a:srgbClr val="000000"/>
              </a:solidFill>
              <a:effectLst/>
              <a:uFillTx/>
              <a:latin typeface="Arial"/>
            </a:endParaRPr>
          </a:p>
        </p:txBody>
      </p:sp>
      <p:sp>
        <p:nvSpPr>
          <p:cNvPr id="184" name="Shape 14"/>
          <p:cNvSpPr/>
          <p:nvPr/>
        </p:nvSpPr>
        <p:spPr>
          <a:xfrm>
            <a:off x="7040880" y="3127320"/>
            <a:ext cx="273960" cy="72720"/>
          </a:xfrm>
          <a:prstGeom prst="rightArrow">
            <a:avLst>
              <a:gd name="adj1" fmla="val 50000"/>
              <a:gd name="adj2" fmla="val 50000"/>
            </a:avLst>
          </a:prstGeom>
          <a:solidFill>
            <a:srgbClr val="0077cc"/>
          </a:solidFill>
          <a:ln w="12700">
            <a:solidFill>
              <a:srgbClr val="0077cc"/>
            </a:solidFill>
            <a:round/>
          </a:ln>
        </p:spPr>
        <p:style>
          <a:lnRef idx="0"/>
          <a:fillRef idx="0"/>
          <a:effectRef idx="0"/>
          <a:fontRef idx="minor"/>
        </p:style>
        <p:txBody>
          <a:bodyPr lIns="90000" rIns="90000" tIns="-8280" bIns="-828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85" name="Shape 15"/>
          <p:cNvSpPr/>
          <p:nvPr/>
        </p:nvSpPr>
        <p:spPr>
          <a:xfrm>
            <a:off x="7315200" y="3017520"/>
            <a:ext cx="1371240" cy="319680"/>
          </a:xfrm>
          <a:prstGeom prst="roundRect">
            <a:avLst>
              <a:gd name="adj" fmla="val 14286"/>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86" name="Text 16"/>
          <p:cNvSpPr/>
          <p:nvPr/>
        </p:nvSpPr>
        <p:spPr>
          <a:xfrm>
            <a:off x="7315200" y="3017520"/>
            <a:ext cx="1371240" cy="31968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ML Model</a:t>
            </a:r>
            <a:endParaRPr lang="en-IN" sz="700" b="0" u="none" strike="noStrike">
              <a:solidFill>
                <a:srgbClr val="000000"/>
              </a:solidFill>
              <a:effectLst/>
              <a:uFillTx/>
              <a:latin typeface="Arial"/>
            </a:endParaRPr>
          </a:p>
        </p:txBody>
      </p:sp>
      <p:sp>
        <p:nvSpPr>
          <p:cNvPr id="187" name="Text 17"/>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3"/>
              </a:rPr>
              <a:t>[3]</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188"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89"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Event Life Cycle</a:t>
            </a:r>
            <a:endParaRPr lang="en-IN" sz="2000" b="0" u="none" strike="noStrike">
              <a:solidFill>
                <a:srgbClr val="000000"/>
              </a:solidFill>
              <a:effectLst/>
              <a:uFillTx/>
              <a:latin typeface="Arial"/>
            </a:endParaRPr>
          </a:p>
        </p:txBody>
      </p:sp>
      <p:sp>
        <p:nvSpPr>
          <p:cNvPr id="190" name="Shape 2"/>
          <p:cNvSpPr/>
          <p:nvPr/>
        </p:nvSpPr>
        <p:spPr>
          <a:xfrm>
            <a:off x="457200" y="1828800"/>
            <a:ext cx="914040" cy="456840"/>
          </a:xfrm>
          <a:prstGeom prst="roundRect">
            <a:avLst>
              <a:gd name="adj" fmla="val 20000"/>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91" name="Text 3"/>
          <p:cNvSpPr/>
          <p:nvPr/>
        </p:nvSpPr>
        <p:spPr>
          <a:xfrm>
            <a:off x="45720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Capture</a:t>
            </a:r>
            <a:endParaRPr lang="en-IN" sz="800" b="0" u="none" strike="noStrike">
              <a:solidFill>
                <a:srgbClr val="000000"/>
              </a:solidFill>
              <a:effectLst/>
              <a:uFillTx/>
              <a:latin typeface="Arial"/>
            </a:endParaRPr>
          </a:p>
        </p:txBody>
      </p:sp>
      <p:sp>
        <p:nvSpPr>
          <p:cNvPr id="192" name="Shape 4"/>
          <p:cNvSpPr/>
          <p:nvPr/>
        </p:nvSpPr>
        <p:spPr>
          <a:xfrm>
            <a:off x="1371600" y="201168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93" name="Shape 5"/>
          <p:cNvSpPr/>
          <p:nvPr/>
        </p:nvSpPr>
        <p:spPr>
          <a:xfrm>
            <a:off x="1554480" y="1828800"/>
            <a:ext cx="914040" cy="456840"/>
          </a:xfrm>
          <a:prstGeom prst="roundRect">
            <a:avLst>
              <a:gd name="adj" fmla="val 20000"/>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94" name="Text 6"/>
          <p:cNvSpPr/>
          <p:nvPr/>
        </p:nvSpPr>
        <p:spPr>
          <a:xfrm>
            <a:off x="155448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Ingest</a:t>
            </a:r>
            <a:endParaRPr lang="en-IN" sz="800" b="0" u="none" strike="noStrike">
              <a:solidFill>
                <a:srgbClr val="000000"/>
              </a:solidFill>
              <a:effectLst/>
              <a:uFillTx/>
              <a:latin typeface="Arial"/>
            </a:endParaRPr>
          </a:p>
        </p:txBody>
      </p:sp>
      <p:sp>
        <p:nvSpPr>
          <p:cNvPr id="195" name="Shape 7"/>
          <p:cNvSpPr/>
          <p:nvPr/>
        </p:nvSpPr>
        <p:spPr>
          <a:xfrm>
            <a:off x="2468880" y="201168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96" name="Shape 8"/>
          <p:cNvSpPr/>
          <p:nvPr/>
        </p:nvSpPr>
        <p:spPr>
          <a:xfrm>
            <a:off x="2651760" y="1828800"/>
            <a:ext cx="914040" cy="456840"/>
          </a:xfrm>
          <a:prstGeom prst="roundRect">
            <a:avLst>
              <a:gd name="adj" fmla="val 20000"/>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97" name="Text 9"/>
          <p:cNvSpPr/>
          <p:nvPr/>
        </p:nvSpPr>
        <p:spPr>
          <a:xfrm>
            <a:off x="265176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Transform</a:t>
            </a:r>
            <a:endParaRPr lang="en-IN" sz="800" b="0" u="none" strike="noStrike">
              <a:solidFill>
                <a:srgbClr val="000000"/>
              </a:solidFill>
              <a:effectLst/>
              <a:uFillTx/>
              <a:latin typeface="Arial"/>
            </a:endParaRPr>
          </a:p>
        </p:txBody>
      </p:sp>
      <p:sp>
        <p:nvSpPr>
          <p:cNvPr id="198" name="Shape 10"/>
          <p:cNvSpPr/>
          <p:nvPr/>
        </p:nvSpPr>
        <p:spPr>
          <a:xfrm>
            <a:off x="3566160" y="201168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199" name="Shape 11"/>
          <p:cNvSpPr/>
          <p:nvPr/>
        </p:nvSpPr>
        <p:spPr>
          <a:xfrm>
            <a:off x="3749040" y="1828800"/>
            <a:ext cx="914040" cy="456840"/>
          </a:xfrm>
          <a:prstGeom prst="roundRect">
            <a:avLst>
              <a:gd name="adj" fmla="val 20000"/>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0" name="Text 12"/>
          <p:cNvSpPr/>
          <p:nvPr/>
        </p:nvSpPr>
        <p:spPr>
          <a:xfrm>
            <a:off x="374904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Store</a:t>
            </a:r>
            <a:endParaRPr lang="en-IN" sz="800" b="0" u="none" strike="noStrike">
              <a:solidFill>
                <a:srgbClr val="000000"/>
              </a:solidFill>
              <a:effectLst/>
              <a:uFillTx/>
              <a:latin typeface="Arial"/>
            </a:endParaRPr>
          </a:p>
        </p:txBody>
      </p:sp>
      <p:sp>
        <p:nvSpPr>
          <p:cNvPr id="201" name="Shape 13"/>
          <p:cNvSpPr/>
          <p:nvPr/>
        </p:nvSpPr>
        <p:spPr>
          <a:xfrm>
            <a:off x="4663440" y="201168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2" name="Shape 14"/>
          <p:cNvSpPr/>
          <p:nvPr/>
        </p:nvSpPr>
        <p:spPr>
          <a:xfrm>
            <a:off x="4846320" y="1828800"/>
            <a:ext cx="914040" cy="456840"/>
          </a:xfrm>
          <a:prstGeom prst="roundRect">
            <a:avLst>
              <a:gd name="adj" fmla="val 20000"/>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3" name="Text 15"/>
          <p:cNvSpPr/>
          <p:nvPr/>
        </p:nvSpPr>
        <p:spPr>
          <a:xfrm>
            <a:off x="484632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Orchestrate</a:t>
            </a:r>
            <a:endParaRPr lang="en-IN" sz="800" b="0" u="none" strike="noStrike">
              <a:solidFill>
                <a:srgbClr val="000000"/>
              </a:solidFill>
              <a:effectLst/>
              <a:uFillTx/>
              <a:latin typeface="Arial"/>
            </a:endParaRPr>
          </a:p>
        </p:txBody>
      </p:sp>
      <p:sp>
        <p:nvSpPr>
          <p:cNvPr id="204" name="Shape 16"/>
          <p:cNvSpPr/>
          <p:nvPr/>
        </p:nvSpPr>
        <p:spPr>
          <a:xfrm>
            <a:off x="5760720" y="201168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5" name="Shape 17"/>
          <p:cNvSpPr/>
          <p:nvPr/>
        </p:nvSpPr>
        <p:spPr>
          <a:xfrm>
            <a:off x="5943600" y="1828800"/>
            <a:ext cx="914040" cy="456840"/>
          </a:xfrm>
          <a:prstGeom prst="roundRect">
            <a:avLst>
              <a:gd name="adj" fmla="val 20000"/>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6" name="Text 18"/>
          <p:cNvSpPr/>
          <p:nvPr/>
        </p:nvSpPr>
        <p:spPr>
          <a:xfrm>
            <a:off x="594360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Analyse</a:t>
            </a:r>
            <a:endParaRPr lang="en-IN" sz="800" b="0" u="none" strike="noStrike">
              <a:solidFill>
                <a:srgbClr val="000000"/>
              </a:solidFill>
              <a:effectLst/>
              <a:uFillTx/>
              <a:latin typeface="Arial"/>
            </a:endParaRPr>
          </a:p>
        </p:txBody>
      </p:sp>
      <p:sp>
        <p:nvSpPr>
          <p:cNvPr id="207" name="Shape 19"/>
          <p:cNvSpPr/>
          <p:nvPr/>
        </p:nvSpPr>
        <p:spPr>
          <a:xfrm>
            <a:off x="6858000" y="2011680"/>
            <a:ext cx="182520" cy="9108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720" bIns="72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8" name="Shape 20"/>
          <p:cNvSpPr/>
          <p:nvPr/>
        </p:nvSpPr>
        <p:spPr>
          <a:xfrm>
            <a:off x="7040880" y="1828800"/>
            <a:ext cx="914040" cy="456840"/>
          </a:xfrm>
          <a:prstGeom prst="roundRect">
            <a:avLst>
              <a:gd name="adj" fmla="val 20000"/>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09" name="Text 21"/>
          <p:cNvSpPr/>
          <p:nvPr/>
        </p:nvSpPr>
        <p:spPr>
          <a:xfrm>
            <a:off x="7040880" y="1828800"/>
            <a:ext cx="914040" cy="45684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800" b="0" u="none" strike="noStrike">
                <a:solidFill>
                  <a:srgbClr val="ffffff"/>
                </a:solidFill>
                <a:effectLst/>
                <a:uFillTx/>
                <a:latin typeface="Calibri"/>
              </a:rPr>
              <a:t>Serve</a:t>
            </a:r>
            <a:endParaRPr lang="en-IN" sz="800" b="0" u="none" strike="noStrike">
              <a:solidFill>
                <a:srgbClr val="000000"/>
              </a:solidFill>
              <a:effectLst/>
              <a:uFillTx/>
              <a:latin typeface="Arial"/>
            </a:endParaRPr>
          </a:p>
        </p:txBody>
      </p:sp>
      <p:sp>
        <p:nvSpPr>
          <p:cNvPr id="210" name="Text 22"/>
          <p:cNvSpPr/>
          <p:nvPr/>
        </p:nvSpPr>
        <p:spPr>
          <a:xfrm>
            <a:off x="457200" y="2926080"/>
            <a:ext cx="8686440" cy="731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6a6a6a"/>
                </a:solidFill>
                <a:effectLst/>
                <a:uFillTx/>
                <a:latin typeface="Calibri"/>
              </a:rPr>
              <a:t>Each event flows through the pipeline, being validated, enriched, stored and consumed at each stage.</a:t>
            </a:r>
            <a:endParaRPr lang="en-IN" sz="900" b="0" u="none" strike="noStrike">
              <a:solidFill>
                <a:srgbClr val="000000"/>
              </a:solidFill>
              <a:effectLst/>
              <a:uFillTx/>
              <a:latin typeface="Arial"/>
            </a:endParaRPr>
          </a:p>
        </p:txBody>
      </p:sp>
      <p:sp>
        <p:nvSpPr>
          <p:cNvPr id="211" name="Text 2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3"/>
              </a:rPr>
              <a:t>[3]</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12"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13"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Step 1: Start Environment</a:t>
            </a:r>
            <a:endParaRPr lang="en-IN" sz="2000" b="0" u="none" strike="noStrike">
              <a:solidFill>
                <a:srgbClr val="000000"/>
              </a:solidFill>
              <a:effectLst/>
              <a:uFillTx/>
              <a:latin typeface="Arial"/>
            </a:endParaRPr>
          </a:p>
        </p:txBody>
      </p:sp>
      <p:sp>
        <p:nvSpPr>
          <p:cNvPr id="214" name="Text 2"/>
          <p:cNvSpPr/>
          <p:nvPr/>
        </p:nvSpPr>
        <p:spPr>
          <a:xfrm>
            <a:off x="457200" y="731520"/>
            <a:ext cx="5943240" cy="164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0" u="none" strike="noStrike">
                <a:solidFill>
                  <a:srgbClr val="6a6a6a"/>
                </a:solidFill>
                <a:effectLst/>
                <a:uFillTx/>
                <a:latin typeface="Calibri"/>
              </a:rPr>
              <a:t>Run the provided docker‑compose stack to start all services (Kafka, Schema Registry, ksqldb, Debezium connectors, Hop, Airflow and Kafka UI). Use a monitoring tool such as Prometheus/Grafana if available.</a:t>
            </a:r>
            <a:endParaRPr lang="en-IN" sz="1000" b="0" u="none" strike="noStrike">
              <a:solidFill>
                <a:srgbClr val="000000"/>
              </a:solidFill>
              <a:effectLst/>
              <a:uFillTx/>
              <a:latin typeface="Arial"/>
            </a:endParaRPr>
          </a:p>
        </p:txBody>
      </p:sp>
      <p:sp>
        <p:nvSpPr>
          <p:cNvPr id="215" name="Shape 3"/>
          <p:cNvSpPr/>
          <p:nvPr/>
        </p:nvSpPr>
        <p:spPr>
          <a:xfrm>
            <a:off x="6583680" y="822960"/>
            <a:ext cx="2468520" cy="914040"/>
          </a:xfrm>
          <a:prstGeom prst="roundRect">
            <a:avLst>
              <a:gd name="adj" fmla="val 5000"/>
            </a:avLst>
          </a:prstGeom>
          <a:solidFill>
            <a:srgbClr val="f5f5f5"/>
          </a:solidFill>
          <a:ln w="12700">
            <a:solidFill>
              <a:srgbClr val="e0e0e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16" name="Text 4"/>
          <p:cNvSpPr/>
          <p:nvPr/>
        </p:nvSpPr>
        <p:spPr>
          <a:xfrm>
            <a:off x="6629400" y="841320"/>
            <a:ext cx="2377080" cy="8683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6a9955"/>
                </a:solidFill>
                <a:effectLst/>
                <a:uFillTx/>
                <a:latin typeface="Consolas"/>
                <a:ea typeface="Consolas"/>
              </a:rPr>
              <a:t># terminal</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cd day10_final</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/lab-code</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docker compose up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
            </a:r>
            <a:endParaRPr lang="en-IN" sz="800" b="0" u="none" strike="noStrike">
              <a:solidFill>
                <a:srgbClr val="000000"/>
              </a:solidFill>
              <a:effectLst/>
              <a:uFillTx/>
              <a:latin typeface="Arial"/>
            </a:endParaRPr>
          </a:p>
        </p:txBody>
      </p:sp>
      <p:sp>
        <p:nvSpPr>
          <p:cNvPr id="217" name="Text 5"/>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18"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19"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Step 2: Capture Changes</a:t>
            </a:r>
            <a:endParaRPr lang="en-IN" sz="2000" b="0" u="none" strike="noStrike">
              <a:solidFill>
                <a:srgbClr val="000000"/>
              </a:solidFill>
              <a:effectLst/>
              <a:uFillTx/>
              <a:latin typeface="Arial"/>
            </a:endParaRPr>
          </a:p>
        </p:txBody>
      </p:sp>
      <p:sp>
        <p:nvSpPr>
          <p:cNvPr id="220" name="Text 2"/>
          <p:cNvSpPr/>
          <p:nvPr/>
        </p:nvSpPr>
        <p:spPr>
          <a:xfrm>
            <a:off x="457200" y="731520"/>
            <a:ext cx="5943240" cy="1371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0" u="none" strike="noStrike">
                <a:solidFill>
                  <a:srgbClr val="6a6a6a"/>
                </a:solidFill>
                <a:effectLst/>
                <a:uFillTx/>
                <a:latin typeface="Calibri"/>
              </a:rPr>
              <a:t>Create PostgreSQL and MySQL source tables with sample data. Register Debezium source connectors via REST API or UI to stream row‑level changes into Kafka topics.</a:t>
            </a:r>
            <a:endParaRPr lang="en-IN" sz="1000" b="0" u="none" strike="noStrike">
              <a:solidFill>
                <a:srgbClr val="000000"/>
              </a:solidFill>
              <a:effectLst/>
              <a:uFillTx/>
              <a:latin typeface="Arial"/>
            </a:endParaRPr>
          </a:p>
        </p:txBody>
      </p:sp>
      <p:sp>
        <p:nvSpPr>
          <p:cNvPr id="221" name="Shape 3"/>
          <p:cNvSpPr/>
          <p:nvPr/>
        </p:nvSpPr>
        <p:spPr>
          <a:xfrm>
            <a:off x="6300000" y="720000"/>
            <a:ext cx="2468520" cy="4140000"/>
          </a:xfrm>
          <a:prstGeom prst="roundRect">
            <a:avLst>
              <a:gd name="adj" fmla="val 3333"/>
            </a:avLst>
          </a:prstGeom>
          <a:solidFill>
            <a:srgbClr val="f5f5f5"/>
          </a:solidFill>
          <a:ln w="12700">
            <a:solidFill>
              <a:srgbClr val="e0e0e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22" name="Text 4"/>
          <p:cNvSpPr/>
          <p:nvPr/>
        </p:nvSpPr>
        <p:spPr>
          <a:xfrm>
            <a:off x="6485400" y="2228760"/>
            <a:ext cx="2377080" cy="1325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"name": </a:t>
            </a:r>
            <a:r>
              <a:rPr lang="en-US" sz="800" b="0" u="none" strike="noStrike">
                <a:solidFill>
                  <a:srgbClr val="a31515"/>
                </a:solidFill>
                <a:effectLst/>
                <a:uFillTx/>
                <a:latin typeface="Consolas"/>
                <a:ea typeface="Consolas"/>
              </a:rPr>
              <a:t>"orders-connector"</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"config":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"connector.class": </a:t>
            </a:r>
            <a:r>
              <a:rPr lang="en-US" sz="800" b="0" u="none" strike="noStrike">
                <a:solidFill>
                  <a:srgbClr val="a31515"/>
                </a:solidFill>
                <a:effectLst/>
                <a:uFillTx/>
                <a:latin typeface="Consolas"/>
                <a:ea typeface="Consolas"/>
              </a:rPr>
              <a:t>"io.debezium.connector.postgresql.PostgresConnector"</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"database.hostname": </a:t>
            </a:r>
            <a:r>
              <a:rPr lang="en-US" sz="800" b="0" u="none" strike="noStrike">
                <a:solidFill>
                  <a:srgbClr val="a31515"/>
                </a:solidFill>
                <a:effectLst/>
                <a:uFillTx/>
                <a:latin typeface="Consolas"/>
                <a:ea typeface="Consolas"/>
              </a:rPr>
              <a:t>"postgres"</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"database.port": </a:t>
            </a:r>
            <a:r>
              <a:rPr lang="en-US" sz="800" b="0" u="none" strike="noStrike">
                <a:solidFill>
                  <a:srgbClr val="a31515"/>
                </a:solidFill>
                <a:effectLst/>
                <a:uFillTx/>
                <a:latin typeface="Consolas"/>
                <a:ea typeface="Consolas"/>
              </a:rPr>
              <a:t>"5432"</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"database.user": </a:t>
            </a:r>
            <a:r>
              <a:rPr lang="en-US" sz="800" b="0" u="none" strike="noStrike">
                <a:solidFill>
                  <a:srgbClr val="a31515"/>
                </a:solidFill>
                <a:effectLst/>
                <a:uFillTx/>
                <a:latin typeface="Consolas"/>
                <a:ea typeface="Consolas"/>
              </a:rPr>
              <a:t>"debezium"</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"database.password": </a:t>
            </a:r>
            <a:r>
              <a:rPr lang="en-US" sz="800" b="0" u="none" strike="noStrike">
                <a:solidFill>
                  <a:srgbClr val="a31515"/>
                </a:solidFill>
                <a:effectLst/>
                <a:uFillTx/>
                <a:latin typeface="Consolas"/>
                <a:ea typeface="Consolas"/>
              </a:rPr>
              <a:t>"dbz"</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"database.dbname": </a:t>
            </a:r>
            <a:r>
              <a:rPr lang="en-US" sz="800" b="0" u="none" strike="noStrike">
                <a:solidFill>
                  <a:srgbClr val="a31515"/>
                </a:solidFill>
                <a:effectLst/>
                <a:uFillTx/>
                <a:latin typeface="Consolas"/>
                <a:ea typeface="Consolas"/>
              </a:rPr>
              <a:t>"retail"</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"database.server.name": </a:t>
            </a:r>
            <a:r>
              <a:rPr lang="en-US" sz="800" b="0" u="none" strike="noStrike">
                <a:solidFill>
                  <a:srgbClr val="a31515"/>
                </a:solidFill>
                <a:effectLst/>
                <a:uFillTx/>
                <a:latin typeface="Consolas"/>
                <a:ea typeface="Consolas"/>
              </a:rPr>
              <a:t>"retail"</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"table.include.list": </a:t>
            </a:r>
            <a:r>
              <a:rPr lang="en-US" sz="800" b="0" u="none" strike="noStrike">
                <a:solidFill>
                  <a:srgbClr val="a31515"/>
                </a:solidFill>
                <a:effectLst/>
                <a:uFillTx/>
                <a:latin typeface="Consolas"/>
                <a:ea typeface="Consolas"/>
              </a:rPr>
              <a:t>"public.orders"</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"plugin.name": </a:t>
            </a:r>
            <a:r>
              <a:rPr lang="en-US" sz="800" b="0" u="none" strike="noStrike">
                <a:solidFill>
                  <a:srgbClr val="a31515"/>
                </a:solidFill>
                <a:effectLst/>
                <a:uFillTx/>
                <a:latin typeface="Consolas"/>
                <a:ea typeface="Consolas"/>
              </a:rPr>
              <a:t>"pgoutput"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p:txBody>
      </p:sp>
      <p:sp>
        <p:nvSpPr>
          <p:cNvPr id="223" name="Text 5"/>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24"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25"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Step 3: Ingest &amp; Validate</a:t>
            </a:r>
            <a:endParaRPr lang="en-IN" sz="2000" b="0" u="none" strike="noStrike">
              <a:solidFill>
                <a:srgbClr val="000000"/>
              </a:solidFill>
              <a:effectLst/>
              <a:uFillTx/>
              <a:latin typeface="Arial"/>
            </a:endParaRPr>
          </a:p>
        </p:txBody>
      </p:sp>
      <p:sp>
        <p:nvSpPr>
          <p:cNvPr id="226" name="Text 2"/>
          <p:cNvSpPr/>
          <p:nvPr/>
        </p:nvSpPr>
        <p:spPr>
          <a:xfrm>
            <a:off x="457200" y="731520"/>
            <a:ext cx="5943240" cy="146268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0" u="none" strike="noStrike">
                <a:solidFill>
                  <a:srgbClr val="6a6a6a"/>
                </a:solidFill>
                <a:effectLst/>
                <a:uFillTx/>
                <a:latin typeface="Calibri"/>
              </a:rPr>
              <a:t>Define schemas in Schema Registry and configure producers to validate events. Use single message transforms to extract new record state and route malformed records to a dead letter queue for investigation.</a:t>
            </a:r>
            <a:endParaRPr lang="en-IN" sz="1000" b="0" u="none" strike="noStrike">
              <a:solidFill>
                <a:srgbClr val="000000"/>
              </a:solidFill>
              <a:effectLst/>
              <a:uFillTx/>
              <a:latin typeface="Arial"/>
            </a:endParaRPr>
          </a:p>
        </p:txBody>
      </p:sp>
      <p:sp>
        <p:nvSpPr>
          <p:cNvPr id="227" name="Shape 3"/>
          <p:cNvSpPr/>
          <p:nvPr/>
        </p:nvSpPr>
        <p:spPr>
          <a:xfrm>
            <a:off x="6583680" y="914400"/>
            <a:ext cx="2468520" cy="3405600"/>
          </a:xfrm>
          <a:prstGeom prst="roundRect">
            <a:avLst>
              <a:gd name="adj" fmla="val 3846"/>
            </a:avLst>
          </a:prstGeom>
          <a:solidFill>
            <a:srgbClr val="f5f5f5"/>
          </a:solidFill>
          <a:ln w="12700">
            <a:solidFill>
              <a:srgbClr val="e0e0e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28" name="Text 4"/>
          <p:cNvSpPr/>
          <p:nvPr/>
        </p:nvSpPr>
        <p:spPr>
          <a:xfrm>
            <a:off x="6629400" y="2120760"/>
            <a:ext cx="2377080" cy="114264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"type": </a:t>
            </a:r>
            <a:r>
              <a:rPr lang="en-US" sz="800" b="0" u="none" strike="noStrike">
                <a:solidFill>
                  <a:srgbClr val="a31515"/>
                </a:solidFill>
                <a:effectLst/>
                <a:uFillTx/>
                <a:latin typeface="Consolas"/>
                <a:ea typeface="Consolas"/>
              </a:rPr>
              <a:t>"record"</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"name": </a:t>
            </a:r>
            <a:r>
              <a:rPr lang="en-US" sz="800" b="0" u="none" strike="noStrike">
                <a:solidFill>
                  <a:srgbClr val="a31515"/>
                </a:solidFill>
                <a:effectLst/>
                <a:uFillTx/>
                <a:latin typeface="Consolas"/>
                <a:ea typeface="Consolas"/>
              </a:rPr>
              <a:t>"Order"</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"fields":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{"name": </a:t>
            </a:r>
            <a:r>
              <a:rPr lang="en-US" sz="800" b="0" u="none" strike="noStrike">
                <a:solidFill>
                  <a:srgbClr val="a31515"/>
                </a:solidFill>
                <a:effectLst/>
                <a:uFillTx/>
                <a:latin typeface="Consolas"/>
                <a:ea typeface="Consolas"/>
              </a:rPr>
              <a:t>"order_id"</a:t>
            </a:r>
            <a:r>
              <a:rPr lang="en-US" sz="800" b="0" u="none" strike="noStrike">
                <a:solidFill>
                  <a:srgbClr val="003c54"/>
                </a:solidFill>
                <a:effectLst/>
                <a:uFillTx/>
                <a:latin typeface="Consolas"/>
                <a:ea typeface="Consolas"/>
              </a:rPr>
              <a:t>, "type": </a:t>
            </a:r>
            <a:r>
              <a:rPr lang="en-US" sz="800" b="0" u="none" strike="noStrike">
                <a:solidFill>
                  <a:srgbClr val="a31515"/>
                </a:solidFill>
                <a:effectLst/>
                <a:uFillTx/>
                <a:latin typeface="Consolas"/>
                <a:ea typeface="Consolas"/>
              </a:rPr>
              <a:t>"string"</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{"name": </a:t>
            </a:r>
            <a:r>
              <a:rPr lang="en-US" sz="800" b="0" u="none" strike="noStrike">
                <a:solidFill>
                  <a:srgbClr val="a31515"/>
                </a:solidFill>
                <a:effectLst/>
                <a:uFillTx/>
                <a:latin typeface="Consolas"/>
                <a:ea typeface="Consolas"/>
              </a:rPr>
              <a:t>"customer_id"</a:t>
            </a:r>
            <a:r>
              <a:rPr lang="en-US" sz="800" b="0" u="none" strike="noStrike">
                <a:solidFill>
                  <a:srgbClr val="003c54"/>
                </a:solidFill>
                <a:effectLst/>
                <a:uFillTx/>
                <a:latin typeface="Consolas"/>
                <a:ea typeface="Consolas"/>
              </a:rPr>
              <a:t>, "type": </a:t>
            </a:r>
            <a:r>
              <a:rPr lang="en-US" sz="800" b="0" u="none" strike="noStrike">
                <a:solidFill>
                  <a:srgbClr val="a31515"/>
                </a:solidFill>
                <a:effectLst/>
                <a:uFillTx/>
                <a:latin typeface="Consolas"/>
                <a:ea typeface="Consolas"/>
              </a:rPr>
              <a:t>"string"</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{"name": </a:t>
            </a:r>
            <a:r>
              <a:rPr lang="en-US" sz="800" b="0" u="none" strike="noStrike">
                <a:solidFill>
                  <a:srgbClr val="a31515"/>
                </a:solidFill>
                <a:effectLst/>
                <a:uFillTx/>
                <a:latin typeface="Consolas"/>
                <a:ea typeface="Consolas"/>
              </a:rPr>
              <a:t>"amount"</a:t>
            </a:r>
            <a:r>
              <a:rPr lang="en-US" sz="800" b="0" u="none" strike="noStrike">
                <a:solidFill>
                  <a:srgbClr val="003c54"/>
                </a:solidFill>
                <a:effectLst/>
                <a:uFillTx/>
                <a:latin typeface="Consolas"/>
                <a:ea typeface="Consolas"/>
              </a:rPr>
              <a:t>, "type": </a:t>
            </a:r>
            <a:r>
              <a:rPr lang="en-US" sz="800" b="0" u="none" strike="noStrike">
                <a:solidFill>
                  <a:srgbClr val="a31515"/>
                </a:solidFill>
                <a:effectLst/>
                <a:uFillTx/>
                <a:latin typeface="Consolas"/>
                <a:ea typeface="Consolas"/>
              </a:rPr>
              <a:t>"double"</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{"name": </a:t>
            </a:r>
            <a:r>
              <a:rPr lang="en-US" sz="800" b="0" u="none" strike="noStrike">
                <a:solidFill>
                  <a:srgbClr val="a31515"/>
                </a:solidFill>
                <a:effectLst/>
                <a:uFillTx/>
                <a:latin typeface="Consolas"/>
                <a:ea typeface="Consolas"/>
              </a:rPr>
              <a:t>"created_at"</a:t>
            </a:r>
            <a:r>
              <a:rPr lang="en-US" sz="800" b="0" u="none" strike="noStrike">
                <a:solidFill>
                  <a:srgbClr val="003c54"/>
                </a:solidFill>
                <a:effectLst/>
                <a:uFillTx/>
                <a:latin typeface="Consolas"/>
                <a:ea typeface="Consolas"/>
              </a:rPr>
              <a:t>, "type": </a:t>
            </a:r>
            <a:r>
              <a:rPr lang="en-US" sz="800" b="0" u="none" strike="noStrike">
                <a:solidFill>
                  <a:srgbClr val="a31515"/>
                </a:solidFill>
                <a:effectLst/>
                <a:uFillTx/>
                <a:latin typeface="Consolas"/>
                <a:ea typeface="Consolas"/>
              </a:rPr>
              <a:t>"long"</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p:txBody>
      </p:sp>
      <p:sp>
        <p:nvSpPr>
          <p:cNvPr id="229" name="Text 5"/>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30"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31"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Step 4: Transform &amp; Enrich</a:t>
            </a:r>
            <a:endParaRPr lang="en-IN" sz="2000" b="0" u="none" strike="noStrike">
              <a:solidFill>
                <a:srgbClr val="000000"/>
              </a:solidFill>
              <a:effectLst/>
              <a:uFillTx/>
              <a:latin typeface="Arial"/>
            </a:endParaRPr>
          </a:p>
        </p:txBody>
      </p:sp>
      <p:sp>
        <p:nvSpPr>
          <p:cNvPr id="232" name="Text 2"/>
          <p:cNvSpPr/>
          <p:nvPr/>
        </p:nvSpPr>
        <p:spPr>
          <a:xfrm>
            <a:off x="457200" y="731520"/>
            <a:ext cx="6126120" cy="164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0" u="none" strike="noStrike">
                <a:solidFill>
                  <a:srgbClr val="6a6a6a"/>
                </a:solidFill>
                <a:effectLst/>
                <a:uFillTx/>
                <a:latin typeface="Calibri"/>
              </a:rPr>
              <a:t>Extension boundary: apply the cleansing, validation and enrichment design from Days 6-7 to CDC topics or exported results. Hop/Spark pipeline artifacts are not included in the Day 10 starter files; reuse earlier work or document the mapped design and output evidence.</a:t>
            </a:r>
            <a:endParaRPr lang="en-IN" sz="1000" b="0" u="none" strike="noStrike">
              <a:solidFill>
                <a:srgbClr val="000000"/>
              </a:solidFill>
              <a:effectLst/>
              <a:uFillTx/>
              <a:latin typeface="Arial"/>
            </a:endParaRPr>
          </a:p>
        </p:txBody>
      </p:sp>
      <p:sp>
        <p:nvSpPr>
          <p:cNvPr id="233" name="Shape 3"/>
          <p:cNvSpPr/>
          <p:nvPr/>
        </p:nvSpPr>
        <p:spPr>
          <a:xfrm>
            <a:off x="6400800" y="914400"/>
            <a:ext cx="639720" cy="365400"/>
          </a:xfrm>
          <a:prstGeom prst="rect">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34" name="Text 4"/>
          <p:cNvSpPr/>
          <p:nvPr/>
        </p:nvSpPr>
        <p:spPr>
          <a:xfrm>
            <a:off x="6400800" y="914400"/>
            <a:ext cx="63972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Raw</a:t>
            </a:r>
            <a:endParaRPr lang="en-IN" sz="700" b="0" u="none" strike="noStrike">
              <a:solidFill>
                <a:srgbClr val="000000"/>
              </a:solidFill>
              <a:effectLst/>
              <a:uFillTx/>
              <a:latin typeface="Arial"/>
            </a:endParaRPr>
          </a:p>
        </p:txBody>
      </p:sp>
      <p:sp>
        <p:nvSpPr>
          <p:cNvPr id="235" name="Shape 5"/>
          <p:cNvSpPr/>
          <p:nvPr/>
        </p:nvSpPr>
        <p:spPr>
          <a:xfrm>
            <a:off x="7040880" y="1069920"/>
            <a:ext cx="182520" cy="7272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8280" bIns="-828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36" name="Shape 6"/>
          <p:cNvSpPr/>
          <p:nvPr/>
        </p:nvSpPr>
        <p:spPr>
          <a:xfrm>
            <a:off x="7223760" y="914400"/>
            <a:ext cx="639720" cy="365400"/>
          </a:xfrm>
          <a:prstGeom prst="rect">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37" name="Text 7"/>
          <p:cNvSpPr/>
          <p:nvPr/>
        </p:nvSpPr>
        <p:spPr>
          <a:xfrm>
            <a:off x="7223760" y="914400"/>
            <a:ext cx="63972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Clean</a:t>
            </a:r>
            <a:endParaRPr lang="en-IN" sz="700" b="0" u="none" strike="noStrike">
              <a:solidFill>
                <a:srgbClr val="000000"/>
              </a:solidFill>
              <a:effectLst/>
              <a:uFillTx/>
              <a:latin typeface="Arial"/>
            </a:endParaRPr>
          </a:p>
        </p:txBody>
      </p:sp>
      <p:sp>
        <p:nvSpPr>
          <p:cNvPr id="238" name="Shape 8"/>
          <p:cNvSpPr/>
          <p:nvPr/>
        </p:nvSpPr>
        <p:spPr>
          <a:xfrm>
            <a:off x="7863840" y="1069920"/>
            <a:ext cx="182520" cy="72720"/>
          </a:xfrm>
          <a:prstGeom prst="rightArrow">
            <a:avLst>
              <a:gd name="adj1" fmla="val 50000"/>
              <a:gd name="adj2" fmla="val 50000"/>
            </a:avLst>
          </a:prstGeom>
          <a:solidFill>
            <a:srgbClr val="6a6a6a"/>
          </a:solidFill>
          <a:ln w="12700">
            <a:solidFill>
              <a:srgbClr val="6a6a6a"/>
            </a:solidFill>
            <a:round/>
          </a:ln>
        </p:spPr>
        <p:style>
          <a:lnRef idx="0"/>
          <a:fillRef idx="0"/>
          <a:effectRef idx="0"/>
          <a:fontRef idx="minor"/>
        </p:style>
        <p:txBody>
          <a:bodyPr lIns="90000" rIns="90000" tIns="-8280" bIns="-828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39" name="Shape 9"/>
          <p:cNvSpPr/>
          <p:nvPr/>
        </p:nvSpPr>
        <p:spPr>
          <a:xfrm>
            <a:off x="8046720" y="914400"/>
            <a:ext cx="639720" cy="365400"/>
          </a:xfrm>
          <a:prstGeom prst="rect">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40" name="Text 10"/>
          <p:cNvSpPr/>
          <p:nvPr/>
        </p:nvSpPr>
        <p:spPr>
          <a:xfrm>
            <a:off x="8046720" y="914400"/>
            <a:ext cx="639720" cy="36540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Agg</a:t>
            </a:r>
            <a:endParaRPr lang="en-IN" sz="700" b="0" u="none" strike="noStrike">
              <a:solidFill>
                <a:srgbClr val="000000"/>
              </a:solidFill>
              <a:effectLst/>
              <a:uFillTx/>
              <a:latin typeface="Arial"/>
            </a:endParaRPr>
          </a:p>
        </p:txBody>
      </p:sp>
      <p:sp>
        <p:nvSpPr>
          <p:cNvPr id="241" name="Text 11"/>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3"/>
              </a:rPr>
              <a:t>[3]</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7.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42"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43"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Step 5: Orchestrate &amp; Store</a:t>
            </a:r>
            <a:endParaRPr lang="en-IN" sz="2000" b="0" u="none" strike="noStrike">
              <a:solidFill>
                <a:srgbClr val="000000"/>
              </a:solidFill>
              <a:effectLst/>
              <a:uFillTx/>
              <a:latin typeface="Arial"/>
            </a:endParaRPr>
          </a:p>
        </p:txBody>
      </p:sp>
      <p:sp>
        <p:nvSpPr>
          <p:cNvPr id="244" name="Text 2"/>
          <p:cNvSpPr/>
          <p:nvPr/>
        </p:nvSpPr>
        <p:spPr>
          <a:xfrm>
            <a:off x="457200" y="731520"/>
            <a:ext cx="6126120" cy="164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0" u="none" strike="noStrike">
                <a:solidFill>
                  <a:srgbClr val="6a6a6a"/>
                </a:solidFill>
                <a:effectLst/>
                <a:uFillTx/>
                <a:latin typeface="Calibri"/>
              </a:rPr>
              <a:t>Extension boundary: describe an Airflow DAG for validation and Gold refresh, including retries and idempotent reruns. The supplied runnable stack creates CDC and ksqlDB outputs; it does not include Airflow or a configured Iceberg/Delta catalog.</a:t>
            </a:r>
            <a:endParaRPr lang="en-IN" sz="1000" b="0" u="none" strike="noStrike">
              <a:solidFill>
                <a:srgbClr val="000000"/>
              </a:solidFill>
              <a:effectLst/>
              <a:uFillTx/>
              <a:latin typeface="Arial"/>
            </a:endParaRPr>
          </a:p>
        </p:txBody>
      </p:sp>
      <p:sp>
        <p:nvSpPr>
          <p:cNvPr id="245" name="Shape 3"/>
          <p:cNvSpPr/>
          <p:nvPr/>
        </p:nvSpPr>
        <p:spPr>
          <a:xfrm>
            <a:off x="6858000" y="914400"/>
            <a:ext cx="1828440" cy="273960"/>
          </a:xfrm>
          <a:prstGeom prst="roundRect">
            <a:avLst>
              <a:gd name="adj" fmla="val 16667"/>
            </a:avLst>
          </a:prstGeom>
          <a:solidFill>
            <a:srgbClr val="0077cc"/>
          </a:solidFill>
          <a:ln w="12700">
            <a:solidFill>
              <a:srgbClr val="0077cc"/>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46" name="Text 4"/>
          <p:cNvSpPr/>
          <p:nvPr/>
        </p:nvSpPr>
        <p:spPr>
          <a:xfrm>
            <a:off x="6858000" y="914400"/>
            <a:ext cx="182844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Bronze Loader</a:t>
            </a:r>
            <a:endParaRPr lang="en-IN" sz="700" b="0" u="none" strike="noStrike">
              <a:solidFill>
                <a:srgbClr val="000000"/>
              </a:solidFill>
              <a:effectLst/>
              <a:uFillTx/>
              <a:latin typeface="Arial"/>
            </a:endParaRPr>
          </a:p>
        </p:txBody>
      </p:sp>
      <p:sp>
        <p:nvSpPr>
          <p:cNvPr id="247" name="Shape 5"/>
          <p:cNvSpPr/>
          <p:nvPr/>
        </p:nvSpPr>
        <p:spPr>
          <a:xfrm>
            <a:off x="6858000" y="1280160"/>
            <a:ext cx="1828440" cy="273960"/>
          </a:xfrm>
          <a:prstGeom prst="roundRect">
            <a:avLst>
              <a:gd name="adj" fmla="val 16667"/>
            </a:avLst>
          </a:prstGeom>
          <a:solidFill>
            <a:srgbClr val="00a86b"/>
          </a:solidFill>
          <a:ln w="12700">
            <a:solidFill>
              <a:srgbClr val="00a86b"/>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48" name="Text 6"/>
          <p:cNvSpPr/>
          <p:nvPr/>
        </p:nvSpPr>
        <p:spPr>
          <a:xfrm>
            <a:off x="6858000" y="1280160"/>
            <a:ext cx="182844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Silver Cleaner</a:t>
            </a:r>
            <a:endParaRPr lang="en-IN" sz="700" b="0" u="none" strike="noStrike">
              <a:solidFill>
                <a:srgbClr val="000000"/>
              </a:solidFill>
              <a:effectLst/>
              <a:uFillTx/>
              <a:latin typeface="Arial"/>
            </a:endParaRPr>
          </a:p>
        </p:txBody>
      </p:sp>
      <p:sp>
        <p:nvSpPr>
          <p:cNvPr id="249" name="Shape 7"/>
          <p:cNvSpPr/>
          <p:nvPr/>
        </p:nvSpPr>
        <p:spPr>
          <a:xfrm>
            <a:off x="6858000" y="1645920"/>
            <a:ext cx="1828440" cy="273960"/>
          </a:xfrm>
          <a:prstGeom prst="roundRect">
            <a:avLst>
              <a:gd name="adj" fmla="val 16667"/>
            </a:avLst>
          </a:prstGeom>
          <a:solidFill>
            <a:srgbClr val="e68200"/>
          </a:solidFill>
          <a:ln w="12700">
            <a:solidFill>
              <a:srgbClr val="e6820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50" name="Text 8"/>
          <p:cNvSpPr/>
          <p:nvPr/>
        </p:nvSpPr>
        <p:spPr>
          <a:xfrm>
            <a:off x="6858000" y="1645920"/>
            <a:ext cx="1828440" cy="273960"/>
          </a:xfrm>
          <a:prstGeom prst="rect">
            <a:avLst/>
          </a:prstGeom>
          <a:noFill/>
          <a:ln w="0">
            <a:noFill/>
          </a:ln>
        </p:spPr>
        <p:style>
          <a:lnRef idx="0"/>
          <a:fillRef idx="0"/>
          <a:effectRef idx="0"/>
          <a:fontRef idx="minor"/>
        </p:style>
        <p:txBody>
          <a:bodyPr lIns="90000" rIns="90000" tIns="45000" bIns="45000" anchor="ctr">
            <a:noAutofit/>
          </a:bodyPr>
          <a:p>
            <a:pPr algn="ctr" defTabSz="914400">
              <a:lnSpc>
                <a:spcPct val="100000"/>
              </a:lnSpc>
              <a:tabLst>
                <a:tab algn="l" pos="0"/>
              </a:tabLst>
            </a:pPr>
            <a:r>
              <a:rPr lang="en-US" sz="700" b="0" u="none" strike="noStrike">
                <a:solidFill>
                  <a:srgbClr val="ffffff"/>
                </a:solidFill>
                <a:effectLst/>
                <a:uFillTx/>
                <a:latin typeface="Calibri"/>
              </a:rPr>
              <a:t>Gold Aggregator</a:t>
            </a:r>
            <a:endParaRPr lang="en-IN" sz="700" b="0" u="none" strike="noStrike">
              <a:solidFill>
                <a:srgbClr val="000000"/>
              </a:solidFill>
              <a:effectLst/>
              <a:uFillTx/>
              <a:latin typeface="Arial"/>
            </a:endParaRPr>
          </a:p>
        </p:txBody>
      </p:sp>
      <p:sp>
        <p:nvSpPr>
          <p:cNvPr id="251" name="Text 9"/>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8.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52"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53"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Step 6: Analyse &amp; Serve</a:t>
            </a:r>
            <a:endParaRPr lang="en-IN" sz="2000" b="0" u="none" strike="noStrike">
              <a:solidFill>
                <a:srgbClr val="000000"/>
              </a:solidFill>
              <a:effectLst/>
              <a:uFillTx/>
              <a:latin typeface="Arial"/>
            </a:endParaRPr>
          </a:p>
        </p:txBody>
      </p:sp>
      <p:sp>
        <p:nvSpPr>
          <p:cNvPr id="254" name="Text 2"/>
          <p:cNvSpPr/>
          <p:nvPr/>
        </p:nvSpPr>
        <p:spPr>
          <a:xfrm>
            <a:off x="457200" y="731520"/>
            <a:ext cx="6126120" cy="16455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000" b="0" u="none" strike="noStrike">
                <a:solidFill>
                  <a:srgbClr val="6a6a6a"/>
                </a:solidFill>
                <a:effectLst/>
                <a:uFillTx/>
                <a:latin typeface="Calibri"/>
              </a:rPr>
              <a:t>Run the supplied ksqlDB aggregate queries and validate the resulting metric topic. Then expose one Gold-style result to Apache Superset, Metabase, Power BI or Tableau. Submission must include one KPI, two charts, the metric grain and a freshness note.</a:t>
            </a:r>
            <a:endParaRPr lang="en-IN" sz="1000" b="0" u="none" strike="noStrike">
              <a:solidFill>
                <a:srgbClr val="000000"/>
              </a:solidFill>
              <a:effectLst/>
              <a:uFillTx/>
              <a:latin typeface="Arial"/>
            </a:endParaRPr>
          </a:p>
        </p:txBody>
      </p:sp>
      <p:sp>
        <p:nvSpPr>
          <p:cNvPr id="255" name="Shape 3"/>
          <p:cNvSpPr/>
          <p:nvPr/>
        </p:nvSpPr>
        <p:spPr>
          <a:xfrm>
            <a:off x="6583680" y="914400"/>
            <a:ext cx="2468520" cy="1279800"/>
          </a:xfrm>
          <a:prstGeom prst="roundRect">
            <a:avLst>
              <a:gd name="adj" fmla="val 3571"/>
            </a:avLst>
          </a:prstGeom>
          <a:solidFill>
            <a:srgbClr val="f5f5f5"/>
          </a:solidFill>
          <a:ln w="12700">
            <a:solidFill>
              <a:srgbClr val="e0e0e0"/>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56" name="Text 4"/>
          <p:cNvSpPr/>
          <p:nvPr/>
        </p:nvSpPr>
        <p:spPr>
          <a:xfrm>
            <a:off x="6629400" y="941760"/>
            <a:ext cx="2377080" cy="123408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800" b="0" u="none" strike="noStrike">
                <a:solidFill>
                  <a:srgbClr val="0077cc"/>
                </a:solidFill>
                <a:effectLst/>
                <a:uFillTx/>
                <a:latin typeface="Consolas"/>
                <a:ea typeface="Consolas"/>
              </a:rPr>
              <a:t>CREATE</a:t>
            </a:r>
            <a:r>
              <a:rPr lang="en-US" sz="800" b="0" u="none" strike="noStrike">
                <a:solidFill>
                  <a:srgbClr val="003c54"/>
                </a:solidFill>
                <a:effectLst/>
                <a:uFillTx/>
                <a:latin typeface="Consolas"/>
                <a:ea typeface="Consolas"/>
              </a:rPr>
              <a:t> </a:t>
            </a:r>
            <a:r>
              <a:rPr lang="en-US" sz="800" b="0" u="none" strike="noStrike">
                <a:solidFill>
                  <a:srgbClr val="0077cc"/>
                </a:solidFill>
                <a:effectLst/>
                <a:uFillTx/>
                <a:latin typeface="Consolas"/>
                <a:ea typeface="Consolas"/>
              </a:rPr>
              <a:t>TABLE</a:t>
            </a:r>
            <a:r>
              <a:rPr lang="en-US" sz="800" b="0" u="none" strike="noStrike">
                <a:solidFill>
                  <a:srgbClr val="003c54"/>
                </a:solidFill>
                <a:effectLst/>
                <a:uFillTx/>
                <a:latin typeface="Consolas"/>
                <a:ea typeface="Consolas"/>
              </a:rPr>
              <a:t> top_products </a:t>
            </a:r>
            <a:r>
              <a:rPr lang="en-US" sz="800" b="0" u="none" strike="noStrike">
                <a:solidFill>
                  <a:srgbClr val="0077cc"/>
                </a:solidFill>
                <a:effectLst/>
                <a:uFillTx/>
                <a:latin typeface="Consolas"/>
                <a:ea typeface="Consolas"/>
              </a:rPr>
              <a:t>AS</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77cc"/>
                </a:solidFill>
                <a:effectLst/>
                <a:uFillTx/>
                <a:latin typeface="Consolas"/>
                <a:ea typeface="Consolas"/>
              </a:rPr>
              <a:t>SELECT</a:t>
            </a:r>
            <a:r>
              <a:rPr lang="en-US" sz="800" b="0" u="none" strike="noStrike">
                <a:solidFill>
                  <a:srgbClr val="003c54"/>
                </a:solidFill>
                <a:effectLst/>
                <a:uFillTx/>
                <a:latin typeface="Consolas"/>
                <a:ea typeface="Consolas"/>
              </a:rPr>
              <a:t> product_id,</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795e26"/>
                </a:solidFill>
                <a:effectLst/>
                <a:uFillTx/>
                <a:latin typeface="Consolas"/>
                <a:ea typeface="Consolas"/>
              </a:rPr>
              <a:t>COUNT</a:t>
            </a:r>
            <a:r>
              <a:rPr lang="en-US" sz="800" b="0" u="none" strike="noStrike">
                <a:solidFill>
                  <a:srgbClr val="003c54"/>
                </a:solidFill>
                <a:effectLst/>
                <a:uFillTx/>
                <a:latin typeface="Consolas"/>
                <a:ea typeface="Consolas"/>
              </a:rPr>
              <a:t>(*) </a:t>
            </a:r>
            <a:r>
              <a:rPr lang="en-US" sz="800" b="0" u="none" strike="noStrike">
                <a:solidFill>
                  <a:srgbClr val="0077cc"/>
                </a:solidFill>
                <a:effectLst/>
                <a:uFillTx/>
                <a:latin typeface="Consolas"/>
                <a:ea typeface="Consolas"/>
              </a:rPr>
              <a:t>AS</a:t>
            </a:r>
            <a:r>
              <a:rPr lang="en-US" sz="800" b="0" u="none" strike="noStrike">
                <a:solidFill>
                  <a:srgbClr val="003c54"/>
                </a:solidFill>
                <a:effectLst/>
                <a:uFillTx/>
                <a:latin typeface="Consolas"/>
                <a:ea typeface="Consolas"/>
              </a:rPr>
              <a:t> order_count,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795e26"/>
                </a:solidFill>
                <a:effectLst/>
                <a:uFillTx/>
                <a:latin typeface="Consolas"/>
                <a:ea typeface="Consolas"/>
              </a:rPr>
              <a:t>SUM</a:t>
            </a:r>
            <a:r>
              <a:rPr lang="en-US" sz="800" b="0" u="none" strike="noStrike">
                <a:solidFill>
                  <a:srgbClr val="003c54"/>
                </a:solidFill>
                <a:effectLst/>
                <a:uFillTx/>
                <a:latin typeface="Consolas"/>
                <a:ea typeface="Consolas"/>
              </a:rPr>
              <a:t>(amount) </a:t>
            </a:r>
            <a:r>
              <a:rPr lang="en-US" sz="800" b="0" u="none" strike="noStrike">
                <a:solidFill>
                  <a:srgbClr val="0077cc"/>
                </a:solidFill>
                <a:effectLst/>
                <a:uFillTx/>
                <a:latin typeface="Consolas"/>
                <a:ea typeface="Consolas"/>
              </a:rPr>
              <a:t>AS</a:t>
            </a:r>
            <a:r>
              <a:rPr lang="en-US" sz="800" b="0" u="none" strike="noStrike">
                <a:solidFill>
                  <a:srgbClr val="003c54"/>
                </a:solidFill>
                <a:effectLst/>
                <a:uFillTx/>
                <a:latin typeface="Consolas"/>
                <a:ea typeface="Consolas"/>
              </a:rPr>
              <a:t> total_revenue</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77cc"/>
                </a:solidFill>
                <a:effectLst/>
                <a:uFillTx/>
                <a:latin typeface="Consolas"/>
                <a:ea typeface="Consolas"/>
              </a:rPr>
              <a:t>FROM</a:t>
            </a:r>
            <a:r>
              <a:rPr lang="en-US" sz="800" b="0" u="none" strike="noStrike">
                <a:solidFill>
                  <a:srgbClr val="003c54"/>
                </a:solidFill>
                <a:effectLst/>
                <a:uFillTx/>
                <a:latin typeface="Consolas"/>
                <a:ea typeface="Consolas"/>
              </a:rPr>
              <a:t> orders_raw</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WINDOW HOPPING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(SIZE </a:t>
            </a:r>
            <a:r>
              <a:rPr lang="en-US" sz="800" b="0" u="none" strike="noStrike">
                <a:solidFill>
                  <a:srgbClr val="098658"/>
                </a:solidFill>
                <a:effectLst/>
                <a:uFillTx/>
                <a:latin typeface="Consolas"/>
                <a:ea typeface="Consolas"/>
              </a:rPr>
              <a:t>10</a:t>
            </a:r>
            <a:r>
              <a:rPr lang="en-US" sz="800" b="0" u="none" strike="noStrike">
                <a:solidFill>
                  <a:srgbClr val="003c54"/>
                </a:solidFill>
                <a:effectLst/>
                <a:uFillTx/>
                <a:latin typeface="Consolas"/>
                <a:ea typeface="Consolas"/>
              </a:rPr>
              <a:t> MINUTES, ADVANCE </a:t>
            </a:r>
            <a:r>
              <a:rPr lang="en-US" sz="800" b="0" u="none" strike="noStrike">
                <a:solidFill>
                  <a:srgbClr val="0077cc"/>
                </a:solidFill>
                <a:effectLst/>
                <a:uFillTx/>
                <a:latin typeface="Consolas"/>
                <a:ea typeface="Consolas"/>
              </a:rPr>
              <a:t>BY</a:t>
            </a:r>
            <a:r>
              <a:rPr lang="en-US" sz="800" b="0" u="none" strike="noStrike">
                <a:solidFill>
                  <a:srgbClr val="003c54"/>
                </a:solidFill>
                <a:effectLst/>
                <a:uFillTx/>
                <a:latin typeface="Consolas"/>
                <a:ea typeface="Consolas"/>
              </a:rPr>
              <a:t> </a:t>
            </a:r>
            <a:r>
              <a:rPr lang="en-US" sz="800" b="0" u="none" strike="noStrike">
                <a:solidFill>
                  <a:srgbClr val="098658"/>
                </a:solidFill>
                <a:effectLst/>
                <a:uFillTx/>
                <a:latin typeface="Consolas"/>
                <a:ea typeface="Consolas"/>
              </a:rPr>
              <a:t>1</a:t>
            </a:r>
            <a:r>
              <a:rPr lang="en-US" sz="800" b="0" u="none" strike="noStrike">
                <a:solidFill>
                  <a:srgbClr val="003c54"/>
                </a:solidFill>
                <a:effectLst/>
                <a:uFillTx/>
                <a:latin typeface="Consolas"/>
                <a:ea typeface="Consolas"/>
              </a:rPr>
              <a:t> </a:t>
            </a:r>
            <a:r>
              <a:rPr lang="en-US" sz="800" b="0" u="none" strike="noStrike">
                <a:solidFill>
                  <a:srgbClr val="0077cc"/>
                </a:solidFill>
                <a:effectLst/>
                <a:uFillTx/>
                <a:latin typeface="Consolas"/>
                <a:ea typeface="Consolas"/>
              </a:rPr>
              <a:t>MINUTE</a:t>
            </a: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77cc"/>
                </a:solidFill>
                <a:effectLst/>
                <a:uFillTx/>
                <a:latin typeface="Consolas"/>
                <a:ea typeface="Consolas"/>
              </a:rPr>
              <a:t>GROUP</a:t>
            </a:r>
            <a:r>
              <a:rPr lang="en-US" sz="800" b="0" u="none" strike="noStrike">
                <a:solidFill>
                  <a:srgbClr val="003c54"/>
                </a:solidFill>
                <a:effectLst/>
                <a:uFillTx/>
                <a:latin typeface="Consolas"/>
                <a:ea typeface="Consolas"/>
              </a:rPr>
              <a:t> </a:t>
            </a:r>
            <a:r>
              <a:rPr lang="en-US" sz="800" b="0" u="none" strike="noStrike">
                <a:solidFill>
                  <a:srgbClr val="0077cc"/>
                </a:solidFill>
                <a:effectLst/>
                <a:uFillTx/>
                <a:latin typeface="Consolas"/>
                <a:ea typeface="Consolas"/>
              </a:rPr>
              <a:t>BY</a:t>
            </a:r>
            <a:r>
              <a:rPr lang="en-US" sz="800" b="0" u="none" strike="noStrike">
                <a:solidFill>
                  <a:srgbClr val="003c54"/>
                </a:solidFill>
                <a:effectLst/>
                <a:uFillTx/>
                <a:latin typeface="Consolas"/>
                <a:ea typeface="Consolas"/>
              </a:rPr>
              <a:t> product_id</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  EMIT CHANGES</a:t>
            </a:r>
            <a:endParaRPr lang="en-IN" sz="800" b="0" u="none" strike="noStrike">
              <a:solidFill>
                <a:srgbClr val="000000"/>
              </a:solidFill>
              <a:effectLst/>
              <a:uFillTx/>
              <a:latin typeface="Arial"/>
            </a:endParaRPr>
          </a:p>
          <a:p>
            <a:pPr defTabSz="914400">
              <a:lnSpc>
                <a:spcPct val="100000"/>
              </a:lnSpc>
              <a:tabLst>
                <a:tab algn="l" pos="0"/>
              </a:tabLst>
            </a:pPr>
            <a:r>
              <a:rPr lang="en-US" sz="800" b="0" u="none" strike="noStrike">
                <a:solidFill>
                  <a:srgbClr val="003c54"/>
                </a:solidFill>
                <a:effectLst/>
                <a:uFillTx/>
                <a:latin typeface="Consolas"/>
                <a:ea typeface="Consolas"/>
              </a:rPr>
              <a:t>;</a:t>
            </a:r>
            <a:endParaRPr lang="en-IN" sz="800" b="0" u="none" strike="noStrike">
              <a:solidFill>
                <a:srgbClr val="000000"/>
              </a:solidFill>
              <a:effectLst/>
              <a:uFillTx/>
              <a:latin typeface="Arial"/>
            </a:endParaRPr>
          </a:p>
        </p:txBody>
      </p:sp>
      <p:sp>
        <p:nvSpPr>
          <p:cNvPr id="257" name="Text 5"/>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19.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58"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59"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Mini Exercise 1: Design a Pipeline</a:t>
            </a:r>
            <a:endParaRPr lang="en-IN" sz="2000" b="0" u="none" strike="noStrike">
              <a:solidFill>
                <a:srgbClr val="000000"/>
              </a:solidFill>
              <a:effectLst/>
              <a:uFillTx/>
              <a:latin typeface="Arial"/>
            </a:endParaRPr>
          </a:p>
        </p:txBody>
      </p:sp>
      <p:sp>
        <p:nvSpPr>
          <p:cNvPr id="260" name="Text 2"/>
          <p:cNvSpPr/>
          <p:nvPr/>
        </p:nvSpPr>
        <p:spPr>
          <a:xfrm>
            <a:off x="457200" y="731520"/>
            <a:ext cx="8229240" cy="2194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Sketch the complete architecture, marking which components run in the supplied Day 10 stack and which are integration extensions. Include sources, CDC, schema handling, cleaned/aggregate output, BI dashboard, operational checks and evidence captured.</a:t>
            </a:r>
            <a:endParaRPr lang="en-IN" sz="900" b="0" u="none" strike="noStrike">
              <a:solidFill>
                <a:srgbClr val="000000"/>
              </a:solidFill>
              <a:effectLst/>
              <a:uFillTx/>
              <a:latin typeface="Arial"/>
            </a:endParaRPr>
          </a:p>
        </p:txBody>
      </p:sp>
      <p:sp>
        <p:nvSpPr>
          <p:cNvPr id="261" name="Text 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0.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62"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63"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Mini Exercise 2: Define Schemas &amp; Topics</a:t>
            </a:r>
            <a:endParaRPr lang="en-IN" sz="2000" b="0" u="none" strike="noStrike">
              <a:solidFill>
                <a:srgbClr val="000000"/>
              </a:solidFill>
              <a:effectLst/>
              <a:uFillTx/>
              <a:latin typeface="Arial"/>
            </a:endParaRPr>
          </a:p>
        </p:txBody>
      </p:sp>
      <p:sp>
        <p:nvSpPr>
          <p:cNvPr id="264" name="Text 2"/>
          <p:cNvSpPr/>
          <p:nvPr/>
        </p:nvSpPr>
        <p:spPr>
          <a:xfrm>
            <a:off x="457200" y="731520"/>
            <a:ext cx="8229240" cy="2194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For the user registration pipeline, propose Avro schemas for events and choose topic names. Describe how you would handle optional fields and schema evolution over time.</a:t>
            </a:r>
            <a:endParaRPr lang="en-IN" sz="900" b="0" u="none" strike="noStrike">
              <a:solidFill>
                <a:srgbClr val="000000"/>
              </a:solidFill>
              <a:effectLst/>
              <a:uFillTx/>
              <a:latin typeface="Arial"/>
            </a:endParaRPr>
          </a:p>
        </p:txBody>
      </p:sp>
      <p:sp>
        <p:nvSpPr>
          <p:cNvPr id="265" name="Text 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1.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66"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67"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Mini Exercise 3: Streaming SQL</a:t>
            </a:r>
            <a:endParaRPr lang="en-IN" sz="2000" b="0" u="none" strike="noStrike">
              <a:solidFill>
                <a:srgbClr val="000000"/>
              </a:solidFill>
              <a:effectLst/>
              <a:uFillTx/>
              <a:latin typeface="Arial"/>
            </a:endParaRPr>
          </a:p>
        </p:txBody>
      </p:sp>
      <p:sp>
        <p:nvSpPr>
          <p:cNvPr id="268" name="Text 2"/>
          <p:cNvSpPr/>
          <p:nvPr/>
        </p:nvSpPr>
        <p:spPr>
          <a:xfrm>
            <a:off x="457200" y="731520"/>
            <a:ext cx="8229240" cy="219420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Write a ksqlDB query to compute the number of registrations per region in a 5‑minute tumbling window. How would you handle late events arriving after the window closes?</a:t>
            </a:r>
            <a:endParaRPr lang="en-IN" sz="900" b="0" u="none" strike="noStrike">
              <a:solidFill>
                <a:srgbClr val="000000"/>
              </a:solidFill>
              <a:effectLst/>
              <a:uFillTx/>
              <a:latin typeface="Arial"/>
            </a:endParaRPr>
          </a:p>
        </p:txBody>
      </p:sp>
      <p:sp>
        <p:nvSpPr>
          <p:cNvPr id="269" name="Text 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2.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70"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71"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Mini Exercise 4: Troubleshooting &amp; Optimisation</a:t>
            </a:r>
            <a:endParaRPr lang="en-IN" sz="2000" b="0" u="none" strike="noStrike">
              <a:solidFill>
                <a:srgbClr val="000000"/>
              </a:solidFill>
              <a:effectLst/>
              <a:uFillTx/>
              <a:latin typeface="Arial"/>
            </a:endParaRPr>
          </a:p>
        </p:txBody>
      </p:sp>
      <p:sp>
        <p:nvSpPr>
          <p:cNvPr id="272" name="Text 2"/>
          <p:cNvSpPr/>
          <p:nvPr/>
        </p:nvSpPr>
        <p:spPr>
          <a:xfrm>
            <a:off x="457200" y="731520"/>
            <a:ext cx="8229240" cy="22856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Your dashboard is stale. Trace the path from source change to CDC topic, ksqlDB aggregate and BI refresh. Identify three evidence checks, one likely cause, one recovery action and one prevention control. State whether the issue is in the runnable stack or an extension component.</a:t>
            </a:r>
            <a:endParaRPr lang="en-IN" sz="900" b="0" u="none" strike="noStrike">
              <a:solidFill>
                <a:srgbClr val="000000"/>
              </a:solidFill>
              <a:effectLst/>
              <a:uFillTx/>
              <a:latin typeface="Arial"/>
            </a:endParaRPr>
          </a:p>
        </p:txBody>
      </p:sp>
      <p:sp>
        <p:nvSpPr>
          <p:cNvPr id="273" name="Text 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3.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74"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75"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Knowledge Check</a:t>
            </a:r>
            <a:endParaRPr lang="en-IN" sz="2000" b="0" u="none" strike="noStrike">
              <a:solidFill>
                <a:srgbClr val="000000"/>
              </a:solidFill>
              <a:effectLst/>
              <a:uFillTx/>
              <a:latin typeface="Arial"/>
            </a:endParaRPr>
          </a:p>
        </p:txBody>
      </p:sp>
      <p:sp>
        <p:nvSpPr>
          <p:cNvPr id="276" name="Text 2"/>
          <p:cNvSpPr/>
          <p:nvPr/>
        </p:nvSpPr>
        <p:spPr>
          <a:xfrm>
            <a:off x="457200" y="7315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1" u="none" strike="noStrike">
                <a:solidFill>
                  <a:srgbClr val="003c54"/>
                </a:solidFill>
                <a:effectLst/>
                <a:uFillTx/>
                <a:latin typeface="Calibri"/>
              </a:rPr>
              <a:t>1. Which layer should contain cleansed &amp; conformed data ready for analytics?</a:t>
            </a:r>
            <a:endParaRPr lang="en-IN" sz="900" b="0" u="none" strike="noStrike">
              <a:solidFill>
                <a:srgbClr val="000000"/>
              </a:solidFill>
              <a:effectLst/>
              <a:uFillTx/>
              <a:latin typeface="Arial"/>
            </a:endParaRPr>
          </a:p>
        </p:txBody>
      </p:sp>
      <p:sp>
        <p:nvSpPr>
          <p:cNvPr id="277" name="Text 3"/>
          <p:cNvSpPr/>
          <p:nvPr/>
        </p:nvSpPr>
        <p:spPr>
          <a:xfrm>
            <a:off x="640080" y="8960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A. Bronze</a:t>
            </a:r>
            <a:endParaRPr lang="en-IN" sz="800" b="0" u="none" strike="noStrike">
              <a:solidFill>
                <a:srgbClr val="000000"/>
              </a:solidFill>
              <a:effectLst/>
              <a:uFillTx/>
              <a:latin typeface="Arial"/>
            </a:endParaRPr>
          </a:p>
        </p:txBody>
      </p:sp>
      <p:sp>
        <p:nvSpPr>
          <p:cNvPr id="278" name="Text 4"/>
          <p:cNvSpPr/>
          <p:nvPr/>
        </p:nvSpPr>
        <p:spPr>
          <a:xfrm>
            <a:off x="640080" y="10605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B. Silver</a:t>
            </a:r>
            <a:endParaRPr lang="en-IN" sz="800" b="0" u="none" strike="noStrike">
              <a:solidFill>
                <a:srgbClr val="000000"/>
              </a:solidFill>
              <a:effectLst/>
              <a:uFillTx/>
              <a:latin typeface="Arial"/>
            </a:endParaRPr>
          </a:p>
        </p:txBody>
      </p:sp>
      <p:sp>
        <p:nvSpPr>
          <p:cNvPr id="279" name="Text 5"/>
          <p:cNvSpPr/>
          <p:nvPr/>
        </p:nvSpPr>
        <p:spPr>
          <a:xfrm>
            <a:off x="640080" y="12254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C. Gold</a:t>
            </a:r>
            <a:endParaRPr lang="en-IN" sz="800" b="0" u="none" strike="noStrike">
              <a:solidFill>
                <a:srgbClr val="000000"/>
              </a:solidFill>
              <a:effectLst/>
              <a:uFillTx/>
              <a:latin typeface="Arial"/>
            </a:endParaRPr>
          </a:p>
        </p:txBody>
      </p:sp>
      <p:sp>
        <p:nvSpPr>
          <p:cNvPr id="280" name="Text 6"/>
          <p:cNvSpPr/>
          <p:nvPr/>
        </p:nvSpPr>
        <p:spPr>
          <a:xfrm>
            <a:off x="640080" y="13899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D. None</a:t>
            </a:r>
            <a:endParaRPr lang="en-IN" sz="800" b="0" u="none" strike="noStrike">
              <a:solidFill>
                <a:srgbClr val="000000"/>
              </a:solidFill>
              <a:effectLst/>
              <a:uFillTx/>
              <a:latin typeface="Arial"/>
            </a:endParaRPr>
          </a:p>
        </p:txBody>
      </p:sp>
      <p:sp>
        <p:nvSpPr>
          <p:cNvPr id="281" name="Text 7"/>
          <p:cNvSpPr/>
          <p:nvPr/>
        </p:nvSpPr>
        <p:spPr>
          <a:xfrm>
            <a:off x="457200" y="16459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1" u="none" strike="noStrike">
                <a:solidFill>
                  <a:srgbClr val="003c54"/>
                </a:solidFill>
                <a:effectLst/>
                <a:uFillTx/>
                <a:latin typeface="Calibri"/>
              </a:rPr>
              <a:t>2. In a DLQ pattern, malformed messages are:</a:t>
            </a:r>
            <a:endParaRPr lang="en-IN" sz="900" b="0" u="none" strike="noStrike">
              <a:solidFill>
                <a:srgbClr val="000000"/>
              </a:solidFill>
              <a:effectLst/>
              <a:uFillTx/>
              <a:latin typeface="Arial"/>
            </a:endParaRPr>
          </a:p>
        </p:txBody>
      </p:sp>
      <p:sp>
        <p:nvSpPr>
          <p:cNvPr id="282" name="Text 8"/>
          <p:cNvSpPr/>
          <p:nvPr/>
        </p:nvSpPr>
        <p:spPr>
          <a:xfrm>
            <a:off x="640080" y="18104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A. Sent back to the producer</a:t>
            </a:r>
            <a:endParaRPr lang="en-IN" sz="800" b="0" u="none" strike="noStrike">
              <a:solidFill>
                <a:srgbClr val="000000"/>
              </a:solidFill>
              <a:effectLst/>
              <a:uFillTx/>
              <a:latin typeface="Arial"/>
            </a:endParaRPr>
          </a:p>
        </p:txBody>
      </p:sp>
      <p:sp>
        <p:nvSpPr>
          <p:cNvPr id="283" name="Text 9"/>
          <p:cNvSpPr/>
          <p:nvPr/>
        </p:nvSpPr>
        <p:spPr>
          <a:xfrm>
            <a:off x="640080" y="19749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B. Stored in a dedicated topic for later inspection</a:t>
            </a:r>
            <a:endParaRPr lang="en-IN" sz="800" b="0" u="none" strike="noStrike">
              <a:solidFill>
                <a:srgbClr val="000000"/>
              </a:solidFill>
              <a:effectLst/>
              <a:uFillTx/>
              <a:latin typeface="Arial"/>
            </a:endParaRPr>
          </a:p>
        </p:txBody>
      </p:sp>
      <p:sp>
        <p:nvSpPr>
          <p:cNvPr id="284" name="Text 10"/>
          <p:cNvSpPr/>
          <p:nvPr/>
        </p:nvSpPr>
        <p:spPr>
          <a:xfrm>
            <a:off x="640080" y="21398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C. Discarded completely</a:t>
            </a:r>
            <a:endParaRPr lang="en-IN" sz="800" b="0" u="none" strike="noStrike">
              <a:solidFill>
                <a:srgbClr val="000000"/>
              </a:solidFill>
              <a:effectLst/>
              <a:uFillTx/>
              <a:latin typeface="Arial"/>
            </a:endParaRPr>
          </a:p>
        </p:txBody>
      </p:sp>
      <p:sp>
        <p:nvSpPr>
          <p:cNvPr id="285" name="Text 11"/>
          <p:cNvSpPr/>
          <p:nvPr/>
        </p:nvSpPr>
        <p:spPr>
          <a:xfrm>
            <a:off x="640080" y="23043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D. Ignored by consumers</a:t>
            </a:r>
            <a:endParaRPr lang="en-IN" sz="800" b="0" u="none" strike="noStrike">
              <a:solidFill>
                <a:srgbClr val="000000"/>
              </a:solidFill>
              <a:effectLst/>
              <a:uFillTx/>
              <a:latin typeface="Arial"/>
            </a:endParaRPr>
          </a:p>
        </p:txBody>
      </p:sp>
      <p:sp>
        <p:nvSpPr>
          <p:cNvPr id="286" name="Text 12"/>
          <p:cNvSpPr/>
          <p:nvPr/>
        </p:nvSpPr>
        <p:spPr>
          <a:xfrm>
            <a:off x="457200" y="25603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1" u="none" strike="noStrike">
                <a:solidFill>
                  <a:srgbClr val="003c54"/>
                </a:solidFill>
                <a:effectLst/>
                <a:uFillTx/>
                <a:latin typeface="Calibri"/>
              </a:rPr>
              <a:t>3. ksqlDB pull queries are used to:</a:t>
            </a:r>
            <a:endParaRPr lang="en-IN" sz="900" b="0" u="none" strike="noStrike">
              <a:solidFill>
                <a:srgbClr val="000000"/>
              </a:solidFill>
              <a:effectLst/>
              <a:uFillTx/>
              <a:latin typeface="Arial"/>
            </a:endParaRPr>
          </a:p>
        </p:txBody>
      </p:sp>
      <p:sp>
        <p:nvSpPr>
          <p:cNvPr id="287" name="Text 13"/>
          <p:cNvSpPr/>
          <p:nvPr/>
        </p:nvSpPr>
        <p:spPr>
          <a:xfrm>
            <a:off x="640080" y="27248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A. Continuously process streaming events</a:t>
            </a:r>
            <a:endParaRPr lang="en-IN" sz="800" b="0" u="none" strike="noStrike">
              <a:solidFill>
                <a:srgbClr val="000000"/>
              </a:solidFill>
              <a:effectLst/>
              <a:uFillTx/>
              <a:latin typeface="Arial"/>
            </a:endParaRPr>
          </a:p>
        </p:txBody>
      </p:sp>
      <p:sp>
        <p:nvSpPr>
          <p:cNvPr id="288" name="Text 14"/>
          <p:cNvSpPr/>
          <p:nvPr/>
        </p:nvSpPr>
        <p:spPr>
          <a:xfrm>
            <a:off x="640080" y="28893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B. Create new Kafka topics</a:t>
            </a:r>
            <a:endParaRPr lang="en-IN" sz="800" b="0" u="none" strike="noStrike">
              <a:solidFill>
                <a:srgbClr val="000000"/>
              </a:solidFill>
              <a:effectLst/>
              <a:uFillTx/>
              <a:latin typeface="Arial"/>
            </a:endParaRPr>
          </a:p>
        </p:txBody>
      </p:sp>
      <p:sp>
        <p:nvSpPr>
          <p:cNvPr id="289" name="Text 15"/>
          <p:cNvSpPr/>
          <p:nvPr/>
        </p:nvSpPr>
        <p:spPr>
          <a:xfrm>
            <a:off x="640080" y="30542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C. Retrieve the current state of a materialized view on demand</a:t>
            </a:r>
            <a:endParaRPr lang="en-IN" sz="800" b="0" u="none" strike="noStrike">
              <a:solidFill>
                <a:srgbClr val="000000"/>
              </a:solidFill>
              <a:effectLst/>
              <a:uFillTx/>
              <a:latin typeface="Arial"/>
            </a:endParaRPr>
          </a:p>
        </p:txBody>
      </p:sp>
      <p:sp>
        <p:nvSpPr>
          <p:cNvPr id="290" name="Text 16"/>
          <p:cNvSpPr/>
          <p:nvPr/>
        </p:nvSpPr>
        <p:spPr>
          <a:xfrm>
            <a:off x="640080" y="32187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D. Persist aggregated results to another stream</a:t>
            </a:r>
            <a:endParaRPr lang="en-IN" sz="800" b="0" u="none" strike="noStrike">
              <a:solidFill>
                <a:srgbClr val="000000"/>
              </a:solidFill>
              <a:effectLst/>
              <a:uFillTx/>
              <a:latin typeface="Arial"/>
            </a:endParaRPr>
          </a:p>
        </p:txBody>
      </p:sp>
      <p:sp>
        <p:nvSpPr>
          <p:cNvPr id="291" name="Text 17"/>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4.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292"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293"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Knowledge Check (cont.)</a:t>
            </a:r>
            <a:endParaRPr lang="en-IN" sz="2000" b="0" u="none" strike="noStrike">
              <a:solidFill>
                <a:srgbClr val="000000"/>
              </a:solidFill>
              <a:effectLst/>
              <a:uFillTx/>
              <a:latin typeface="Arial"/>
            </a:endParaRPr>
          </a:p>
        </p:txBody>
      </p:sp>
      <p:sp>
        <p:nvSpPr>
          <p:cNvPr id="294" name="Text 2"/>
          <p:cNvSpPr/>
          <p:nvPr/>
        </p:nvSpPr>
        <p:spPr>
          <a:xfrm>
            <a:off x="457200" y="7315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1" u="none" strike="noStrike">
                <a:solidFill>
                  <a:srgbClr val="003c54"/>
                </a:solidFill>
                <a:effectLst/>
                <a:uFillTx/>
                <a:latin typeface="Calibri"/>
              </a:rPr>
              <a:t>4. Which component manages task scheduling and execution in Airflow?</a:t>
            </a:r>
            <a:endParaRPr lang="en-IN" sz="900" b="0" u="none" strike="noStrike">
              <a:solidFill>
                <a:srgbClr val="000000"/>
              </a:solidFill>
              <a:effectLst/>
              <a:uFillTx/>
              <a:latin typeface="Arial"/>
            </a:endParaRPr>
          </a:p>
        </p:txBody>
      </p:sp>
      <p:sp>
        <p:nvSpPr>
          <p:cNvPr id="295" name="Text 3"/>
          <p:cNvSpPr/>
          <p:nvPr/>
        </p:nvSpPr>
        <p:spPr>
          <a:xfrm>
            <a:off x="640080" y="8960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A. Worker</a:t>
            </a:r>
            <a:endParaRPr lang="en-IN" sz="800" b="0" u="none" strike="noStrike">
              <a:solidFill>
                <a:srgbClr val="000000"/>
              </a:solidFill>
              <a:effectLst/>
              <a:uFillTx/>
              <a:latin typeface="Arial"/>
            </a:endParaRPr>
          </a:p>
        </p:txBody>
      </p:sp>
      <p:sp>
        <p:nvSpPr>
          <p:cNvPr id="296" name="Text 4"/>
          <p:cNvSpPr/>
          <p:nvPr/>
        </p:nvSpPr>
        <p:spPr>
          <a:xfrm>
            <a:off x="640080" y="10605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B. Scheduler</a:t>
            </a:r>
            <a:endParaRPr lang="en-IN" sz="800" b="0" u="none" strike="noStrike">
              <a:solidFill>
                <a:srgbClr val="000000"/>
              </a:solidFill>
              <a:effectLst/>
              <a:uFillTx/>
              <a:latin typeface="Arial"/>
            </a:endParaRPr>
          </a:p>
        </p:txBody>
      </p:sp>
      <p:sp>
        <p:nvSpPr>
          <p:cNvPr id="297" name="Text 5"/>
          <p:cNvSpPr/>
          <p:nvPr/>
        </p:nvSpPr>
        <p:spPr>
          <a:xfrm>
            <a:off x="640080" y="12254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C. Triggerer</a:t>
            </a:r>
            <a:endParaRPr lang="en-IN" sz="800" b="0" u="none" strike="noStrike">
              <a:solidFill>
                <a:srgbClr val="000000"/>
              </a:solidFill>
              <a:effectLst/>
              <a:uFillTx/>
              <a:latin typeface="Arial"/>
            </a:endParaRPr>
          </a:p>
        </p:txBody>
      </p:sp>
      <p:sp>
        <p:nvSpPr>
          <p:cNvPr id="298" name="Text 6"/>
          <p:cNvSpPr/>
          <p:nvPr/>
        </p:nvSpPr>
        <p:spPr>
          <a:xfrm>
            <a:off x="640080" y="13899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D. Webserver</a:t>
            </a:r>
            <a:endParaRPr lang="en-IN" sz="800" b="0" u="none" strike="noStrike">
              <a:solidFill>
                <a:srgbClr val="000000"/>
              </a:solidFill>
              <a:effectLst/>
              <a:uFillTx/>
              <a:latin typeface="Arial"/>
            </a:endParaRPr>
          </a:p>
        </p:txBody>
      </p:sp>
      <p:sp>
        <p:nvSpPr>
          <p:cNvPr id="299" name="Text 7"/>
          <p:cNvSpPr/>
          <p:nvPr/>
        </p:nvSpPr>
        <p:spPr>
          <a:xfrm>
            <a:off x="457200" y="16459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1" u="none" strike="noStrike">
                <a:solidFill>
                  <a:srgbClr val="003c54"/>
                </a:solidFill>
                <a:effectLst/>
                <a:uFillTx/>
                <a:latin typeface="Calibri"/>
              </a:rPr>
              <a:t>5. What ensures exactly‑once semantics in Kafka Streams?</a:t>
            </a:r>
            <a:endParaRPr lang="en-IN" sz="900" b="0" u="none" strike="noStrike">
              <a:solidFill>
                <a:srgbClr val="000000"/>
              </a:solidFill>
              <a:effectLst/>
              <a:uFillTx/>
              <a:latin typeface="Arial"/>
            </a:endParaRPr>
          </a:p>
        </p:txBody>
      </p:sp>
      <p:sp>
        <p:nvSpPr>
          <p:cNvPr id="300" name="Text 8"/>
          <p:cNvSpPr/>
          <p:nvPr/>
        </p:nvSpPr>
        <p:spPr>
          <a:xfrm>
            <a:off x="640080" y="18104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A. Idempotent producers &amp; transactions</a:t>
            </a:r>
            <a:endParaRPr lang="en-IN" sz="800" b="0" u="none" strike="noStrike">
              <a:solidFill>
                <a:srgbClr val="000000"/>
              </a:solidFill>
              <a:effectLst/>
              <a:uFillTx/>
              <a:latin typeface="Arial"/>
            </a:endParaRPr>
          </a:p>
        </p:txBody>
      </p:sp>
      <p:sp>
        <p:nvSpPr>
          <p:cNvPr id="301" name="Text 9"/>
          <p:cNvSpPr/>
          <p:nvPr/>
        </p:nvSpPr>
        <p:spPr>
          <a:xfrm>
            <a:off x="640080" y="19749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B. Setting acks=0</a:t>
            </a:r>
            <a:endParaRPr lang="en-IN" sz="800" b="0" u="none" strike="noStrike">
              <a:solidFill>
                <a:srgbClr val="000000"/>
              </a:solidFill>
              <a:effectLst/>
              <a:uFillTx/>
              <a:latin typeface="Arial"/>
            </a:endParaRPr>
          </a:p>
        </p:txBody>
      </p:sp>
      <p:sp>
        <p:nvSpPr>
          <p:cNvPr id="302" name="Text 10"/>
          <p:cNvSpPr/>
          <p:nvPr/>
        </p:nvSpPr>
        <p:spPr>
          <a:xfrm>
            <a:off x="640080" y="21398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C. Using at‑most‑once consumers</a:t>
            </a:r>
            <a:endParaRPr lang="en-IN" sz="800" b="0" u="none" strike="noStrike">
              <a:solidFill>
                <a:srgbClr val="000000"/>
              </a:solidFill>
              <a:effectLst/>
              <a:uFillTx/>
              <a:latin typeface="Arial"/>
            </a:endParaRPr>
          </a:p>
        </p:txBody>
      </p:sp>
      <p:sp>
        <p:nvSpPr>
          <p:cNvPr id="303" name="Text 11"/>
          <p:cNvSpPr/>
          <p:nvPr/>
        </p:nvSpPr>
        <p:spPr>
          <a:xfrm>
            <a:off x="640080" y="23043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D. Disabling retries</a:t>
            </a:r>
            <a:endParaRPr lang="en-IN" sz="800" b="0" u="none" strike="noStrike">
              <a:solidFill>
                <a:srgbClr val="000000"/>
              </a:solidFill>
              <a:effectLst/>
              <a:uFillTx/>
              <a:latin typeface="Arial"/>
            </a:endParaRPr>
          </a:p>
        </p:txBody>
      </p:sp>
      <p:sp>
        <p:nvSpPr>
          <p:cNvPr id="304" name="Text 12"/>
          <p:cNvSpPr/>
          <p:nvPr/>
        </p:nvSpPr>
        <p:spPr>
          <a:xfrm>
            <a:off x="457200" y="25603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1" u="none" strike="noStrike">
                <a:solidFill>
                  <a:srgbClr val="003c54"/>
                </a:solidFill>
                <a:effectLst/>
                <a:uFillTx/>
                <a:latin typeface="Calibri"/>
              </a:rPr>
              <a:t>6. When would you choose Kafka Streams over ksqlDB?</a:t>
            </a:r>
            <a:endParaRPr lang="en-IN" sz="900" b="0" u="none" strike="noStrike">
              <a:solidFill>
                <a:srgbClr val="000000"/>
              </a:solidFill>
              <a:effectLst/>
              <a:uFillTx/>
              <a:latin typeface="Arial"/>
            </a:endParaRPr>
          </a:p>
        </p:txBody>
      </p:sp>
      <p:sp>
        <p:nvSpPr>
          <p:cNvPr id="305" name="Text 13"/>
          <p:cNvSpPr/>
          <p:nvPr/>
        </p:nvSpPr>
        <p:spPr>
          <a:xfrm>
            <a:off x="640080" y="27248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A. When you need a no‑code solution for streaming SQL</a:t>
            </a:r>
            <a:endParaRPr lang="en-IN" sz="800" b="0" u="none" strike="noStrike">
              <a:solidFill>
                <a:srgbClr val="000000"/>
              </a:solidFill>
              <a:effectLst/>
              <a:uFillTx/>
              <a:latin typeface="Arial"/>
            </a:endParaRPr>
          </a:p>
        </p:txBody>
      </p:sp>
      <p:sp>
        <p:nvSpPr>
          <p:cNvPr id="306" name="Text 14"/>
          <p:cNvSpPr/>
          <p:nvPr/>
        </p:nvSpPr>
        <p:spPr>
          <a:xfrm>
            <a:off x="640080" y="28893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B. When you want to embed stream processing in a custom microservice</a:t>
            </a:r>
            <a:endParaRPr lang="en-IN" sz="800" b="0" u="none" strike="noStrike">
              <a:solidFill>
                <a:srgbClr val="000000"/>
              </a:solidFill>
              <a:effectLst/>
              <a:uFillTx/>
              <a:latin typeface="Arial"/>
            </a:endParaRPr>
          </a:p>
        </p:txBody>
      </p:sp>
      <p:sp>
        <p:nvSpPr>
          <p:cNvPr id="307" name="Text 15"/>
          <p:cNvSpPr/>
          <p:nvPr/>
        </p:nvSpPr>
        <p:spPr>
          <a:xfrm>
            <a:off x="640080" y="305424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C. When your use case requires interactive queries via REST</a:t>
            </a:r>
            <a:endParaRPr lang="en-IN" sz="800" b="0" u="none" strike="noStrike">
              <a:solidFill>
                <a:srgbClr val="000000"/>
              </a:solidFill>
              <a:effectLst/>
              <a:uFillTx/>
              <a:latin typeface="Arial"/>
            </a:endParaRPr>
          </a:p>
        </p:txBody>
      </p:sp>
      <p:sp>
        <p:nvSpPr>
          <p:cNvPr id="308" name="Text 16"/>
          <p:cNvSpPr/>
          <p:nvPr/>
        </p:nvSpPr>
        <p:spPr>
          <a:xfrm>
            <a:off x="640080" y="3218760"/>
            <a:ext cx="7772040" cy="1641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800" b="0" u="none" strike="noStrike">
                <a:solidFill>
                  <a:srgbClr val="003c54"/>
                </a:solidFill>
                <a:effectLst/>
                <a:uFillTx/>
                <a:latin typeface="Calibri"/>
              </a:rPr>
              <a:t>D. When you need to ingest batch files</a:t>
            </a:r>
            <a:endParaRPr lang="en-IN" sz="800" b="0" u="none" strike="noStrike">
              <a:solidFill>
                <a:srgbClr val="000000"/>
              </a:solidFill>
              <a:effectLst/>
              <a:uFillTx/>
              <a:latin typeface="Arial"/>
            </a:endParaRPr>
          </a:p>
        </p:txBody>
      </p:sp>
      <p:sp>
        <p:nvSpPr>
          <p:cNvPr id="309" name="Text 17"/>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5.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310"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311"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Answer Key</a:t>
            </a:r>
            <a:endParaRPr lang="en-IN" sz="2000" b="0" u="none" strike="noStrike">
              <a:solidFill>
                <a:srgbClr val="000000"/>
              </a:solidFill>
              <a:effectLst/>
              <a:uFillTx/>
              <a:latin typeface="Arial"/>
            </a:endParaRPr>
          </a:p>
        </p:txBody>
      </p:sp>
      <p:pic>
        <p:nvPicPr>
          <p:cNvPr id="312" name="Image 0"/>
          <p:cNvPicPr/>
          <p:nvPr/>
        </p:nvPicPr>
        <p:blipFill>
          <a:blip r:embed="rId1"/>
          <a:stretch/>
        </p:blipFill>
        <p:spPr>
          <a:xfrm>
            <a:off x="457200" y="731520"/>
            <a:ext cx="182520" cy="182520"/>
          </a:xfrm>
          <a:prstGeom prst="rect">
            <a:avLst/>
          </a:prstGeom>
          <a:noFill/>
          <a:ln w="0">
            <a:noFill/>
          </a:ln>
        </p:spPr>
      </p:pic>
      <p:sp>
        <p:nvSpPr>
          <p:cNvPr id="313" name="Text 2"/>
          <p:cNvSpPr/>
          <p:nvPr/>
        </p:nvSpPr>
        <p:spPr>
          <a:xfrm>
            <a:off x="685800" y="7315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1. Answer: B – Silver layer stores cleansed, conformed data ready for analytics.</a:t>
            </a:r>
            <a:endParaRPr lang="en-IN" sz="900" b="0" u="none" strike="noStrike">
              <a:solidFill>
                <a:srgbClr val="000000"/>
              </a:solidFill>
              <a:effectLst/>
              <a:uFillTx/>
              <a:latin typeface="Arial"/>
            </a:endParaRPr>
          </a:p>
        </p:txBody>
      </p:sp>
      <p:pic>
        <p:nvPicPr>
          <p:cNvPr id="314" name="Image 1"/>
          <p:cNvPicPr/>
          <p:nvPr/>
        </p:nvPicPr>
        <p:blipFill>
          <a:blip r:embed="rId2"/>
          <a:stretch/>
        </p:blipFill>
        <p:spPr>
          <a:xfrm>
            <a:off x="457200" y="987480"/>
            <a:ext cx="182520" cy="182520"/>
          </a:xfrm>
          <a:prstGeom prst="rect">
            <a:avLst/>
          </a:prstGeom>
          <a:noFill/>
          <a:ln w="0">
            <a:noFill/>
          </a:ln>
        </p:spPr>
      </p:pic>
      <p:sp>
        <p:nvSpPr>
          <p:cNvPr id="315" name="Text 3"/>
          <p:cNvSpPr/>
          <p:nvPr/>
        </p:nvSpPr>
        <p:spPr>
          <a:xfrm>
            <a:off x="685800" y="98748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2. Answer: B – Dead letter queues capture failed records for later inspection.</a:t>
            </a:r>
            <a:endParaRPr lang="en-IN" sz="900" b="0" u="none" strike="noStrike">
              <a:solidFill>
                <a:srgbClr val="000000"/>
              </a:solidFill>
              <a:effectLst/>
              <a:uFillTx/>
              <a:latin typeface="Arial"/>
            </a:endParaRPr>
          </a:p>
        </p:txBody>
      </p:sp>
      <p:pic>
        <p:nvPicPr>
          <p:cNvPr id="316" name="Image 2"/>
          <p:cNvPicPr/>
          <p:nvPr/>
        </p:nvPicPr>
        <p:blipFill>
          <a:blip r:embed="rId3"/>
          <a:stretch/>
        </p:blipFill>
        <p:spPr>
          <a:xfrm>
            <a:off x="457200" y="1243440"/>
            <a:ext cx="182520" cy="182520"/>
          </a:xfrm>
          <a:prstGeom prst="rect">
            <a:avLst/>
          </a:prstGeom>
          <a:noFill/>
          <a:ln w="0">
            <a:noFill/>
          </a:ln>
        </p:spPr>
      </p:pic>
      <p:sp>
        <p:nvSpPr>
          <p:cNvPr id="317" name="Text 4"/>
          <p:cNvSpPr/>
          <p:nvPr/>
        </p:nvSpPr>
        <p:spPr>
          <a:xfrm>
            <a:off x="685800" y="124344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3. Answer: C – Pull queries read from materialized views on demand.</a:t>
            </a:r>
            <a:endParaRPr lang="en-IN" sz="900" b="0" u="none" strike="noStrike">
              <a:solidFill>
                <a:srgbClr val="000000"/>
              </a:solidFill>
              <a:effectLst/>
              <a:uFillTx/>
              <a:latin typeface="Arial"/>
            </a:endParaRPr>
          </a:p>
        </p:txBody>
      </p:sp>
      <p:pic>
        <p:nvPicPr>
          <p:cNvPr id="318" name="Image 3"/>
          <p:cNvPicPr/>
          <p:nvPr/>
        </p:nvPicPr>
        <p:blipFill>
          <a:blip r:embed="rId4"/>
          <a:stretch/>
        </p:blipFill>
        <p:spPr>
          <a:xfrm>
            <a:off x="457200" y="1499760"/>
            <a:ext cx="182520" cy="182520"/>
          </a:xfrm>
          <a:prstGeom prst="rect">
            <a:avLst/>
          </a:prstGeom>
          <a:noFill/>
          <a:ln w="0">
            <a:noFill/>
          </a:ln>
        </p:spPr>
      </p:pic>
      <p:sp>
        <p:nvSpPr>
          <p:cNvPr id="319" name="Text 5"/>
          <p:cNvSpPr/>
          <p:nvPr/>
        </p:nvSpPr>
        <p:spPr>
          <a:xfrm>
            <a:off x="685800" y="149976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4. Answer: B – The scheduler monitors DAG schedules and triggers task execution.</a:t>
            </a:r>
            <a:endParaRPr lang="en-IN" sz="900" b="0" u="none" strike="noStrike">
              <a:solidFill>
                <a:srgbClr val="000000"/>
              </a:solidFill>
              <a:effectLst/>
              <a:uFillTx/>
              <a:latin typeface="Arial"/>
            </a:endParaRPr>
          </a:p>
        </p:txBody>
      </p:sp>
      <p:pic>
        <p:nvPicPr>
          <p:cNvPr id="320" name="Image 4"/>
          <p:cNvPicPr/>
          <p:nvPr/>
        </p:nvPicPr>
        <p:blipFill>
          <a:blip r:embed="rId5"/>
          <a:stretch/>
        </p:blipFill>
        <p:spPr>
          <a:xfrm>
            <a:off x="457200" y="1755720"/>
            <a:ext cx="182520" cy="182520"/>
          </a:xfrm>
          <a:prstGeom prst="rect">
            <a:avLst/>
          </a:prstGeom>
          <a:noFill/>
          <a:ln w="0">
            <a:noFill/>
          </a:ln>
        </p:spPr>
      </p:pic>
      <p:sp>
        <p:nvSpPr>
          <p:cNvPr id="321" name="Text 6"/>
          <p:cNvSpPr/>
          <p:nvPr/>
        </p:nvSpPr>
        <p:spPr>
          <a:xfrm>
            <a:off x="685800" y="175572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5. Answer: A – Idempotent producers and transactions enable exactly‑once semantics.</a:t>
            </a:r>
            <a:endParaRPr lang="en-IN" sz="900" b="0" u="none" strike="noStrike">
              <a:solidFill>
                <a:srgbClr val="000000"/>
              </a:solidFill>
              <a:effectLst/>
              <a:uFillTx/>
              <a:latin typeface="Arial"/>
            </a:endParaRPr>
          </a:p>
        </p:txBody>
      </p:sp>
      <p:pic>
        <p:nvPicPr>
          <p:cNvPr id="322" name="Image 5"/>
          <p:cNvPicPr/>
          <p:nvPr/>
        </p:nvPicPr>
        <p:blipFill>
          <a:blip r:embed="rId6"/>
          <a:stretch/>
        </p:blipFill>
        <p:spPr>
          <a:xfrm>
            <a:off x="457200" y="2011680"/>
            <a:ext cx="182520" cy="182520"/>
          </a:xfrm>
          <a:prstGeom prst="rect">
            <a:avLst/>
          </a:prstGeom>
          <a:noFill/>
          <a:ln w="0">
            <a:noFill/>
          </a:ln>
        </p:spPr>
      </p:pic>
      <p:sp>
        <p:nvSpPr>
          <p:cNvPr id="323" name="Text 7"/>
          <p:cNvSpPr/>
          <p:nvPr/>
        </p:nvSpPr>
        <p:spPr>
          <a:xfrm>
            <a:off x="685800" y="2011680"/>
            <a:ext cx="8229240" cy="2282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900" b="0" u="none" strike="noStrike">
                <a:solidFill>
                  <a:srgbClr val="003c54"/>
                </a:solidFill>
                <a:effectLst/>
                <a:uFillTx/>
                <a:latin typeface="Calibri"/>
              </a:rPr>
              <a:t>6. Answer: B – Kafka Streams is used when embedding stream logic inside your own application.</a:t>
            </a:r>
            <a:endParaRPr lang="en-IN" sz="900" b="0" u="none" strike="noStrike">
              <a:solidFill>
                <a:srgbClr val="000000"/>
              </a:solidFill>
              <a:effectLst/>
              <a:uFillTx/>
              <a:latin typeface="Arial"/>
            </a:endParaRPr>
          </a:p>
        </p:txBody>
      </p:sp>
      <p:sp>
        <p:nvSpPr>
          <p:cNvPr id="324" name="Text 8"/>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endParaRPr lang="en-US" sz="1800" b="0" u="none" strike="noStrike">
              <a:solidFill>
                <a:schemeClr val="dk1"/>
              </a:solidFill>
              <a:effectLst/>
              <a:uFillTx/>
              <a:latin typeface="Calibri"/>
            </a:endParaRPr>
          </a:p>
        </p:txBody>
      </p:sp>
    </p:spTree>
  </p:cSld>
  <mc:AlternateContent>
    <mc:Choice Requires="p14">
      <p:transition spd="slow" p14:dur="2000"/>
    </mc:Choice>
    <mc:Fallback>
      <p:transition spd="slow"/>
    </mc:Fallback>
  </mc:AlternateContent>
</p:sld>
</file>

<file path=ppt/slides/slide26.xml><?xml version="1.0" encoding="utf-8"?>
<p:sld xmlns:a="http://schemas.openxmlformats.org/drawingml/2006/main" xmlns:p="http://schemas.openxmlformats.org/presentationml/2006/main" xmlns:r="http://schemas.openxmlformats.org/officeDocument/2006/relationships" xmlns:p14="http://schemas.microsoft.com/office/powerpoint/2010/main" xmlns:p15="http://schemas.microsoft.com/office/powerpoint/2012/main" xmlns:mc="http://schemas.openxmlformats.org/markup-compatibility/2006">
  <p:cSld>
    <p:bg>
      <p:bgPr>
        <a:solidFill>
          <a:srgbClr val="f9fbfc"/>
        </a:solidFill>
      </p:bgPr>
    </p:bg>
    <p:spTree>
      <p:nvGrpSpPr>
        <p:cNvPr id="1" name=""/>
        <p:cNvGrpSpPr/>
        <p:nvPr/>
      </p:nvGrpSpPr>
      <p:grpSpPr>
        <a:xfrm>
          <a:off x="0" y="0"/>
          <a:ext cx="0" cy="0"/>
          <a:chOff x="0" y="0"/>
          <a:chExt cx="0" cy="0"/>
        </a:xfrm>
      </p:grpSpPr>
      <p:sp>
        <p:nvSpPr>
          <p:cNvPr id="325" name="Shape 0"/>
          <p:cNvSpPr/>
          <p:nvPr/>
        </p:nvSpPr>
        <p:spPr>
          <a:xfrm>
            <a:off x="0" y="0"/>
            <a:ext cx="9143640" cy="456840"/>
          </a:xfrm>
          <a:prstGeom prst="rect">
            <a:avLst/>
          </a:prstGeom>
          <a:solidFill>
            <a:srgbClr val="0b3d51"/>
          </a:solidFill>
          <a:ln w="12700">
            <a:solidFill>
              <a:srgbClr val="0b3d51"/>
            </a:solidFill>
            <a:round/>
          </a:ln>
        </p:spPr>
        <p:style>
          <a:lnRef idx="0"/>
          <a:fillRef idx="0"/>
          <a:effectRef idx="0"/>
          <a:fontRef idx="minor"/>
        </p:style>
        <p:txBody>
          <a:bodyPr lIns="90000" rIns="90000" tIns="45000" bIns="45000" anchor="t">
            <a:noAutofit/>
          </a:bodyPr>
          <a:p>
            <a:pPr defTabSz="914400">
              <a:lnSpc>
                <a:spcPct val="100000"/>
              </a:lnSpc>
              <a:tabLst>
                <a:tab algn="l" pos="0"/>
              </a:tabLst>
            </a:pPr>
            <a:endParaRPr lang="en-IN" sz="1800" b="0" u="none" strike="noStrike">
              <a:solidFill>
                <a:schemeClr val="dk1"/>
              </a:solidFill>
              <a:effectLst/>
              <a:uFillTx/>
              <a:latin typeface="Calibri"/>
            </a:endParaRPr>
          </a:p>
        </p:txBody>
      </p:sp>
      <p:sp>
        <p:nvSpPr>
          <p:cNvPr id="326" name="Text 1"/>
          <p:cNvSpPr/>
          <p:nvPr/>
        </p:nvSpPr>
        <p:spPr>
          <a:xfrm>
            <a:off x="457200" y="91440"/>
            <a:ext cx="8229240" cy="27396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2000" b="1" u="none" strike="noStrike">
                <a:solidFill>
                  <a:srgbClr val="ffffff"/>
                </a:solidFill>
                <a:effectLst/>
                <a:uFillTx/>
                <a:latin typeface="Calibri"/>
              </a:rPr>
              <a:t>Recap &amp; Closing</a:t>
            </a:r>
            <a:endParaRPr lang="en-IN" sz="2000" b="0" u="none" strike="noStrike">
              <a:solidFill>
                <a:srgbClr val="000000"/>
              </a:solidFill>
              <a:effectLst/>
              <a:uFillTx/>
              <a:latin typeface="Arial"/>
            </a:endParaRPr>
          </a:p>
        </p:txBody>
      </p:sp>
      <p:sp>
        <p:nvSpPr>
          <p:cNvPr id="327" name="Text 2"/>
          <p:cNvSpPr/>
          <p:nvPr/>
        </p:nvSpPr>
        <p:spPr>
          <a:xfrm>
            <a:off x="457200" y="731520"/>
            <a:ext cx="8686440" cy="2742840"/>
          </a:xfrm>
          <a:prstGeom prst="rect">
            <a:avLst/>
          </a:prstGeom>
          <a:noFill/>
          <a:ln w="0">
            <a:noFill/>
          </a:ln>
        </p:spPr>
        <p:style>
          <a:lnRef idx="0"/>
          <a:fillRef idx="0"/>
          <a:effectRef idx="0"/>
          <a:fontRef idx="minor"/>
        </p:style>
        <p:txBody>
          <a:bodyPr lIns="90000" rIns="90000" tIns="45000" bIns="45000" anchor="ctr">
            <a:noAutofit/>
          </a:bodyPr>
          <a:p>
            <a:pPr defTabSz="914400">
              <a:lnSpc>
                <a:spcPct val="100000"/>
              </a:lnSpc>
              <a:tabLst>
                <a:tab algn="l" pos="0"/>
              </a:tabLst>
            </a:pPr>
            <a:r>
              <a:rPr lang="en-US" sz="1400" b="1" u="none" strike="noStrike">
                <a:solidFill>
                  <a:srgbClr val="003c54"/>
                </a:solidFill>
                <a:effectLst/>
                <a:uFillTx/>
                <a:latin typeface="Calibri"/>
              </a:rPr>
              <a:t>Today you:</a:t>
            </a:r>
            <a:endParaRPr lang="en-IN" sz="1400" b="0" u="none" strike="noStrike">
              <a:solidFill>
                <a:srgbClr val="000000"/>
              </a:solidFill>
              <a:effectLst/>
              <a:uFillTx/>
              <a:latin typeface="Arial"/>
            </a:endParaRPr>
          </a:p>
          <a:p>
            <a:pPr defTabSz="914400">
              <a:lnSpc>
                <a:spcPct val="100000"/>
              </a:lnSpc>
              <a:tabLst>
                <a:tab algn="l" pos="0"/>
              </a:tabLst>
            </a:pPr>
            <a:r>
              <a:rPr lang="en-US" sz="1000" b="0" i="1" u="none" strike="noStrike">
                <a:solidFill>
                  <a:srgbClr val="6a6a6a"/>
                </a:solidFill>
                <a:effectLst/>
                <a:uFillTx/>
                <a:latin typeface="Calibri"/>
              </a:rPr>
              <a:t>- Ran or designed the final CDC-to-serving pipeline using the supplied capstone stack.</a:t>
            </a:r>
            <a:endParaRPr lang="en-IN" sz="1000" b="0" u="none" strike="noStrike">
              <a:solidFill>
                <a:srgbClr val="000000"/>
              </a:solidFill>
              <a:effectLst/>
              <a:uFillTx/>
              <a:latin typeface="Arial"/>
            </a:endParaRPr>
          </a:p>
          <a:p>
            <a:pPr defTabSz="914400">
              <a:lnSpc>
                <a:spcPct val="100000"/>
              </a:lnSpc>
              <a:tabLst>
                <a:tab algn="l" pos="0"/>
              </a:tabLst>
            </a:pPr>
            <a:r>
              <a:rPr lang="en-US" sz="1000" b="0" i="1" u="none" strike="noStrike">
                <a:solidFill>
                  <a:srgbClr val="6a6a6a"/>
                </a:solidFill>
                <a:effectLst/>
                <a:uFillTx/>
                <a:latin typeface="Calibri"/>
              </a:rPr>
              <a:t>- Distinguished implemented components from Hop, Airflow, lakehouse and BI extensions.</a:t>
            </a:r>
            <a:endParaRPr lang="en-IN" sz="1000" b="0" u="none" strike="noStrike">
              <a:solidFill>
                <a:srgbClr val="000000"/>
              </a:solidFill>
              <a:effectLst/>
              <a:uFillTx/>
              <a:latin typeface="Arial"/>
            </a:endParaRPr>
          </a:p>
          <a:p>
            <a:pPr defTabSz="914400">
              <a:lnSpc>
                <a:spcPct val="100000"/>
              </a:lnSpc>
              <a:tabLst>
                <a:tab algn="l" pos="0"/>
              </a:tabLst>
            </a:pPr>
            <a:r>
              <a:rPr lang="en-US" sz="1000" b="0" i="1" u="none" strike="noStrike">
                <a:solidFill>
                  <a:srgbClr val="6a6a6a"/>
                </a:solidFill>
                <a:effectLst/>
                <a:uFillTx/>
                <a:latin typeface="Calibri"/>
              </a:rPr>
              <a:t>- Validated an aggregate output and created a Gold-layer dashboard proof.</a:t>
            </a:r>
            <a:endParaRPr lang="en-IN" sz="1000" b="0" u="none" strike="noStrike">
              <a:solidFill>
                <a:srgbClr val="000000"/>
              </a:solidFill>
              <a:effectLst/>
              <a:uFillTx/>
              <a:latin typeface="Arial"/>
            </a:endParaRPr>
          </a:p>
          <a:p>
            <a:pPr defTabSz="914400">
              <a:lnSpc>
                <a:spcPct val="100000"/>
              </a:lnSpc>
              <a:tabLst>
                <a:tab algn="l" pos="0"/>
              </a:tabLst>
            </a:pPr>
            <a:r>
              <a:rPr lang="en-US" sz="1000" b="0" i="1" u="none" strike="noStrike">
                <a:solidFill>
                  <a:srgbClr val="6a6a6a"/>
                </a:solidFill>
                <a:effectLst/>
                <a:uFillTx/>
                <a:latin typeface="Calibri"/>
              </a:rPr>
              <a:t>- Captured operational evidence and a production-readiness review.</a:t>
            </a:r>
            <a:endParaRPr lang="en-IN" sz="1000" b="0" u="none" strike="noStrike">
              <a:solidFill>
                <a:srgbClr val="000000"/>
              </a:solidFill>
              <a:effectLst/>
              <a:uFillTx/>
              <a:latin typeface="Arial"/>
            </a:endParaRPr>
          </a:p>
          <a:p>
            <a:pPr defTabSz="914400">
              <a:lnSpc>
                <a:spcPct val="100000"/>
              </a:lnSpc>
              <a:tabLst>
                <a:tab algn="l" pos="0"/>
              </a:tabLst>
            </a:pPr>
            <a:endParaRPr lang="en-IN" sz="1000" b="0" u="none" strike="noStrike">
              <a:solidFill>
                <a:srgbClr val="000000"/>
              </a:solidFill>
              <a:effectLst/>
              <a:uFillTx/>
              <a:latin typeface="Arial"/>
            </a:endParaRPr>
          </a:p>
          <a:p>
            <a:pPr defTabSz="914400">
              <a:lnSpc>
                <a:spcPct val="100000"/>
              </a:lnSpc>
              <a:tabLst>
                <a:tab algn="l" pos="0"/>
              </a:tabLst>
            </a:pPr>
            <a:r>
              <a:rPr lang="en-US" sz="1000" b="0" i="1" u="none" strike="noStrike">
                <a:solidFill>
                  <a:srgbClr val="6a6a6a"/>
                </a:solidFill>
                <a:effectLst/>
                <a:uFillTx/>
                <a:latin typeface="Calibri"/>
              </a:rPr>
              <a:t>Final submission: architecture, commands/screenshots, metric query/output, dashboard artifact and troubleshooting note.</a:t>
            </a:r>
            <a:endParaRPr lang="en-IN" sz="1000" b="0" u="none" strike="noStrike">
              <a:solidFill>
                <a:srgbClr val="000000"/>
              </a:solidFill>
              <a:effectLst/>
              <a:uFillTx/>
              <a:latin typeface="Arial"/>
            </a:endParaRPr>
          </a:p>
        </p:txBody>
      </p:sp>
      <p:sp>
        <p:nvSpPr>
          <p:cNvPr id="328" name="Text 3"/>
          <p:cNvSpPr/>
          <p:nvPr/>
        </p:nvSpPr>
        <p:spPr>
          <a:xfrm>
            <a:off x="457200" y="6217920"/>
            <a:ext cx="8229240" cy="182520"/>
          </a:xfrm>
          <a:prstGeom prst="rect">
            <a:avLst/>
          </a:prstGeom>
          <a:noFill/>
          <a:ln w="0">
            <a:noFill/>
          </a:ln>
        </p:spPr>
        <p:style>
          <a:lnRef idx="0"/>
          <a:fillRef idx="0"/>
          <a:effectRef idx="0"/>
          <a:fontRef idx="minor"/>
        </p:style>
        <p:txBody>
          <a:bodyPr lIns="0" rIns="0" tIns="0" bIns="0" anchor="ctr">
            <a:noAutofit/>
          </a:bodyPr>
          <a:p>
            <a:pPr defTabSz="914400">
              <a:lnSpc>
                <a:spcPct val="100000"/>
              </a:lnSpc>
              <a:tabLst>
                <a:tab algn="l" pos="0"/>
              </a:tabLst>
            </a:pPr>
            <a:r>
              <a:rPr lang="en-US" sz="600" b="0" u="sng" strike="noStrike">
                <a:solidFill>
                  <a:srgbClr val="0563c1"/>
                </a:solidFill>
                <a:effectLst/>
                <a:uFillTx/>
                <a:latin typeface="Calibri"/>
                <a:hlinkClick r:id="rId1"/>
              </a:rPr>
              <a:t>[1]</a:t>
            </a:r>
            <a:r>
              <a:rPr lang="en-US" sz="600" b="0" u="none" strike="noStrike">
                <a:solidFill>
                  <a:srgbClr val="000000"/>
                </a:solidFill>
                <a:effectLst/>
                <a:uFillTx/>
                <a:latin typeface="Calibri"/>
              </a:rPr>
              <a:t>  </a:t>
            </a:r>
            <a:r>
              <a:rPr lang="en-US" sz="600" b="0" u="sng" strike="noStrike">
                <a:solidFill>
                  <a:srgbClr val="0563c1"/>
                </a:solidFill>
                <a:effectLst/>
                <a:uFillTx/>
                <a:latin typeface="Calibri"/>
                <a:hlinkClick r:id="rId2"/>
              </a:rPr>
              <a:t>[2]</a:t>
            </a:r>
            <a:endParaRPr lang="en-IN" sz="600" b="0" u="none" strike="noStrike">
              <a:solidFill>
                <a:srgbClr val="000000"/>
              </a:solidFill>
              <a:effectLst/>
              <a:uFillTx/>
              <a:latin typeface="Arial"/>
            </a:endParaRPr>
          </a:p>
        </p:txBody>
      </p:sp>
    </p:spTree>
  </p:cSld>
  <mc:AlternateContent>
    <mc:Choice Requires="p14">
      <p:transition spd="slow" p14:dur="2000"/>
    </mc:Choice>
    <mc:Fallback>
      <p:transition spd="slow"/>
    </mc:Fallback>
  </mc:AlternateContent>
</p:sld>
</file>

<file path=ppt/slides/slide2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2194560"/>
            <a:ext cx="8229600" cy="1097280"/>
          </a:xfrm>
          <a:prstGeom prst="rect">
            <a:avLst/>
          </a:prstGeom>
          <a:noFill/>
        </p:spPr>
        <p:txBody>
          <a:bodyPr wrap="square" lIns="45720" rIns="45720" tIns="18288" bIns="18288">
            <a:spAutoFit/>
          </a:bodyPr>
          <a:lstStyle/>
          <a:p>
            <a:r>
              <a:rPr sz="4000" b="1">
                <a:solidFill>
                  <a:srgbClr val="FFFFFF"/>
                </a:solidFill>
              </a:rPr>
              <a:t>Capstone — Business Objectives</a:t>
            </a:r>
          </a:p>
        </p:txBody>
      </p:sp>
      <p:sp>
        <p:nvSpPr>
          <p:cNvPr id="4" name="TextBox 3"/>
          <p:cNvSpPr txBox="1"/>
          <p:nvPr/>
        </p:nvSpPr>
        <p:spPr>
          <a:xfrm>
            <a:off x="457200" y="3291840"/>
            <a:ext cx="8229600" cy="731520"/>
          </a:xfrm>
          <a:prstGeom prst="rect">
            <a:avLst/>
          </a:prstGeom>
          <a:noFill/>
        </p:spPr>
        <p:txBody>
          <a:bodyPr wrap="square" lIns="45720" rIns="45720" tIns="18288" bIns="18288">
            <a:spAutoFit/>
          </a:bodyPr>
          <a:lstStyle/>
          <a:p>
            <a:r>
              <a:rPr sz="1800" b="0">
                <a:solidFill>
                  <a:srgbClr val="CCDDEE"/>
                </a:solidFill>
              </a:rPr>
              <a:t>End-to-end real-time platform on the Day-10 stack</a:t>
            </a:r>
          </a:p>
        </p:txBody>
      </p:sp>
      <p:sp>
        <p:nvSpPr>
          <p:cNvPr id="5" name="TextBox 4"/>
          <p:cNvSpPr txBox="1"/>
          <p:nvPr/>
        </p:nvSpPr>
        <p:spPr>
          <a:xfrm>
            <a:off x="457200" y="4114800"/>
            <a:ext cx="8229600" cy="1828800"/>
          </a:xfrm>
          <a:prstGeom prst="rect">
            <a:avLst/>
          </a:prstGeom>
          <a:noFill/>
        </p:spPr>
        <p:txBody>
          <a:bodyPr wrap="square" lIns="45720" rIns="45720" tIns="18288" bIns="18288">
            <a:spAutoFit/>
          </a:bodyPr>
          <a:lstStyle/>
          <a:p>
            <a:r>
              <a:rPr sz="1800" b="0">
                <a:solidFill>
                  <a:srgbClr val="FFFFFF"/>
                </a:solidFill>
              </a:rPr>
              <a:t>1.  Designing End-to-End Architecture</a:t>
            </a:r>
          </a:p>
          <a:p>
            <a:r>
              <a:rPr sz="1800" b="0">
                <a:solidFill>
                  <a:srgbClr val="FFFFFF"/>
                </a:solidFill>
              </a:rPr>
              <a:t>2.  Integrating Debezium, Kafka, Hop, Airflow</a:t>
            </a:r>
          </a:p>
          <a:p>
            <a:r>
              <a:rPr sz="1800" b="0">
                <a:solidFill>
                  <a:srgbClr val="FFFFFF"/>
                </a:solidFill>
              </a:rPr>
              <a:t>3.  Building a Real-Time Data Pipeline</a:t>
            </a:r>
          </a:p>
          <a:p>
            <a:r>
              <a:rPr sz="1800" b="0">
                <a:solidFill>
                  <a:srgbClr val="FFFFFF"/>
                </a:solidFill>
              </a:rPr>
              <a:t>4.  Deployment and Best Practices</a:t>
            </a:r>
          </a:p>
        </p:txBody>
      </p:sp>
    </p:spTree>
  </p:cSld>
  <p:clrMapOvr>
    <a:masterClrMapping/>
  </p:clrMapOvr>
</p:sld>
</file>

<file path=ppt/slides/slide2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412480" cy="502920"/>
          </a:xfrm>
          <a:prstGeom prst="rect">
            <a:avLst/>
          </a:prstGeom>
          <a:noFill/>
        </p:spPr>
        <p:txBody>
          <a:bodyPr wrap="square" lIns="45720" rIns="45720" tIns="18288" bIns="18288">
            <a:spAutoFit/>
          </a:bodyPr>
          <a:lstStyle/>
          <a:p>
            <a:r>
              <a:rPr sz="2400" b="1">
                <a:solidFill>
                  <a:srgbClr val="FFFFFF"/>
                </a:solidFill>
              </a:rPr>
              <a:t>1. Designing End-to-End Architecture</a:t>
            </a:r>
          </a:p>
        </p:txBody>
      </p:sp>
      <p:sp>
        <p:nvSpPr>
          <p:cNvPr id="4" name="TextBox 3"/>
          <p:cNvSpPr txBox="1"/>
          <p:nvPr/>
        </p:nvSpPr>
        <p:spPr>
          <a:xfrm>
            <a:off x="365760" y="502920"/>
            <a:ext cx="8412480" cy="320040"/>
          </a:xfrm>
          <a:prstGeom prst="rect">
            <a:avLst/>
          </a:prstGeom>
          <a:noFill/>
        </p:spPr>
        <p:txBody>
          <a:bodyPr wrap="square" lIns="45720" rIns="45720" tIns="18288" bIns="18288">
            <a:spAutoFit/>
          </a:bodyPr>
          <a:lstStyle/>
          <a:p>
            <a:r>
              <a:rPr sz="1200" b="0">
                <a:solidFill>
                  <a:srgbClr val="CCDDEE"/>
                </a:solidFill>
              </a:rPr>
              <a:t>Three real public streams + Postgres CDC → medallion on MinIO → dashboards</a:t>
            </a:r>
          </a:p>
        </p:txBody>
      </p:sp>
      <p:sp>
        <p:nvSpPr>
          <p:cNvPr id="5" name="TextBox 4"/>
          <p:cNvSpPr txBox="1"/>
          <p:nvPr/>
        </p:nvSpPr>
        <p:spPr>
          <a:xfrm>
            <a:off x="365760" y="960120"/>
            <a:ext cx="4206240" cy="365760"/>
          </a:xfrm>
          <a:prstGeom prst="rect">
            <a:avLst/>
          </a:prstGeom>
          <a:noFill/>
        </p:spPr>
        <p:txBody>
          <a:bodyPr wrap="square" lIns="45720" rIns="45720" tIns="18288" bIns="18288">
            <a:spAutoFit/>
          </a:bodyPr>
          <a:lstStyle/>
          <a:p>
            <a:r>
              <a:rPr sz="1500" b="1">
                <a:solidFill>
                  <a:srgbClr val="1F77B4"/>
                </a:solidFill>
              </a:rPr>
              <a:t>Design pillars</a:t>
            </a:r>
          </a:p>
        </p:txBody>
      </p:sp>
      <p:sp>
        <p:nvSpPr>
          <p:cNvPr id="6" name="TextBox 5"/>
          <p:cNvSpPr txBox="1"/>
          <p:nvPr/>
        </p:nvSpPr>
        <p:spPr>
          <a:xfrm>
            <a:off x="365760" y="1325880"/>
            <a:ext cx="4297680" cy="5029200"/>
          </a:xfrm>
          <a:prstGeom prst="rect">
            <a:avLst/>
          </a:prstGeom>
          <a:noFill/>
        </p:spPr>
        <p:txBody>
          <a:bodyPr wrap="square">
            <a:spAutoFit/>
          </a:bodyPr>
          <a:lstStyle/>
          <a:p>
            <a:pPr>
              <a:spcAft>
                <a:spcPts val="400"/>
              </a:spcAft>
            </a:pPr>
            <a:r>
              <a:rPr sz="1200">
                <a:solidFill>
                  <a:srgbClr val="0B2A4A"/>
                </a:solidFill>
              </a:rPr>
              <a:t>• Real streams, not simulators — OGN APRS (TCP), NOAA REST, EMSC WebSocket each exercise a different ingestion pattern.</a:t>
            </a:r>
          </a:p>
          <a:p>
            <a:pPr>
              <a:spcAft>
                <a:spcPts val="400"/>
              </a:spcAft>
            </a:pPr>
            <a:r>
              <a:rPr sz="1200">
                <a:solidFill>
                  <a:srgbClr val="0B2A4A"/>
                </a:solidFill>
              </a:rPr>
              <a:t>• CDC where CDC belongs — Postgres holds only config: regions, alert thresholds, subscriber watchlist. Debezium streams changes so consumers reload without restart.</a:t>
            </a:r>
          </a:p>
          <a:p>
            <a:pPr>
              <a:spcAft>
                <a:spcPts val="400"/>
              </a:spcAft>
            </a:pPr>
            <a:r>
              <a:rPr sz="1200">
                <a:solidFill>
                  <a:srgbClr val="0B2A4A"/>
                </a:solidFill>
              </a:rPr>
              <a:t>• Medallion in object storage — Avro at bronze + silver (schema-bound), Parquet at gold (analytic-friendly).</a:t>
            </a:r>
          </a:p>
          <a:p>
            <a:pPr>
              <a:spcAft>
                <a:spcPts val="400"/>
              </a:spcAft>
            </a:pPr>
            <a:r>
              <a:rPr sz="1200">
                <a:solidFill>
                  <a:srgbClr val="0B2A4A"/>
                </a:solidFill>
              </a:rPr>
              <a:t>• Hop is the canonical engine; Python is the executable spec — .hpl / .hwf openable in Hop GUI, Python equivalents run from Airflow so tests don't need a GUI.</a:t>
            </a:r>
          </a:p>
          <a:p>
            <a:pPr>
              <a:spcAft>
                <a:spcPts val="400"/>
              </a:spcAft>
            </a:pPr>
            <a:r>
              <a:rPr sz="1200">
                <a:solidFill>
                  <a:srgbClr val="0B2A4A"/>
                </a:solidFill>
              </a:rPr>
              <a:t>• Two dashboards, two audiences — quality for DataOps, business for mart consumers.</a:t>
            </a:r>
          </a:p>
          <a:p>
            <a:pPr>
              <a:spcAft>
                <a:spcPts val="400"/>
              </a:spcAft>
            </a:pPr>
            <a:r>
              <a:rPr sz="1200">
                <a:solidFill>
                  <a:srgbClr val="0B2A4A"/>
                </a:solidFill>
              </a:rPr>
              <a:t>• Everything observable — Prometheus scrapes Kafka JMX, Postgres, MinIO, Connect, both dashboards. Alertmanager routes alerts back into the quality dashboard.</a:t>
            </a:r>
          </a:p>
        </p:txBody>
      </p:sp>
      <p:sp>
        <p:nvSpPr>
          <p:cNvPr id="7" name="TextBox 6"/>
          <p:cNvSpPr txBox="1"/>
          <p:nvPr/>
        </p:nvSpPr>
        <p:spPr>
          <a:xfrm>
            <a:off x="4937760" y="960120"/>
            <a:ext cx="4023360" cy="365760"/>
          </a:xfrm>
          <a:prstGeom prst="rect">
            <a:avLst/>
          </a:prstGeom>
          <a:noFill/>
        </p:spPr>
        <p:txBody>
          <a:bodyPr wrap="square" lIns="45720" rIns="45720" tIns="18288" bIns="18288">
            <a:spAutoFit/>
          </a:bodyPr>
          <a:lstStyle/>
          <a:p>
            <a:r>
              <a:rPr sz="1500" b="1">
                <a:solidFill>
                  <a:srgbClr val="1F77B4"/>
                </a:solidFill>
              </a:rPr>
              <a:t>Logical flow</a:t>
            </a:r>
          </a:p>
        </p:txBody>
      </p:sp>
      <p:sp>
        <p:nvSpPr>
          <p:cNvPr id="8" name="Rectangle 7"/>
          <p:cNvSpPr/>
          <p:nvPr/>
        </p:nvSpPr>
        <p:spPr>
          <a:xfrm>
            <a:off x="4937760" y="1325880"/>
            <a:ext cx="4023360" cy="4114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074920" y="1399032"/>
            <a:ext cx="3749040" cy="274320"/>
          </a:xfrm>
          <a:prstGeom prst="rect">
            <a:avLst/>
          </a:prstGeom>
          <a:noFill/>
        </p:spPr>
        <p:txBody>
          <a:bodyPr wrap="square" lIns="45720" rIns="45720" tIns="18288" bIns="18288">
            <a:spAutoFit/>
          </a:bodyPr>
          <a:lstStyle/>
          <a:p>
            <a:r>
              <a:rPr sz="1200" b="1">
                <a:solidFill>
                  <a:srgbClr val="0B2A4A"/>
                </a:solidFill>
              </a:rPr>
              <a:t>Sources: OGN  /  NOAA  /  EMSC  /  config-db</a:t>
            </a:r>
          </a:p>
        </p:txBody>
      </p:sp>
      <p:sp>
        <p:nvSpPr>
          <p:cNvPr id="10" name="TextBox 9"/>
          <p:cNvSpPr txBox="1"/>
          <p:nvPr/>
        </p:nvSpPr>
        <p:spPr>
          <a:xfrm>
            <a:off x="4937760" y="1737360"/>
            <a:ext cx="4023360" cy="201168"/>
          </a:xfrm>
          <a:prstGeom prst="rect">
            <a:avLst/>
          </a:prstGeom>
          <a:noFill/>
        </p:spPr>
        <p:txBody>
          <a:bodyPr wrap="square" lIns="45720" rIns="45720" tIns="18288" bIns="18288">
            <a:spAutoFit/>
          </a:bodyPr>
          <a:lstStyle/>
          <a:p>
            <a:r>
              <a:rPr sz="1200" b="0">
                <a:solidFill>
                  <a:srgbClr val="555555"/>
                </a:solidFill>
              </a:rPr>
              <a:t>▼</a:t>
            </a:r>
          </a:p>
        </p:txBody>
      </p:sp>
      <p:sp>
        <p:nvSpPr>
          <p:cNvPr id="11" name="Rectangle 10"/>
          <p:cNvSpPr/>
          <p:nvPr/>
        </p:nvSpPr>
        <p:spPr>
          <a:xfrm>
            <a:off x="4937760" y="1938528"/>
            <a:ext cx="4023360" cy="4114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74920" y="2011680"/>
            <a:ext cx="3749040" cy="274320"/>
          </a:xfrm>
          <a:prstGeom prst="rect">
            <a:avLst/>
          </a:prstGeom>
          <a:noFill/>
        </p:spPr>
        <p:txBody>
          <a:bodyPr wrap="square" lIns="45720" rIns="45720" tIns="18288" bIns="18288">
            <a:spAutoFit/>
          </a:bodyPr>
          <a:lstStyle/>
          <a:p>
            <a:r>
              <a:rPr sz="1200" b="1">
                <a:solidFill>
                  <a:srgbClr val="0B2A4A"/>
                </a:solidFill>
              </a:rPr>
              <a:t>Kafka topics  +  Schema Registry (Avro)</a:t>
            </a:r>
          </a:p>
        </p:txBody>
      </p:sp>
      <p:sp>
        <p:nvSpPr>
          <p:cNvPr id="13" name="TextBox 12"/>
          <p:cNvSpPr txBox="1"/>
          <p:nvPr/>
        </p:nvSpPr>
        <p:spPr>
          <a:xfrm>
            <a:off x="4937760" y="2350008"/>
            <a:ext cx="4023360" cy="201168"/>
          </a:xfrm>
          <a:prstGeom prst="rect">
            <a:avLst/>
          </a:prstGeom>
          <a:noFill/>
        </p:spPr>
        <p:txBody>
          <a:bodyPr wrap="square" lIns="45720" rIns="45720" tIns="18288" bIns="18288">
            <a:spAutoFit/>
          </a:bodyPr>
          <a:lstStyle/>
          <a:p>
            <a:r>
              <a:rPr sz="1200" b="0">
                <a:solidFill>
                  <a:srgbClr val="555555"/>
                </a:solidFill>
              </a:rPr>
              <a:t>▼</a:t>
            </a:r>
          </a:p>
        </p:txBody>
      </p:sp>
      <p:sp>
        <p:nvSpPr>
          <p:cNvPr id="14" name="Rectangle 13"/>
          <p:cNvSpPr/>
          <p:nvPr/>
        </p:nvSpPr>
        <p:spPr>
          <a:xfrm>
            <a:off x="4937760" y="2551176"/>
            <a:ext cx="4023360" cy="4114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074920" y="2624328"/>
            <a:ext cx="3749040" cy="274320"/>
          </a:xfrm>
          <a:prstGeom prst="rect">
            <a:avLst/>
          </a:prstGeom>
          <a:noFill/>
        </p:spPr>
        <p:txBody>
          <a:bodyPr wrap="square" lIns="45720" rIns="45720" tIns="18288" bIns="18288">
            <a:spAutoFit/>
          </a:bodyPr>
          <a:lstStyle/>
          <a:p>
            <a:r>
              <a:rPr sz="1200" b="1">
                <a:solidFill>
                  <a:srgbClr val="0B2A4A"/>
                </a:solidFill>
              </a:rPr>
              <a:t>Kafka Connect: Debezium PG  +  2× S3 sink</a:t>
            </a:r>
          </a:p>
        </p:txBody>
      </p:sp>
      <p:sp>
        <p:nvSpPr>
          <p:cNvPr id="16" name="TextBox 15"/>
          <p:cNvSpPr txBox="1"/>
          <p:nvPr/>
        </p:nvSpPr>
        <p:spPr>
          <a:xfrm>
            <a:off x="4937760" y="2962656"/>
            <a:ext cx="4023360" cy="201168"/>
          </a:xfrm>
          <a:prstGeom prst="rect">
            <a:avLst/>
          </a:prstGeom>
          <a:noFill/>
        </p:spPr>
        <p:txBody>
          <a:bodyPr wrap="square" lIns="45720" rIns="45720" tIns="18288" bIns="18288">
            <a:spAutoFit/>
          </a:bodyPr>
          <a:lstStyle/>
          <a:p>
            <a:r>
              <a:rPr sz="1200" b="0">
                <a:solidFill>
                  <a:srgbClr val="555555"/>
                </a:solidFill>
              </a:rPr>
              <a:t>▼</a:t>
            </a:r>
          </a:p>
        </p:txBody>
      </p:sp>
      <p:sp>
        <p:nvSpPr>
          <p:cNvPr id="17" name="Rectangle 16"/>
          <p:cNvSpPr/>
          <p:nvPr/>
        </p:nvSpPr>
        <p:spPr>
          <a:xfrm>
            <a:off x="4937760" y="3163824"/>
            <a:ext cx="4023360" cy="4114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74920" y="3236976"/>
            <a:ext cx="3749040" cy="274320"/>
          </a:xfrm>
          <a:prstGeom prst="rect">
            <a:avLst/>
          </a:prstGeom>
          <a:noFill/>
        </p:spPr>
        <p:txBody>
          <a:bodyPr wrap="square" lIns="45720" rIns="45720" tIns="18288" bIns="18288">
            <a:spAutoFit/>
          </a:bodyPr>
          <a:lstStyle/>
          <a:p>
            <a:r>
              <a:rPr sz="1200" b="1">
                <a:solidFill>
                  <a:srgbClr val="0B2A4A"/>
                </a:solidFill>
              </a:rPr>
              <a:t>Bronze (Avro, hourly partitions in MinIO)</a:t>
            </a:r>
          </a:p>
        </p:txBody>
      </p:sp>
      <p:sp>
        <p:nvSpPr>
          <p:cNvPr id="19" name="TextBox 18"/>
          <p:cNvSpPr txBox="1"/>
          <p:nvPr/>
        </p:nvSpPr>
        <p:spPr>
          <a:xfrm>
            <a:off x="4937760" y="3575304"/>
            <a:ext cx="4023360" cy="201168"/>
          </a:xfrm>
          <a:prstGeom prst="rect">
            <a:avLst/>
          </a:prstGeom>
          <a:noFill/>
        </p:spPr>
        <p:txBody>
          <a:bodyPr wrap="square" lIns="45720" rIns="45720" tIns="18288" bIns="18288">
            <a:spAutoFit/>
          </a:bodyPr>
          <a:lstStyle/>
          <a:p>
            <a:r>
              <a:rPr sz="1200" b="0">
                <a:solidFill>
                  <a:srgbClr val="555555"/>
                </a:solidFill>
              </a:rPr>
              <a:t>▼</a:t>
            </a:r>
          </a:p>
        </p:txBody>
      </p:sp>
      <p:sp>
        <p:nvSpPr>
          <p:cNvPr id="20" name="Rectangle 19"/>
          <p:cNvSpPr/>
          <p:nvPr/>
        </p:nvSpPr>
        <p:spPr>
          <a:xfrm>
            <a:off x="4937760" y="3776472"/>
            <a:ext cx="4023360" cy="4114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074920" y="3849624"/>
            <a:ext cx="3749040" cy="274320"/>
          </a:xfrm>
          <a:prstGeom prst="rect">
            <a:avLst/>
          </a:prstGeom>
          <a:noFill/>
        </p:spPr>
        <p:txBody>
          <a:bodyPr wrap="square" lIns="45720" rIns="45720" tIns="18288" bIns="18288">
            <a:spAutoFit/>
          </a:bodyPr>
          <a:lstStyle/>
          <a:p>
            <a:r>
              <a:rPr sz="1200" b="1">
                <a:solidFill>
                  <a:srgbClr val="0B2A4A"/>
                </a:solidFill>
              </a:rPr>
              <a:t>Silver (Hop/Python: dedupe, late filter, audit)</a:t>
            </a:r>
          </a:p>
        </p:txBody>
      </p:sp>
      <p:sp>
        <p:nvSpPr>
          <p:cNvPr id="22" name="TextBox 21"/>
          <p:cNvSpPr txBox="1"/>
          <p:nvPr/>
        </p:nvSpPr>
        <p:spPr>
          <a:xfrm>
            <a:off x="4937760" y="4187952"/>
            <a:ext cx="4023360" cy="201168"/>
          </a:xfrm>
          <a:prstGeom prst="rect">
            <a:avLst/>
          </a:prstGeom>
          <a:noFill/>
        </p:spPr>
        <p:txBody>
          <a:bodyPr wrap="square" lIns="45720" rIns="45720" tIns="18288" bIns="18288">
            <a:spAutoFit/>
          </a:bodyPr>
          <a:lstStyle/>
          <a:p>
            <a:r>
              <a:rPr sz="1200" b="0">
                <a:solidFill>
                  <a:srgbClr val="555555"/>
                </a:solidFill>
              </a:rPr>
              <a:t>▼</a:t>
            </a:r>
          </a:p>
        </p:txBody>
      </p:sp>
      <p:sp>
        <p:nvSpPr>
          <p:cNvPr id="23" name="Rectangle 22"/>
          <p:cNvSpPr/>
          <p:nvPr/>
        </p:nvSpPr>
        <p:spPr>
          <a:xfrm>
            <a:off x="4937760" y="4389120"/>
            <a:ext cx="4023360" cy="4114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074920" y="4462272"/>
            <a:ext cx="3749040" cy="274320"/>
          </a:xfrm>
          <a:prstGeom prst="rect">
            <a:avLst/>
          </a:prstGeom>
          <a:noFill/>
        </p:spPr>
        <p:txBody>
          <a:bodyPr wrap="square" lIns="45720" rIns="45720" tIns="18288" bIns="18288">
            <a:spAutoFit/>
          </a:bodyPr>
          <a:lstStyle/>
          <a:p>
            <a:r>
              <a:rPr sz="1200" b="1">
                <a:solidFill>
                  <a:srgbClr val="0B2A4A"/>
                </a:solidFill>
              </a:rPr>
              <a:t>Gold (DuckDB → 4 Parquet marts + latest.parquet)</a:t>
            </a:r>
          </a:p>
        </p:txBody>
      </p:sp>
      <p:sp>
        <p:nvSpPr>
          <p:cNvPr id="25" name="TextBox 24"/>
          <p:cNvSpPr txBox="1"/>
          <p:nvPr/>
        </p:nvSpPr>
        <p:spPr>
          <a:xfrm>
            <a:off x="4937760" y="4800600"/>
            <a:ext cx="4023360" cy="201168"/>
          </a:xfrm>
          <a:prstGeom prst="rect">
            <a:avLst/>
          </a:prstGeom>
          <a:noFill/>
        </p:spPr>
        <p:txBody>
          <a:bodyPr wrap="square" lIns="45720" rIns="45720" tIns="18288" bIns="18288">
            <a:spAutoFit/>
          </a:bodyPr>
          <a:lstStyle/>
          <a:p>
            <a:r>
              <a:rPr sz="1200" b="0">
                <a:solidFill>
                  <a:srgbClr val="555555"/>
                </a:solidFill>
              </a:rPr>
              <a:t>▼</a:t>
            </a:r>
          </a:p>
        </p:txBody>
      </p:sp>
      <p:sp>
        <p:nvSpPr>
          <p:cNvPr id="26" name="Rectangle 25"/>
          <p:cNvSpPr/>
          <p:nvPr/>
        </p:nvSpPr>
        <p:spPr>
          <a:xfrm>
            <a:off x="4937760" y="5001768"/>
            <a:ext cx="4023360" cy="4114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074920" y="5074920"/>
            <a:ext cx="3749040" cy="274320"/>
          </a:xfrm>
          <a:prstGeom prst="rect">
            <a:avLst/>
          </a:prstGeom>
          <a:noFill/>
        </p:spPr>
        <p:txBody>
          <a:bodyPr wrap="square" lIns="45720" rIns="45720" tIns="18288" bIns="18288">
            <a:spAutoFit/>
          </a:bodyPr>
          <a:lstStyle/>
          <a:p>
            <a:r>
              <a:rPr sz="1200" b="1">
                <a:solidFill>
                  <a:srgbClr val="0B2A4A"/>
                </a:solidFill>
              </a:rPr>
              <a:t>Dashboards: quality / business / live map</a:t>
            </a:r>
          </a:p>
        </p:txBody>
      </p:sp>
    </p:spTree>
  </p:cSld>
  <p:clrMapOvr>
    <a:masterClrMapping/>
  </p:clrMapOvr>
</p:sld>
</file>

<file path=ppt/slides/slide2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412480" cy="502920"/>
          </a:xfrm>
          <a:prstGeom prst="rect">
            <a:avLst/>
          </a:prstGeom>
          <a:noFill/>
        </p:spPr>
        <p:txBody>
          <a:bodyPr wrap="square" lIns="45720" rIns="45720" tIns="18288" bIns="18288">
            <a:spAutoFit/>
          </a:bodyPr>
          <a:lstStyle/>
          <a:p>
            <a:r>
              <a:rPr sz="2400" b="1">
                <a:solidFill>
                  <a:srgbClr val="FFFFFF"/>
                </a:solidFill>
              </a:rPr>
              <a:t>2. Integrating Debezium, Kafka, Hop, Airflow</a:t>
            </a:r>
          </a:p>
        </p:txBody>
      </p:sp>
      <p:sp>
        <p:nvSpPr>
          <p:cNvPr id="4" name="TextBox 3"/>
          <p:cNvSpPr txBox="1"/>
          <p:nvPr/>
        </p:nvSpPr>
        <p:spPr>
          <a:xfrm>
            <a:off x="365760" y="502920"/>
            <a:ext cx="8412480" cy="320040"/>
          </a:xfrm>
          <a:prstGeom prst="rect">
            <a:avLst/>
          </a:prstGeom>
          <a:noFill/>
        </p:spPr>
        <p:txBody>
          <a:bodyPr wrap="square" lIns="45720" rIns="45720" tIns="18288" bIns="18288">
            <a:spAutoFit/>
          </a:bodyPr>
          <a:lstStyle/>
          <a:p>
            <a:r>
              <a:rPr sz="1200" b="0">
                <a:solidFill>
                  <a:srgbClr val="CCDDEE"/>
                </a:solidFill>
              </a:rPr>
              <a:t>Each tool owns one job; contracts (Avro + topic naming + DAG names) glue them together</a:t>
            </a:r>
          </a:p>
        </p:txBody>
      </p:sp>
      <p:sp>
        <p:nvSpPr>
          <p:cNvPr id="5" name="Rectangle 4"/>
          <p:cNvSpPr/>
          <p:nvPr/>
        </p:nvSpPr>
        <p:spPr>
          <a:xfrm>
            <a:off x="365760" y="960120"/>
            <a:ext cx="4297680" cy="384048"/>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14984"/>
            <a:ext cx="4023360" cy="274320"/>
          </a:xfrm>
          <a:prstGeom prst="rect">
            <a:avLst/>
          </a:prstGeom>
          <a:noFill/>
        </p:spPr>
        <p:txBody>
          <a:bodyPr wrap="square" lIns="45720" rIns="45720" tIns="18288" bIns="18288">
            <a:spAutoFit/>
          </a:bodyPr>
          <a:lstStyle/>
          <a:p>
            <a:r>
              <a:rPr sz="1400" b="1">
                <a:solidFill>
                  <a:srgbClr val="FFFFFF"/>
                </a:solidFill>
              </a:rPr>
              <a:t>Debezium</a:t>
            </a:r>
          </a:p>
        </p:txBody>
      </p:sp>
      <p:sp>
        <p:nvSpPr>
          <p:cNvPr id="7" name="Rectangle 6"/>
          <p:cNvSpPr/>
          <p:nvPr/>
        </p:nvSpPr>
        <p:spPr>
          <a:xfrm>
            <a:off x="365760" y="1344168"/>
            <a:ext cx="4297680" cy="2084832"/>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17320"/>
            <a:ext cx="4023360" cy="1965960"/>
          </a:xfrm>
          <a:prstGeom prst="rect">
            <a:avLst/>
          </a:prstGeom>
          <a:noFill/>
        </p:spPr>
        <p:txBody>
          <a:bodyPr wrap="square">
            <a:spAutoFit/>
          </a:bodyPr>
          <a:lstStyle/>
          <a:p>
            <a:pPr>
              <a:spcAft>
                <a:spcPts val="400"/>
              </a:spcAft>
            </a:pPr>
            <a:r>
              <a:rPr sz="1100">
                <a:solidFill>
                  <a:srgbClr val="0B2A4A"/>
                </a:solidFill>
              </a:rPr>
              <a:t>• Source: config-db (Postgres 15, wal_level=logical) via pgoutput.</a:t>
            </a:r>
          </a:p>
          <a:p>
            <a:pPr>
              <a:spcAft>
                <a:spcPts val="400"/>
              </a:spcAft>
            </a:pPr>
            <a:r>
              <a:rPr sz="1100">
                <a:solidFill>
                  <a:srgbClr val="0B2A4A"/>
                </a:solidFill>
              </a:rPr>
              <a:t>• Topics: config.public.regions / alert_thresholds / subscriber_watchlist.</a:t>
            </a:r>
          </a:p>
          <a:p>
            <a:pPr>
              <a:spcAft>
                <a:spcPts val="400"/>
              </a:spcAft>
            </a:pPr>
            <a:r>
              <a:rPr sz="1100">
                <a:solidFill>
                  <a:srgbClr val="0B2A4A"/>
                </a:solidFill>
              </a:rPr>
              <a:t>• Heartbeat topic + DLQ (dlq.config-source) for poison events.</a:t>
            </a:r>
          </a:p>
          <a:p>
            <a:pPr>
              <a:spcAft>
                <a:spcPts val="400"/>
              </a:spcAft>
            </a:pPr>
            <a:r>
              <a:rPr sz="1100">
                <a:solidFill>
                  <a:srgbClr val="0B2A4A"/>
                </a:solidFill>
              </a:rPr>
              <a:t>• Pinned to debezium-connector-postgres 2.5.4.Final.</a:t>
            </a:r>
          </a:p>
        </p:txBody>
      </p:sp>
      <p:sp>
        <p:nvSpPr>
          <p:cNvPr id="9" name="Rectangle 8"/>
          <p:cNvSpPr/>
          <p:nvPr/>
        </p:nvSpPr>
        <p:spPr>
          <a:xfrm>
            <a:off x="4754880" y="960120"/>
            <a:ext cx="4297680" cy="384048"/>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892040" y="1014984"/>
            <a:ext cx="4023360" cy="274320"/>
          </a:xfrm>
          <a:prstGeom prst="rect">
            <a:avLst/>
          </a:prstGeom>
          <a:noFill/>
        </p:spPr>
        <p:txBody>
          <a:bodyPr wrap="square" lIns="45720" rIns="45720" tIns="18288" bIns="18288">
            <a:spAutoFit/>
          </a:bodyPr>
          <a:lstStyle/>
          <a:p>
            <a:r>
              <a:rPr sz="1400" b="1">
                <a:solidFill>
                  <a:srgbClr val="FFFFFF"/>
                </a:solidFill>
              </a:rPr>
              <a:t>Kafka + Connect</a:t>
            </a:r>
          </a:p>
        </p:txBody>
      </p:sp>
      <p:sp>
        <p:nvSpPr>
          <p:cNvPr id="11" name="Rectangle 10"/>
          <p:cNvSpPr/>
          <p:nvPr/>
        </p:nvSpPr>
        <p:spPr>
          <a:xfrm>
            <a:off x="4754880" y="1344168"/>
            <a:ext cx="4297680" cy="2084832"/>
          </a:xfrm>
          <a:prstGeom prst="rect">
            <a:avLst/>
          </a:prstGeom>
          <a:solidFill>
            <a:srgbClr val="F1F5F9"/>
          </a:solidFill>
          <a:ln>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892040" y="1417320"/>
            <a:ext cx="4023360" cy="1965960"/>
          </a:xfrm>
          <a:prstGeom prst="rect">
            <a:avLst/>
          </a:prstGeom>
          <a:noFill/>
        </p:spPr>
        <p:txBody>
          <a:bodyPr wrap="square">
            <a:spAutoFit/>
          </a:bodyPr>
          <a:lstStyle/>
          <a:p>
            <a:pPr>
              <a:spcAft>
                <a:spcPts val="400"/>
              </a:spcAft>
            </a:pPr>
            <a:r>
              <a:rPr sz="1100">
                <a:solidFill>
                  <a:srgbClr val="0B2A4A"/>
                </a:solidFill>
              </a:rPr>
              <a:t>• 4 stream topics (ogn / noaa.observations / noaa.alerts / seismic) + Debezium CDC topics.</a:t>
            </a:r>
          </a:p>
          <a:p>
            <a:pPr>
              <a:spcAft>
                <a:spcPts val="400"/>
              </a:spcAft>
            </a:pPr>
            <a:r>
              <a:rPr sz="1100">
                <a:solidFill>
                  <a:srgbClr val="0B2A4A"/>
                </a:solidFill>
              </a:rPr>
              <a:t>• Schema Registry holds Avro subjects, BACKWARD compatibility.</a:t>
            </a:r>
          </a:p>
          <a:p>
            <a:pPr>
              <a:spcAft>
                <a:spcPts val="400"/>
              </a:spcAft>
            </a:pPr>
            <a:r>
              <a:rPr sz="1100">
                <a:solidFill>
                  <a:srgbClr val="0B2A4A"/>
                </a:solidFill>
              </a:rPr>
              <a:t>• 2× S3 sink (one for CDC, one for streams) writes to s3://bronze/&lt;topic&gt;/year=…/hour=…</a:t>
            </a:r>
          </a:p>
          <a:p>
            <a:pPr>
              <a:spcAft>
                <a:spcPts val="400"/>
              </a:spcAft>
            </a:pPr>
            <a:r>
              <a:rPr sz="1100">
                <a:solidFill>
                  <a:srgbClr val="0B2A4A"/>
                </a:solidFill>
              </a:rPr>
              <a:t>• JMX → :9404 for Prometheus.</a:t>
            </a:r>
          </a:p>
        </p:txBody>
      </p:sp>
      <p:sp>
        <p:nvSpPr>
          <p:cNvPr id="13" name="Rectangle 12"/>
          <p:cNvSpPr/>
          <p:nvPr/>
        </p:nvSpPr>
        <p:spPr>
          <a:xfrm>
            <a:off x="365760" y="3611880"/>
            <a:ext cx="4297680" cy="384048"/>
          </a:xfrm>
          <a:prstGeom prst="rect">
            <a:avLst/>
          </a:prstGeom>
          <a:solidFill>
            <a:srgbClr val="D6282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666744"/>
            <a:ext cx="4023360" cy="274320"/>
          </a:xfrm>
          <a:prstGeom prst="rect">
            <a:avLst/>
          </a:prstGeom>
          <a:noFill/>
        </p:spPr>
        <p:txBody>
          <a:bodyPr wrap="square" lIns="45720" rIns="45720" tIns="18288" bIns="18288">
            <a:spAutoFit/>
          </a:bodyPr>
          <a:lstStyle/>
          <a:p>
            <a:r>
              <a:rPr sz="1400" b="1">
                <a:solidFill>
                  <a:srgbClr val="FFFFFF"/>
                </a:solidFill>
              </a:rPr>
              <a:t>Apache Hop</a:t>
            </a:r>
          </a:p>
        </p:txBody>
      </p:sp>
      <p:sp>
        <p:nvSpPr>
          <p:cNvPr id="15" name="Rectangle 14"/>
          <p:cNvSpPr/>
          <p:nvPr/>
        </p:nvSpPr>
        <p:spPr>
          <a:xfrm>
            <a:off x="365760" y="3995928"/>
            <a:ext cx="4297680" cy="2084832"/>
          </a:xfrm>
          <a:prstGeom prst="rect">
            <a:avLst/>
          </a:prstGeom>
          <a:solidFill>
            <a:srgbClr val="F1F5F9"/>
          </a:solidFill>
          <a:ln>
            <a:solidFill>
              <a:srgbClr val="D62828"/>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069080"/>
            <a:ext cx="4023360" cy="1965960"/>
          </a:xfrm>
          <a:prstGeom prst="rect">
            <a:avLst/>
          </a:prstGeom>
          <a:noFill/>
        </p:spPr>
        <p:txBody>
          <a:bodyPr wrap="square">
            <a:spAutoFit/>
          </a:bodyPr>
          <a:lstStyle/>
          <a:p>
            <a:pPr>
              <a:spcAft>
                <a:spcPts val="400"/>
              </a:spcAft>
            </a:pPr>
            <a:r>
              <a:rPr sz="1100">
                <a:solidFill>
                  <a:srgbClr val="0B2A4A"/>
                </a:solidFill>
              </a:rPr>
              <a:t>• Canonical pipelines in .hpl / .hwf (openable in Hop GUI).</a:t>
            </a:r>
          </a:p>
          <a:p>
            <a:pPr>
              <a:spcAft>
                <a:spcPts val="400"/>
              </a:spcAft>
            </a:pPr>
            <a:r>
              <a:rPr sz="1100">
                <a:solidFill>
                  <a:srgbClr val="0B2A4A"/>
                </a:solidFill>
              </a:rPr>
              <a:t>• bronze_to_silver.py: dedupe on PK, drop events older than max(ts_ms)−24h, write _quality audit.</a:t>
            </a:r>
          </a:p>
          <a:p>
            <a:pPr>
              <a:spcAft>
                <a:spcPts val="400"/>
              </a:spcAft>
            </a:pPr>
            <a:r>
              <a:rPr sz="1100">
                <a:solidFill>
                  <a:srgbClr val="0B2A4A"/>
                </a:solidFill>
              </a:rPr>
              <a:t>• silver_to_gold.py: DuckDB over silver Avro → 4 Parquet marts (snapshot + latest).</a:t>
            </a:r>
          </a:p>
          <a:p>
            <a:pPr>
              <a:spcAft>
                <a:spcPts val="400"/>
              </a:spcAft>
            </a:pPr>
            <a:r>
              <a:rPr sz="1100">
                <a:solidFill>
                  <a:srgbClr val="0B2A4A"/>
                </a:solidFill>
              </a:rPr>
              <a:t>• Python reference transforms run from Airflow without the GUI.</a:t>
            </a:r>
          </a:p>
        </p:txBody>
      </p:sp>
      <p:sp>
        <p:nvSpPr>
          <p:cNvPr id="17" name="Rectangle 16"/>
          <p:cNvSpPr/>
          <p:nvPr/>
        </p:nvSpPr>
        <p:spPr>
          <a:xfrm>
            <a:off x="4754880" y="3611880"/>
            <a:ext cx="4297680" cy="384048"/>
          </a:xfrm>
          <a:prstGeom prst="rect">
            <a:avLst/>
          </a:prstGeom>
          <a:solidFill>
            <a:srgbClr val="8C56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892040" y="3666744"/>
            <a:ext cx="4023360" cy="274320"/>
          </a:xfrm>
          <a:prstGeom prst="rect">
            <a:avLst/>
          </a:prstGeom>
          <a:noFill/>
        </p:spPr>
        <p:txBody>
          <a:bodyPr wrap="square" lIns="45720" rIns="45720" tIns="18288" bIns="18288">
            <a:spAutoFit/>
          </a:bodyPr>
          <a:lstStyle/>
          <a:p>
            <a:r>
              <a:rPr sz="1400" b="1">
                <a:solidFill>
                  <a:srgbClr val="FFFFFF"/>
                </a:solidFill>
              </a:rPr>
              <a:t>Airflow</a:t>
            </a:r>
          </a:p>
        </p:txBody>
      </p:sp>
      <p:sp>
        <p:nvSpPr>
          <p:cNvPr id="19" name="Rectangle 18"/>
          <p:cNvSpPr/>
          <p:nvPr/>
        </p:nvSpPr>
        <p:spPr>
          <a:xfrm>
            <a:off x="4754880" y="3995928"/>
            <a:ext cx="4297680" cy="2084832"/>
          </a:xfrm>
          <a:prstGeom prst="rect">
            <a:avLst/>
          </a:prstGeom>
          <a:solidFill>
            <a:srgbClr val="F1F5F9"/>
          </a:solidFill>
          <a:ln>
            <a:solidFill>
              <a:srgbClr val="8C564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4892040" y="4069080"/>
            <a:ext cx="4023360" cy="1965960"/>
          </a:xfrm>
          <a:prstGeom prst="rect">
            <a:avLst/>
          </a:prstGeom>
          <a:noFill/>
        </p:spPr>
        <p:txBody>
          <a:bodyPr wrap="square">
            <a:spAutoFit/>
          </a:bodyPr>
          <a:lstStyle/>
          <a:p>
            <a:pPr>
              <a:spcAft>
                <a:spcPts val="400"/>
              </a:spcAft>
            </a:pPr>
            <a:r>
              <a:rPr sz="1100">
                <a:solidFill>
                  <a:srgbClr val="0B2A4A"/>
                </a:solidFill>
              </a:rPr>
              <a:t>• 00_bootstrap (manual)   — create topics, buckets, schemas, connectors.</a:t>
            </a:r>
          </a:p>
          <a:p>
            <a:pPr>
              <a:spcAft>
                <a:spcPts val="400"/>
              </a:spcAft>
            </a:pPr>
            <a:r>
              <a:rPr sz="1100">
                <a:solidFill>
                  <a:srgbClr val="0B2A4A"/>
                </a:solidFill>
              </a:rPr>
              <a:t>• 15_config_drift (2 min)  — mutate config tables to exercise Debezium.</a:t>
            </a:r>
          </a:p>
          <a:p>
            <a:pPr>
              <a:spcAft>
                <a:spcPts val="400"/>
              </a:spcAft>
            </a:pPr>
            <a:r>
              <a:rPr sz="1100">
                <a:solidFill>
                  <a:srgbClr val="0B2A4A"/>
                </a:solidFill>
              </a:rPr>
              <a:t>• 30_hop_medallion (5 min) — silver streams ∥ silver CDC → 4 gold marts.</a:t>
            </a:r>
          </a:p>
          <a:p>
            <a:pPr>
              <a:spcAft>
                <a:spcPts val="400"/>
              </a:spcAft>
            </a:pPr>
            <a:r>
              <a:rPr sz="1100">
                <a:solidFill>
                  <a:srgbClr val="0B2A4A"/>
                </a:solidFill>
              </a:rPr>
              <a:t>• 40_data_quality (5 min) + 50_business_kpis (5 min) — push results to dashboards.</a:t>
            </a:r>
          </a:p>
        </p:txBody>
      </p:sp>
    </p:spTree>
  </p:cSld>
  <p:clrMapOvr>
    <a:masterClrMapping/>
  </p:clrMapOvr>
</p:sld>
</file>

<file path=ppt/slides/slide3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412480" cy="502920"/>
          </a:xfrm>
          <a:prstGeom prst="rect">
            <a:avLst/>
          </a:prstGeom>
          <a:noFill/>
        </p:spPr>
        <p:txBody>
          <a:bodyPr wrap="square" lIns="45720" rIns="45720" tIns="18288" bIns="18288">
            <a:spAutoFit/>
          </a:bodyPr>
          <a:lstStyle/>
          <a:p>
            <a:r>
              <a:rPr sz="2400" b="1">
                <a:solidFill>
                  <a:srgbClr val="FFFFFF"/>
                </a:solidFill>
              </a:rPr>
              <a:t>3. Building a Real-Time Data Pipeline</a:t>
            </a:r>
          </a:p>
        </p:txBody>
      </p:sp>
      <p:sp>
        <p:nvSpPr>
          <p:cNvPr id="4" name="TextBox 3"/>
          <p:cNvSpPr txBox="1"/>
          <p:nvPr/>
        </p:nvSpPr>
        <p:spPr>
          <a:xfrm>
            <a:off x="365760" y="502920"/>
            <a:ext cx="8412480" cy="320040"/>
          </a:xfrm>
          <a:prstGeom prst="rect">
            <a:avLst/>
          </a:prstGeom>
          <a:noFill/>
        </p:spPr>
        <p:txBody>
          <a:bodyPr wrap="square" lIns="45720" rIns="45720" tIns="18288" bIns="18288">
            <a:spAutoFit/>
          </a:bodyPr>
          <a:lstStyle/>
          <a:p>
            <a:r>
              <a:rPr sz="1200" b="0">
                <a:solidFill>
                  <a:srgbClr val="CCDDEE"/>
                </a:solidFill>
              </a:rPr>
              <a:t>From an APRS packet to a refreshed dashboard tile — what runs, where, and how fast</a:t>
            </a:r>
          </a:p>
        </p:txBody>
      </p:sp>
      <p:sp>
        <p:nvSpPr>
          <p:cNvPr id="5" name="Rectangle 4"/>
          <p:cNvSpPr/>
          <p:nvPr/>
        </p:nvSpPr>
        <p:spPr>
          <a:xfrm>
            <a:off x="365760" y="960120"/>
            <a:ext cx="5852160" cy="36576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05840"/>
            <a:ext cx="5669280" cy="274320"/>
          </a:xfrm>
          <a:prstGeom prst="rect">
            <a:avLst/>
          </a:prstGeom>
          <a:noFill/>
        </p:spPr>
        <p:txBody>
          <a:bodyPr wrap="square" lIns="45720" rIns="45720" tIns="18288" bIns="18288">
            <a:spAutoFit/>
          </a:bodyPr>
          <a:lstStyle/>
          <a:p>
            <a:r>
              <a:rPr sz="1300" b="1">
                <a:solidFill>
                  <a:srgbClr val="FFFFFF"/>
                </a:solidFill>
              </a:rPr>
              <a:t>① Ingest  (continuous services)</a:t>
            </a:r>
          </a:p>
        </p:txBody>
      </p:sp>
      <p:sp>
        <p:nvSpPr>
          <p:cNvPr id="7" name="Rectangle 6"/>
          <p:cNvSpPr/>
          <p:nvPr/>
        </p:nvSpPr>
        <p:spPr>
          <a:xfrm>
            <a:off x="365760" y="1325880"/>
            <a:ext cx="5852160" cy="8686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371600"/>
            <a:ext cx="5669280" cy="822960"/>
          </a:xfrm>
          <a:prstGeom prst="rect">
            <a:avLst/>
          </a:prstGeom>
          <a:noFill/>
        </p:spPr>
        <p:txBody>
          <a:bodyPr wrap="square" lIns="45720" rIns="45720" tIns="18288" bIns="18288">
            <a:spAutoFit/>
          </a:bodyPr>
          <a:lstStyle/>
          <a:p>
            <a:r>
              <a:rPr sz="1100" b="0">
                <a:solidFill>
                  <a:srgbClr val="0B2A4A"/>
                </a:solidFill>
              </a:rPr>
              <a:t>OGN / NOAA / EMSC ingestor containers publish Avro records to Kafka.</a:t>
            </a:r>
          </a:p>
          <a:p>
            <a:r>
              <a:rPr sz="1100" b="0">
                <a:solidFill>
                  <a:srgbClr val="0B2A4A"/>
                </a:solidFill>
              </a:rPr>
              <a:t>Latency budget: source event → topic  ~  seconds.</a:t>
            </a:r>
          </a:p>
        </p:txBody>
      </p:sp>
      <p:sp>
        <p:nvSpPr>
          <p:cNvPr id="9" name="Rectangle 8"/>
          <p:cNvSpPr/>
          <p:nvPr/>
        </p:nvSpPr>
        <p:spPr>
          <a:xfrm>
            <a:off x="365760" y="2286000"/>
            <a:ext cx="5852160" cy="36576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02920" y="2331720"/>
            <a:ext cx="5669280" cy="274320"/>
          </a:xfrm>
          <a:prstGeom prst="rect">
            <a:avLst/>
          </a:prstGeom>
          <a:noFill/>
        </p:spPr>
        <p:txBody>
          <a:bodyPr wrap="square" lIns="45720" rIns="45720" tIns="18288" bIns="18288">
            <a:spAutoFit/>
          </a:bodyPr>
          <a:lstStyle/>
          <a:p>
            <a:r>
              <a:rPr sz="1300" b="1">
                <a:solidFill>
                  <a:srgbClr val="FFFFFF"/>
                </a:solidFill>
              </a:rPr>
              <a:t>② Land in Bronze  (Kafka Connect)</a:t>
            </a:r>
          </a:p>
        </p:txBody>
      </p:sp>
      <p:sp>
        <p:nvSpPr>
          <p:cNvPr id="11" name="Rectangle 10"/>
          <p:cNvSpPr/>
          <p:nvPr/>
        </p:nvSpPr>
        <p:spPr>
          <a:xfrm>
            <a:off x="365760" y="2651760"/>
            <a:ext cx="5852160" cy="8686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502920" y="2697480"/>
            <a:ext cx="5669280" cy="822960"/>
          </a:xfrm>
          <a:prstGeom prst="rect">
            <a:avLst/>
          </a:prstGeom>
          <a:noFill/>
        </p:spPr>
        <p:txBody>
          <a:bodyPr wrap="square" lIns="45720" rIns="45720" tIns="18288" bIns="18288">
            <a:spAutoFit/>
          </a:bodyPr>
          <a:lstStyle/>
          <a:p>
            <a:r>
              <a:rPr sz="1100" b="0">
                <a:solidFill>
                  <a:srgbClr val="0B2A4A"/>
                </a:solidFill>
              </a:rPr>
              <a:t>S3 sink flushes hourly partitions to s3://bronze/&lt;topic&gt;/year=…/hour=….</a:t>
            </a:r>
          </a:p>
          <a:p>
            <a:r>
              <a:rPr sz="1100" b="0">
                <a:solidFill>
                  <a:srgbClr val="0B2A4A"/>
                </a:solidFill>
              </a:rPr>
              <a:t>Latency budget: topic → bronze object  ~  ≤ flush interval.</a:t>
            </a:r>
          </a:p>
        </p:txBody>
      </p:sp>
      <p:sp>
        <p:nvSpPr>
          <p:cNvPr id="13" name="Rectangle 12"/>
          <p:cNvSpPr/>
          <p:nvPr/>
        </p:nvSpPr>
        <p:spPr>
          <a:xfrm>
            <a:off x="365760" y="3611880"/>
            <a:ext cx="5852160" cy="36576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502920" y="3657600"/>
            <a:ext cx="5669280" cy="274320"/>
          </a:xfrm>
          <a:prstGeom prst="rect">
            <a:avLst/>
          </a:prstGeom>
          <a:noFill/>
        </p:spPr>
        <p:txBody>
          <a:bodyPr wrap="square" lIns="45720" rIns="45720" tIns="18288" bIns="18288">
            <a:spAutoFit/>
          </a:bodyPr>
          <a:lstStyle/>
          <a:p>
            <a:r>
              <a:rPr sz="1300" b="1">
                <a:solidFill>
                  <a:srgbClr val="FFFFFF"/>
                </a:solidFill>
              </a:rPr>
              <a:t>③ Promote to Silver, then Gold  (Hop / Python, Airflow)</a:t>
            </a:r>
          </a:p>
        </p:txBody>
      </p:sp>
      <p:sp>
        <p:nvSpPr>
          <p:cNvPr id="15" name="Rectangle 14"/>
          <p:cNvSpPr/>
          <p:nvPr/>
        </p:nvSpPr>
        <p:spPr>
          <a:xfrm>
            <a:off x="365760" y="3977640"/>
            <a:ext cx="5852160" cy="8686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02920" y="4023360"/>
            <a:ext cx="5669280" cy="822960"/>
          </a:xfrm>
          <a:prstGeom prst="rect">
            <a:avLst/>
          </a:prstGeom>
          <a:noFill/>
        </p:spPr>
        <p:txBody>
          <a:bodyPr wrap="square" lIns="45720" rIns="45720" tIns="18288" bIns="18288">
            <a:spAutoFit/>
          </a:bodyPr>
          <a:lstStyle/>
          <a:p>
            <a:r>
              <a:rPr sz="1100" b="0">
                <a:solidFill>
                  <a:srgbClr val="0B2A4A"/>
                </a:solidFill>
              </a:rPr>
              <a:t>bronze_to_silver: dedupe on PK + keep max(ts_ms), drop late &gt; 24h, write _quality audit.</a:t>
            </a:r>
          </a:p>
          <a:p>
            <a:r>
              <a:rPr sz="1100" b="0">
                <a:solidFill>
                  <a:srgbClr val="0B2A4A"/>
                </a:solidFill>
              </a:rPr>
              <a:t>silver_to_gold: DuckDB query → snapshot=YYYYMMDD…/part-0.parquet + latest.parquet.</a:t>
            </a:r>
          </a:p>
          <a:p>
            <a:r>
              <a:rPr sz="1100" b="0">
                <a:solidFill>
                  <a:srgbClr val="0B2A4A"/>
                </a:solidFill>
              </a:rPr>
              <a:t>Latency budget: bronze → gold  ~  5 min (30_hop_medallion schedule).</a:t>
            </a:r>
          </a:p>
        </p:txBody>
      </p:sp>
      <p:sp>
        <p:nvSpPr>
          <p:cNvPr id="17" name="Rectangle 16"/>
          <p:cNvSpPr/>
          <p:nvPr/>
        </p:nvSpPr>
        <p:spPr>
          <a:xfrm>
            <a:off x="365760" y="4937760"/>
            <a:ext cx="5852160" cy="36576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02920" y="4983480"/>
            <a:ext cx="5669280" cy="274320"/>
          </a:xfrm>
          <a:prstGeom prst="rect">
            <a:avLst/>
          </a:prstGeom>
          <a:noFill/>
        </p:spPr>
        <p:txBody>
          <a:bodyPr wrap="square" lIns="45720" rIns="45720" tIns="18288" bIns="18288">
            <a:spAutoFit/>
          </a:bodyPr>
          <a:lstStyle/>
          <a:p>
            <a:r>
              <a:rPr sz="1300" b="1">
                <a:solidFill>
                  <a:srgbClr val="FFFFFF"/>
                </a:solidFill>
              </a:rPr>
              <a:t>④ Serve</a:t>
            </a:r>
          </a:p>
        </p:txBody>
      </p:sp>
      <p:sp>
        <p:nvSpPr>
          <p:cNvPr id="19" name="Rectangle 18"/>
          <p:cNvSpPr/>
          <p:nvPr/>
        </p:nvSpPr>
        <p:spPr>
          <a:xfrm>
            <a:off x="365760" y="5303520"/>
            <a:ext cx="5852160" cy="86868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02920" y="5349240"/>
            <a:ext cx="5669280" cy="822960"/>
          </a:xfrm>
          <a:prstGeom prst="rect">
            <a:avLst/>
          </a:prstGeom>
          <a:noFill/>
        </p:spPr>
        <p:txBody>
          <a:bodyPr wrap="square" lIns="45720" rIns="45720" tIns="18288" bIns="18288">
            <a:spAutoFit/>
          </a:bodyPr>
          <a:lstStyle/>
          <a:p>
            <a:r>
              <a:rPr sz="1100" b="0">
                <a:solidFill>
                  <a:srgbClr val="0B2A4A"/>
                </a:solidFill>
              </a:rPr>
              <a:t>quality-dashboard :5001, business-dashboard :5002, live-map :5003.</a:t>
            </a:r>
          </a:p>
          <a:p>
            <a:r>
              <a:rPr sz="1100" b="0">
                <a:solidFill>
                  <a:srgbClr val="0B2A4A"/>
                </a:solidFill>
              </a:rPr>
              <a:t>40_data_quality + 50_business_kpis POST to each dashboard every 5 min.</a:t>
            </a:r>
          </a:p>
        </p:txBody>
      </p:sp>
      <p:sp>
        <p:nvSpPr>
          <p:cNvPr id="21" name="TextBox 20"/>
          <p:cNvSpPr txBox="1"/>
          <p:nvPr/>
        </p:nvSpPr>
        <p:spPr>
          <a:xfrm>
            <a:off x="6400800" y="960120"/>
            <a:ext cx="2651760" cy="365760"/>
          </a:xfrm>
          <a:prstGeom prst="rect">
            <a:avLst/>
          </a:prstGeom>
          <a:noFill/>
        </p:spPr>
        <p:txBody>
          <a:bodyPr wrap="square" lIns="45720" rIns="45720" tIns="18288" bIns="18288">
            <a:spAutoFit/>
          </a:bodyPr>
          <a:lstStyle/>
          <a:p>
            <a:r>
              <a:rPr sz="1300" b="1">
                <a:solidFill>
                  <a:srgbClr val="1F77B4"/>
                </a:solidFill>
              </a:rPr>
              <a:t>Gold marts produced</a:t>
            </a:r>
          </a:p>
        </p:txBody>
      </p:sp>
      <p:sp>
        <p:nvSpPr>
          <p:cNvPr id="22" name="Rectangle 21"/>
          <p:cNvSpPr/>
          <p:nvPr/>
        </p:nvSpPr>
        <p:spPr>
          <a:xfrm>
            <a:off x="6400800" y="1325880"/>
            <a:ext cx="2651760" cy="1097280"/>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492240" y="1371600"/>
            <a:ext cx="2468880" cy="274320"/>
          </a:xfrm>
          <a:prstGeom prst="rect">
            <a:avLst/>
          </a:prstGeom>
          <a:noFill/>
        </p:spPr>
        <p:txBody>
          <a:bodyPr wrap="square" lIns="45720" rIns="45720" tIns="18288" bIns="18288">
            <a:spAutoFit/>
          </a:bodyPr>
          <a:lstStyle/>
          <a:p>
            <a:r>
              <a:rPr sz="1200" b="1">
                <a:solidFill>
                  <a:srgbClr val="2CA02C"/>
                </a:solidFill>
              </a:rPr>
              <a:t>aircraft_density_by_region</a:t>
            </a:r>
          </a:p>
        </p:txBody>
      </p:sp>
      <p:sp>
        <p:nvSpPr>
          <p:cNvPr id="24" name="TextBox 23"/>
          <p:cNvSpPr txBox="1"/>
          <p:nvPr/>
        </p:nvSpPr>
        <p:spPr>
          <a:xfrm>
            <a:off x="6492240" y="1691640"/>
            <a:ext cx="2468880" cy="731520"/>
          </a:xfrm>
          <a:prstGeom prst="rect">
            <a:avLst/>
          </a:prstGeom>
          <a:noFill/>
        </p:spPr>
        <p:txBody>
          <a:bodyPr wrap="square" lIns="45720" rIns="45720" tIns="18288" bIns="18288">
            <a:spAutoFit/>
          </a:bodyPr>
          <a:lstStyle/>
          <a:p>
            <a:r>
              <a:rPr sz="1000" b="0">
                <a:solidFill>
                  <a:srgbClr val="0B2A4A"/>
                </a:solidFill>
              </a:rPr>
              <a:t>ogn_positions + regions → per-region 1h count, altitude, speed.</a:t>
            </a:r>
          </a:p>
        </p:txBody>
      </p:sp>
      <p:sp>
        <p:nvSpPr>
          <p:cNvPr id="25" name="Rectangle 24"/>
          <p:cNvSpPr/>
          <p:nvPr/>
        </p:nvSpPr>
        <p:spPr>
          <a:xfrm>
            <a:off x="6400800" y="2514600"/>
            <a:ext cx="2651760" cy="1097280"/>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6492240" y="2560320"/>
            <a:ext cx="2468880" cy="274320"/>
          </a:xfrm>
          <a:prstGeom prst="rect">
            <a:avLst/>
          </a:prstGeom>
          <a:noFill/>
        </p:spPr>
        <p:txBody>
          <a:bodyPr wrap="square" lIns="45720" rIns="45720" tIns="18288" bIns="18288">
            <a:spAutoFit/>
          </a:bodyPr>
          <a:lstStyle/>
          <a:p>
            <a:r>
              <a:rPr sz="1200" b="1">
                <a:solidFill>
                  <a:srgbClr val="2CA02C"/>
                </a:solidFill>
              </a:rPr>
              <a:t>weather_snapshot</a:t>
            </a:r>
          </a:p>
        </p:txBody>
      </p:sp>
      <p:sp>
        <p:nvSpPr>
          <p:cNvPr id="27" name="TextBox 26"/>
          <p:cNvSpPr txBox="1"/>
          <p:nvPr/>
        </p:nvSpPr>
        <p:spPr>
          <a:xfrm>
            <a:off x="6492240" y="2880360"/>
            <a:ext cx="2468880" cy="731520"/>
          </a:xfrm>
          <a:prstGeom prst="rect">
            <a:avLst/>
          </a:prstGeom>
          <a:noFill/>
        </p:spPr>
        <p:txBody>
          <a:bodyPr wrap="square" lIns="45720" rIns="45720" tIns="18288" bIns="18288">
            <a:spAutoFit/>
          </a:bodyPr>
          <a:lstStyle/>
          <a:p>
            <a:r>
              <a:rPr sz="1000" b="0">
                <a:solidFill>
                  <a:srgbClr val="0B2A4A"/>
                </a:solidFill>
              </a:rPr>
              <a:t>noaa_obs + regions joined on station_code → latest per station.</a:t>
            </a:r>
          </a:p>
        </p:txBody>
      </p:sp>
      <p:sp>
        <p:nvSpPr>
          <p:cNvPr id="28" name="Rectangle 27"/>
          <p:cNvSpPr/>
          <p:nvPr/>
        </p:nvSpPr>
        <p:spPr>
          <a:xfrm>
            <a:off x="6400800" y="3703320"/>
            <a:ext cx="2651760" cy="1097280"/>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6492240" y="3749040"/>
            <a:ext cx="2468880" cy="274320"/>
          </a:xfrm>
          <a:prstGeom prst="rect">
            <a:avLst/>
          </a:prstGeom>
          <a:noFill/>
        </p:spPr>
        <p:txBody>
          <a:bodyPr wrap="square" lIns="45720" rIns="45720" tIns="18288" bIns="18288">
            <a:spAutoFit/>
          </a:bodyPr>
          <a:lstStyle/>
          <a:p>
            <a:r>
              <a:rPr sz="1200" b="1">
                <a:solidFill>
                  <a:srgbClr val="2CA02C"/>
                </a:solidFill>
              </a:rPr>
              <a:t>seismic_24h_summary</a:t>
            </a:r>
          </a:p>
        </p:txBody>
      </p:sp>
      <p:sp>
        <p:nvSpPr>
          <p:cNvPr id="30" name="TextBox 29"/>
          <p:cNvSpPr txBox="1"/>
          <p:nvPr/>
        </p:nvSpPr>
        <p:spPr>
          <a:xfrm>
            <a:off x="6492240" y="4069080"/>
            <a:ext cx="2468880" cy="731520"/>
          </a:xfrm>
          <a:prstGeom prst="rect">
            <a:avLst/>
          </a:prstGeom>
          <a:noFill/>
        </p:spPr>
        <p:txBody>
          <a:bodyPr wrap="square" lIns="45720" rIns="45720" tIns="18288" bIns="18288">
            <a:spAutoFit/>
          </a:bodyPr>
          <a:lstStyle/>
          <a:p>
            <a:r>
              <a:rPr sz="1000" b="0">
                <a:solidFill>
                  <a:srgbClr val="0B2A4A"/>
                </a:solidFill>
              </a:rPr>
              <a:t>seismic_events bucketed by magnitude × region over last 24h.</a:t>
            </a:r>
          </a:p>
        </p:txBody>
      </p:sp>
      <p:sp>
        <p:nvSpPr>
          <p:cNvPr id="31" name="Rectangle 30"/>
          <p:cNvSpPr/>
          <p:nvPr/>
        </p:nvSpPr>
        <p:spPr>
          <a:xfrm>
            <a:off x="6400800" y="4892040"/>
            <a:ext cx="2651760" cy="1097280"/>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6492240" y="4937760"/>
            <a:ext cx="2468880" cy="274320"/>
          </a:xfrm>
          <a:prstGeom prst="rect">
            <a:avLst/>
          </a:prstGeom>
          <a:noFill/>
        </p:spPr>
        <p:txBody>
          <a:bodyPr wrap="square" lIns="45720" rIns="45720" tIns="18288" bIns="18288">
            <a:spAutoFit/>
          </a:bodyPr>
          <a:lstStyle/>
          <a:p>
            <a:r>
              <a:rPr sz="1200" b="1">
                <a:solidFill>
                  <a:srgbClr val="2CA02C"/>
                </a:solidFill>
              </a:rPr>
              <a:t>region_alert_correlation</a:t>
            </a:r>
          </a:p>
        </p:txBody>
      </p:sp>
      <p:sp>
        <p:nvSpPr>
          <p:cNvPr id="33" name="TextBox 32"/>
          <p:cNvSpPr txBox="1"/>
          <p:nvPr/>
        </p:nvSpPr>
        <p:spPr>
          <a:xfrm>
            <a:off x="6492240" y="5257800"/>
            <a:ext cx="2468880" cy="731520"/>
          </a:xfrm>
          <a:prstGeom prst="rect">
            <a:avLst/>
          </a:prstGeom>
          <a:noFill/>
        </p:spPr>
        <p:txBody>
          <a:bodyPr wrap="square" lIns="45720" rIns="45720" tIns="18288" bIns="18288">
            <a:spAutoFit/>
          </a:bodyPr>
          <a:lstStyle/>
          <a:p>
            <a:r>
              <a:rPr sz="1000" b="0">
                <a:solidFill>
                  <a:srgbClr val="0B2A4A"/>
                </a:solidFill>
              </a:rPr>
              <a:t>Cross-stream: quakes over the live threshold inside any subscribed region.</a:t>
            </a:r>
          </a:p>
        </p:txBody>
      </p:sp>
    </p:spTree>
  </p:cSld>
  <p:clrMapOvr>
    <a:masterClrMapping/>
  </p:clrMapOvr>
</p:sld>
</file>

<file path=ppt/slides/slide3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412480" cy="502920"/>
          </a:xfrm>
          <a:prstGeom prst="rect">
            <a:avLst/>
          </a:prstGeom>
          <a:noFill/>
        </p:spPr>
        <p:txBody>
          <a:bodyPr wrap="square" lIns="45720" rIns="45720" tIns="18288" bIns="18288">
            <a:spAutoFit/>
          </a:bodyPr>
          <a:lstStyle/>
          <a:p>
            <a:r>
              <a:rPr sz="2400" b="1">
                <a:solidFill>
                  <a:srgbClr val="FFFFFF"/>
                </a:solidFill>
              </a:rPr>
              <a:t>4. Deployment &amp; Best Practices</a:t>
            </a:r>
          </a:p>
        </p:txBody>
      </p:sp>
      <p:sp>
        <p:nvSpPr>
          <p:cNvPr id="4" name="TextBox 3"/>
          <p:cNvSpPr txBox="1"/>
          <p:nvPr/>
        </p:nvSpPr>
        <p:spPr>
          <a:xfrm>
            <a:off x="365760" y="502920"/>
            <a:ext cx="8412480" cy="320040"/>
          </a:xfrm>
          <a:prstGeom prst="rect">
            <a:avLst/>
          </a:prstGeom>
          <a:noFill/>
        </p:spPr>
        <p:txBody>
          <a:bodyPr wrap="square" lIns="45720" rIns="45720" tIns="18288" bIns="18288">
            <a:spAutoFit/>
          </a:bodyPr>
          <a:lstStyle/>
          <a:p>
            <a:r>
              <a:rPr sz="1200" b="0">
                <a:solidFill>
                  <a:srgbClr val="CCDDEE"/>
                </a:solidFill>
              </a:rPr>
              <a:t>Reproducible startup, observable runtime, recoverable failure modes</a:t>
            </a:r>
          </a:p>
        </p:txBody>
      </p:sp>
      <p:sp>
        <p:nvSpPr>
          <p:cNvPr id="5" name="Rectangle 4"/>
          <p:cNvSpPr/>
          <p:nvPr/>
        </p:nvSpPr>
        <p:spPr>
          <a:xfrm>
            <a:off x="365760" y="960120"/>
            <a:ext cx="2651760" cy="41148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02920" y="1005840"/>
            <a:ext cx="2468880" cy="320040"/>
          </a:xfrm>
          <a:prstGeom prst="rect">
            <a:avLst/>
          </a:prstGeom>
          <a:noFill/>
        </p:spPr>
        <p:txBody>
          <a:bodyPr wrap="square" lIns="45720" rIns="45720" tIns="18288" bIns="18288">
            <a:spAutoFit/>
          </a:bodyPr>
          <a:lstStyle/>
          <a:p>
            <a:r>
              <a:rPr sz="1400" b="1">
                <a:solidFill>
                  <a:srgbClr val="FFFFFF"/>
                </a:solidFill>
              </a:rPr>
              <a:t>Deployment</a:t>
            </a:r>
          </a:p>
        </p:txBody>
      </p:sp>
      <p:sp>
        <p:nvSpPr>
          <p:cNvPr id="7" name="Rectangle 6"/>
          <p:cNvSpPr/>
          <p:nvPr/>
        </p:nvSpPr>
        <p:spPr>
          <a:xfrm>
            <a:off x="365760" y="1371600"/>
            <a:ext cx="2651760" cy="493776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02920" y="1463040"/>
            <a:ext cx="2468880" cy="4754880"/>
          </a:xfrm>
          <a:prstGeom prst="rect">
            <a:avLst/>
          </a:prstGeom>
          <a:noFill/>
        </p:spPr>
        <p:txBody>
          <a:bodyPr wrap="square">
            <a:spAutoFit/>
          </a:bodyPr>
          <a:lstStyle/>
          <a:p>
            <a:pPr>
              <a:spcAft>
                <a:spcPts val="400"/>
              </a:spcAft>
            </a:pPr>
            <a:r>
              <a:rPr sz="1000">
                <a:solidFill>
                  <a:srgbClr val="0B2A4A"/>
                </a:solidFill>
              </a:rPr>
              <a:t>• Single command: bootstrap.ps1 / bootstrap.sh — idempotent, safe to re-run.</a:t>
            </a:r>
          </a:p>
          <a:p>
            <a:pPr>
              <a:spcAft>
                <a:spcPts val="400"/>
              </a:spcAft>
            </a:pPr>
            <a:r>
              <a:rPr sz="1000">
                <a:solidFill>
                  <a:srgbClr val="0B2A4A"/>
                </a:solidFill>
              </a:rPr>
              <a:t>• Build local image once (day10-app), then `compose pull` so slow remote pulls don't time out `up -d`.</a:t>
            </a:r>
          </a:p>
          <a:p>
            <a:pPr>
              <a:spcAft>
                <a:spcPts val="400"/>
              </a:spcAft>
            </a:pPr>
            <a:r>
              <a:rPr sz="1000">
                <a:solidFill>
                  <a:srgbClr val="0B2A4A"/>
                </a:solidFill>
              </a:rPr>
              <a:t>• All config from .env; image versions pinned (Kafka 7.5.0, Debezium 2.5.4.Final, Postgres 15).</a:t>
            </a:r>
          </a:p>
          <a:p>
            <a:pPr>
              <a:spcAft>
                <a:spcPts val="400"/>
              </a:spcAft>
            </a:pPr>
            <a:r>
              <a:rPr sz="1000">
                <a:solidFill>
                  <a:srgbClr val="0B2A4A"/>
                </a:solidFill>
              </a:rPr>
              <a:t>• Plugins downloaded into debezium/plugins (S3 sink + Debezium PG + JMX agent) and mounted into Connect.</a:t>
            </a:r>
          </a:p>
          <a:p>
            <a:pPr>
              <a:spcAft>
                <a:spcPts val="400"/>
              </a:spcAft>
            </a:pPr>
            <a:r>
              <a:rPr sz="1000">
                <a:solidFill>
                  <a:srgbClr val="0B2A4A"/>
                </a:solidFill>
              </a:rPr>
              <a:t>• Run smoke test: tests/smoke_test.py after bootstrap.</a:t>
            </a:r>
          </a:p>
        </p:txBody>
      </p:sp>
      <p:sp>
        <p:nvSpPr>
          <p:cNvPr id="9" name="Rectangle 8"/>
          <p:cNvSpPr/>
          <p:nvPr/>
        </p:nvSpPr>
        <p:spPr>
          <a:xfrm>
            <a:off x="3383280" y="960120"/>
            <a:ext cx="2651760" cy="41148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520440" y="1005840"/>
            <a:ext cx="2468880" cy="320040"/>
          </a:xfrm>
          <a:prstGeom prst="rect">
            <a:avLst/>
          </a:prstGeom>
          <a:noFill/>
        </p:spPr>
        <p:txBody>
          <a:bodyPr wrap="square" lIns="45720" rIns="45720" tIns="18288" bIns="18288">
            <a:spAutoFit/>
          </a:bodyPr>
          <a:lstStyle/>
          <a:p>
            <a:r>
              <a:rPr sz="1400" b="1">
                <a:solidFill>
                  <a:srgbClr val="FFFFFF"/>
                </a:solidFill>
              </a:rPr>
              <a:t>Observability</a:t>
            </a:r>
          </a:p>
        </p:txBody>
      </p:sp>
      <p:sp>
        <p:nvSpPr>
          <p:cNvPr id="11" name="Rectangle 10"/>
          <p:cNvSpPr/>
          <p:nvPr/>
        </p:nvSpPr>
        <p:spPr>
          <a:xfrm>
            <a:off x="3383280" y="1371600"/>
            <a:ext cx="2651760" cy="493776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520440" y="1463040"/>
            <a:ext cx="2468880" cy="4754880"/>
          </a:xfrm>
          <a:prstGeom prst="rect">
            <a:avLst/>
          </a:prstGeom>
          <a:noFill/>
        </p:spPr>
        <p:txBody>
          <a:bodyPr wrap="square">
            <a:spAutoFit/>
          </a:bodyPr>
          <a:lstStyle/>
          <a:p>
            <a:pPr>
              <a:spcAft>
                <a:spcPts val="400"/>
              </a:spcAft>
            </a:pPr>
            <a:r>
              <a:rPr sz="1000">
                <a:solidFill>
                  <a:srgbClr val="0B2A4A"/>
                </a:solidFill>
              </a:rPr>
              <a:t>• Prometheus scrapes: Kafka JMX :9404, postgres-exporter :9187, MinIO :9000, Connect REST :8083, both dashboards.</a:t>
            </a:r>
          </a:p>
          <a:p>
            <a:pPr>
              <a:spcAft>
                <a:spcPts val="400"/>
              </a:spcAft>
            </a:pPr>
            <a:r>
              <a:rPr sz="1000">
                <a:solidFill>
                  <a:srgbClr val="0B2A4A"/>
                </a:solidFill>
              </a:rPr>
              <a:t>• Alert rule files: monitoring/alerts/data_quality_alerts.yml + pipeline_alerts.yml.</a:t>
            </a:r>
          </a:p>
          <a:p>
            <a:pPr>
              <a:spcAft>
                <a:spcPts val="400"/>
              </a:spcAft>
            </a:pPr>
            <a:r>
              <a:rPr sz="1000">
                <a:solidFill>
                  <a:srgbClr val="0B2A4A"/>
                </a:solidFill>
              </a:rPr>
              <a:t>• Alertmanager → POST quality-dashboard /webhook/alerts so DataOps sees firing alerts in-app.</a:t>
            </a:r>
          </a:p>
          <a:p>
            <a:pPr>
              <a:spcAft>
                <a:spcPts val="400"/>
              </a:spcAft>
            </a:pPr>
            <a:r>
              <a:rPr sz="1000">
                <a:solidFill>
                  <a:srgbClr val="0B2A4A"/>
                </a:solidFill>
              </a:rPr>
              <a:t>• Grafana auto-provisioned (admin/admin) — pipeline overview dashboard included.</a:t>
            </a:r>
          </a:p>
        </p:txBody>
      </p:sp>
      <p:sp>
        <p:nvSpPr>
          <p:cNvPr id="13" name="Rectangle 12"/>
          <p:cNvSpPr/>
          <p:nvPr/>
        </p:nvSpPr>
        <p:spPr>
          <a:xfrm>
            <a:off x="6400800" y="960120"/>
            <a:ext cx="2651760" cy="41148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537960" y="1005840"/>
            <a:ext cx="2468880" cy="320040"/>
          </a:xfrm>
          <a:prstGeom prst="rect">
            <a:avLst/>
          </a:prstGeom>
          <a:noFill/>
        </p:spPr>
        <p:txBody>
          <a:bodyPr wrap="square" lIns="45720" rIns="45720" tIns="18288" bIns="18288">
            <a:spAutoFit/>
          </a:bodyPr>
          <a:lstStyle/>
          <a:p>
            <a:r>
              <a:rPr sz="1400" b="1">
                <a:solidFill>
                  <a:srgbClr val="FFFFFF"/>
                </a:solidFill>
              </a:rPr>
              <a:t>Quality &amp; Recovery</a:t>
            </a:r>
          </a:p>
        </p:txBody>
      </p:sp>
      <p:sp>
        <p:nvSpPr>
          <p:cNvPr id="15" name="Rectangle 14"/>
          <p:cNvSpPr/>
          <p:nvPr/>
        </p:nvSpPr>
        <p:spPr>
          <a:xfrm>
            <a:off x="6400800" y="1371600"/>
            <a:ext cx="2651760" cy="493776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537960" y="1463040"/>
            <a:ext cx="2468880" cy="4754880"/>
          </a:xfrm>
          <a:prstGeom prst="rect">
            <a:avLst/>
          </a:prstGeom>
          <a:noFill/>
        </p:spPr>
        <p:txBody>
          <a:bodyPr wrap="square">
            <a:spAutoFit/>
          </a:bodyPr>
          <a:lstStyle/>
          <a:p>
            <a:pPr>
              <a:spcAft>
                <a:spcPts val="400"/>
              </a:spcAft>
            </a:pPr>
            <a:r>
              <a:rPr sz="1000">
                <a:solidFill>
                  <a:srgbClr val="0B2A4A"/>
                </a:solidFill>
              </a:rPr>
              <a:t>• DLQs: dlq.config-source, dlq.s3-sink-bronze-cdc, dlq.s3-sink-bronze-streams.</a:t>
            </a:r>
          </a:p>
          <a:p>
            <a:pPr>
              <a:spcAft>
                <a:spcPts val="400"/>
              </a:spcAft>
            </a:pPr>
            <a:r>
              <a:rPr sz="1000">
                <a:solidFill>
                  <a:srgbClr val="0B2A4A"/>
                </a:solidFill>
              </a:rPr>
              <a:t>• Silver audit: silver/_quality/&lt;entity&gt;/&lt;iso&gt;.avro on every run.</a:t>
            </a:r>
          </a:p>
          <a:p>
            <a:pPr>
              <a:spcAft>
                <a:spcPts val="400"/>
              </a:spcAft>
            </a:pPr>
            <a:r>
              <a:rPr sz="1000">
                <a:solidFill>
                  <a:srgbClr val="0B2A4A"/>
                </a:solidFill>
              </a:rPr>
              <a:t>• Schema Registry enforces BACKWARD compatibility — consumers evolve safely.</a:t>
            </a:r>
          </a:p>
          <a:p>
            <a:pPr>
              <a:spcAft>
                <a:spcPts val="400"/>
              </a:spcAft>
            </a:pPr>
            <a:r>
              <a:rPr sz="1000">
                <a:solidFill>
                  <a:srgbClr val="0B2A4A"/>
                </a:solidFill>
              </a:rPr>
              <a:t>• Debezium resumes from last LSN; S3 sink is idempotent on (topic, partition, offset).</a:t>
            </a:r>
          </a:p>
          <a:p>
            <a:pPr>
              <a:spcAft>
                <a:spcPts val="400"/>
              </a:spcAft>
            </a:pPr>
            <a:r>
              <a:rPr sz="1000">
                <a:solidFill>
                  <a:srgbClr val="0B2A4A"/>
                </a:solidFill>
              </a:rPr>
              <a:t>• Silver dedupes on PK keeping max(ts_ms); Gold writes snapshot AND latest.parquet so re-runs are non-destructive.</a:t>
            </a:r>
          </a:p>
        </p:txBody>
      </p:sp>
    </p:spTree>
  </p:cSld>
  <p:clrMapOvr>
    <a:masterClrMapping/>
  </p:clrMapOvr>
</p:sld>
</file>

<file path=ppt/slides/slide3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82296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365760" y="137160"/>
            <a:ext cx="8412480" cy="502920"/>
          </a:xfrm>
          <a:prstGeom prst="rect">
            <a:avLst/>
          </a:prstGeom>
          <a:noFill/>
        </p:spPr>
        <p:txBody>
          <a:bodyPr wrap="square" lIns="45720" rIns="45720" tIns="18288" bIns="18288">
            <a:spAutoFit/>
          </a:bodyPr>
          <a:lstStyle/>
          <a:p>
            <a:r>
              <a:rPr sz="2400" b="1">
                <a:solidFill>
                  <a:srgbClr val="FFFFFF"/>
                </a:solidFill>
              </a:rPr>
              <a:t>Capstone in one picture</a:t>
            </a:r>
          </a:p>
        </p:txBody>
      </p:sp>
      <p:sp>
        <p:nvSpPr>
          <p:cNvPr id="4" name="TextBox 3"/>
          <p:cNvSpPr txBox="1"/>
          <p:nvPr/>
        </p:nvSpPr>
        <p:spPr>
          <a:xfrm>
            <a:off x="365760" y="502920"/>
            <a:ext cx="8412480" cy="320040"/>
          </a:xfrm>
          <a:prstGeom prst="rect">
            <a:avLst/>
          </a:prstGeom>
          <a:noFill/>
        </p:spPr>
        <p:txBody>
          <a:bodyPr wrap="square" lIns="45720" rIns="45720" tIns="18288" bIns="18288">
            <a:spAutoFit/>
          </a:bodyPr>
          <a:lstStyle/>
          <a:p>
            <a:r>
              <a:rPr sz="1200" b="0">
                <a:solidFill>
                  <a:srgbClr val="CCDDEE"/>
                </a:solidFill>
              </a:rPr>
              <a:t>What the four objectives produce when you run bootstrap.ps1</a:t>
            </a:r>
          </a:p>
        </p:txBody>
      </p:sp>
      <p:sp>
        <p:nvSpPr>
          <p:cNvPr id="5" name="TextBox 4"/>
          <p:cNvSpPr txBox="1"/>
          <p:nvPr/>
        </p:nvSpPr>
        <p:spPr>
          <a:xfrm>
            <a:off x="548640" y="1005840"/>
            <a:ext cx="8046720" cy="3863340"/>
          </a:xfrm>
          <a:prstGeom prst="rect">
            <a:avLst/>
          </a:prstGeom>
          <a:noFill/>
        </p:spPr>
        <p:txBody>
          <a:bodyPr wrap="none">
            <a:spAutoFit/>
          </a:bodyPr>
          <a:lstStyle/>
          <a:p>
            <a:pPr>
              <a:spcAft>
                <a:spcPts val="0"/>
              </a:spcAft>
            </a:pPr>
            <a:r>
              <a:rPr sz="1200">
                <a:solidFill>
                  <a:srgbClr val="0B2A4A"/>
                </a:solidFill>
                <a:latin typeface="Consolas"/>
              </a:rPr>
              <a:t>OGN APRS    NOAA REST    EMSC WS    config-db (PG, WAL)</a:t>
            </a:r>
          </a:p>
          <a:p>
            <a:pPr>
              <a:spcAft>
                <a:spcPts val="0"/>
              </a:spcAft>
            </a:pPr>
            <a:r>
              <a:rPr sz="1200">
                <a:solidFill>
                  <a:srgbClr val="0B2A4A"/>
                </a:solidFill>
                <a:latin typeface="Consolas"/>
              </a:rPr>
              <a:t>    │           │            │              │</a:t>
            </a:r>
          </a:p>
          <a:p>
            <a:pPr>
              <a:spcAft>
                <a:spcPts val="0"/>
              </a:spcAft>
            </a:pPr>
            <a:r>
              <a:rPr sz="1200">
                <a:solidFill>
                  <a:srgbClr val="0B2A4A"/>
                </a:solidFill>
                <a:latin typeface="Consolas"/>
              </a:rPr>
              <a:t>    └────────┬──┴─────┬──────┘              │ Debezium pgoutput</a:t>
            </a:r>
          </a:p>
          <a:p>
            <a:pPr>
              <a:spcAft>
                <a:spcPts val="0"/>
              </a:spcAft>
            </a:pPr>
            <a:r>
              <a:rPr sz="1200">
                <a:solidFill>
                  <a:srgbClr val="0B2A4A"/>
                </a:solidFill>
                <a:latin typeface="Consolas"/>
              </a:rPr>
              <a:t>             ▼        ▼                     ▼</a:t>
            </a:r>
          </a:p>
          <a:p>
            <a:pPr>
              <a:spcAft>
                <a:spcPts val="0"/>
              </a:spcAft>
            </a:pPr>
            <a:r>
              <a:rPr sz="1200">
                <a:solidFill>
                  <a:srgbClr val="0B2A4A"/>
                </a:solidFill>
                <a:latin typeface="Consolas"/>
              </a:rPr>
              <a:t>         ┌─────────────────────────────────────────┐</a:t>
            </a:r>
          </a:p>
          <a:p>
            <a:pPr>
              <a:spcAft>
                <a:spcPts val="0"/>
              </a:spcAft>
            </a:pPr>
            <a:r>
              <a:rPr sz="1200">
                <a:solidFill>
                  <a:srgbClr val="0B2A4A"/>
                </a:solidFill>
                <a:latin typeface="Consolas"/>
              </a:rPr>
              <a:t>         │   KAFKA  +  Schema Registry (Avro)      │</a:t>
            </a:r>
          </a:p>
          <a:p>
            <a:pPr>
              <a:spcAft>
                <a:spcPts val="0"/>
              </a:spcAft>
            </a:pPr>
            <a:r>
              <a:rPr sz="1200">
                <a:solidFill>
                  <a:srgbClr val="0B2A4A"/>
                </a:solidFill>
                <a:latin typeface="Consolas"/>
              </a:rPr>
              <a:t>         └────────┬──────────────────┬─────────────┘</a:t>
            </a:r>
          </a:p>
          <a:p>
            <a:pPr>
              <a:spcAft>
                <a:spcPts val="0"/>
              </a:spcAft>
            </a:pPr>
            <a:r>
              <a:rPr sz="1200">
                <a:solidFill>
                  <a:srgbClr val="0B2A4A"/>
                </a:solidFill>
                <a:latin typeface="Consolas"/>
              </a:rPr>
              <a:t>                  │ S3 sink (streams)│ S3 sink (CDC)</a:t>
            </a:r>
          </a:p>
          <a:p>
            <a:pPr>
              <a:spcAft>
                <a:spcPts val="0"/>
              </a:spcAft>
            </a:pPr>
            <a:r>
              <a:rPr sz="1200">
                <a:solidFill>
                  <a:srgbClr val="0B2A4A"/>
                </a:solidFill>
                <a:latin typeface="Consolas"/>
              </a:rPr>
              <a:t>                  ▼                  ▼</a:t>
            </a:r>
          </a:p>
          <a:p>
            <a:pPr>
              <a:spcAft>
                <a:spcPts val="0"/>
              </a:spcAft>
            </a:pPr>
            <a:r>
              <a:rPr sz="1200">
                <a:solidFill>
                  <a:srgbClr val="0B2A4A"/>
                </a:solidFill>
                <a:latin typeface="Consolas"/>
              </a:rPr>
              <a:t>         ┌──────────────────────────────┐</a:t>
            </a:r>
          </a:p>
          <a:p>
            <a:pPr>
              <a:spcAft>
                <a:spcPts val="0"/>
              </a:spcAft>
            </a:pPr>
            <a:r>
              <a:rPr sz="1200">
                <a:solidFill>
                  <a:srgbClr val="0B2A4A"/>
                </a:solidFill>
                <a:latin typeface="Consolas"/>
              </a:rPr>
              <a:t>         │   MinIO  s3://bronze (Avro)  │</a:t>
            </a:r>
          </a:p>
          <a:p>
            <a:pPr>
              <a:spcAft>
                <a:spcPts val="0"/>
              </a:spcAft>
            </a:pPr>
            <a:r>
              <a:rPr sz="1200">
                <a:solidFill>
                  <a:srgbClr val="0B2A4A"/>
                </a:solidFill>
                <a:latin typeface="Consolas"/>
              </a:rPr>
              <a:t>         └──────────────┬───────────────┘</a:t>
            </a:r>
          </a:p>
          <a:p>
            <a:pPr>
              <a:spcAft>
                <a:spcPts val="0"/>
              </a:spcAft>
            </a:pPr>
            <a:r>
              <a:rPr sz="1200">
                <a:solidFill>
                  <a:srgbClr val="0B2A4A"/>
                </a:solidFill>
                <a:latin typeface="Consolas"/>
              </a:rPr>
              <a:t>        Hop / Python  bronze_to_silver  (dedupe, audit)</a:t>
            </a:r>
          </a:p>
          <a:p>
            <a:pPr>
              <a:spcAft>
                <a:spcPts val="0"/>
              </a:spcAft>
            </a:pPr>
            <a:r>
              <a:rPr sz="1200">
                <a:solidFill>
                  <a:srgbClr val="0B2A4A"/>
                </a:solidFill>
                <a:latin typeface="Consolas"/>
              </a:rPr>
              <a:t>                       ▼</a:t>
            </a:r>
          </a:p>
          <a:p>
            <a:pPr>
              <a:spcAft>
                <a:spcPts val="0"/>
              </a:spcAft>
            </a:pPr>
            <a:r>
              <a:rPr sz="1200">
                <a:solidFill>
                  <a:srgbClr val="0B2A4A"/>
                </a:solidFill>
                <a:latin typeface="Consolas"/>
              </a:rPr>
              <a:t>         ┌──────────────────────────────┐</a:t>
            </a:r>
          </a:p>
          <a:p>
            <a:pPr>
              <a:spcAft>
                <a:spcPts val="0"/>
              </a:spcAft>
            </a:pPr>
            <a:r>
              <a:rPr sz="1200">
                <a:solidFill>
                  <a:srgbClr val="0B2A4A"/>
                </a:solidFill>
                <a:latin typeface="Consolas"/>
              </a:rPr>
              <a:t>         │   MinIO  s3://silver (Avro)  │</a:t>
            </a:r>
          </a:p>
          <a:p>
            <a:pPr>
              <a:spcAft>
                <a:spcPts val="0"/>
              </a:spcAft>
            </a:pPr>
            <a:r>
              <a:rPr sz="1200">
                <a:solidFill>
                  <a:srgbClr val="0B2A4A"/>
                </a:solidFill>
                <a:latin typeface="Consolas"/>
              </a:rPr>
              <a:t>         └──────────────┬───────────────┘</a:t>
            </a:r>
          </a:p>
          <a:p>
            <a:pPr>
              <a:spcAft>
                <a:spcPts val="0"/>
              </a:spcAft>
            </a:pPr>
            <a:r>
              <a:rPr sz="1200">
                <a:solidFill>
                  <a:srgbClr val="0B2A4A"/>
                </a:solidFill>
                <a:latin typeface="Consolas"/>
              </a:rPr>
              <a:t>        DuckDB  silver_to_gold  → 4 marts</a:t>
            </a:r>
          </a:p>
          <a:p>
            <a:pPr>
              <a:spcAft>
                <a:spcPts val="0"/>
              </a:spcAft>
            </a:pPr>
            <a:r>
              <a:rPr sz="1200">
                <a:solidFill>
                  <a:srgbClr val="0B2A4A"/>
                </a:solidFill>
                <a:latin typeface="Consolas"/>
              </a:rPr>
              <a:t>                       ▼</a:t>
            </a:r>
          </a:p>
          <a:p>
            <a:pPr>
              <a:spcAft>
                <a:spcPts val="0"/>
              </a:spcAft>
            </a:pPr>
            <a:r>
              <a:rPr sz="1200">
                <a:solidFill>
                  <a:srgbClr val="0B2A4A"/>
                </a:solidFill>
                <a:latin typeface="Consolas"/>
              </a:rPr>
              <a:t>         ┌──────────────────────────────┐</a:t>
            </a:r>
          </a:p>
          <a:p>
            <a:pPr>
              <a:spcAft>
                <a:spcPts val="0"/>
              </a:spcAft>
            </a:pPr>
            <a:r>
              <a:rPr sz="1200">
                <a:solidFill>
                  <a:srgbClr val="0B2A4A"/>
                </a:solidFill>
                <a:latin typeface="Consolas"/>
              </a:rPr>
              <a:t>         │  MinIO  s3://gold  (Parquet) │</a:t>
            </a:r>
          </a:p>
          <a:p>
            <a:pPr>
              <a:spcAft>
                <a:spcPts val="0"/>
              </a:spcAft>
            </a:pPr>
            <a:r>
              <a:rPr sz="1200">
                <a:solidFill>
                  <a:srgbClr val="0B2A4A"/>
                </a:solidFill>
                <a:latin typeface="Consolas"/>
              </a:rPr>
              <a:t>         └────┬─────────────────────┬───┘</a:t>
            </a:r>
          </a:p>
          <a:p>
            <a:pPr>
              <a:spcAft>
                <a:spcPts val="0"/>
              </a:spcAft>
            </a:pPr>
            <a:r>
              <a:rPr sz="1200">
                <a:solidFill>
                  <a:srgbClr val="0B2A4A"/>
                </a:solidFill>
                <a:latin typeface="Consolas"/>
              </a:rPr>
              <a:t>              ▼                     ▼</a:t>
            </a:r>
          </a:p>
          <a:p>
            <a:pPr>
              <a:spcAft>
                <a:spcPts val="0"/>
              </a:spcAft>
            </a:pPr>
            <a:r>
              <a:rPr sz="1200">
                <a:solidFill>
                  <a:srgbClr val="0B2A4A"/>
                </a:solidFill>
                <a:latin typeface="Consolas"/>
              </a:rPr>
              <a:t>   quality-dashboard         business-dashboard</a:t>
            </a:r>
          </a:p>
          <a:p>
            <a:pPr>
              <a:spcAft>
                <a:spcPts val="0"/>
              </a:spcAft>
            </a:pPr>
            <a:r>
              <a:rPr sz="1200">
                <a:solidFill>
                  <a:srgbClr val="0B2A4A"/>
                </a:solidFill>
                <a:latin typeface="Consolas"/>
              </a:rPr>
              <a:t>   :5001 (+ /metrics)        :5002 (+ /metrics)</a:t>
            </a:r>
          </a:p>
        </p:txBody>
      </p:sp>
    </p:spTree>
  </p:cSld>
  <p:clrMapOvr>
    <a:masterClrMapping/>
  </p:clrMapOvr>
</p:sld>
</file>

<file path=ppt/slides/slide3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51435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0080"/>
            <a:ext cx="8229600" cy="457200"/>
          </a:xfrm>
          <a:prstGeom prst="rect">
            <a:avLst/>
          </a:prstGeom>
          <a:noFill/>
        </p:spPr>
        <p:txBody>
          <a:bodyPr wrap="square" lIns="45720" rIns="45720" tIns="18288" bIns="18288">
            <a:spAutoFit/>
          </a:bodyPr>
          <a:lstStyle/>
          <a:p>
            <a:pPr algn="l"/>
            <a:r>
              <a:rPr sz="1400" b="1">
                <a:solidFill>
                  <a:srgbClr val="CCDDEE"/>
                </a:solidFill>
              </a:rPr>
              <a:t>MODULE 1</a:t>
            </a:r>
          </a:p>
        </p:txBody>
      </p:sp>
      <p:sp>
        <p:nvSpPr>
          <p:cNvPr id="5" name="TextBox 4"/>
          <p:cNvSpPr txBox="1"/>
          <p:nvPr/>
        </p:nvSpPr>
        <p:spPr>
          <a:xfrm>
            <a:off x="457200" y="1097280"/>
            <a:ext cx="8229600" cy="1280160"/>
          </a:xfrm>
          <a:prstGeom prst="rect">
            <a:avLst/>
          </a:prstGeom>
          <a:noFill/>
        </p:spPr>
        <p:txBody>
          <a:bodyPr wrap="square" lIns="45720" rIns="45720" tIns="18288" bIns="18288">
            <a:spAutoFit/>
          </a:bodyPr>
          <a:lstStyle/>
          <a:p>
            <a:pPr algn="l"/>
            <a:r>
              <a:rPr sz="3600" b="1">
                <a:solidFill>
                  <a:srgbClr val="FFFFFF"/>
                </a:solidFill>
              </a:rPr>
              <a:t>Designing End-to-End Architecture</a:t>
            </a:r>
          </a:p>
        </p:txBody>
      </p:sp>
      <p:sp>
        <p:nvSpPr>
          <p:cNvPr id="6" name="TextBox 5"/>
          <p:cNvSpPr txBox="1"/>
          <p:nvPr/>
        </p:nvSpPr>
        <p:spPr>
          <a:xfrm>
            <a:off x="457200" y="2377440"/>
            <a:ext cx="8229600" cy="731520"/>
          </a:xfrm>
          <a:prstGeom prst="rect">
            <a:avLst/>
          </a:prstGeom>
          <a:noFill/>
        </p:spPr>
        <p:txBody>
          <a:bodyPr wrap="square" lIns="45720" rIns="45720" tIns="18288" bIns="18288">
            <a:spAutoFit/>
          </a:bodyPr>
          <a:lstStyle/>
          <a:p>
            <a:pPr algn="l"/>
            <a:r>
              <a:rPr sz="1600" b="0">
                <a:solidFill>
                  <a:srgbClr val="CCDDEE"/>
                </a:solidFill>
              </a:rPr>
              <a:t>Real streams → Kafka → Medallion on MinIO → Dashboards</a:t>
            </a:r>
          </a:p>
        </p:txBody>
      </p:sp>
      <p:sp>
        <p:nvSpPr>
          <p:cNvPr id="7" name="Rectangle 6"/>
          <p:cNvSpPr/>
          <p:nvPr/>
        </p:nvSpPr>
        <p:spPr>
          <a:xfrm>
            <a:off x="1371600" y="3749039"/>
            <a:ext cx="1463040" cy="1097280"/>
          </a:xfrm>
          <a:prstGeom prst="rect">
            <a:avLst/>
          </a:prstGeom>
          <a:solidFill>
            <a:srgbClr val="FFFFFF"/>
          </a:solidFill>
          <a:ln w="1270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6304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kafka.png"/>
          <p:cNvPicPr>
            <a:picLocks noChangeAspect="1"/>
          </p:cNvPicPr>
          <p:nvPr/>
        </p:nvPicPr>
        <p:blipFill>
          <a:blip r:embed="rId2"/>
          <a:stretch>
            <a:fillRect/>
          </a:stretch>
        </p:blipFill>
        <p:spPr>
          <a:xfrm>
            <a:off x="1863822" y="3909059"/>
            <a:ext cx="478596" cy="777240"/>
          </a:xfrm>
          <a:prstGeom prst="rect">
            <a:avLst/>
          </a:prstGeom>
        </p:spPr>
      </p:pic>
      <p:sp>
        <p:nvSpPr>
          <p:cNvPr id="10" name="Rectangle 9"/>
          <p:cNvSpPr/>
          <p:nvPr/>
        </p:nvSpPr>
        <p:spPr>
          <a:xfrm>
            <a:off x="3017520" y="3749039"/>
            <a:ext cx="1463040" cy="1097280"/>
          </a:xfrm>
          <a:prstGeom prst="rect">
            <a:avLst/>
          </a:prstGeom>
          <a:solidFill>
            <a:srgbClr val="FFFFFF"/>
          </a:solidFill>
          <a:ln w="1270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0896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debezium.png"/>
          <p:cNvPicPr>
            <a:picLocks noChangeAspect="1"/>
          </p:cNvPicPr>
          <p:nvPr/>
        </p:nvPicPr>
        <p:blipFill>
          <a:blip r:embed="rId3"/>
          <a:stretch>
            <a:fillRect/>
          </a:stretch>
        </p:blipFill>
        <p:spPr>
          <a:xfrm>
            <a:off x="3177540" y="4172901"/>
            <a:ext cx="1143000" cy="249555"/>
          </a:xfrm>
          <a:prstGeom prst="rect">
            <a:avLst/>
          </a:prstGeom>
        </p:spPr>
      </p:pic>
      <p:sp>
        <p:nvSpPr>
          <p:cNvPr id="13" name="Rectangle 12"/>
          <p:cNvSpPr/>
          <p:nvPr/>
        </p:nvSpPr>
        <p:spPr>
          <a:xfrm>
            <a:off x="4663440" y="3749039"/>
            <a:ext cx="1463040" cy="1097280"/>
          </a:xfrm>
          <a:prstGeom prst="rect">
            <a:avLst/>
          </a:prstGeom>
          <a:solidFill>
            <a:srgbClr val="FFFFFF"/>
          </a:solidFill>
          <a:ln w="1270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5488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airflow.png"/>
          <p:cNvPicPr>
            <a:picLocks noChangeAspect="1"/>
          </p:cNvPicPr>
          <p:nvPr/>
        </p:nvPicPr>
        <p:blipFill>
          <a:blip r:embed="rId4"/>
          <a:stretch>
            <a:fillRect/>
          </a:stretch>
        </p:blipFill>
        <p:spPr>
          <a:xfrm>
            <a:off x="4823460" y="4077080"/>
            <a:ext cx="1143000" cy="441198"/>
          </a:xfrm>
          <a:prstGeom prst="rect">
            <a:avLst/>
          </a:prstGeom>
        </p:spPr>
      </p:pic>
      <p:sp>
        <p:nvSpPr>
          <p:cNvPr id="16" name="Rectangle 15"/>
          <p:cNvSpPr/>
          <p:nvPr/>
        </p:nvSpPr>
        <p:spPr>
          <a:xfrm>
            <a:off x="6309360" y="3749039"/>
            <a:ext cx="1463040" cy="1097280"/>
          </a:xfrm>
          <a:prstGeom prst="rect">
            <a:avLst/>
          </a:prstGeom>
          <a:solidFill>
            <a:srgbClr val="FFFFFF"/>
          </a:solidFill>
          <a:ln w="12700">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minio.png"/>
          <p:cNvPicPr>
            <a:picLocks noChangeAspect="1"/>
          </p:cNvPicPr>
          <p:nvPr/>
        </p:nvPicPr>
        <p:blipFill>
          <a:blip r:embed="rId5"/>
          <a:stretch>
            <a:fillRect/>
          </a:stretch>
        </p:blipFill>
        <p:spPr>
          <a:xfrm>
            <a:off x="6652260" y="3909059"/>
            <a:ext cx="777240" cy="777240"/>
          </a:xfrm>
          <a:prstGeom prst="rect">
            <a:avLst/>
          </a:prstGeom>
        </p:spPr>
      </p:pic>
    </p:spTree>
  </p:cSld>
  <p:clrMapOvr>
    <a:masterClrMapping/>
  </p:clrMapOvr>
</p:sld>
</file>

<file path=ppt/slides/slide3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1  · Architecture</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Why real streams, not simulators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OGN aircraft, NOAA weather, EMSC seismic — three live public feeds</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afka.png"/>
          <p:cNvPicPr>
            <a:picLocks noChangeAspect="1"/>
          </p:cNvPicPr>
          <p:nvPr/>
        </p:nvPicPr>
        <p:blipFill>
          <a:blip r:embed="rId2"/>
          <a:stretch>
            <a:fillRect/>
          </a:stretch>
        </p:blipFill>
        <p:spPr>
          <a:xfrm>
            <a:off x="2032288" y="982980"/>
            <a:ext cx="1604704"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OGN APRS over TCP → ogn.aircraft.positions  (bursty, lossy)</a:t>
            </a:r>
          </a:p>
          <a:p>
            <a:pPr>
              <a:spcAft>
                <a:spcPts val="400"/>
              </a:spcAft>
            </a:pPr>
            <a:r>
              <a:rPr sz="1100">
                <a:solidFill>
                  <a:srgbClr val="0B2A4A"/>
                </a:solidFill>
              </a:rPr>
              <a:t>•  NOAA api.weather.gov REST poll → noaa.observations / noaa.alerts</a:t>
            </a:r>
          </a:p>
          <a:p>
            <a:pPr>
              <a:spcAft>
                <a:spcPts val="400"/>
              </a:spcAft>
            </a:pPr>
            <a:r>
              <a:rPr sz="1100">
                <a:solidFill>
                  <a:srgbClr val="0B2A4A"/>
                </a:solidFill>
              </a:rPr>
              <a:t>•  EMSC seismic WebSocket → seismic.events  (long-lived socket)</a:t>
            </a:r>
          </a:p>
          <a:p>
            <a:pPr>
              <a:spcAft>
                <a:spcPts val="400"/>
              </a:spcAft>
            </a:pPr>
            <a:r>
              <a:rPr sz="1100">
                <a:solidFill>
                  <a:srgbClr val="0B2A4A"/>
                </a:solidFill>
              </a:rPr>
              <a:t>•  Each ingestor exercises a different ingestion pattern — TCP / REST / WS.</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Stethoscope vs simulator</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A medical student learns more from one real heartbeat than from a thousand perfectly-shaped synthetic ones. Real feeds bring real surprises — gaps, out-of-order events, schema wiggles — that simulators never do.</a:t>
            </a:r>
          </a:p>
        </p:txBody>
      </p:sp>
      <p:sp>
        <p:nvSpPr>
          <p:cNvPr id="13" name="Rectangle 12"/>
          <p:cNvSpPr/>
          <p:nvPr/>
        </p:nvSpPr>
        <p:spPr>
          <a:xfrm>
            <a:off x="0" y="49149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2 / 10  ·  Module 1</a:t>
            </a:r>
          </a:p>
        </p:txBody>
      </p:sp>
    </p:spTree>
  </p:cSld>
  <p:clrMapOvr>
    <a:masterClrMapping/>
  </p:clrMapOvr>
</p:sld>
</file>

<file path=ppt/slides/slide3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1  · Architecture</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The medallion pattern</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Bronze / Silver / Gold — bands of trust, not folders</a:t>
            </a:r>
          </a:p>
        </p:txBody>
      </p:sp>
      <p:sp>
        <p:nvSpPr>
          <p:cNvPr id="6" name="TextBox 5"/>
          <p:cNvSpPr txBox="1"/>
          <p:nvPr/>
        </p:nvSpPr>
        <p:spPr>
          <a:xfrm>
            <a:off x="274320" y="914400"/>
            <a:ext cx="5212080" cy="274320"/>
          </a:xfrm>
          <a:prstGeom prst="rect">
            <a:avLst/>
          </a:prstGeom>
          <a:noFill/>
        </p:spPr>
        <p:txBody>
          <a:bodyPr wrap="square" lIns="45720" rIns="45720" tIns="18288" bIns="18288">
            <a:spAutoFit/>
          </a:bodyPr>
          <a:lstStyle/>
          <a:p>
            <a:pPr algn="ctr"/>
            <a:r>
              <a:rPr sz="1200" b="1">
                <a:solidFill>
                  <a:srgbClr val="1F77B4"/>
                </a:solidFill>
              </a:rPr>
              <a:t>Medallion in MinIO</a:t>
            </a:r>
          </a:p>
        </p:txBody>
      </p:sp>
      <p:sp>
        <p:nvSpPr>
          <p:cNvPr id="7" name="Rectangle 6"/>
          <p:cNvSpPr/>
          <p:nvPr/>
        </p:nvSpPr>
        <p:spPr>
          <a:xfrm>
            <a:off x="411480" y="1325880"/>
            <a:ext cx="1554480" cy="640080"/>
          </a:xfrm>
          <a:prstGeom prst="rect">
            <a:avLst/>
          </a:prstGeom>
          <a:solidFill>
            <a:srgbClr val="CD7F32"/>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411480" y="1399032"/>
            <a:ext cx="1554480" cy="640080"/>
          </a:xfrm>
          <a:prstGeom prst="rect">
            <a:avLst/>
          </a:prstGeom>
          <a:noFill/>
        </p:spPr>
        <p:txBody>
          <a:bodyPr wrap="square" lIns="45720" rIns="45720" tIns="18288" bIns="18288">
            <a:spAutoFit/>
          </a:bodyPr>
          <a:lstStyle/>
          <a:p>
            <a:pPr algn="ctr"/>
            <a:r>
              <a:rPr sz="1100" b="1">
                <a:solidFill>
                  <a:srgbClr val="FFFFFF"/>
                </a:solidFill>
              </a:rPr>
              <a:t>BRONZE</a:t>
            </a:r>
          </a:p>
          <a:p>
            <a:pPr algn="ctr"/>
            <a:r>
              <a:rPr sz="1100" b="1">
                <a:solidFill>
                  <a:srgbClr val="FFFFFF"/>
                </a:solidFill>
              </a:rPr>
              <a:t>raw Avro</a:t>
            </a:r>
          </a:p>
        </p:txBody>
      </p:sp>
      <p:cxnSp>
        <p:nvCxnSpPr>
          <p:cNvPr id="9" name="Connector 8"/>
          <p:cNvCxnSpPr/>
          <p:nvPr/>
        </p:nvCxnSpPr>
        <p:spPr>
          <a:xfrm>
            <a:off x="1965960" y="1645920"/>
            <a:ext cx="13716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103120" y="1325880"/>
            <a:ext cx="1554480" cy="640080"/>
          </a:xfrm>
          <a:prstGeom prst="rect">
            <a:avLst/>
          </a:prstGeom>
          <a:solidFill>
            <a:srgbClr val="C0C0C0"/>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103120" y="1399032"/>
            <a:ext cx="1554480" cy="640080"/>
          </a:xfrm>
          <a:prstGeom prst="rect">
            <a:avLst/>
          </a:prstGeom>
          <a:noFill/>
        </p:spPr>
        <p:txBody>
          <a:bodyPr wrap="square" lIns="45720" rIns="45720" tIns="18288" bIns="18288">
            <a:spAutoFit/>
          </a:bodyPr>
          <a:lstStyle/>
          <a:p>
            <a:pPr algn="ctr"/>
            <a:r>
              <a:rPr sz="1100" b="1">
                <a:solidFill>
                  <a:srgbClr val="FFFFFF"/>
                </a:solidFill>
              </a:rPr>
              <a:t>SILVER</a:t>
            </a:r>
          </a:p>
          <a:p>
            <a:pPr algn="ctr"/>
            <a:r>
              <a:rPr sz="1100" b="1">
                <a:solidFill>
                  <a:srgbClr val="FFFFFF"/>
                </a:solidFill>
              </a:rPr>
              <a:t>dedup Avro</a:t>
            </a:r>
          </a:p>
        </p:txBody>
      </p:sp>
      <p:cxnSp>
        <p:nvCxnSpPr>
          <p:cNvPr id="12" name="Connector 11"/>
          <p:cNvCxnSpPr/>
          <p:nvPr/>
        </p:nvCxnSpPr>
        <p:spPr>
          <a:xfrm>
            <a:off x="3657600" y="1645920"/>
            <a:ext cx="13716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3794760" y="1325880"/>
            <a:ext cx="1554480" cy="640080"/>
          </a:xfrm>
          <a:prstGeom prst="rect">
            <a:avLst/>
          </a:prstGeom>
          <a:solidFill>
            <a:srgbClr val="D4AF37"/>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3794760" y="1399032"/>
            <a:ext cx="1554480" cy="640080"/>
          </a:xfrm>
          <a:prstGeom prst="rect">
            <a:avLst/>
          </a:prstGeom>
          <a:noFill/>
        </p:spPr>
        <p:txBody>
          <a:bodyPr wrap="square" lIns="45720" rIns="45720" tIns="18288" bIns="18288">
            <a:spAutoFit/>
          </a:bodyPr>
          <a:lstStyle/>
          <a:p>
            <a:pPr algn="ctr"/>
            <a:r>
              <a:rPr sz="1100" b="1">
                <a:solidFill>
                  <a:srgbClr val="FFFFFF"/>
                </a:solidFill>
              </a:rPr>
              <a:t>GOLD</a:t>
            </a:r>
          </a:p>
          <a:p>
            <a:pPr algn="ctr"/>
            <a:r>
              <a:rPr sz="1100" b="1">
                <a:solidFill>
                  <a:srgbClr val="FFFFFF"/>
                </a:solidFill>
              </a:rPr>
              <a:t>Parquet marts</a:t>
            </a:r>
          </a:p>
        </p:txBody>
      </p:sp>
      <p:sp>
        <p:nvSpPr>
          <p:cNvPr id="15" name="TextBox 14"/>
          <p:cNvSpPr txBox="1"/>
          <p:nvPr/>
        </p:nvSpPr>
        <p:spPr>
          <a:xfrm>
            <a:off x="274320" y="2194560"/>
            <a:ext cx="5212080" cy="274320"/>
          </a:xfrm>
          <a:prstGeom prst="rect">
            <a:avLst/>
          </a:prstGeom>
          <a:noFill/>
        </p:spPr>
        <p:txBody>
          <a:bodyPr wrap="square" lIns="45720" rIns="45720" tIns="18288" bIns="18288">
            <a:spAutoFit/>
          </a:bodyPr>
          <a:lstStyle/>
          <a:p>
            <a:pPr algn="ctr"/>
            <a:r>
              <a:rPr sz="1000" b="0">
                <a:solidFill>
                  <a:srgbClr val="555555"/>
                </a:solidFill>
              </a:rPr>
              <a:t>Promotion: dedup on PK → drop late &gt;24h → DuckDB query → Parquet snapshot + latest</a:t>
            </a:r>
          </a:p>
        </p:txBody>
      </p:sp>
      <p:sp>
        <p:nvSpPr>
          <p:cNvPr id="16" name="TextBox 15"/>
          <p:cNvSpPr txBox="1"/>
          <p:nvPr/>
        </p:nvSpPr>
        <p:spPr>
          <a:xfrm>
            <a:off x="274320" y="2606040"/>
            <a:ext cx="5212080" cy="274320"/>
          </a:xfrm>
          <a:prstGeom prst="rect">
            <a:avLst/>
          </a:prstGeom>
          <a:noFill/>
        </p:spPr>
        <p:txBody>
          <a:bodyPr wrap="square" lIns="45720" rIns="45720" tIns="18288" bIns="18288">
            <a:spAutoFit/>
          </a:bodyPr>
          <a:lstStyle/>
          <a:p>
            <a:pPr algn="ctr"/>
            <a:r>
              <a:rPr sz="900" b="0">
                <a:solidFill>
                  <a:srgbClr val="0B2A4A"/>
                </a:solidFill>
                <a:latin typeface="Consolas"/>
              </a:rPr>
              <a:t>s3://bronze/&lt;topic&gt;/year=…/hour=…/&lt;part&gt;+&lt;off&gt;.avro</a:t>
            </a:r>
          </a:p>
        </p:txBody>
      </p:sp>
      <p:sp>
        <p:nvSpPr>
          <p:cNvPr id="17" name="TextBox 16"/>
          <p:cNvSpPr txBox="1"/>
          <p:nvPr/>
        </p:nvSpPr>
        <p:spPr>
          <a:xfrm>
            <a:off x="274320" y="2880360"/>
            <a:ext cx="5212080" cy="274320"/>
          </a:xfrm>
          <a:prstGeom prst="rect">
            <a:avLst/>
          </a:prstGeom>
          <a:noFill/>
        </p:spPr>
        <p:txBody>
          <a:bodyPr wrap="square" lIns="45720" rIns="45720" tIns="18288" bIns="18288">
            <a:spAutoFit/>
          </a:bodyPr>
          <a:lstStyle/>
          <a:p>
            <a:pPr algn="ctr"/>
            <a:r>
              <a:rPr sz="900" b="0">
                <a:solidFill>
                  <a:srgbClr val="0B2A4A"/>
                </a:solidFill>
                <a:latin typeface="Consolas"/>
              </a:rPr>
              <a:t>s3://silver/&lt;entity&gt;/year=…/day=…/part-&lt;hash&gt;.avro</a:t>
            </a:r>
          </a:p>
        </p:txBody>
      </p:sp>
      <p:sp>
        <p:nvSpPr>
          <p:cNvPr id="18" name="TextBox 17"/>
          <p:cNvSpPr txBox="1"/>
          <p:nvPr/>
        </p:nvSpPr>
        <p:spPr>
          <a:xfrm>
            <a:off x="274320" y="3154680"/>
            <a:ext cx="5212080" cy="274320"/>
          </a:xfrm>
          <a:prstGeom prst="rect">
            <a:avLst/>
          </a:prstGeom>
          <a:noFill/>
        </p:spPr>
        <p:txBody>
          <a:bodyPr wrap="square" lIns="45720" rIns="45720" tIns="18288" bIns="18288">
            <a:spAutoFit/>
          </a:bodyPr>
          <a:lstStyle/>
          <a:p>
            <a:pPr algn="ctr"/>
            <a:r>
              <a:rPr sz="900" b="0">
                <a:solidFill>
                  <a:srgbClr val="0B2A4A"/>
                </a:solidFill>
                <a:latin typeface="Consolas"/>
              </a:rPr>
              <a:t>s3://gold/&lt;mart&gt;/snapshot=…Z/part-0.parquet  +  latest.parquet</a:t>
            </a:r>
          </a:p>
        </p:txBody>
      </p:sp>
      <p:sp>
        <p:nvSpPr>
          <p:cNvPr id="19" name="TextBox 18"/>
          <p:cNvSpPr txBox="1"/>
          <p:nvPr/>
        </p:nvSpPr>
        <p:spPr>
          <a:xfrm>
            <a:off x="274320" y="3611880"/>
            <a:ext cx="5212080" cy="914400"/>
          </a:xfrm>
          <a:prstGeom prst="rect">
            <a:avLst/>
          </a:prstGeom>
          <a:noFill/>
        </p:spPr>
        <p:txBody>
          <a:bodyPr wrap="square" lIns="45720" rIns="45720" tIns="18288" bIns="18288">
            <a:spAutoFit/>
          </a:bodyPr>
          <a:lstStyle/>
          <a:p>
            <a:pPr algn="ctr"/>
            <a:r>
              <a:rPr sz="1000" b="0">
                <a:solidFill>
                  <a:srgbClr val="0B2A4A"/>
                </a:solidFill>
              </a:rPr>
              <a:t>Why three layers?</a:t>
            </a:r>
          </a:p>
          <a:p>
            <a:pPr algn="ctr"/>
            <a:r>
              <a:rPr sz="1000" b="0">
                <a:solidFill>
                  <a:srgbClr val="0B2A4A"/>
                </a:solidFill>
              </a:rPr>
              <a:t>Bronze = source-of-truth replay buffer; Silver = clean entity </a:t>
            </a:r>
          </a:p>
          <a:p>
            <a:pPr algn="ctr"/>
            <a:r>
              <a:rPr sz="1000" b="0">
                <a:solidFill>
                  <a:srgbClr val="0B2A4A"/>
                </a:solidFill>
              </a:rPr>
              <a:t>tables (dedup, late-filter, audited); Gold = small, fast marts </a:t>
            </a:r>
          </a:p>
          <a:p>
            <a:pPr algn="ctr"/>
            <a:r>
              <a:rPr sz="1000" b="0">
                <a:solidFill>
                  <a:srgbClr val="0B2A4A"/>
                </a:solidFill>
              </a:rPr>
              <a:t>that dashboards/ML can query directly.</a:t>
            </a:r>
          </a:p>
        </p:txBody>
      </p:sp>
      <p:sp>
        <p:nvSpPr>
          <p:cNvPr id="20" name="Rectangle 19"/>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22" name="TextBox 21"/>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Restaurant kitchen</a:t>
            </a:r>
          </a:p>
        </p:txBody>
      </p:sp>
      <p:sp>
        <p:nvSpPr>
          <p:cNvPr id="23" name="TextBox 22"/>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Bronze = raw ingredients off the truck. Silver = washed, chopped, prepped (mise en place). Gold = the plated dish the customer sees. Each layer is owned by a different role and is cheap to redo from the layer below.</a:t>
            </a:r>
          </a:p>
        </p:txBody>
      </p:sp>
      <p:sp>
        <p:nvSpPr>
          <p:cNvPr id="24" name="Rectangle 23"/>
          <p:cNvSpPr/>
          <p:nvPr/>
        </p:nvSpPr>
        <p:spPr>
          <a:xfrm>
            <a:off x="0" y="49149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3 / 10  ·  Module 1</a:t>
            </a:r>
          </a:p>
        </p:txBody>
      </p:sp>
    </p:spTree>
  </p:cSld>
  <p:clrMapOvr>
    <a:masterClrMapping/>
  </p:clrMapOvr>
</p:sld>
</file>

<file path=ppt/slides/slide3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1  · Architecture</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CDC vs polling for reference data</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Why Debezium beats SELECT * every minute</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ostgres.png"/>
          <p:cNvPicPr>
            <a:picLocks noChangeAspect="1"/>
          </p:cNvPicPr>
          <p:nvPr/>
        </p:nvPicPr>
        <p:blipFill>
          <a:blip r:embed="rId2"/>
          <a:stretch>
            <a:fillRect/>
          </a:stretch>
        </p:blipFill>
        <p:spPr>
          <a:xfrm>
            <a:off x="1573653" y="982980"/>
            <a:ext cx="2521974"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Postgres holds config tables only (regions, thresholds, watchlist).</a:t>
            </a:r>
          </a:p>
          <a:p>
            <a:pPr>
              <a:spcAft>
                <a:spcPts val="400"/>
              </a:spcAft>
            </a:pPr>
            <a:r>
              <a:rPr sz="1100">
                <a:solidFill>
                  <a:srgbClr val="0B2A4A"/>
                </a:solidFill>
              </a:rPr>
              <a:t>•  wal_level=logical + Debezium pgoutput → row-level change events.</a:t>
            </a:r>
          </a:p>
          <a:p>
            <a:pPr>
              <a:spcAft>
                <a:spcPts val="400"/>
              </a:spcAft>
            </a:pPr>
            <a:r>
              <a:rPr sz="1100">
                <a:solidFill>
                  <a:srgbClr val="0B2A4A"/>
                </a:solidFill>
              </a:rPr>
              <a:t>•  Topics: config.public.regions, .alert_thresholds, .subscriber_watchlist</a:t>
            </a:r>
          </a:p>
          <a:p>
            <a:pPr>
              <a:spcAft>
                <a:spcPts val="400"/>
              </a:spcAft>
            </a:pPr>
            <a:r>
              <a:rPr sz="1100">
                <a:solidFill>
                  <a:srgbClr val="0B2A4A"/>
                </a:solidFill>
              </a:rPr>
              <a:t>•  Consumers reload thresholds without restart — drift DAG (every 2 min) mutates rows to keep CDC busy in the demo.</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Doorbell vs door check</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Polling is walking to the door every minute to see if anyone is there. CDC is the doorbell — the database tells you the moment something happens, and you sleep through the silence.</a:t>
            </a:r>
          </a:p>
        </p:txBody>
      </p:sp>
      <p:sp>
        <p:nvSpPr>
          <p:cNvPr id="13" name="Rectangle 12"/>
          <p:cNvSpPr/>
          <p:nvPr/>
        </p:nvSpPr>
        <p:spPr>
          <a:xfrm>
            <a:off x="0" y="49149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4 / 10  ·  Module 1</a:t>
            </a:r>
          </a:p>
        </p:txBody>
      </p:sp>
    </p:spTree>
  </p:cSld>
  <p:clrMapOvr>
    <a:masterClrMapping/>
  </p:clrMapOvr>
</p:sld>
</file>

<file path=ppt/slides/slide3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1  · Architecture</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Schema Registry as the contract</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Avro subjects + BACKWARD compatibility = no 3am surprises</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avro.png"/>
          <p:cNvPicPr>
            <a:picLocks noChangeAspect="1"/>
          </p:cNvPicPr>
          <p:nvPr/>
        </p:nvPicPr>
        <p:blipFill>
          <a:blip r:embed="rId2"/>
          <a:stretch>
            <a:fillRect/>
          </a:stretch>
        </p:blipFill>
        <p:spPr>
          <a:xfrm>
            <a:off x="342900" y="1432768"/>
            <a:ext cx="4983480" cy="1706464"/>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Each topic value has a subject:  &lt;topic&gt;-value</a:t>
            </a:r>
          </a:p>
          <a:p>
            <a:pPr>
              <a:spcAft>
                <a:spcPts val="400"/>
              </a:spcAft>
            </a:pPr>
            <a:r>
              <a:rPr sz="1100">
                <a:solidFill>
                  <a:srgbClr val="0B2A4A"/>
                </a:solidFill>
              </a:rPr>
              <a:t>•  BACKWARD compatibility = new schema can read old data.</a:t>
            </a:r>
          </a:p>
          <a:p>
            <a:pPr>
              <a:spcAft>
                <a:spcPts val="400"/>
              </a:spcAft>
            </a:pPr>
            <a:r>
              <a:rPr sz="1100">
                <a:solidFill>
                  <a:srgbClr val="0B2A4A"/>
                </a:solidFill>
              </a:rPr>
              <a:t>•  Producers serialize against the registered schema or fail loudly.</a:t>
            </a:r>
          </a:p>
          <a:p>
            <a:pPr>
              <a:spcAft>
                <a:spcPts val="400"/>
              </a:spcAft>
            </a:pPr>
            <a:r>
              <a:rPr sz="1100">
                <a:solidFill>
                  <a:srgbClr val="0B2A4A"/>
                </a:solidFill>
              </a:rPr>
              <a:t>•  Bronze keeps Avro (small + schema-bound); Gold flips to Parquet (column-pruning friendly for dashboards).</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Building blueprints</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Architects don't ship a new building plan without comparing it to the old one — you can add windows, but you can't move load-bearing walls. Schema Registry enforces that, automatically, on every produce.</a:t>
            </a:r>
          </a:p>
        </p:txBody>
      </p:sp>
      <p:sp>
        <p:nvSpPr>
          <p:cNvPr id="13" name="Rectangle 12"/>
          <p:cNvSpPr/>
          <p:nvPr/>
        </p:nvSpPr>
        <p:spPr>
          <a:xfrm>
            <a:off x="0" y="49149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5 / 10  ·  Module 1</a:t>
            </a:r>
          </a:p>
        </p:txBody>
      </p:sp>
    </p:spTree>
  </p:cSld>
  <p:clrMapOvr>
    <a:masterClrMapping/>
  </p:clrMapOvr>
</p:sld>
</file>

<file path=ppt/slides/slide3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1  · Architecture</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Topic + partition inventory</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Naming convention: &lt;source&gt;.&lt;entity&gt;(.action)?</a:t>
            </a:r>
          </a:p>
        </p:txBody>
      </p:sp>
      <p:graphicFrame>
        <p:nvGraphicFramePr>
          <p:cNvPr id="6" name="Table 5"/>
          <p:cNvGraphicFramePr>
            <a:graphicFrameLocks noGrp="1"/>
          </p:cNvGraphicFramePr>
          <p:nvPr/>
        </p:nvGraphicFramePr>
        <p:xfrm>
          <a:off x="274320" y="914400"/>
          <a:ext cx="5212080" cy="4023360"/>
        </p:xfrm>
        <a:graphic>
          <a:graphicData uri="http://schemas.openxmlformats.org/drawingml/2006/table">
            <a:tbl>
              <a:tblPr firstRow="1" bandRow="1">
                <a:tableStyleId>{5C22544A-7EE6-4342-B048-85BDC9FD1C3A}</a:tableStyleId>
              </a:tblPr>
              <a:tblGrid>
                <a:gridCol w="1303020"/>
                <a:gridCol w="1303020"/>
                <a:gridCol w="1303020"/>
                <a:gridCol w="1303020"/>
              </a:tblGrid>
              <a:tr h="447040">
                <a:tc>
                  <a:txBody>
                    <a:bodyPr/>
                    <a:lstStyle/>
                    <a:p>
                      <a:r>
                        <a:rPr sz="1100" b="1">
                          <a:solidFill>
                            <a:srgbClr val="FFFFFF"/>
                          </a:solidFill>
                        </a:rPr>
                        <a:t>Topic</a:t>
                      </a:r>
                    </a:p>
                  </a:txBody>
                  <a:tcPr>
                    <a:solidFill>
                      <a:srgbClr val="0B2A4A"/>
                    </a:solidFill>
                  </a:tcPr>
                </a:tc>
                <a:tc>
                  <a:txBody>
                    <a:bodyPr/>
                    <a:lstStyle/>
                    <a:p>
                      <a:r>
                        <a:rPr sz="1100" b="1">
                          <a:solidFill>
                            <a:srgbClr val="FFFFFF"/>
                          </a:solidFill>
                        </a:rPr>
                        <a:t>Parts</a:t>
                      </a:r>
                    </a:p>
                  </a:txBody>
                  <a:tcPr>
                    <a:solidFill>
                      <a:srgbClr val="0B2A4A"/>
                    </a:solidFill>
                  </a:tcPr>
                </a:tc>
                <a:tc>
                  <a:txBody>
                    <a:bodyPr/>
                    <a:lstStyle/>
                    <a:p>
                      <a:r>
                        <a:rPr sz="1100" b="1">
                          <a:solidFill>
                            <a:srgbClr val="FFFFFF"/>
                          </a:solidFill>
                        </a:rPr>
                        <a:t>Source</a:t>
                      </a:r>
                    </a:p>
                  </a:txBody>
                  <a:tcPr>
                    <a:solidFill>
                      <a:srgbClr val="0B2A4A"/>
                    </a:solidFill>
                  </a:tcPr>
                </a:tc>
                <a:tc>
                  <a:txBody>
                    <a:bodyPr/>
                    <a:lstStyle/>
                    <a:p>
                      <a:r>
                        <a:rPr sz="1100" b="1">
                          <a:solidFill>
                            <a:srgbClr val="FFFFFF"/>
                          </a:solidFill>
                        </a:rPr>
                        <a:t>DLQ</a:t>
                      </a:r>
                    </a:p>
                  </a:txBody>
                  <a:tcPr>
                    <a:solidFill>
                      <a:srgbClr val="0B2A4A"/>
                    </a:solidFill>
                  </a:tcPr>
                </a:tc>
              </a:tr>
              <a:tr h="447040">
                <a:tc>
                  <a:txBody>
                    <a:bodyPr/>
                    <a:lstStyle/>
                    <a:p>
                      <a:r>
                        <a:rPr sz="1000">
                          <a:solidFill>
                            <a:srgbClr val="0B2A4A"/>
                          </a:solidFill>
                        </a:rPr>
                        <a:t>ogn.aircraft.positions</a:t>
                      </a:r>
                    </a:p>
                  </a:txBody>
                  <a:tcPr/>
                </a:tc>
                <a:tc>
                  <a:txBody>
                    <a:bodyPr/>
                    <a:lstStyle/>
                    <a:p>
                      <a:r>
                        <a:rPr sz="1000">
                          <a:solidFill>
                            <a:srgbClr val="0B2A4A"/>
                          </a:solidFill>
                        </a:rPr>
                        <a:t>6</a:t>
                      </a:r>
                    </a:p>
                  </a:txBody>
                  <a:tcPr/>
                </a:tc>
                <a:tc>
                  <a:txBody>
                    <a:bodyPr/>
                    <a:lstStyle/>
                    <a:p>
                      <a:r>
                        <a:rPr sz="1000">
                          <a:solidFill>
                            <a:srgbClr val="0B2A4A"/>
                          </a:solidFill>
                        </a:rPr>
                        <a:t>OGN ingestor</a:t>
                      </a:r>
                    </a:p>
                  </a:txBody>
                  <a:tcPr/>
                </a:tc>
                <a:tc>
                  <a:txBody>
                    <a:bodyPr/>
                    <a:lstStyle/>
                    <a:p>
                      <a:r>
                        <a:rPr sz="1000">
                          <a:solidFill>
                            <a:srgbClr val="0B2A4A"/>
                          </a:solidFill>
                        </a:rPr>
                        <a:t>—</a:t>
                      </a:r>
                    </a:p>
                  </a:txBody>
                  <a:tcPr/>
                </a:tc>
              </a:tr>
              <a:tr h="447040">
                <a:tc>
                  <a:txBody>
                    <a:bodyPr/>
                    <a:lstStyle/>
                    <a:p>
                      <a:r>
                        <a:rPr sz="1000">
                          <a:solidFill>
                            <a:srgbClr val="0B2A4A"/>
                          </a:solidFill>
                        </a:rPr>
                        <a:t>noaa.observations</a:t>
                      </a:r>
                    </a:p>
                  </a:txBody>
                  <a:tcPr>
                    <a:solidFill>
                      <a:srgbClr val="F1F5F9"/>
                    </a:solidFill>
                  </a:tcPr>
                </a:tc>
                <a:tc>
                  <a:txBody>
                    <a:bodyPr/>
                    <a:lstStyle/>
                    <a:p>
                      <a:r>
                        <a:rPr sz="1000">
                          <a:solidFill>
                            <a:srgbClr val="0B2A4A"/>
                          </a:solidFill>
                        </a:rPr>
                        <a:t>3</a:t>
                      </a:r>
                    </a:p>
                  </a:txBody>
                  <a:tcPr>
                    <a:solidFill>
                      <a:srgbClr val="F1F5F9"/>
                    </a:solidFill>
                  </a:tcPr>
                </a:tc>
                <a:tc>
                  <a:txBody>
                    <a:bodyPr/>
                    <a:lstStyle/>
                    <a:p>
                      <a:r>
                        <a:rPr sz="1000">
                          <a:solidFill>
                            <a:srgbClr val="0B2A4A"/>
                          </a:solidFill>
                        </a:rPr>
                        <a:t>NOAA ingestor</a:t>
                      </a:r>
                    </a:p>
                  </a:txBody>
                  <a:tcPr>
                    <a:solidFill>
                      <a:srgbClr val="F1F5F9"/>
                    </a:solidFill>
                  </a:tcPr>
                </a:tc>
                <a:tc>
                  <a:txBody>
                    <a:bodyPr/>
                    <a:lstStyle/>
                    <a:p>
                      <a:r>
                        <a:rPr sz="1000">
                          <a:solidFill>
                            <a:srgbClr val="0B2A4A"/>
                          </a:solidFill>
                        </a:rPr>
                        <a:t>—</a:t>
                      </a:r>
                    </a:p>
                  </a:txBody>
                  <a:tcPr>
                    <a:solidFill>
                      <a:srgbClr val="F1F5F9"/>
                    </a:solidFill>
                  </a:tcPr>
                </a:tc>
              </a:tr>
              <a:tr h="447040">
                <a:tc>
                  <a:txBody>
                    <a:bodyPr/>
                    <a:lstStyle/>
                    <a:p>
                      <a:r>
                        <a:rPr sz="1000">
                          <a:solidFill>
                            <a:srgbClr val="0B2A4A"/>
                          </a:solidFill>
                        </a:rPr>
                        <a:t>noaa.alerts</a:t>
                      </a:r>
                    </a:p>
                  </a:txBody>
                  <a:tcPr/>
                </a:tc>
                <a:tc>
                  <a:txBody>
                    <a:bodyPr/>
                    <a:lstStyle/>
                    <a:p>
                      <a:r>
                        <a:rPr sz="1000">
                          <a:solidFill>
                            <a:srgbClr val="0B2A4A"/>
                          </a:solidFill>
                        </a:rPr>
                        <a:t>3</a:t>
                      </a:r>
                    </a:p>
                  </a:txBody>
                  <a:tcPr/>
                </a:tc>
                <a:tc>
                  <a:txBody>
                    <a:bodyPr/>
                    <a:lstStyle/>
                    <a:p>
                      <a:r>
                        <a:rPr sz="1000">
                          <a:solidFill>
                            <a:srgbClr val="0B2A4A"/>
                          </a:solidFill>
                        </a:rPr>
                        <a:t>NOAA ingestor</a:t>
                      </a:r>
                    </a:p>
                  </a:txBody>
                  <a:tcPr/>
                </a:tc>
                <a:tc>
                  <a:txBody>
                    <a:bodyPr/>
                    <a:lstStyle/>
                    <a:p>
                      <a:r>
                        <a:rPr sz="1000">
                          <a:solidFill>
                            <a:srgbClr val="0B2A4A"/>
                          </a:solidFill>
                        </a:rPr>
                        <a:t>—</a:t>
                      </a:r>
                    </a:p>
                  </a:txBody>
                  <a:tcPr/>
                </a:tc>
              </a:tr>
              <a:tr h="447040">
                <a:tc>
                  <a:txBody>
                    <a:bodyPr/>
                    <a:lstStyle/>
                    <a:p>
                      <a:r>
                        <a:rPr sz="1000">
                          <a:solidFill>
                            <a:srgbClr val="0B2A4A"/>
                          </a:solidFill>
                        </a:rPr>
                        <a:t>seismic.events</a:t>
                      </a:r>
                    </a:p>
                  </a:txBody>
                  <a:tcPr>
                    <a:solidFill>
                      <a:srgbClr val="F1F5F9"/>
                    </a:solidFill>
                  </a:tcPr>
                </a:tc>
                <a:tc>
                  <a:txBody>
                    <a:bodyPr/>
                    <a:lstStyle/>
                    <a:p>
                      <a:r>
                        <a:rPr sz="1000">
                          <a:solidFill>
                            <a:srgbClr val="0B2A4A"/>
                          </a:solidFill>
                        </a:rPr>
                        <a:t>3</a:t>
                      </a:r>
                    </a:p>
                  </a:txBody>
                  <a:tcPr>
                    <a:solidFill>
                      <a:srgbClr val="F1F5F9"/>
                    </a:solidFill>
                  </a:tcPr>
                </a:tc>
                <a:tc>
                  <a:txBody>
                    <a:bodyPr/>
                    <a:lstStyle/>
                    <a:p>
                      <a:r>
                        <a:rPr sz="1000">
                          <a:solidFill>
                            <a:srgbClr val="0B2A4A"/>
                          </a:solidFill>
                        </a:rPr>
                        <a:t>EMSC ingestor</a:t>
                      </a:r>
                    </a:p>
                  </a:txBody>
                  <a:tcPr>
                    <a:solidFill>
                      <a:srgbClr val="F1F5F9"/>
                    </a:solidFill>
                  </a:tcPr>
                </a:tc>
                <a:tc>
                  <a:txBody>
                    <a:bodyPr/>
                    <a:lstStyle/>
                    <a:p>
                      <a:r>
                        <a:rPr sz="1000">
                          <a:solidFill>
                            <a:srgbClr val="0B2A4A"/>
                          </a:solidFill>
                        </a:rPr>
                        <a:t>—</a:t>
                      </a:r>
                    </a:p>
                  </a:txBody>
                  <a:tcPr>
                    <a:solidFill>
                      <a:srgbClr val="F1F5F9"/>
                    </a:solidFill>
                  </a:tcPr>
                </a:tc>
              </a:tr>
              <a:tr h="447040">
                <a:tc>
                  <a:txBody>
                    <a:bodyPr/>
                    <a:lstStyle/>
                    <a:p>
                      <a:r>
                        <a:rPr sz="1000">
                          <a:solidFill>
                            <a:srgbClr val="0B2A4A"/>
                          </a:solidFill>
                        </a:rPr>
                        <a:t>config.public.regions</a:t>
                      </a:r>
                    </a:p>
                  </a:txBody>
                  <a:tcPr/>
                </a:tc>
                <a:tc>
                  <a:txBody>
                    <a:bodyPr/>
                    <a:lstStyle/>
                    <a:p>
                      <a:r>
                        <a:rPr sz="1000">
                          <a:solidFill>
                            <a:srgbClr val="0B2A4A"/>
                          </a:solidFill>
                        </a:rPr>
                        <a:t>1</a:t>
                      </a:r>
                    </a:p>
                  </a:txBody>
                  <a:tcPr/>
                </a:tc>
                <a:tc>
                  <a:txBody>
                    <a:bodyPr/>
                    <a:lstStyle/>
                    <a:p>
                      <a:r>
                        <a:rPr sz="1000">
                          <a:solidFill>
                            <a:srgbClr val="0B2A4A"/>
                          </a:solidFill>
                        </a:rPr>
                        <a:t>Debezium CDC</a:t>
                      </a:r>
                    </a:p>
                  </a:txBody>
                  <a:tcPr/>
                </a:tc>
                <a:tc>
                  <a:txBody>
                    <a:bodyPr/>
                    <a:lstStyle/>
                    <a:p>
                      <a:r>
                        <a:rPr sz="1000">
                          <a:solidFill>
                            <a:srgbClr val="0B2A4A"/>
                          </a:solidFill>
                        </a:rPr>
                        <a:t>dlq.config-source</a:t>
                      </a:r>
                    </a:p>
                  </a:txBody>
                  <a:tcPr/>
                </a:tc>
              </a:tr>
              <a:tr h="447040">
                <a:tc>
                  <a:txBody>
                    <a:bodyPr/>
                    <a:lstStyle/>
                    <a:p>
                      <a:r>
                        <a:rPr sz="1000">
                          <a:solidFill>
                            <a:srgbClr val="0B2A4A"/>
                          </a:solidFill>
                        </a:rPr>
                        <a:t>config.public.alert_thresholds</a:t>
                      </a:r>
                    </a:p>
                  </a:txBody>
                  <a:tcPr>
                    <a:solidFill>
                      <a:srgbClr val="F1F5F9"/>
                    </a:solidFill>
                  </a:tcPr>
                </a:tc>
                <a:tc>
                  <a:txBody>
                    <a:bodyPr/>
                    <a:lstStyle/>
                    <a:p>
                      <a:r>
                        <a:rPr sz="1000">
                          <a:solidFill>
                            <a:srgbClr val="0B2A4A"/>
                          </a:solidFill>
                        </a:rPr>
                        <a:t>1</a:t>
                      </a:r>
                    </a:p>
                  </a:txBody>
                  <a:tcPr>
                    <a:solidFill>
                      <a:srgbClr val="F1F5F9"/>
                    </a:solidFill>
                  </a:tcPr>
                </a:tc>
                <a:tc>
                  <a:txBody>
                    <a:bodyPr/>
                    <a:lstStyle/>
                    <a:p>
                      <a:r>
                        <a:rPr sz="1000">
                          <a:solidFill>
                            <a:srgbClr val="0B2A4A"/>
                          </a:solidFill>
                        </a:rPr>
                        <a:t>Debezium CDC</a:t>
                      </a:r>
                    </a:p>
                  </a:txBody>
                  <a:tcPr>
                    <a:solidFill>
                      <a:srgbClr val="F1F5F9"/>
                    </a:solidFill>
                  </a:tcPr>
                </a:tc>
                <a:tc>
                  <a:txBody>
                    <a:bodyPr/>
                    <a:lstStyle/>
                    <a:p>
                      <a:r>
                        <a:rPr sz="1000">
                          <a:solidFill>
                            <a:srgbClr val="0B2A4A"/>
                          </a:solidFill>
                        </a:rPr>
                        <a:t>dlq.config-source</a:t>
                      </a:r>
                    </a:p>
                  </a:txBody>
                  <a:tcPr>
                    <a:solidFill>
                      <a:srgbClr val="F1F5F9"/>
                    </a:solidFill>
                  </a:tcPr>
                </a:tc>
              </a:tr>
              <a:tr h="447040">
                <a:tc>
                  <a:txBody>
                    <a:bodyPr/>
                    <a:lstStyle/>
                    <a:p>
                      <a:r>
                        <a:rPr sz="1000">
                          <a:solidFill>
                            <a:srgbClr val="0B2A4A"/>
                          </a:solidFill>
                        </a:rPr>
                        <a:t>config.public.subscriber_watchlist</a:t>
                      </a:r>
                    </a:p>
                  </a:txBody>
                  <a:tcPr/>
                </a:tc>
                <a:tc>
                  <a:txBody>
                    <a:bodyPr/>
                    <a:lstStyle/>
                    <a:p>
                      <a:r>
                        <a:rPr sz="1000">
                          <a:solidFill>
                            <a:srgbClr val="0B2A4A"/>
                          </a:solidFill>
                        </a:rPr>
                        <a:t>1</a:t>
                      </a:r>
                    </a:p>
                  </a:txBody>
                  <a:tcPr/>
                </a:tc>
                <a:tc>
                  <a:txBody>
                    <a:bodyPr/>
                    <a:lstStyle/>
                    <a:p>
                      <a:r>
                        <a:rPr sz="1000">
                          <a:solidFill>
                            <a:srgbClr val="0B2A4A"/>
                          </a:solidFill>
                        </a:rPr>
                        <a:t>Debezium CDC</a:t>
                      </a:r>
                    </a:p>
                  </a:txBody>
                  <a:tcPr/>
                </a:tc>
                <a:tc>
                  <a:txBody>
                    <a:bodyPr/>
                    <a:lstStyle/>
                    <a:p>
                      <a:r>
                        <a:rPr sz="1000">
                          <a:solidFill>
                            <a:srgbClr val="0B2A4A"/>
                          </a:solidFill>
                        </a:rPr>
                        <a:t>dlq.config-source</a:t>
                      </a:r>
                    </a:p>
                  </a:txBody>
                  <a:tcPr/>
                </a:tc>
              </a:tr>
              <a:tr h="447040">
                <a:tc>
                  <a:txBody>
                    <a:bodyPr/>
                    <a:lstStyle/>
                    <a:p>
                      <a:r>
                        <a:rPr sz="1000">
                          <a:solidFill>
                            <a:srgbClr val="0B2A4A"/>
                          </a:solidFill>
                        </a:rPr>
                        <a:t>config.heartbeat</a:t>
                      </a:r>
                    </a:p>
                  </a:txBody>
                  <a:tcPr>
                    <a:solidFill>
                      <a:srgbClr val="F1F5F9"/>
                    </a:solidFill>
                  </a:tcPr>
                </a:tc>
                <a:tc>
                  <a:txBody>
                    <a:bodyPr/>
                    <a:lstStyle/>
                    <a:p>
                      <a:r>
                        <a:rPr sz="1000">
                          <a:solidFill>
                            <a:srgbClr val="0B2A4A"/>
                          </a:solidFill>
                        </a:rPr>
                        <a:t>1</a:t>
                      </a:r>
                    </a:p>
                  </a:txBody>
                  <a:tcPr>
                    <a:solidFill>
                      <a:srgbClr val="F1F5F9"/>
                    </a:solidFill>
                  </a:tcPr>
                </a:tc>
                <a:tc>
                  <a:txBody>
                    <a:bodyPr/>
                    <a:lstStyle/>
                    <a:p>
                      <a:r>
                        <a:rPr sz="1000">
                          <a:solidFill>
                            <a:srgbClr val="0B2A4A"/>
                          </a:solidFill>
                        </a:rPr>
                        <a:t>Debezium</a:t>
                      </a:r>
                    </a:p>
                  </a:txBody>
                  <a:tcPr>
                    <a:solidFill>
                      <a:srgbClr val="F1F5F9"/>
                    </a:solidFill>
                  </a:tcPr>
                </a:tc>
                <a:tc>
                  <a:txBody>
                    <a:bodyPr/>
                    <a:lstStyle/>
                    <a:p>
                      <a:r>
                        <a:rPr sz="1000">
                          <a:solidFill>
                            <a:srgbClr val="0B2A4A"/>
                          </a:solidFill>
                        </a:rPr>
                        <a:t>—</a:t>
                      </a:r>
                    </a:p>
                  </a:txBody>
                  <a:tcPr>
                    <a:solidFill>
                      <a:srgbClr val="F1F5F9"/>
                    </a:solidFill>
                  </a:tcPr>
                </a:tc>
              </a:tr>
            </a:tbl>
          </a:graphicData>
        </a:graphic>
      </p:graphicFrame>
      <p:sp>
        <p:nvSpPr>
          <p:cNvPr id="7" name="Rectangle 6"/>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9" name="TextBox 8"/>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Highway lanes</a:t>
            </a:r>
          </a:p>
        </p:txBody>
      </p:sp>
      <p:sp>
        <p:nvSpPr>
          <p:cNvPr id="10" name="TextBox 9"/>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Partitions are lanes on a highway. More lanes = more cars in parallel, but order is only guaranteed within one lane. Pick the partition key (entity id) so things that must stay in order share a lane.</a:t>
            </a:r>
          </a:p>
        </p:txBody>
      </p:sp>
      <p:sp>
        <p:nvSpPr>
          <p:cNvPr id="11" name="Rectangle 10"/>
          <p:cNvSpPr/>
          <p:nvPr/>
        </p:nvSpPr>
        <p:spPr>
          <a:xfrm>
            <a:off x="0" y="49149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6 / 10  ·  Module 1</a:t>
            </a:r>
          </a:p>
        </p:txBody>
      </p:sp>
    </p:spTree>
  </p:cSld>
  <p:clrMapOvr>
    <a:masterClrMapping/>
  </p:clrMapOvr>
</p:sld>
</file>

<file path=ppt/slides/slide3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1  · Architecture</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Storage layout in MinIO</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Hourly partitioned Avro at bronze, snapshot+latest Parquet at gold</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minio.png"/>
          <p:cNvPicPr>
            <a:picLocks noChangeAspect="1"/>
          </p:cNvPicPr>
          <p:nvPr/>
        </p:nvPicPr>
        <p:blipFill>
          <a:blip r:embed="rId2"/>
          <a:stretch>
            <a:fillRect/>
          </a:stretch>
        </p:blipFill>
        <p:spPr>
          <a:xfrm>
            <a:off x="1531620" y="982980"/>
            <a:ext cx="2606040"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s3://bronze/&lt;topic&gt;/year=YYYY/month=MM/day=DD/hour=HH/...avro</a:t>
            </a:r>
          </a:p>
          <a:p>
            <a:pPr>
              <a:spcAft>
                <a:spcPts val="400"/>
              </a:spcAft>
            </a:pPr>
            <a:r>
              <a:rPr sz="1100">
                <a:solidFill>
                  <a:srgbClr val="0B2A4A"/>
                </a:solidFill>
              </a:rPr>
              <a:t>•  s3://silver/&lt;entity&gt;/year=YYYY/month=MM/day=DD/part-&lt;hash&gt;.avro</a:t>
            </a:r>
          </a:p>
          <a:p>
            <a:pPr>
              <a:spcAft>
                <a:spcPts val="400"/>
              </a:spcAft>
            </a:pPr>
            <a:r>
              <a:rPr sz="1100">
                <a:solidFill>
                  <a:srgbClr val="0B2A4A"/>
                </a:solidFill>
              </a:rPr>
              <a:t>•  s3://silver/_quality/&lt;entity&gt;/&lt;utc-iso&gt;.avro  (audit trail)</a:t>
            </a:r>
          </a:p>
          <a:p>
            <a:pPr>
              <a:spcAft>
                <a:spcPts val="400"/>
              </a:spcAft>
            </a:pPr>
            <a:r>
              <a:rPr sz="1100">
                <a:solidFill>
                  <a:srgbClr val="0B2A4A"/>
                </a:solidFill>
              </a:rPr>
              <a:t>•  s3://gold/&lt;mart&gt;/snapshot=…Z/part-0.parquet  +  latest.parquet</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Library shelves</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Bronze is the returns cart — books dumped in arrival order. Silver is the Dewey-decimal shelf — one copy per ISBN. Gold is the librarian's pick-of-the-week display — small, curated, swap-out-the-poster fast.</a:t>
            </a:r>
          </a:p>
        </p:txBody>
      </p:sp>
      <p:sp>
        <p:nvSpPr>
          <p:cNvPr id="13" name="Rectangle 12"/>
          <p:cNvSpPr/>
          <p:nvPr/>
        </p:nvSpPr>
        <p:spPr>
          <a:xfrm>
            <a:off x="0" y="49149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7 / 10  ·  Module 1</a:t>
            </a:r>
          </a:p>
        </p:txBody>
      </p:sp>
    </p:spTree>
  </p:cSld>
  <p:clrMapOvr>
    <a:masterClrMapping/>
  </p:clrMapOvr>
</p:sld>
</file>

<file path=ppt/slides/slide4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1  · Architecture</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Four gold marts, four questions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Each mart is one decision the business wants to make in &lt;1 sec</a:t>
            </a:r>
          </a:p>
        </p:txBody>
      </p:sp>
      <p:graphicFrame>
        <p:nvGraphicFramePr>
          <p:cNvPr id="6" name="Table 5"/>
          <p:cNvGraphicFramePr>
            <a:graphicFrameLocks noGrp="1"/>
          </p:cNvGraphicFramePr>
          <p:nvPr/>
        </p:nvGraphicFramePr>
        <p:xfrm>
          <a:off x="274320" y="914400"/>
          <a:ext cx="5212080" cy="4023360"/>
        </p:xfrm>
        <a:graphic>
          <a:graphicData uri="http://schemas.openxmlformats.org/drawingml/2006/table">
            <a:tbl>
              <a:tblPr firstRow="1" bandRow="1">
                <a:tableStyleId>{5C22544A-7EE6-4342-B048-85BDC9FD1C3A}</a:tableStyleId>
              </a:tblPr>
              <a:tblGrid>
                <a:gridCol w="1737360"/>
                <a:gridCol w="1737360"/>
                <a:gridCol w="1737360"/>
              </a:tblGrid>
              <a:tr h="804672">
                <a:tc>
                  <a:txBody>
                    <a:bodyPr/>
                    <a:lstStyle/>
                    <a:p>
                      <a:r>
                        <a:rPr sz="1100" b="1">
                          <a:solidFill>
                            <a:srgbClr val="FFFFFF"/>
                          </a:solidFill>
                        </a:rPr>
                        <a:t>Mart</a:t>
                      </a:r>
                    </a:p>
                  </a:txBody>
                  <a:tcPr>
                    <a:solidFill>
                      <a:srgbClr val="0B2A4A"/>
                    </a:solidFill>
                  </a:tcPr>
                </a:tc>
                <a:tc>
                  <a:txBody>
                    <a:bodyPr/>
                    <a:lstStyle/>
                    <a:p>
                      <a:r>
                        <a:rPr sz="1100" b="1">
                          <a:solidFill>
                            <a:srgbClr val="FFFFFF"/>
                          </a:solidFill>
                        </a:rPr>
                        <a:t>Inputs</a:t>
                      </a:r>
                    </a:p>
                  </a:txBody>
                  <a:tcPr>
                    <a:solidFill>
                      <a:srgbClr val="0B2A4A"/>
                    </a:solidFill>
                  </a:tcPr>
                </a:tc>
                <a:tc>
                  <a:txBody>
                    <a:bodyPr/>
                    <a:lstStyle/>
                    <a:p>
                      <a:r>
                        <a:rPr sz="1100" b="1">
                          <a:solidFill>
                            <a:srgbClr val="FFFFFF"/>
                          </a:solidFill>
                        </a:rPr>
                        <a:t>Grain</a:t>
                      </a:r>
                    </a:p>
                  </a:txBody>
                  <a:tcPr>
                    <a:solidFill>
                      <a:srgbClr val="0B2A4A"/>
                    </a:solidFill>
                  </a:tcPr>
                </a:tc>
              </a:tr>
              <a:tr h="804672">
                <a:tc>
                  <a:txBody>
                    <a:bodyPr/>
                    <a:lstStyle/>
                    <a:p>
                      <a:r>
                        <a:rPr sz="1000">
                          <a:solidFill>
                            <a:srgbClr val="0B2A4A"/>
                          </a:solidFill>
                        </a:rPr>
                        <a:t>aircraft_density_by_region</a:t>
                      </a:r>
                    </a:p>
                  </a:txBody>
                  <a:tcPr/>
                </a:tc>
                <a:tc>
                  <a:txBody>
                    <a:bodyPr/>
                    <a:lstStyle/>
                    <a:p>
                      <a:r>
                        <a:rPr sz="1000">
                          <a:solidFill>
                            <a:srgbClr val="0B2A4A"/>
                          </a:solidFill>
                        </a:rPr>
                        <a:t>ogn + regions</a:t>
                      </a:r>
                    </a:p>
                  </a:txBody>
                  <a:tcPr/>
                </a:tc>
                <a:tc>
                  <a:txBody>
                    <a:bodyPr/>
                    <a:lstStyle/>
                    <a:p>
                      <a:r>
                        <a:rPr sz="1000">
                          <a:solidFill>
                            <a:srgbClr val="0B2A4A"/>
                          </a:solidFill>
                        </a:rPr>
                        <a:t>region · last 1h</a:t>
                      </a:r>
                    </a:p>
                  </a:txBody>
                  <a:tcPr/>
                </a:tc>
              </a:tr>
              <a:tr h="804672">
                <a:tc>
                  <a:txBody>
                    <a:bodyPr/>
                    <a:lstStyle/>
                    <a:p>
                      <a:r>
                        <a:rPr sz="1000">
                          <a:solidFill>
                            <a:srgbClr val="0B2A4A"/>
                          </a:solidFill>
                        </a:rPr>
                        <a:t>weather_snapshot</a:t>
                      </a:r>
                    </a:p>
                  </a:txBody>
                  <a:tcPr>
                    <a:solidFill>
                      <a:srgbClr val="F1F5F9"/>
                    </a:solidFill>
                  </a:tcPr>
                </a:tc>
                <a:tc>
                  <a:txBody>
                    <a:bodyPr/>
                    <a:lstStyle/>
                    <a:p>
                      <a:r>
                        <a:rPr sz="1000">
                          <a:solidFill>
                            <a:srgbClr val="0B2A4A"/>
                          </a:solidFill>
                        </a:rPr>
                        <a:t>noaa_obs + regions</a:t>
                      </a:r>
                    </a:p>
                  </a:txBody>
                  <a:tcPr>
                    <a:solidFill>
                      <a:srgbClr val="F1F5F9"/>
                    </a:solidFill>
                  </a:tcPr>
                </a:tc>
                <a:tc>
                  <a:txBody>
                    <a:bodyPr/>
                    <a:lstStyle/>
                    <a:p>
                      <a:r>
                        <a:rPr sz="1000">
                          <a:solidFill>
                            <a:srgbClr val="0B2A4A"/>
                          </a:solidFill>
                        </a:rPr>
                        <a:t>station_code · latest</a:t>
                      </a:r>
                    </a:p>
                  </a:txBody>
                  <a:tcPr>
                    <a:solidFill>
                      <a:srgbClr val="F1F5F9"/>
                    </a:solidFill>
                  </a:tcPr>
                </a:tc>
              </a:tr>
              <a:tr h="804672">
                <a:tc>
                  <a:txBody>
                    <a:bodyPr/>
                    <a:lstStyle/>
                    <a:p>
                      <a:r>
                        <a:rPr sz="1000">
                          <a:solidFill>
                            <a:srgbClr val="0B2A4A"/>
                          </a:solidFill>
                        </a:rPr>
                        <a:t>seismic_24h_summary</a:t>
                      </a:r>
                    </a:p>
                  </a:txBody>
                  <a:tcPr/>
                </a:tc>
                <a:tc>
                  <a:txBody>
                    <a:bodyPr/>
                    <a:lstStyle/>
                    <a:p>
                      <a:r>
                        <a:rPr sz="1000">
                          <a:solidFill>
                            <a:srgbClr val="0B2A4A"/>
                          </a:solidFill>
                        </a:rPr>
                        <a:t>seismic_events</a:t>
                      </a:r>
                    </a:p>
                  </a:txBody>
                  <a:tcPr/>
                </a:tc>
                <a:tc>
                  <a:txBody>
                    <a:bodyPr/>
                    <a:lstStyle/>
                    <a:p>
                      <a:r>
                        <a:rPr sz="1000">
                          <a:solidFill>
                            <a:srgbClr val="0B2A4A"/>
                          </a:solidFill>
                        </a:rPr>
                        <a:t>mag-bucket × region · 24h</a:t>
                      </a:r>
                    </a:p>
                  </a:txBody>
                  <a:tcPr/>
                </a:tc>
              </a:tr>
              <a:tr h="804672">
                <a:tc>
                  <a:txBody>
                    <a:bodyPr/>
                    <a:lstStyle/>
                    <a:p>
                      <a:r>
                        <a:rPr sz="1000">
                          <a:solidFill>
                            <a:srgbClr val="0B2A4A"/>
                          </a:solidFill>
                        </a:rPr>
                        <a:t>region_alert_correlation</a:t>
                      </a:r>
                    </a:p>
                  </a:txBody>
                  <a:tcPr>
                    <a:solidFill>
                      <a:srgbClr val="F1F5F9"/>
                    </a:solidFill>
                  </a:tcPr>
                </a:tc>
                <a:tc>
                  <a:txBody>
                    <a:bodyPr/>
                    <a:lstStyle/>
                    <a:p>
                      <a:r>
                        <a:rPr sz="1000">
                          <a:solidFill>
                            <a:srgbClr val="0B2A4A"/>
                          </a:solidFill>
                        </a:rPr>
                        <a:t>seismic + regions + thresholds + watchlist</a:t>
                      </a:r>
                    </a:p>
                  </a:txBody>
                  <a:tcPr>
                    <a:solidFill>
                      <a:srgbClr val="F1F5F9"/>
                    </a:solidFill>
                  </a:tcPr>
                </a:tc>
                <a:tc>
                  <a:txBody>
                    <a:bodyPr/>
                    <a:lstStyle/>
                    <a:p>
                      <a:r>
                        <a:rPr sz="1000">
                          <a:solidFill>
                            <a:srgbClr val="0B2A4A"/>
                          </a:solidFill>
                        </a:rPr>
                        <a:t>alert event</a:t>
                      </a:r>
                    </a:p>
                  </a:txBody>
                  <a:tcPr>
                    <a:solidFill>
                      <a:srgbClr val="F1F5F9"/>
                    </a:solidFill>
                  </a:tcPr>
                </a:tc>
              </a:tr>
            </a:tbl>
          </a:graphicData>
        </a:graphic>
      </p:graphicFrame>
      <p:sp>
        <p:nvSpPr>
          <p:cNvPr id="7" name="Rectangle 6"/>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9" name="TextBox 8"/>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Newsroom front page</a:t>
            </a:r>
          </a:p>
        </p:txBody>
      </p:sp>
      <p:sp>
        <p:nvSpPr>
          <p:cNvPr id="10" name="TextBox 9"/>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A mart is a front-page headline: one number, one chart, ready to print. The investigative reporting (Avro joins, dedupe) happens upstream so the editor (dashboard) doesn't think.</a:t>
            </a:r>
          </a:p>
        </p:txBody>
      </p:sp>
      <p:sp>
        <p:nvSpPr>
          <p:cNvPr id="11" name="Rectangle 10"/>
          <p:cNvSpPr/>
          <p:nvPr/>
        </p:nvSpPr>
        <p:spPr>
          <a:xfrm>
            <a:off x="0" y="49149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8 / 10  ·  Module 1</a:t>
            </a:r>
          </a:p>
        </p:txBody>
      </p:sp>
    </p:spTree>
  </p:cSld>
  <p:clrMapOvr>
    <a:masterClrMapping/>
  </p:clrMapOvr>
</p:sld>
</file>

<file path=ppt/slides/slide4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1  · Architecture</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Trade-off: kappa over lambda</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One pipeline for batch and stream — replay from bronze when needed</a:t>
            </a:r>
          </a:p>
        </p:txBody>
      </p:sp>
      <p:sp>
        <p:nvSpPr>
          <p:cNvPr id="6" name="TextBox 5"/>
          <p:cNvSpPr txBox="1"/>
          <p:nvPr/>
        </p:nvSpPr>
        <p:spPr>
          <a:xfrm>
            <a:off x="274320" y="914400"/>
            <a:ext cx="5212080" cy="274320"/>
          </a:xfrm>
          <a:prstGeom prst="rect">
            <a:avLst/>
          </a:prstGeom>
          <a:noFill/>
        </p:spPr>
        <p:txBody>
          <a:bodyPr wrap="square" lIns="45720" rIns="45720" tIns="18288" bIns="18288">
            <a:spAutoFit/>
          </a:bodyPr>
          <a:lstStyle/>
          <a:p>
            <a:pPr algn="ctr"/>
            <a:r>
              <a:rPr sz="1200" b="1">
                <a:solidFill>
                  <a:srgbClr val="1F77B4"/>
                </a:solidFill>
              </a:rPr>
              <a:t>Kappa: re-process from the log</a:t>
            </a:r>
          </a:p>
        </p:txBody>
      </p:sp>
      <p:sp>
        <p:nvSpPr>
          <p:cNvPr id="7" name="Rectangle 6"/>
          <p:cNvSpPr/>
          <p:nvPr/>
        </p:nvSpPr>
        <p:spPr>
          <a:xfrm>
            <a:off x="731520" y="1463040"/>
            <a:ext cx="1463040" cy="457200"/>
          </a:xfrm>
          <a:prstGeom prst="rect">
            <a:avLst/>
          </a:prstGeom>
          <a:solidFill>
            <a:srgbClr val="2CA02C"/>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1572768"/>
            <a:ext cx="1463040" cy="237744"/>
          </a:xfrm>
          <a:prstGeom prst="rect">
            <a:avLst/>
          </a:prstGeom>
          <a:noFill/>
        </p:spPr>
        <p:txBody>
          <a:bodyPr wrap="square" lIns="45720" rIns="45720" tIns="18288" bIns="18288">
            <a:spAutoFit/>
          </a:bodyPr>
          <a:lstStyle/>
          <a:p>
            <a:pPr algn="ctr"/>
            <a:r>
              <a:rPr sz="1000" b="1">
                <a:solidFill>
                  <a:srgbClr val="FFFFFF"/>
                </a:solidFill>
              </a:rPr>
              <a:t>Kafka log</a:t>
            </a:r>
          </a:p>
        </p:txBody>
      </p:sp>
      <p:sp>
        <p:nvSpPr>
          <p:cNvPr id="9" name="Rectangle 8"/>
          <p:cNvSpPr/>
          <p:nvPr/>
        </p:nvSpPr>
        <p:spPr>
          <a:xfrm>
            <a:off x="2743200" y="1463040"/>
            <a:ext cx="1463040" cy="45720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743200" y="1572768"/>
            <a:ext cx="1463040" cy="237744"/>
          </a:xfrm>
          <a:prstGeom prst="rect">
            <a:avLst/>
          </a:prstGeom>
          <a:noFill/>
        </p:spPr>
        <p:txBody>
          <a:bodyPr wrap="square" lIns="45720" rIns="45720" tIns="18288" bIns="18288">
            <a:spAutoFit/>
          </a:bodyPr>
          <a:lstStyle/>
          <a:p>
            <a:pPr algn="ctr"/>
            <a:r>
              <a:rPr sz="1000" b="1">
                <a:solidFill>
                  <a:srgbClr val="FFFFFF"/>
                </a:solidFill>
              </a:rPr>
              <a:t>Stream job v1</a:t>
            </a:r>
          </a:p>
        </p:txBody>
      </p:sp>
      <p:sp>
        <p:nvSpPr>
          <p:cNvPr id="11" name="Rectangle 10"/>
          <p:cNvSpPr/>
          <p:nvPr/>
        </p:nvSpPr>
        <p:spPr>
          <a:xfrm>
            <a:off x="4572000" y="1463040"/>
            <a:ext cx="822960" cy="457200"/>
          </a:xfrm>
          <a:prstGeom prst="rect">
            <a:avLst/>
          </a:prstGeom>
          <a:solidFill>
            <a:srgbClr val="E88B1E"/>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4572000" y="1572768"/>
            <a:ext cx="822960" cy="237744"/>
          </a:xfrm>
          <a:prstGeom prst="rect">
            <a:avLst/>
          </a:prstGeom>
          <a:noFill/>
        </p:spPr>
        <p:txBody>
          <a:bodyPr wrap="square" lIns="45720" rIns="45720" tIns="18288" bIns="18288">
            <a:spAutoFit/>
          </a:bodyPr>
          <a:lstStyle/>
          <a:p>
            <a:pPr algn="ctr"/>
            <a:r>
              <a:rPr sz="1000" b="1">
                <a:solidFill>
                  <a:srgbClr val="FFFFFF"/>
                </a:solidFill>
              </a:rPr>
              <a:t>Gold v1</a:t>
            </a:r>
          </a:p>
        </p:txBody>
      </p:sp>
      <p:cxnSp>
        <p:nvCxnSpPr>
          <p:cNvPr id="13" name="Connector 12"/>
          <p:cNvCxnSpPr/>
          <p:nvPr/>
        </p:nvCxnSpPr>
        <p:spPr>
          <a:xfrm>
            <a:off x="2194560" y="1691640"/>
            <a:ext cx="5486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4206240" y="1691640"/>
            <a:ext cx="36576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5" name="Rectangle 14"/>
          <p:cNvSpPr/>
          <p:nvPr/>
        </p:nvSpPr>
        <p:spPr>
          <a:xfrm>
            <a:off x="2743200" y="2194560"/>
            <a:ext cx="1463040" cy="45720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2743200" y="2304288"/>
            <a:ext cx="1463040" cy="237744"/>
          </a:xfrm>
          <a:prstGeom prst="rect">
            <a:avLst/>
          </a:prstGeom>
          <a:noFill/>
        </p:spPr>
        <p:txBody>
          <a:bodyPr wrap="square" lIns="45720" rIns="45720" tIns="18288" bIns="18288">
            <a:spAutoFit/>
          </a:bodyPr>
          <a:lstStyle/>
          <a:p>
            <a:pPr algn="ctr"/>
            <a:r>
              <a:rPr sz="1000" b="1">
                <a:solidFill>
                  <a:srgbClr val="FFFFFF"/>
                </a:solidFill>
              </a:rPr>
              <a:t>Stream job v2</a:t>
            </a:r>
          </a:p>
        </p:txBody>
      </p:sp>
      <p:sp>
        <p:nvSpPr>
          <p:cNvPr id="17" name="Rectangle 16"/>
          <p:cNvSpPr/>
          <p:nvPr/>
        </p:nvSpPr>
        <p:spPr>
          <a:xfrm>
            <a:off x="4572000" y="2194560"/>
            <a:ext cx="822960" cy="457200"/>
          </a:xfrm>
          <a:prstGeom prst="rect">
            <a:avLst/>
          </a:prstGeom>
          <a:solidFill>
            <a:srgbClr val="E88B1E"/>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572000" y="2304288"/>
            <a:ext cx="822960" cy="237744"/>
          </a:xfrm>
          <a:prstGeom prst="rect">
            <a:avLst/>
          </a:prstGeom>
          <a:noFill/>
        </p:spPr>
        <p:txBody>
          <a:bodyPr wrap="square" lIns="45720" rIns="45720" tIns="18288" bIns="18288">
            <a:spAutoFit/>
          </a:bodyPr>
          <a:lstStyle/>
          <a:p>
            <a:pPr algn="ctr"/>
            <a:r>
              <a:rPr sz="1000" b="1">
                <a:solidFill>
                  <a:srgbClr val="FFFFFF"/>
                </a:solidFill>
              </a:rPr>
              <a:t>Gold v2</a:t>
            </a:r>
          </a:p>
        </p:txBody>
      </p:sp>
      <p:cxnSp>
        <p:nvCxnSpPr>
          <p:cNvPr id="19" name="Connector 18"/>
          <p:cNvCxnSpPr/>
          <p:nvPr/>
        </p:nvCxnSpPr>
        <p:spPr>
          <a:xfrm>
            <a:off x="2194560" y="1691640"/>
            <a:ext cx="548640" cy="73152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206240" y="2423160"/>
            <a:ext cx="36576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1" name="TextBox 20"/>
          <p:cNvSpPr txBox="1"/>
          <p:nvPr/>
        </p:nvSpPr>
        <p:spPr>
          <a:xfrm>
            <a:off x="274320" y="2926080"/>
            <a:ext cx="5212080" cy="2011680"/>
          </a:xfrm>
          <a:prstGeom prst="rect">
            <a:avLst/>
          </a:prstGeom>
          <a:noFill/>
        </p:spPr>
        <p:txBody>
          <a:bodyPr wrap="square" lIns="45720" rIns="45720" tIns="18288" bIns="18288">
            <a:spAutoFit/>
          </a:bodyPr>
          <a:lstStyle/>
          <a:p>
            <a:pPr algn="ctr"/>
            <a:r>
              <a:rPr sz="1100" b="0">
                <a:solidFill>
                  <a:srgbClr val="0B2A4A"/>
                </a:solidFill>
                <a:latin typeface="Consolas"/>
              </a:rPr>
              <a:t>Lambda needs two code paths (batch + stream) that must agree.</a:t>
            </a:r>
          </a:p>
          <a:p>
            <a:pPr algn="ctr"/>
            <a:r>
              <a:rPr sz="1100" b="0">
                <a:solidFill>
                  <a:srgbClr val="0B2A4A"/>
                </a:solidFill>
                <a:latin typeface="Consolas"/>
              </a:rPr>
              <a:t>Kappa keeps one path; rewrites = a new consumer that re-reads</a:t>
            </a:r>
          </a:p>
          <a:p>
            <a:pPr algn="ctr"/>
            <a:r>
              <a:rPr sz="1100" b="0">
                <a:solidFill>
                  <a:srgbClr val="0B2A4A"/>
                </a:solidFill>
                <a:latin typeface="Consolas"/>
              </a:rPr>
              <a:t>bronze. Cheaper to test, easier to reason about.</a:t>
            </a:r>
          </a:p>
          <a:p>
            <a:pPr algn="ctr"/>
            <a:r>
              <a:rPr sz="1100" b="0">
                <a:solidFill>
                  <a:srgbClr val="0B2A4A"/>
                </a:solidFill>
                <a:latin typeface="Consolas"/>
              </a:rPr>
              <a:t/>
            </a:r>
          </a:p>
          <a:p>
            <a:pPr algn="ctr"/>
            <a:r>
              <a:rPr sz="1100" b="0">
                <a:solidFill>
                  <a:srgbClr val="0B2A4A"/>
                </a:solidFill>
                <a:latin typeface="Consolas"/>
              </a:rPr>
              <a:t>In this stack:  the Hop/Python jobs read bronze each run, so a</a:t>
            </a:r>
          </a:p>
          <a:p>
            <a:pPr algn="ctr"/>
            <a:r>
              <a:rPr sz="1100" b="0">
                <a:solidFill>
                  <a:srgbClr val="0B2A4A"/>
                </a:solidFill>
                <a:latin typeface="Consolas"/>
              </a:rPr>
              <a:t>logic fix is just  ‘delete silver+gold, re-run’.</a:t>
            </a:r>
          </a:p>
        </p:txBody>
      </p:sp>
      <p:sp>
        <p:nvSpPr>
          <p:cNvPr id="22" name="Rectangle 21"/>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24" name="TextBox 23"/>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Tape vs notebook</a:t>
            </a:r>
          </a:p>
        </p:txBody>
      </p:sp>
      <p:sp>
        <p:nvSpPr>
          <p:cNvPr id="25" name="TextBox 24"/>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A tape recorder lets you rewind and re-listen. A notebook only has what you wrote down. Kappa says: keep the tape (Kafka log) and you can always re-create the notes.</a:t>
            </a:r>
          </a:p>
        </p:txBody>
      </p:sp>
      <p:sp>
        <p:nvSpPr>
          <p:cNvPr id="26" name="Rectangle 25"/>
          <p:cNvSpPr/>
          <p:nvPr/>
        </p:nvSpPr>
        <p:spPr>
          <a:xfrm>
            <a:off x="0" y="49149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9 / 10  ·  Module 1</a:t>
            </a:r>
          </a:p>
        </p:txBody>
      </p:sp>
    </p:spTree>
  </p:cSld>
  <p:clrMapOvr>
    <a:masterClrMapping/>
  </p:clrMapOvr>
</p:sld>
</file>

<file path=ppt/slides/slide4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1  · Architecture</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Knowledge Check</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5 quick questions — answers in green</a:t>
            </a:r>
          </a:p>
        </p:txBody>
      </p:sp>
      <p:sp>
        <p:nvSpPr>
          <p:cNvPr id="6" name="TextBox 5"/>
          <p:cNvSpPr txBox="1"/>
          <p:nvPr/>
        </p:nvSpPr>
        <p:spPr>
          <a:xfrm>
            <a:off x="365760" y="914400"/>
            <a:ext cx="8412480" cy="329184"/>
          </a:xfrm>
          <a:prstGeom prst="rect">
            <a:avLst/>
          </a:prstGeom>
          <a:noFill/>
        </p:spPr>
        <p:txBody>
          <a:bodyPr wrap="square" lIns="45720" rIns="45720" tIns="18288" bIns="18288">
            <a:spAutoFit/>
          </a:bodyPr>
          <a:lstStyle/>
          <a:p>
            <a:pPr algn="l"/>
            <a:r>
              <a:rPr sz="1200" b="1">
                <a:solidFill>
                  <a:srgbClr val="0B2A4A"/>
                </a:solidFill>
              </a:rPr>
              <a:t>Q1. In this stack, why does Postgres only hold config tables and not facts?</a:t>
            </a:r>
          </a:p>
        </p:txBody>
      </p:sp>
      <p:sp>
        <p:nvSpPr>
          <p:cNvPr id="7" name="TextBox 6"/>
          <p:cNvSpPr txBox="1"/>
          <p:nvPr/>
        </p:nvSpPr>
        <p:spPr>
          <a:xfrm>
            <a:off x="548640" y="1234440"/>
            <a:ext cx="8229600" cy="384048"/>
          </a:xfrm>
          <a:prstGeom prst="rect">
            <a:avLst/>
          </a:prstGeom>
          <a:noFill/>
        </p:spPr>
        <p:txBody>
          <a:bodyPr wrap="square" lIns="45720" rIns="45720" tIns="18288" bIns="18288">
            <a:spAutoFit/>
          </a:bodyPr>
          <a:lstStyle/>
          <a:p>
            <a:pPr algn="l"/>
            <a:r>
              <a:rPr sz="1100" b="0">
                <a:solidFill>
                  <a:srgbClr val="2CA02C"/>
                </a:solidFill>
              </a:rPr>
              <a:t>A. Facts are high-volume and append-only — they belong in Kafka. Postgres is for small reference data that CDC streams cheaply.</a:t>
            </a:r>
          </a:p>
        </p:txBody>
      </p:sp>
      <p:sp>
        <p:nvSpPr>
          <p:cNvPr id="8" name="TextBox 7"/>
          <p:cNvSpPr txBox="1"/>
          <p:nvPr/>
        </p:nvSpPr>
        <p:spPr>
          <a:xfrm>
            <a:off x="365760" y="1664208"/>
            <a:ext cx="8412480" cy="329184"/>
          </a:xfrm>
          <a:prstGeom prst="rect">
            <a:avLst/>
          </a:prstGeom>
          <a:noFill/>
        </p:spPr>
        <p:txBody>
          <a:bodyPr wrap="square" lIns="45720" rIns="45720" tIns="18288" bIns="18288">
            <a:spAutoFit/>
          </a:bodyPr>
          <a:lstStyle/>
          <a:p>
            <a:pPr algn="l"/>
            <a:r>
              <a:rPr sz="1200" b="1">
                <a:solidFill>
                  <a:srgbClr val="0B2A4A"/>
                </a:solidFill>
              </a:rPr>
              <a:t>Q2. Which Avro compatibility mode lets new schemas read old data?</a:t>
            </a:r>
          </a:p>
        </p:txBody>
      </p:sp>
      <p:sp>
        <p:nvSpPr>
          <p:cNvPr id="9" name="TextBox 8"/>
          <p:cNvSpPr txBox="1"/>
          <p:nvPr/>
        </p:nvSpPr>
        <p:spPr>
          <a:xfrm>
            <a:off x="548640" y="1984248"/>
            <a:ext cx="8229600" cy="384048"/>
          </a:xfrm>
          <a:prstGeom prst="rect">
            <a:avLst/>
          </a:prstGeom>
          <a:noFill/>
        </p:spPr>
        <p:txBody>
          <a:bodyPr wrap="square" lIns="45720" rIns="45720" tIns="18288" bIns="18288">
            <a:spAutoFit/>
          </a:bodyPr>
          <a:lstStyle/>
          <a:p>
            <a:pPr algn="l"/>
            <a:r>
              <a:rPr sz="1100" b="0">
                <a:solidFill>
                  <a:srgbClr val="2CA02C"/>
                </a:solidFill>
              </a:rPr>
              <a:t>A. BACKWARD — the default we configure on Schema Registry.</a:t>
            </a:r>
          </a:p>
        </p:txBody>
      </p:sp>
      <p:sp>
        <p:nvSpPr>
          <p:cNvPr id="10" name="TextBox 9"/>
          <p:cNvSpPr txBox="1"/>
          <p:nvPr/>
        </p:nvSpPr>
        <p:spPr>
          <a:xfrm>
            <a:off x="365760" y="2414016"/>
            <a:ext cx="8412480" cy="329184"/>
          </a:xfrm>
          <a:prstGeom prst="rect">
            <a:avLst/>
          </a:prstGeom>
          <a:noFill/>
        </p:spPr>
        <p:txBody>
          <a:bodyPr wrap="square" lIns="45720" rIns="45720" tIns="18288" bIns="18288">
            <a:spAutoFit/>
          </a:bodyPr>
          <a:lstStyle/>
          <a:p>
            <a:pPr algn="l"/>
            <a:r>
              <a:rPr sz="1200" b="1">
                <a:solidFill>
                  <a:srgbClr val="0B2A4A"/>
                </a:solidFill>
              </a:rPr>
              <a:t>Q3. Why pick Avro for bronze/silver and Parquet for gold?</a:t>
            </a:r>
          </a:p>
        </p:txBody>
      </p:sp>
      <p:sp>
        <p:nvSpPr>
          <p:cNvPr id="11" name="TextBox 10"/>
          <p:cNvSpPr txBox="1"/>
          <p:nvPr/>
        </p:nvSpPr>
        <p:spPr>
          <a:xfrm>
            <a:off x="548640" y="2734056"/>
            <a:ext cx="8229600" cy="384048"/>
          </a:xfrm>
          <a:prstGeom prst="rect">
            <a:avLst/>
          </a:prstGeom>
          <a:noFill/>
        </p:spPr>
        <p:txBody>
          <a:bodyPr wrap="square" lIns="45720" rIns="45720" tIns="18288" bIns="18288">
            <a:spAutoFit/>
          </a:bodyPr>
          <a:lstStyle/>
          <a:p>
            <a:pPr algn="l"/>
            <a:r>
              <a:rPr sz="1100" b="0">
                <a:solidFill>
                  <a:srgbClr val="2CA02C"/>
                </a:solidFill>
              </a:rPr>
              <a:t>A. Avro is row-oriented + schema-bound (good for streaming writes). Parquet is column-oriented (good for dashboard reads).</a:t>
            </a:r>
          </a:p>
        </p:txBody>
      </p:sp>
      <p:sp>
        <p:nvSpPr>
          <p:cNvPr id="12" name="TextBox 11"/>
          <p:cNvSpPr txBox="1"/>
          <p:nvPr/>
        </p:nvSpPr>
        <p:spPr>
          <a:xfrm>
            <a:off x="365760" y="3163824"/>
            <a:ext cx="8412480" cy="329184"/>
          </a:xfrm>
          <a:prstGeom prst="rect">
            <a:avLst/>
          </a:prstGeom>
          <a:noFill/>
        </p:spPr>
        <p:txBody>
          <a:bodyPr wrap="square" lIns="45720" rIns="45720" tIns="18288" bIns="18288">
            <a:spAutoFit/>
          </a:bodyPr>
          <a:lstStyle/>
          <a:p>
            <a:pPr algn="l"/>
            <a:r>
              <a:rPr sz="1200" b="1">
                <a:solidFill>
                  <a:srgbClr val="0B2A4A"/>
                </a:solidFill>
              </a:rPr>
              <a:t>Q4. What does the partition key control?</a:t>
            </a:r>
          </a:p>
        </p:txBody>
      </p:sp>
      <p:sp>
        <p:nvSpPr>
          <p:cNvPr id="13" name="TextBox 12"/>
          <p:cNvSpPr txBox="1"/>
          <p:nvPr/>
        </p:nvSpPr>
        <p:spPr>
          <a:xfrm>
            <a:off x="548640" y="3483864"/>
            <a:ext cx="8229600" cy="384048"/>
          </a:xfrm>
          <a:prstGeom prst="rect">
            <a:avLst/>
          </a:prstGeom>
          <a:noFill/>
        </p:spPr>
        <p:txBody>
          <a:bodyPr wrap="square" lIns="45720" rIns="45720" tIns="18288" bIns="18288">
            <a:spAutoFit/>
          </a:bodyPr>
          <a:lstStyle/>
          <a:p>
            <a:pPr algn="l"/>
            <a:r>
              <a:rPr sz="1100" b="0">
                <a:solidFill>
                  <a:srgbClr val="2CA02C"/>
                </a:solidFill>
              </a:rPr>
              <a:t>A. Which partition an event lands in — and therefore the unit of ordering. Same key → same partition → guaranteed order.</a:t>
            </a:r>
          </a:p>
        </p:txBody>
      </p:sp>
      <p:sp>
        <p:nvSpPr>
          <p:cNvPr id="14" name="TextBox 13"/>
          <p:cNvSpPr txBox="1"/>
          <p:nvPr/>
        </p:nvSpPr>
        <p:spPr>
          <a:xfrm>
            <a:off x="365760" y="3913632"/>
            <a:ext cx="8412480" cy="329184"/>
          </a:xfrm>
          <a:prstGeom prst="rect">
            <a:avLst/>
          </a:prstGeom>
          <a:noFill/>
        </p:spPr>
        <p:txBody>
          <a:bodyPr wrap="square" lIns="45720" rIns="45720" tIns="18288" bIns="18288">
            <a:spAutoFit/>
          </a:bodyPr>
          <a:lstStyle/>
          <a:p>
            <a:pPr algn="l"/>
            <a:r>
              <a:rPr sz="1200" b="1">
                <a:solidFill>
                  <a:srgbClr val="0B2A4A"/>
                </a:solidFill>
              </a:rPr>
              <a:t>Q5. If a Gold mart logic bug is found, what's the recovery path?</a:t>
            </a:r>
          </a:p>
        </p:txBody>
      </p:sp>
      <p:sp>
        <p:nvSpPr>
          <p:cNvPr id="15" name="TextBox 14"/>
          <p:cNvSpPr txBox="1"/>
          <p:nvPr/>
        </p:nvSpPr>
        <p:spPr>
          <a:xfrm>
            <a:off x="548640" y="4233672"/>
            <a:ext cx="8229600" cy="384048"/>
          </a:xfrm>
          <a:prstGeom prst="rect">
            <a:avLst/>
          </a:prstGeom>
          <a:noFill/>
        </p:spPr>
        <p:txBody>
          <a:bodyPr wrap="square" lIns="45720" rIns="45720" tIns="18288" bIns="18288">
            <a:spAutoFit/>
          </a:bodyPr>
          <a:lstStyle/>
          <a:p>
            <a:pPr algn="l"/>
            <a:r>
              <a:rPr sz="1100" b="0">
                <a:solidFill>
                  <a:srgbClr val="2CA02C"/>
                </a:solidFill>
              </a:rPr>
              <a:t>A. Delete that mart, re-run silver_to_gold — bronze is the source of truth and re-derivation is cheap (Kappa).</a:t>
            </a:r>
          </a:p>
        </p:txBody>
      </p:sp>
      <p:sp>
        <p:nvSpPr>
          <p:cNvPr id="16" name="Rectangle 15"/>
          <p:cNvSpPr/>
          <p:nvPr/>
        </p:nvSpPr>
        <p:spPr>
          <a:xfrm>
            <a:off x="0" y="4914900"/>
            <a:ext cx="9144000" cy="2286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10 / 10  ·  Module 1 — Knowledge Check</a:t>
            </a:r>
          </a:p>
        </p:txBody>
      </p:sp>
    </p:spTree>
  </p:cSld>
  <p:clrMapOvr>
    <a:masterClrMapping/>
  </p:clrMapOvr>
</p:sld>
</file>

<file path=ppt/slides/slide4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51435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0080"/>
            <a:ext cx="8229600" cy="457200"/>
          </a:xfrm>
          <a:prstGeom prst="rect">
            <a:avLst/>
          </a:prstGeom>
          <a:noFill/>
        </p:spPr>
        <p:txBody>
          <a:bodyPr wrap="square" lIns="45720" rIns="45720" tIns="18288" bIns="18288">
            <a:spAutoFit/>
          </a:bodyPr>
          <a:lstStyle/>
          <a:p>
            <a:pPr algn="l"/>
            <a:r>
              <a:rPr sz="1400" b="1">
                <a:solidFill>
                  <a:srgbClr val="CCDDEE"/>
                </a:solidFill>
              </a:rPr>
              <a:t>MODULE 2</a:t>
            </a:r>
          </a:p>
        </p:txBody>
      </p:sp>
      <p:sp>
        <p:nvSpPr>
          <p:cNvPr id="5" name="TextBox 4"/>
          <p:cNvSpPr txBox="1"/>
          <p:nvPr/>
        </p:nvSpPr>
        <p:spPr>
          <a:xfrm>
            <a:off x="457200" y="1097280"/>
            <a:ext cx="8229600" cy="1280160"/>
          </a:xfrm>
          <a:prstGeom prst="rect">
            <a:avLst/>
          </a:prstGeom>
          <a:noFill/>
        </p:spPr>
        <p:txBody>
          <a:bodyPr wrap="square" lIns="45720" rIns="45720" tIns="18288" bIns="18288">
            <a:spAutoFit/>
          </a:bodyPr>
          <a:lstStyle/>
          <a:p>
            <a:pPr algn="l"/>
            <a:r>
              <a:rPr sz="3600" b="1">
                <a:solidFill>
                  <a:srgbClr val="FFFFFF"/>
                </a:solidFill>
              </a:rPr>
              <a:t>Integrating Debezium, Kafka, Hop, Airflow</a:t>
            </a:r>
          </a:p>
        </p:txBody>
      </p:sp>
      <p:sp>
        <p:nvSpPr>
          <p:cNvPr id="6" name="TextBox 5"/>
          <p:cNvSpPr txBox="1"/>
          <p:nvPr/>
        </p:nvSpPr>
        <p:spPr>
          <a:xfrm>
            <a:off x="457200" y="2377440"/>
            <a:ext cx="8229600" cy="731520"/>
          </a:xfrm>
          <a:prstGeom prst="rect">
            <a:avLst/>
          </a:prstGeom>
          <a:noFill/>
        </p:spPr>
        <p:txBody>
          <a:bodyPr wrap="square" lIns="45720" rIns="45720" tIns="18288" bIns="18288">
            <a:spAutoFit/>
          </a:bodyPr>
          <a:lstStyle/>
          <a:p>
            <a:pPr algn="l"/>
            <a:r>
              <a:rPr sz="1600" b="0">
                <a:solidFill>
                  <a:srgbClr val="CCDDEE"/>
                </a:solidFill>
              </a:rPr>
              <a:t>Four tools, four jobs, one contract (Avro + topic names + DAG ids)</a:t>
            </a:r>
          </a:p>
        </p:txBody>
      </p:sp>
      <p:sp>
        <p:nvSpPr>
          <p:cNvPr id="7" name="Rectangle 6"/>
          <p:cNvSpPr/>
          <p:nvPr/>
        </p:nvSpPr>
        <p:spPr>
          <a:xfrm>
            <a:off x="1371600" y="3749039"/>
            <a:ext cx="1463040" cy="1097280"/>
          </a:xfrm>
          <a:prstGeom prst="rect">
            <a:avLst/>
          </a:prstGeom>
          <a:solidFill>
            <a:srgbClr val="FFFFFF"/>
          </a:solidFill>
          <a:ln w="12700">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6304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ebezium.png"/>
          <p:cNvPicPr>
            <a:picLocks noChangeAspect="1"/>
          </p:cNvPicPr>
          <p:nvPr/>
        </p:nvPicPr>
        <p:blipFill>
          <a:blip r:embed="rId2"/>
          <a:stretch>
            <a:fillRect/>
          </a:stretch>
        </p:blipFill>
        <p:spPr>
          <a:xfrm>
            <a:off x="1531620" y="4172901"/>
            <a:ext cx="1143000" cy="249555"/>
          </a:xfrm>
          <a:prstGeom prst="rect">
            <a:avLst/>
          </a:prstGeom>
        </p:spPr>
      </p:pic>
      <p:sp>
        <p:nvSpPr>
          <p:cNvPr id="10" name="Rectangle 9"/>
          <p:cNvSpPr/>
          <p:nvPr/>
        </p:nvSpPr>
        <p:spPr>
          <a:xfrm>
            <a:off x="3017520" y="3749039"/>
            <a:ext cx="1463040" cy="1097280"/>
          </a:xfrm>
          <a:prstGeom prst="rect">
            <a:avLst/>
          </a:prstGeom>
          <a:solidFill>
            <a:srgbClr val="FFFFFF"/>
          </a:solidFill>
          <a:ln w="12700">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0896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kafka.png"/>
          <p:cNvPicPr>
            <a:picLocks noChangeAspect="1"/>
          </p:cNvPicPr>
          <p:nvPr/>
        </p:nvPicPr>
        <p:blipFill>
          <a:blip r:embed="rId3"/>
          <a:stretch>
            <a:fillRect/>
          </a:stretch>
        </p:blipFill>
        <p:spPr>
          <a:xfrm>
            <a:off x="3509742" y="3909059"/>
            <a:ext cx="478596" cy="777240"/>
          </a:xfrm>
          <a:prstGeom prst="rect">
            <a:avLst/>
          </a:prstGeom>
        </p:spPr>
      </p:pic>
      <p:sp>
        <p:nvSpPr>
          <p:cNvPr id="13" name="Rectangle 12"/>
          <p:cNvSpPr/>
          <p:nvPr/>
        </p:nvSpPr>
        <p:spPr>
          <a:xfrm>
            <a:off x="4663440" y="3749039"/>
            <a:ext cx="1463040" cy="1097280"/>
          </a:xfrm>
          <a:prstGeom prst="rect">
            <a:avLst/>
          </a:prstGeom>
          <a:solidFill>
            <a:srgbClr val="FFFFFF"/>
          </a:solidFill>
          <a:ln w="12700">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5488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hop.png"/>
          <p:cNvPicPr>
            <a:picLocks noChangeAspect="1"/>
          </p:cNvPicPr>
          <p:nvPr/>
        </p:nvPicPr>
        <p:blipFill>
          <a:blip r:embed="rId4"/>
          <a:stretch>
            <a:fillRect/>
          </a:stretch>
        </p:blipFill>
        <p:spPr>
          <a:xfrm>
            <a:off x="5028337" y="3909059"/>
            <a:ext cx="733245" cy="777240"/>
          </a:xfrm>
          <a:prstGeom prst="rect">
            <a:avLst/>
          </a:prstGeom>
        </p:spPr>
      </p:pic>
      <p:sp>
        <p:nvSpPr>
          <p:cNvPr id="16" name="Rectangle 15"/>
          <p:cNvSpPr/>
          <p:nvPr/>
        </p:nvSpPr>
        <p:spPr>
          <a:xfrm>
            <a:off x="6309360" y="3749039"/>
            <a:ext cx="1463040" cy="1097280"/>
          </a:xfrm>
          <a:prstGeom prst="rect">
            <a:avLst/>
          </a:prstGeom>
          <a:solidFill>
            <a:srgbClr val="FFFFFF"/>
          </a:solidFill>
          <a:ln w="12700">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airflow.png"/>
          <p:cNvPicPr>
            <a:picLocks noChangeAspect="1"/>
          </p:cNvPicPr>
          <p:nvPr/>
        </p:nvPicPr>
        <p:blipFill>
          <a:blip r:embed="rId5"/>
          <a:stretch>
            <a:fillRect/>
          </a:stretch>
        </p:blipFill>
        <p:spPr>
          <a:xfrm>
            <a:off x="6469380" y="4077080"/>
            <a:ext cx="1143000" cy="441198"/>
          </a:xfrm>
          <a:prstGeom prst="rect">
            <a:avLst/>
          </a:prstGeom>
        </p:spPr>
      </p:pic>
    </p:spTree>
  </p:cSld>
  <p:clrMapOvr>
    <a:masterClrMapping/>
  </p:clrMapOvr>
</p:sld>
</file>

<file path=ppt/slides/slide4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2  · Integration</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Debezium deep dive</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Tailing the WAL, not querying the table</a:t>
            </a:r>
          </a:p>
        </p:txBody>
      </p:sp>
      <p:sp>
        <p:nvSpPr>
          <p:cNvPr id="6" name="TextBox 5"/>
          <p:cNvSpPr txBox="1"/>
          <p:nvPr/>
        </p:nvSpPr>
        <p:spPr>
          <a:xfrm>
            <a:off x="274320" y="914400"/>
            <a:ext cx="5212080" cy="274320"/>
          </a:xfrm>
          <a:prstGeom prst="rect">
            <a:avLst/>
          </a:prstGeom>
          <a:noFill/>
        </p:spPr>
        <p:txBody>
          <a:bodyPr wrap="square" lIns="45720" rIns="45720" tIns="18288" bIns="18288">
            <a:spAutoFit/>
          </a:bodyPr>
          <a:lstStyle/>
          <a:p>
            <a:pPr algn="ctr"/>
            <a:r>
              <a:rPr sz="1200" b="1">
                <a:solidFill>
                  <a:srgbClr val="1F77B4"/>
                </a:solidFill>
              </a:rPr>
              <a:t>CDC: how Debezium tails Postgres</a:t>
            </a:r>
          </a:p>
        </p:txBody>
      </p:sp>
      <p:sp>
        <p:nvSpPr>
          <p:cNvPr id="7" name="Rectangle 6"/>
          <p:cNvSpPr/>
          <p:nvPr/>
        </p:nvSpPr>
        <p:spPr>
          <a:xfrm>
            <a:off x="365760" y="1371600"/>
            <a:ext cx="1463040" cy="640080"/>
          </a:xfrm>
          <a:prstGeom prst="rect">
            <a:avLst/>
          </a:prstGeom>
          <a:solidFill>
            <a:srgbClr val="336791"/>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572768"/>
            <a:ext cx="1463040" cy="237744"/>
          </a:xfrm>
          <a:prstGeom prst="rect">
            <a:avLst/>
          </a:prstGeom>
          <a:noFill/>
        </p:spPr>
        <p:txBody>
          <a:bodyPr wrap="square" lIns="45720" rIns="45720" tIns="18288" bIns="18288">
            <a:spAutoFit/>
          </a:bodyPr>
          <a:lstStyle/>
          <a:p>
            <a:pPr algn="ctr"/>
            <a:r>
              <a:rPr sz="1000" b="1">
                <a:solidFill>
                  <a:srgbClr val="FFFFFF"/>
                </a:solidFill>
              </a:rPr>
              <a:t>Postgres</a:t>
            </a:r>
          </a:p>
          <a:p>
            <a:pPr algn="ctr"/>
            <a:r>
              <a:rPr sz="1000" b="1">
                <a:solidFill>
                  <a:srgbClr val="FFFFFF"/>
                </a:solidFill>
              </a:rPr>
              <a:t>(WAL)</a:t>
            </a:r>
          </a:p>
        </p:txBody>
      </p:sp>
      <p:sp>
        <p:nvSpPr>
          <p:cNvPr id="9" name="Rectangle 8"/>
          <p:cNvSpPr/>
          <p:nvPr/>
        </p:nvSpPr>
        <p:spPr>
          <a:xfrm>
            <a:off x="2194560" y="1371600"/>
            <a:ext cx="1463040" cy="64008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2194560" y="1572768"/>
            <a:ext cx="1463040" cy="237744"/>
          </a:xfrm>
          <a:prstGeom prst="rect">
            <a:avLst/>
          </a:prstGeom>
          <a:noFill/>
        </p:spPr>
        <p:txBody>
          <a:bodyPr wrap="square" lIns="45720" rIns="45720" tIns="18288" bIns="18288">
            <a:spAutoFit/>
          </a:bodyPr>
          <a:lstStyle/>
          <a:p>
            <a:pPr algn="ctr"/>
            <a:r>
              <a:rPr sz="1000" b="1">
                <a:solidFill>
                  <a:srgbClr val="FFFFFF"/>
                </a:solidFill>
              </a:rPr>
              <a:t>Debezium</a:t>
            </a:r>
          </a:p>
          <a:p>
            <a:pPr algn="ctr"/>
            <a:r>
              <a:rPr sz="1000" b="1">
                <a:solidFill>
                  <a:srgbClr val="FFFFFF"/>
                </a:solidFill>
              </a:rPr>
              <a:t>pgoutput</a:t>
            </a:r>
          </a:p>
        </p:txBody>
      </p:sp>
      <p:sp>
        <p:nvSpPr>
          <p:cNvPr id="11" name="Rectangle 10"/>
          <p:cNvSpPr/>
          <p:nvPr/>
        </p:nvSpPr>
        <p:spPr>
          <a:xfrm>
            <a:off x="3931920" y="1371600"/>
            <a:ext cx="1463040" cy="640080"/>
          </a:xfrm>
          <a:prstGeom prst="rect">
            <a:avLst/>
          </a:prstGeom>
          <a:solidFill>
            <a:srgbClr val="2CA02C"/>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3931920" y="1572768"/>
            <a:ext cx="1463040" cy="237744"/>
          </a:xfrm>
          <a:prstGeom prst="rect">
            <a:avLst/>
          </a:prstGeom>
          <a:noFill/>
        </p:spPr>
        <p:txBody>
          <a:bodyPr wrap="square" lIns="45720" rIns="45720" tIns="18288" bIns="18288">
            <a:spAutoFit/>
          </a:bodyPr>
          <a:lstStyle/>
          <a:p>
            <a:pPr algn="ctr"/>
            <a:r>
              <a:rPr sz="1000" b="1">
                <a:solidFill>
                  <a:srgbClr val="FFFFFF"/>
                </a:solidFill>
              </a:rPr>
              <a:t>Kafka topic</a:t>
            </a:r>
          </a:p>
          <a:p>
            <a:pPr algn="ctr"/>
            <a:r>
              <a:rPr sz="1000" b="1">
                <a:solidFill>
                  <a:srgbClr val="FFFFFF"/>
                </a:solidFill>
              </a:rPr>
              <a:t>config.public.*</a:t>
            </a:r>
          </a:p>
        </p:txBody>
      </p:sp>
      <p:cxnSp>
        <p:nvCxnSpPr>
          <p:cNvPr id="13" name="Connector 12"/>
          <p:cNvCxnSpPr/>
          <p:nvPr/>
        </p:nvCxnSpPr>
        <p:spPr>
          <a:xfrm>
            <a:off x="1828800" y="1691640"/>
            <a:ext cx="36576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4" name="TextBox 13"/>
          <p:cNvSpPr txBox="1"/>
          <p:nvPr/>
        </p:nvSpPr>
        <p:spPr>
          <a:xfrm>
            <a:off x="1463040" y="1554480"/>
            <a:ext cx="1097280" cy="274320"/>
          </a:xfrm>
          <a:prstGeom prst="rect">
            <a:avLst/>
          </a:prstGeom>
          <a:noFill/>
        </p:spPr>
        <p:txBody>
          <a:bodyPr wrap="square" lIns="45720" rIns="45720" tIns="18288" bIns="18288">
            <a:spAutoFit/>
          </a:bodyPr>
          <a:lstStyle/>
          <a:p>
            <a:pPr algn="ctr"/>
            <a:r>
              <a:rPr sz="800" b="0">
                <a:solidFill>
                  <a:srgbClr val="555555"/>
                </a:solidFill>
              </a:rPr>
              <a:t>logical</a:t>
            </a:r>
          </a:p>
        </p:txBody>
      </p:sp>
      <p:cxnSp>
        <p:nvCxnSpPr>
          <p:cNvPr id="15" name="Connector 14"/>
          <p:cNvCxnSpPr/>
          <p:nvPr/>
        </p:nvCxnSpPr>
        <p:spPr>
          <a:xfrm>
            <a:off x="3657600" y="1691640"/>
            <a:ext cx="27432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6" name="TextBox 15"/>
          <p:cNvSpPr txBox="1"/>
          <p:nvPr/>
        </p:nvSpPr>
        <p:spPr>
          <a:xfrm>
            <a:off x="3246120" y="1554480"/>
            <a:ext cx="1097280" cy="274320"/>
          </a:xfrm>
          <a:prstGeom prst="rect">
            <a:avLst/>
          </a:prstGeom>
          <a:noFill/>
        </p:spPr>
        <p:txBody>
          <a:bodyPr wrap="square" lIns="45720" rIns="45720" tIns="18288" bIns="18288">
            <a:spAutoFit/>
          </a:bodyPr>
          <a:lstStyle/>
          <a:p>
            <a:pPr algn="ctr"/>
            <a:r>
              <a:rPr sz="800" b="0">
                <a:solidFill>
                  <a:srgbClr val="555555"/>
                </a:solidFill>
              </a:rPr>
              <a:t>Avro</a:t>
            </a:r>
          </a:p>
        </p:txBody>
      </p:sp>
      <p:sp>
        <p:nvSpPr>
          <p:cNvPr id="17" name="TextBox 16"/>
          <p:cNvSpPr txBox="1"/>
          <p:nvPr/>
        </p:nvSpPr>
        <p:spPr>
          <a:xfrm>
            <a:off x="274320" y="2286000"/>
            <a:ext cx="5212080" cy="274320"/>
          </a:xfrm>
          <a:prstGeom prst="rect">
            <a:avLst/>
          </a:prstGeom>
          <a:noFill/>
        </p:spPr>
        <p:txBody>
          <a:bodyPr wrap="square" lIns="45720" rIns="45720" tIns="18288" bIns="18288">
            <a:spAutoFit/>
          </a:bodyPr>
          <a:lstStyle/>
          <a:p>
            <a:pPr algn="l"/>
            <a:r>
              <a:rPr sz="1100" b="1">
                <a:solidFill>
                  <a:srgbClr val="0B2A4A"/>
                </a:solidFill>
              </a:rPr>
              <a:t>Per-row event:</a:t>
            </a:r>
          </a:p>
        </p:txBody>
      </p:sp>
      <p:sp>
        <p:nvSpPr>
          <p:cNvPr id="18" name="TextBox 17"/>
          <p:cNvSpPr txBox="1"/>
          <p:nvPr/>
        </p:nvSpPr>
        <p:spPr>
          <a:xfrm>
            <a:off x="274320" y="2560320"/>
            <a:ext cx="5212080" cy="2194560"/>
          </a:xfrm>
          <a:prstGeom prst="rect">
            <a:avLst/>
          </a:prstGeom>
          <a:noFill/>
        </p:spPr>
        <p:txBody>
          <a:bodyPr wrap="square" lIns="45720" rIns="45720" tIns="18288" bIns="18288">
            <a:spAutoFit/>
          </a:bodyPr>
          <a:lstStyle/>
          <a:p>
            <a:pPr algn="l"/>
            <a:r>
              <a:rPr sz="1000" b="0">
                <a:solidFill>
                  <a:srgbClr val="0B2A4A"/>
                </a:solidFill>
                <a:latin typeface="Consolas"/>
              </a:rPr>
              <a:t>{ "op": "u",</a:t>
            </a:r>
          </a:p>
          <a:p>
            <a:pPr algn="l"/>
            <a:r>
              <a:rPr sz="1000" b="0">
                <a:solidFill>
                  <a:srgbClr val="0B2A4A"/>
                </a:solidFill>
                <a:latin typeface="Consolas"/>
              </a:rPr>
              <a:t>  "before": { "id": 7, "threshold_mag": 4.5 },</a:t>
            </a:r>
          </a:p>
          <a:p>
            <a:pPr algn="l"/>
            <a:r>
              <a:rPr sz="1000" b="0">
                <a:solidFill>
                  <a:srgbClr val="0B2A4A"/>
                </a:solidFill>
                <a:latin typeface="Consolas"/>
              </a:rPr>
              <a:t>  "after":  { "id": 7, "threshold_mag": 5.0 },</a:t>
            </a:r>
          </a:p>
          <a:p>
            <a:pPr algn="l"/>
            <a:r>
              <a:rPr sz="1000" b="0">
                <a:solidFill>
                  <a:srgbClr val="0B2A4A"/>
                </a:solidFill>
                <a:latin typeface="Consolas"/>
              </a:rPr>
              <a:t>  "source": { "lsn": 0/16D34A8, "ts_ms": 1717... },</a:t>
            </a:r>
          </a:p>
          <a:p>
            <a:pPr algn="l"/>
            <a:r>
              <a:rPr sz="1000" b="0">
                <a:solidFill>
                  <a:srgbClr val="0B2A4A"/>
                </a:solidFill>
                <a:latin typeface="Consolas"/>
              </a:rPr>
              <a:t>  "ts_ms":  1717... }</a:t>
            </a:r>
          </a:p>
          <a:p>
            <a:pPr algn="l"/>
            <a:r>
              <a:rPr sz="1000" b="0">
                <a:solidFill>
                  <a:srgbClr val="0B2A4A"/>
                </a:solidFill>
                <a:latin typeface="Consolas"/>
              </a:rPr>
              <a:t/>
            </a:r>
          </a:p>
          <a:p>
            <a:pPr algn="l"/>
            <a:r>
              <a:rPr sz="1000" b="0">
                <a:solidFill>
                  <a:srgbClr val="0B2A4A"/>
                </a:solidFill>
                <a:latin typeface="Consolas"/>
              </a:rPr>
              <a:t>Order is preserved per-row; resume from last LSN on crash.</a:t>
            </a:r>
          </a:p>
          <a:p>
            <a:pPr algn="l"/>
            <a:r>
              <a:rPr sz="1000" b="0">
                <a:solidFill>
                  <a:srgbClr val="0B2A4A"/>
                </a:solidFill>
                <a:latin typeface="Consolas"/>
              </a:rPr>
              <a:t>Snapshot mode bootstraps a new consumer with a full table read.</a:t>
            </a:r>
          </a:p>
        </p:txBody>
      </p:sp>
      <p:sp>
        <p:nvSpPr>
          <p:cNvPr id="19" name="Rectangle 1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21" name="TextBox 2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Train conductor's logbook</a:t>
            </a:r>
          </a:p>
        </p:txBody>
      </p:sp>
      <p:sp>
        <p:nvSpPr>
          <p:cNvPr id="22" name="TextBox 2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A conductor doesn't ask each passenger who they are — they read the boarding manifest. The WAL is the manifest of every database change, in order, and Debezium just reads it.</a:t>
            </a:r>
          </a:p>
        </p:txBody>
      </p:sp>
      <p:sp>
        <p:nvSpPr>
          <p:cNvPr id="23" name="Rectangle 22"/>
          <p:cNvSpPr/>
          <p:nvPr/>
        </p:nvSpPr>
        <p:spPr>
          <a:xfrm>
            <a:off x="0" y="4914900"/>
            <a:ext cx="9144000" cy="2286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2 / 10  ·  Module 2</a:t>
            </a:r>
          </a:p>
        </p:txBody>
      </p:sp>
    </p:spTree>
  </p:cSld>
  <p:clrMapOvr>
    <a:masterClrMapping/>
  </p:clrMapOvr>
</p:sld>
</file>

<file path=ppt/slides/slide4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2  · Integration</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Kafka topics, partitions, consumer groups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Append-only logs split for parallelism</a:t>
            </a:r>
          </a:p>
        </p:txBody>
      </p:sp>
      <p:sp>
        <p:nvSpPr>
          <p:cNvPr id="6" name="TextBox 5"/>
          <p:cNvSpPr txBox="1"/>
          <p:nvPr/>
        </p:nvSpPr>
        <p:spPr>
          <a:xfrm>
            <a:off x="274320" y="914400"/>
            <a:ext cx="5212080" cy="274320"/>
          </a:xfrm>
          <a:prstGeom prst="rect">
            <a:avLst/>
          </a:prstGeom>
          <a:noFill/>
        </p:spPr>
        <p:txBody>
          <a:bodyPr wrap="square" lIns="45720" rIns="45720" tIns="18288" bIns="18288">
            <a:spAutoFit/>
          </a:bodyPr>
          <a:lstStyle/>
          <a:p>
            <a:pPr algn="ctr"/>
            <a:r>
              <a:rPr sz="1200" b="1">
                <a:solidFill>
                  <a:srgbClr val="1F77B4"/>
                </a:solidFill>
              </a:rPr>
              <a:t>Topics, partitions, consumers</a:t>
            </a:r>
          </a:p>
        </p:txBody>
      </p:sp>
      <p:sp>
        <p:nvSpPr>
          <p:cNvPr id="7" name="Rectangle 6"/>
          <p:cNvSpPr/>
          <p:nvPr/>
        </p:nvSpPr>
        <p:spPr>
          <a:xfrm>
            <a:off x="365760" y="1371600"/>
            <a:ext cx="1554480" cy="45720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490472"/>
            <a:ext cx="1554480" cy="274320"/>
          </a:xfrm>
          <a:prstGeom prst="rect">
            <a:avLst/>
          </a:prstGeom>
          <a:noFill/>
        </p:spPr>
        <p:txBody>
          <a:bodyPr wrap="square" lIns="45720" rIns="45720" tIns="18288" bIns="18288">
            <a:spAutoFit/>
          </a:bodyPr>
          <a:lstStyle/>
          <a:p>
            <a:pPr algn="ctr"/>
            <a:r>
              <a:rPr sz="1000" b="1">
                <a:solidFill>
                  <a:srgbClr val="FFFFFF"/>
                </a:solidFill>
              </a:rPr>
              <a:t>partition 0</a:t>
            </a:r>
          </a:p>
        </p:txBody>
      </p:sp>
      <p:sp>
        <p:nvSpPr>
          <p:cNvPr id="9" name="Rectangle 8"/>
          <p:cNvSpPr/>
          <p:nvPr/>
        </p:nvSpPr>
        <p:spPr>
          <a:xfrm>
            <a:off x="457200"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 y="1938528"/>
            <a:ext cx="292608" cy="256032"/>
          </a:xfrm>
          <a:prstGeom prst="rect">
            <a:avLst/>
          </a:prstGeom>
          <a:noFill/>
        </p:spPr>
        <p:txBody>
          <a:bodyPr wrap="square" lIns="45720" rIns="45720" tIns="18288" bIns="18288">
            <a:spAutoFit/>
          </a:bodyPr>
          <a:lstStyle/>
          <a:p>
            <a:pPr algn="ctr"/>
            <a:r>
              <a:rPr sz="900" b="0">
                <a:solidFill>
                  <a:srgbClr val="0B2A4A"/>
                </a:solidFill>
              </a:rPr>
              <a:t>0</a:t>
            </a:r>
          </a:p>
        </p:txBody>
      </p:sp>
      <p:sp>
        <p:nvSpPr>
          <p:cNvPr id="11" name="Rectangle 10"/>
          <p:cNvSpPr/>
          <p:nvPr/>
        </p:nvSpPr>
        <p:spPr>
          <a:xfrm>
            <a:off x="804672"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804672" y="1938528"/>
            <a:ext cx="292608" cy="256032"/>
          </a:xfrm>
          <a:prstGeom prst="rect">
            <a:avLst/>
          </a:prstGeom>
          <a:noFill/>
        </p:spPr>
        <p:txBody>
          <a:bodyPr wrap="square" lIns="45720" rIns="45720" tIns="18288" bIns="18288">
            <a:spAutoFit/>
          </a:bodyPr>
          <a:lstStyle/>
          <a:p>
            <a:pPr algn="ctr"/>
            <a:r>
              <a:rPr sz="900" b="0">
                <a:solidFill>
                  <a:srgbClr val="0B2A4A"/>
                </a:solidFill>
              </a:rPr>
              <a:t>1</a:t>
            </a:r>
          </a:p>
        </p:txBody>
      </p:sp>
      <p:sp>
        <p:nvSpPr>
          <p:cNvPr id="13" name="Rectangle 12"/>
          <p:cNvSpPr/>
          <p:nvPr/>
        </p:nvSpPr>
        <p:spPr>
          <a:xfrm>
            <a:off x="1152144"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1152144" y="1938528"/>
            <a:ext cx="292608" cy="256032"/>
          </a:xfrm>
          <a:prstGeom prst="rect">
            <a:avLst/>
          </a:prstGeom>
          <a:noFill/>
        </p:spPr>
        <p:txBody>
          <a:bodyPr wrap="square" lIns="45720" rIns="45720" tIns="18288" bIns="18288">
            <a:spAutoFit/>
          </a:bodyPr>
          <a:lstStyle/>
          <a:p>
            <a:pPr algn="ctr"/>
            <a:r>
              <a:rPr sz="900" b="0">
                <a:solidFill>
                  <a:srgbClr val="0B2A4A"/>
                </a:solidFill>
              </a:rPr>
              <a:t>2</a:t>
            </a:r>
          </a:p>
        </p:txBody>
      </p:sp>
      <p:sp>
        <p:nvSpPr>
          <p:cNvPr id="15" name="Rectangle 14"/>
          <p:cNvSpPr/>
          <p:nvPr/>
        </p:nvSpPr>
        <p:spPr>
          <a:xfrm>
            <a:off x="1499616"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1499616" y="1938528"/>
            <a:ext cx="292608" cy="256032"/>
          </a:xfrm>
          <a:prstGeom prst="rect">
            <a:avLst/>
          </a:prstGeom>
          <a:noFill/>
        </p:spPr>
        <p:txBody>
          <a:bodyPr wrap="square" lIns="45720" rIns="45720" tIns="18288" bIns="18288">
            <a:spAutoFit/>
          </a:bodyPr>
          <a:lstStyle/>
          <a:p>
            <a:pPr algn="ctr"/>
            <a:r>
              <a:rPr sz="900" b="0">
                <a:solidFill>
                  <a:srgbClr val="0B2A4A"/>
                </a:solidFill>
              </a:rPr>
              <a:t>3</a:t>
            </a:r>
          </a:p>
        </p:txBody>
      </p:sp>
      <p:sp>
        <p:nvSpPr>
          <p:cNvPr id="17" name="Rectangle 16"/>
          <p:cNvSpPr/>
          <p:nvPr/>
        </p:nvSpPr>
        <p:spPr>
          <a:xfrm>
            <a:off x="2057400" y="1371600"/>
            <a:ext cx="1554480" cy="45720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2057400" y="1490472"/>
            <a:ext cx="1554480" cy="274320"/>
          </a:xfrm>
          <a:prstGeom prst="rect">
            <a:avLst/>
          </a:prstGeom>
          <a:noFill/>
        </p:spPr>
        <p:txBody>
          <a:bodyPr wrap="square" lIns="45720" rIns="45720" tIns="18288" bIns="18288">
            <a:spAutoFit/>
          </a:bodyPr>
          <a:lstStyle/>
          <a:p>
            <a:pPr algn="ctr"/>
            <a:r>
              <a:rPr sz="1000" b="1">
                <a:solidFill>
                  <a:srgbClr val="FFFFFF"/>
                </a:solidFill>
              </a:rPr>
              <a:t>partition 1</a:t>
            </a:r>
          </a:p>
        </p:txBody>
      </p:sp>
      <p:sp>
        <p:nvSpPr>
          <p:cNvPr id="19" name="Rectangle 18"/>
          <p:cNvSpPr/>
          <p:nvPr/>
        </p:nvSpPr>
        <p:spPr>
          <a:xfrm>
            <a:off x="2148840"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148840" y="1938528"/>
            <a:ext cx="292608" cy="256032"/>
          </a:xfrm>
          <a:prstGeom prst="rect">
            <a:avLst/>
          </a:prstGeom>
          <a:noFill/>
        </p:spPr>
        <p:txBody>
          <a:bodyPr wrap="square" lIns="45720" rIns="45720" tIns="18288" bIns="18288">
            <a:spAutoFit/>
          </a:bodyPr>
          <a:lstStyle/>
          <a:p>
            <a:pPr algn="ctr"/>
            <a:r>
              <a:rPr sz="900" b="0">
                <a:solidFill>
                  <a:srgbClr val="0B2A4A"/>
                </a:solidFill>
              </a:rPr>
              <a:t>0</a:t>
            </a:r>
          </a:p>
        </p:txBody>
      </p:sp>
      <p:sp>
        <p:nvSpPr>
          <p:cNvPr id="21" name="Rectangle 20"/>
          <p:cNvSpPr/>
          <p:nvPr/>
        </p:nvSpPr>
        <p:spPr>
          <a:xfrm>
            <a:off x="2496312"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2496312" y="1938528"/>
            <a:ext cx="292608" cy="256032"/>
          </a:xfrm>
          <a:prstGeom prst="rect">
            <a:avLst/>
          </a:prstGeom>
          <a:noFill/>
        </p:spPr>
        <p:txBody>
          <a:bodyPr wrap="square" lIns="45720" rIns="45720" tIns="18288" bIns="18288">
            <a:spAutoFit/>
          </a:bodyPr>
          <a:lstStyle/>
          <a:p>
            <a:pPr algn="ctr"/>
            <a:r>
              <a:rPr sz="900" b="0">
                <a:solidFill>
                  <a:srgbClr val="0B2A4A"/>
                </a:solidFill>
              </a:rPr>
              <a:t>1</a:t>
            </a:r>
          </a:p>
        </p:txBody>
      </p:sp>
      <p:sp>
        <p:nvSpPr>
          <p:cNvPr id="23" name="Rectangle 22"/>
          <p:cNvSpPr/>
          <p:nvPr/>
        </p:nvSpPr>
        <p:spPr>
          <a:xfrm>
            <a:off x="2843784"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2843784" y="1938528"/>
            <a:ext cx="292608" cy="256032"/>
          </a:xfrm>
          <a:prstGeom prst="rect">
            <a:avLst/>
          </a:prstGeom>
          <a:noFill/>
        </p:spPr>
        <p:txBody>
          <a:bodyPr wrap="square" lIns="45720" rIns="45720" tIns="18288" bIns="18288">
            <a:spAutoFit/>
          </a:bodyPr>
          <a:lstStyle/>
          <a:p>
            <a:pPr algn="ctr"/>
            <a:r>
              <a:rPr sz="900" b="0">
                <a:solidFill>
                  <a:srgbClr val="0B2A4A"/>
                </a:solidFill>
              </a:rPr>
              <a:t>2</a:t>
            </a:r>
          </a:p>
        </p:txBody>
      </p:sp>
      <p:sp>
        <p:nvSpPr>
          <p:cNvPr id="25" name="Rectangle 24"/>
          <p:cNvSpPr/>
          <p:nvPr/>
        </p:nvSpPr>
        <p:spPr>
          <a:xfrm>
            <a:off x="3191256"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191256" y="1938528"/>
            <a:ext cx="292608" cy="256032"/>
          </a:xfrm>
          <a:prstGeom prst="rect">
            <a:avLst/>
          </a:prstGeom>
          <a:noFill/>
        </p:spPr>
        <p:txBody>
          <a:bodyPr wrap="square" lIns="45720" rIns="45720" tIns="18288" bIns="18288">
            <a:spAutoFit/>
          </a:bodyPr>
          <a:lstStyle/>
          <a:p>
            <a:pPr algn="ctr"/>
            <a:r>
              <a:rPr sz="900" b="0">
                <a:solidFill>
                  <a:srgbClr val="0B2A4A"/>
                </a:solidFill>
              </a:rPr>
              <a:t>3</a:t>
            </a:r>
          </a:p>
        </p:txBody>
      </p:sp>
      <p:sp>
        <p:nvSpPr>
          <p:cNvPr id="27" name="Rectangle 26"/>
          <p:cNvSpPr/>
          <p:nvPr/>
        </p:nvSpPr>
        <p:spPr>
          <a:xfrm>
            <a:off x="3749040" y="1371600"/>
            <a:ext cx="1554480" cy="45720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749040" y="1490472"/>
            <a:ext cx="1554480" cy="274320"/>
          </a:xfrm>
          <a:prstGeom prst="rect">
            <a:avLst/>
          </a:prstGeom>
          <a:noFill/>
        </p:spPr>
        <p:txBody>
          <a:bodyPr wrap="square" lIns="45720" rIns="45720" tIns="18288" bIns="18288">
            <a:spAutoFit/>
          </a:bodyPr>
          <a:lstStyle/>
          <a:p>
            <a:pPr algn="ctr"/>
            <a:r>
              <a:rPr sz="1000" b="1">
                <a:solidFill>
                  <a:srgbClr val="FFFFFF"/>
                </a:solidFill>
              </a:rPr>
              <a:t>partition 2</a:t>
            </a:r>
          </a:p>
        </p:txBody>
      </p:sp>
      <p:sp>
        <p:nvSpPr>
          <p:cNvPr id="29" name="Rectangle 28"/>
          <p:cNvSpPr/>
          <p:nvPr/>
        </p:nvSpPr>
        <p:spPr>
          <a:xfrm>
            <a:off x="3840480"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3840480" y="1938528"/>
            <a:ext cx="292608" cy="256032"/>
          </a:xfrm>
          <a:prstGeom prst="rect">
            <a:avLst/>
          </a:prstGeom>
          <a:noFill/>
        </p:spPr>
        <p:txBody>
          <a:bodyPr wrap="square" lIns="45720" rIns="45720" tIns="18288" bIns="18288">
            <a:spAutoFit/>
          </a:bodyPr>
          <a:lstStyle/>
          <a:p>
            <a:pPr algn="ctr"/>
            <a:r>
              <a:rPr sz="900" b="0">
                <a:solidFill>
                  <a:srgbClr val="0B2A4A"/>
                </a:solidFill>
              </a:rPr>
              <a:t>0</a:t>
            </a:r>
          </a:p>
        </p:txBody>
      </p:sp>
      <p:sp>
        <p:nvSpPr>
          <p:cNvPr id="31" name="Rectangle 30"/>
          <p:cNvSpPr/>
          <p:nvPr/>
        </p:nvSpPr>
        <p:spPr>
          <a:xfrm>
            <a:off x="4187952"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187952" y="1938528"/>
            <a:ext cx="292608" cy="256032"/>
          </a:xfrm>
          <a:prstGeom prst="rect">
            <a:avLst/>
          </a:prstGeom>
          <a:noFill/>
        </p:spPr>
        <p:txBody>
          <a:bodyPr wrap="square" lIns="45720" rIns="45720" tIns="18288" bIns="18288">
            <a:spAutoFit/>
          </a:bodyPr>
          <a:lstStyle/>
          <a:p>
            <a:pPr algn="ctr"/>
            <a:r>
              <a:rPr sz="900" b="0">
                <a:solidFill>
                  <a:srgbClr val="0B2A4A"/>
                </a:solidFill>
              </a:rPr>
              <a:t>1</a:t>
            </a:r>
          </a:p>
        </p:txBody>
      </p:sp>
      <p:sp>
        <p:nvSpPr>
          <p:cNvPr id="33" name="Rectangle 32"/>
          <p:cNvSpPr/>
          <p:nvPr/>
        </p:nvSpPr>
        <p:spPr>
          <a:xfrm>
            <a:off x="4535424"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35424" y="1938528"/>
            <a:ext cx="292608" cy="256032"/>
          </a:xfrm>
          <a:prstGeom prst="rect">
            <a:avLst/>
          </a:prstGeom>
          <a:noFill/>
        </p:spPr>
        <p:txBody>
          <a:bodyPr wrap="square" lIns="45720" rIns="45720" tIns="18288" bIns="18288">
            <a:spAutoFit/>
          </a:bodyPr>
          <a:lstStyle/>
          <a:p>
            <a:pPr algn="ctr"/>
            <a:r>
              <a:rPr sz="900" b="0">
                <a:solidFill>
                  <a:srgbClr val="0B2A4A"/>
                </a:solidFill>
              </a:rPr>
              <a:t>2</a:t>
            </a:r>
          </a:p>
        </p:txBody>
      </p:sp>
      <p:sp>
        <p:nvSpPr>
          <p:cNvPr id="35" name="Rectangle 34"/>
          <p:cNvSpPr/>
          <p:nvPr/>
        </p:nvSpPr>
        <p:spPr>
          <a:xfrm>
            <a:off x="4882896" y="1920240"/>
            <a:ext cx="292608" cy="292608"/>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4882896" y="1938528"/>
            <a:ext cx="292608" cy="256032"/>
          </a:xfrm>
          <a:prstGeom prst="rect">
            <a:avLst/>
          </a:prstGeom>
          <a:noFill/>
        </p:spPr>
        <p:txBody>
          <a:bodyPr wrap="square" lIns="45720" rIns="45720" tIns="18288" bIns="18288">
            <a:spAutoFit/>
          </a:bodyPr>
          <a:lstStyle/>
          <a:p>
            <a:pPr algn="ctr"/>
            <a:r>
              <a:rPr sz="900" b="0">
                <a:solidFill>
                  <a:srgbClr val="0B2A4A"/>
                </a:solidFill>
              </a:rPr>
              <a:t>3</a:t>
            </a:r>
          </a:p>
        </p:txBody>
      </p:sp>
      <p:sp>
        <p:nvSpPr>
          <p:cNvPr id="37" name="TextBox 36"/>
          <p:cNvSpPr txBox="1"/>
          <p:nvPr/>
        </p:nvSpPr>
        <p:spPr>
          <a:xfrm>
            <a:off x="274320" y="2560320"/>
            <a:ext cx="5212080" cy="274320"/>
          </a:xfrm>
          <a:prstGeom prst="rect">
            <a:avLst/>
          </a:prstGeom>
          <a:noFill/>
        </p:spPr>
        <p:txBody>
          <a:bodyPr wrap="square" lIns="45720" rIns="45720" tIns="18288" bIns="18288">
            <a:spAutoFit/>
          </a:bodyPr>
          <a:lstStyle/>
          <a:p>
            <a:pPr algn="ctr"/>
            <a:r>
              <a:rPr sz="1100" b="1">
                <a:solidFill>
                  <a:srgbClr val="2CA02C"/>
                </a:solidFill>
              </a:rPr>
              <a:t>Consumer group  s3-sink-streams  (3 workers)</a:t>
            </a:r>
          </a:p>
        </p:txBody>
      </p:sp>
      <p:sp>
        <p:nvSpPr>
          <p:cNvPr id="38" name="Rectangle 37"/>
          <p:cNvSpPr/>
          <p:nvPr/>
        </p:nvSpPr>
        <p:spPr>
          <a:xfrm>
            <a:off x="365760" y="2880360"/>
            <a:ext cx="1554480" cy="411480"/>
          </a:xfrm>
          <a:prstGeom prst="rect">
            <a:avLst/>
          </a:prstGeom>
          <a:solidFill>
            <a:srgbClr val="2CA02C"/>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365760" y="2967228"/>
            <a:ext cx="1554480" cy="237744"/>
          </a:xfrm>
          <a:prstGeom prst="rect">
            <a:avLst/>
          </a:prstGeom>
          <a:noFill/>
        </p:spPr>
        <p:txBody>
          <a:bodyPr wrap="square" lIns="45720" rIns="45720" tIns="18288" bIns="18288">
            <a:spAutoFit/>
          </a:bodyPr>
          <a:lstStyle/>
          <a:p>
            <a:pPr algn="ctr"/>
            <a:r>
              <a:rPr sz="1000" b="1">
                <a:solidFill>
                  <a:srgbClr val="FFFFFF"/>
                </a:solidFill>
              </a:rPr>
              <a:t>worker 0</a:t>
            </a:r>
          </a:p>
        </p:txBody>
      </p:sp>
      <p:sp>
        <p:nvSpPr>
          <p:cNvPr id="40" name="Rectangle 39"/>
          <p:cNvSpPr/>
          <p:nvPr/>
        </p:nvSpPr>
        <p:spPr>
          <a:xfrm>
            <a:off x="2057400" y="2880360"/>
            <a:ext cx="1554480" cy="411480"/>
          </a:xfrm>
          <a:prstGeom prst="rect">
            <a:avLst/>
          </a:prstGeom>
          <a:solidFill>
            <a:srgbClr val="2CA02C"/>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2057400" y="2967228"/>
            <a:ext cx="1554480" cy="237744"/>
          </a:xfrm>
          <a:prstGeom prst="rect">
            <a:avLst/>
          </a:prstGeom>
          <a:noFill/>
        </p:spPr>
        <p:txBody>
          <a:bodyPr wrap="square" lIns="45720" rIns="45720" tIns="18288" bIns="18288">
            <a:spAutoFit/>
          </a:bodyPr>
          <a:lstStyle/>
          <a:p>
            <a:pPr algn="ctr"/>
            <a:r>
              <a:rPr sz="1000" b="1">
                <a:solidFill>
                  <a:srgbClr val="FFFFFF"/>
                </a:solidFill>
              </a:rPr>
              <a:t>worker 1</a:t>
            </a:r>
          </a:p>
        </p:txBody>
      </p:sp>
      <p:sp>
        <p:nvSpPr>
          <p:cNvPr id="42" name="Rectangle 41"/>
          <p:cNvSpPr/>
          <p:nvPr/>
        </p:nvSpPr>
        <p:spPr>
          <a:xfrm>
            <a:off x="3749040" y="2880360"/>
            <a:ext cx="1554480" cy="411480"/>
          </a:xfrm>
          <a:prstGeom prst="rect">
            <a:avLst/>
          </a:prstGeom>
          <a:solidFill>
            <a:srgbClr val="2CA02C"/>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3749040" y="2967228"/>
            <a:ext cx="1554480" cy="237744"/>
          </a:xfrm>
          <a:prstGeom prst="rect">
            <a:avLst/>
          </a:prstGeom>
          <a:noFill/>
        </p:spPr>
        <p:txBody>
          <a:bodyPr wrap="square" lIns="45720" rIns="45720" tIns="18288" bIns="18288">
            <a:spAutoFit/>
          </a:bodyPr>
          <a:lstStyle/>
          <a:p>
            <a:pPr algn="ctr"/>
            <a:r>
              <a:rPr sz="1000" b="1">
                <a:solidFill>
                  <a:srgbClr val="FFFFFF"/>
                </a:solidFill>
              </a:rPr>
              <a:t>worker 2</a:t>
            </a:r>
          </a:p>
        </p:txBody>
      </p:sp>
      <p:sp>
        <p:nvSpPr>
          <p:cNvPr id="44" name="TextBox 43"/>
          <p:cNvSpPr txBox="1"/>
          <p:nvPr/>
        </p:nvSpPr>
        <p:spPr>
          <a:xfrm>
            <a:off x="274320" y="3520440"/>
            <a:ext cx="5212080" cy="1371600"/>
          </a:xfrm>
          <a:prstGeom prst="rect">
            <a:avLst/>
          </a:prstGeom>
          <a:noFill/>
        </p:spPr>
        <p:txBody>
          <a:bodyPr wrap="square" lIns="45720" rIns="45720" tIns="18288" bIns="18288">
            <a:spAutoFit/>
          </a:bodyPr>
          <a:lstStyle/>
          <a:p>
            <a:pPr algn="l"/>
            <a:r>
              <a:rPr sz="1000" b="0">
                <a:solidFill>
                  <a:srgbClr val="0B2A4A"/>
                </a:solidFill>
              </a:rPr>
              <a:t>• A topic is an append-only log split across partitions for parallelism.</a:t>
            </a:r>
          </a:p>
          <a:p>
            <a:pPr algn="l"/>
            <a:r>
              <a:rPr sz="1000" b="0">
                <a:solidFill>
                  <a:srgbClr val="0B2A4A"/>
                </a:solidFill>
              </a:rPr>
              <a:t>• A consumer group divides the partitions among its workers; rebalance happens automatically when a worker joins or dies.</a:t>
            </a:r>
          </a:p>
          <a:p>
            <a:pPr algn="l"/>
            <a:r>
              <a:rPr sz="1000" b="0">
                <a:solidFill>
                  <a:srgbClr val="0B2A4A"/>
                </a:solidFill>
              </a:rPr>
              <a:t>• Order is guaranteed inside a partition, never across the whole topic — pick the partition key carefully (we key by entity id).</a:t>
            </a:r>
          </a:p>
        </p:txBody>
      </p:sp>
      <p:sp>
        <p:nvSpPr>
          <p:cNvPr id="45" name="Rectangle 44"/>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47" name="TextBox 46"/>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Supermarket checkouts</a:t>
            </a:r>
          </a:p>
        </p:txBody>
      </p:sp>
      <p:sp>
        <p:nvSpPr>
          <p:cNvPr id="48" name="TextBox 47"/>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One topic = one queue. Partitions = open lanes. Consumer group = cashiers who agree to split the lanes between them. Add a cashier → automatic re-balance, no customer left waiting.</a:t>
            </a:r>
          </a:p>
        </p:txBody>
      </p:sp>
      <p:sp>
        <p:nvSpPr>
          <p:cNvPr id="49" name="Rectangle 48"/>
          <p:cNvSpPr/>
          <p:nvPr/>
        </p:nvSpPr>
        <p:spPr>
          <a:xfrm>
            <a:off x="0" y="4914900"/>
            <a:ext cx="9144000" cy="2286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3 / 10  ·  Module 2</a:t>
            </a:r>
          </a:p>
        </p:txBody>
      </p:sp>
    </p:spTree>
  </p:cSld>
  <p:clrMapOvr>
    <a:masterClrMapping/>
  </p:clrMapOvr>
</p:sld>
</file>

<file path=ppt/slides/slide4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2  · Integration</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Schema Registry compatibility modes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Pick once per subject — drives what producers can change</a:t>
            </a:r>
          </a:p>
        </p:txBody>
      </p:sp>
      <p:graphicFrame>
        <p:nvGraphicFramePr>
          <p:cNvPr id="6" name="Table 5"/>
          <p:cNvGraphicFramePr>
            <a:graphicFrameLocks noGrp="1"/>
          </p:cNvGraphicFramePr>
          <p:nvPr/>
        </p:nvGraphicFramePr>
        <p:xfrm>
          <a:off x="274320" y="914400"/>
          <a:ext cx="5212080" cy="4023360"/>
        </p:xfrm>
        <a:graphic>
          <a:graphicData uri="http://schemas.openxmlformats.org/drawingml/2006/table">
            <a:tbl>
              <a:tblPr firstRow="1" bandRow="1">
                <a:tableStyleId>{5C22544A-7EE6-4342-B048-85BDC9FD1C3A}</a:tableStyleId>
              </a:tblPr>
              <a:tblGrid>
                <a:gridCol w="1303020"/>
                <a:gridCol w="1303020"/>
                <a:gridCol w="1303020"/>
                <a:gridCol w="1303020"/>
              </a:tblGrid>
              <a:tr h="804672">
                <a:tc>
                  <a:txBody>
                    <a:bodyPr/>
                    <a:lstStyle/>
                    <a:p>
                      <a:r>
                        <a:rPr sz="1100" b="1">
                          <a:solidFill>
                            <a:srgbClr val="FFFFFF"/>
                          </a:solidFill>
                        </a:rPr>
                        <a:t>Mode</a:t>
                      </a:r>
                    </a:p>
                  </a:txBody>
                  <a:tcPr>
                    <a:solidFill>
                      <a:srgbClr val="0B2A4A"/>
                    </a:solidFill>
                  </a:tcPr>
                </a:tc>
                <a:tc>
                  <a:txBody>
                    <a:bodyPr/>
                    <a:lstStyle/>
                    <a:p>
                      <a:r>
                        <a:rPr sz="1100" b="1">
                          <a:solidFill>
                            <a:srgbClr val="FFFFFF"/>
                          </a:solidFill>
                        </a:rPr>
                        <a:t>New reader sees old?</a:t>
                      </a:r>
                    </a:p>
                  </a:txBody>
                  <a:tcPr>
                    <a:solidFill>
                      <a:srgbClr val="0B2A4A"/>
                    </a:solidFill>
                  </a:tcPr>
                </a:tc>
                <a:tc>
                  <a:txBody>
                    <a:bodyPr/>
                    <a:lstStyle/>
                    <a:p>
                      <a:r>
                        <a:rPr sz="1100" b="1">
                          <a:solidFill>
                            <a:srgbClr val="FFFFFF"/>
                          </a:solidFill>
                        </a:rPr>
                        <a:t>Old reader sees new?</a:t>
                      </a:r>
                    </a:p>
                  </a:txBody>
                  <a:tcPr>
                    <a:solidFill>
                      <a:srgbClr val="0B2A4A"/>
                    </a:solidFill>
                  </a:tcPr>
                </a:tc>
                <a:tc>
                  <a:txBody>
                    <a:bodyPr/>
                    <a:lstStyle/>
                    <a:p>
                      <a:r>
                        <a:rPr sz="1100" b="1">
                          <a:solidFill>
                            <a:srgbClr val="FFFFFF"/>
                          </a:solidFill>
                        </a:rPr>
                        <a:t>Use when</a:t>
                      </a:r>
                    </a:p>
                  </a:txBody>
                  <a:tcPr>
                    <a:solidFill>
                      <a:srgbClr val="0B2A4A"/>
                    </a:solidFill>
                  </a:tcPr>
                </a:tc>
              </a:tr>
              <a:tr h="804672">
                <a:tc>
                  <a:txBody>
                    <a:bodyPr/>
                    <a:lstStyle/>
                    <a:p>
                      <a:r>
                        <a:rPr sz="1000">
                          <a:solidFill>
                            <a:srgbClr val="0B2A4A"/>
                          </a:solidFill>
                        </a:rPr>
                        <a:t>BACKWARD</a:t>
                      </a:r>
                    </a:p>
                  </a:txBody>
                  <a:tcPr/>
                </a:tc>
                <a:tc>
                  <a:txBody>
                    <a:bodyPr/>
                    <a:lstStyle/>
                    <a:p>
                      <a:r>
                        <a:rPr sz="1000">
                          <a:solidFill>
                            <a:srgbClr val="0B2A4A"/>
                          </a:solidFill>
                        </a:rPr>
                        <a:t>yes (default)</a:t>
                      </a:r>
                    </a:p>
                  </a:txBody>
                  <a:tcPr/>
                </a:tc>
                <a:tc>
                  <a:txBody>
                    <a:bodyPr/>
                    <a:lstStyle/>
                    <a:p>
                      <a:r>
                        <a:rPr sz="1000">
                          <a:solidFill>
                            <a:srgbClr val="0B2A4A"/>
                          </a:solidFill>
                        </a:rPr>
                        <a:t>no</a:t>
                      </a:r>
                    </a:p>
                  </a:txBody>
                  <a:tcPr/>
                </a:tc>
                <a:tc>
                  <a:txBody>
                    <a:bodyPr/>
                    <a:lstStyle/>
                    <a:p>
                      <a:r>
                        <a:rPr sz="1000">
                          <a:solidFill>
                            <a:srgbClr val="0B2A4A"/>
                          </a:solidFill>
                        </a:rPr>
                        <a:t>consumers upgrade after producers</a:t>
                      </a:r>
                    </a:p>
                  </a:txBody>
                  <a:tcPr/>
                </a:tc>
              </a:tr>
              <a:tr h="804672">
                <a:tc>
                  <a:txBody>
                    <a:bodyPr/>
                    <a:lstStyle/>
                    <a:p>
                      <a:r>
                        <a:rPr sz="1000">
                          <a:solidFill>
                            <a:srgbClr val="0B2A4A"/>
                          </a:solidFill>
                        </a:rPr>
                        <a:t>FORWARD</a:t>
                      </a:r>
                    </a:p>
                  </a:txBody>
                  <a:tcPr>
                    <a:solidFill>
                      <a:srgbClr val="F1F5F9"/>
                    </a:solidFill>
                  </a:tcPr>
                </a:tc>
                <a:tc>
                  <a:txBody>
                    <a:bodyPr/>
                    <a:lstStyle/>
                    <a:p>
                      <a:r>
                        <a:rPr sz="1000">
                          <a:solidFill>
                            <a:srgbClr val="0B2A4A"/>
                          </a:solidFill>
                        </a:rPr>
                        <a:t>no</a:t>
                      </a:r>
                    </a:p>
                  </a:txBody>
                  <a:tcPr>
                    <a:solidFill>
                      <a:srgbClr val="F1F5F9"/>
                    </a:solidFill>
                  </a:tcPr>
                </a:tc>
                <a:tc>
                  <a:txBody>
                    <a:bodyPr/>
                    <a:lstStyle/>
                    <a:p>
                      <a:r>
                        <a:rPr sz="1000">
                          <a:solidFill>
                            <a:srgbClr val="0B2A4A"/>
                          </a:solidFill>
                        </a:rPr>
                        <a:t>yes</a:t>
                      </a:r>
                    </a:p>
                  </a:txBody>
                  <a:tcPr>
                    <a:solidFill>
                      <a:srgbClr val="F1F5F9"/>
                    </a:solidFill>
                  </a:tcPr>
                </a:tc>
                <a:tc>
                  <a:txBody>
                    <a:bodyPr/>
                    <a:lstStyle/>
                    <a:p>
                      <a:r>
                        <a:rPr sz="1000">
                          <a:solidFill>
                            <a:srgbClr val="0B2A4A"/>
                          </a:solidFill>
                        </a:rPr>
                        <a:t>producers upgrade after consumers</a:t>
                      </a:r>
                    </a:p>
                  </a:txBody>
                  <a:tcPr>
                    <a:solidFill>
                      <a:srgbClr val="F1F5F9"/>
                    </a:solidFill>
                  </a:tcPr>
                </a:tc>
              </a:tr>
              <a:tr h="804672">
                <a:tc>
                  <a:txBody>
                    <a:bodyPr/>
                    <a:lstStyle/>
                    <a:p>
                      <a:r>
                        <a:rPr sz="1000">
                          <a:solidFill>
                            <a:srgbClr val="0B2A4A"/>
                          </a:solidFill>
                        </a:rPr>
                        <a:t>FULL</a:t>
                      </a:r>
                    </a:p>
                  </a:txBody>
                  <a:tcPr/>
                </a:tc>
                <a:tc>
                  <a:txBody>
                    <a:bodyPr/>
                    <a:lstStyle/>
                    <a:p>
                      <a:r>
                        <a:rPr sz="1000">
                          <a:solidFill>
                            <a:srgbClr val="0B2A4A"/>
                          </a:solidFill>
                        </a:rPr>
                        <a:t>yes</a:t>
                      </a:r>
                    </a:p>
                  </a:txBody>
                  <a:tcPr/>
                </a:tc>
                <a:tc>
                  <a:txBody>
                    <a:bodyPr/>
                    <a:lstStyle/>
                    <a:p>
                      <a:r>
                        <a:rPr sz="1000">
                          <a:solidFill>
                            <a:srgbClr val="0B2A4A"/>
                          </a:solidFill>
                        </a:rPr>
                        <a:t>yes</a:t>
                      </a:r>
                    </a:p>
                  </a:txBody>
                  <a:tcPr/>
                </a:tc>
                <a:tc>
                  <a:txBody>
                    <a:bodyPr/>
                    <a:lstStyle/>
                    <a:p>
                      <a:r>
                        <a:rPr sz="1000">
                          <a:solidFill>
                            <a:srgbClr val="0B2A4A"/>
                          </a:solidFill>
                        </a:rPr>
                        <a:t>both must work, tightest</a:t>
                      </a:r>
                    </a:p>
                  </a:txBody>
                  <a:tcPr/>
                </a:tc>
              </a:tr>
              <a:tr h="804672">
                <a:tc>
                  <a:txBody>
                    <a:bodyPr/>
                    <a:lstStyle/>
                    <a:p>
                      <a:r>
                        <a:rPr sz="1000">
                          <a:solidFill>
                            <a:srgbClr val="0B2A4A"/>
                          </a:solidFill>
                        </a:rPr>
                        <a:t>NONE</a:t>
                      </a:r>
                    </a:p>
                  </a:txBody>
                  <a:tcPr>
                    <a:solidFill>
                      <a:srgbClr val="F1F5F9"/>
                    </a:solidFill>
                  </a:tcPr>
                </a:tc>
                <a:tc>
                  <a:txBody>
                    <a:bodyPr/>
                    <a:lstStyle/>
                    <a:p>
                      <a:r>
                        <a:rPr sz="1000">
                          <a:solidFill>
                            <a:srgbClr val="0B2A4A"/>
                          </a:solidFill>
                        </a:rPr>
                        <a:t>n/a</a:t>
                      </a:r>
                    </a:p>
                  </a:txBody>
                  <a:tcPr>
                    <a:solidFill>
                      <a:srgbClr val="F1F5F9"/>
                    </a:solidFill>
                  </a:tcPr>
                </a:tc>
                <a:tc>
                  <a:txBody>
                    <a:bodyPr/>
                    <a:lstStyle/>
                    <a:p>
                      <a:r>
                        <a:rPr sz="1000">
                          <a:solidFill>
                            <a:srgbClr val="0B2A4A"/>
                          </a:solidFill>
                        </a:rPr>
                        <a:t>n/a</a:t>
                      </a:r>
                    </a:p>
                  </a:txBody>
                  <a:tcPr>
                    <a:solidFill>
                      <a:srgbClr val="F1F5F9"/>
                    </a:solidFill>
                  </a:tcPr>
                </a:tc>
                <a:tc>
                  <a:txBody>
                    <a:bodyPr/>
                    <a:lstStyle/>
                    <a:p>
                      <a:r>
                        <a:rPr sz="1000">
                          <a:solidFill>
                            <a:srgbClr val="0B2A4A"/>
                          </a:solidFill>
                        </a:rPr>
                        <a:t>dev only — break-glass</a:t>
                      </a:r>
                    </a:p>
                  </a:txBody>
                  <a:tcPr>
                    <a:solidFill>
                      <a:srgbClr val="F1F5F9"/>
                    </a:solidFill>
                  </a:tcPr>
                </a:tc>
              </a:tr>
            </a:tbl>
          </a:graphicData>
        </a:graphic>
      </p:graphicFrame>
      <p:sp>
        <p:nvSpPr>
          <p:cNvPr id="7" name="Rectangle 6"/>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9" name="TextBox 8"/>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Phone-charger USB-C</a:t>
            </a:r>
          </a:p>
        </p:txBody>
      </p:sp>
      <p:sp>
        <p:nvSpPr>
          <p:cNvPr id="10" name="TextBox 9"/>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BACKWARD compatibility is like a new charger that still fits old phones — the upgrade path nobody has to think about.</a:t>
            </a:r>
          </a:p>
        </p:txBody>
      </p:sp>
      <p:sp>
        <p:nvSpPr>
          <p:cNvPr id="11" name="Rectangle 10"/>
          <p:cNvSpPr/>
          <p:nvPr/>
        </p:nvSpPr>
        <p:spPr>
          <a:xfrm>
            <a:off x="0" y="4914900"/>
            <a:ext cx="9144000" cy="2286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4 / 10  ·  Module 2</a:t>
            </a:r>
          </a:p>
        </p:txBody>
      </p:sp>
    </p:spTree>
  </p:cSld>
  <p:clrMapOvr>
    <a:masterClrMapping/>
  </p:clrMapOvr>
</p:sld>
</file>

<file path=ppt/slides/slide4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2  · Integration</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Kafka Connect — source and sink plugins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The bridge between the broker and everything that is not Kafka</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afka.png"/>
          <p:cNvPicPr>
            <a:picLocks noChangeAspect="1"/>
          </p:cNvPicPr>
          <p:nvPr/>
        </p:nvPicPr>
        <p:blipFill>
          <a:blip r:embed="rId2"/>
          <a:stretch>
            <a:fillRect/>
          </a:stretch>
        </p:blipFill>
        <p:spPr>
          <a:xfrm>
            <a:off x="2032288" y="982980"/>
            <a:ext cx="1604704"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debezium-connector-postgres  — source: WAL → Kafka</a:t>
            </a:r>
          </a:p>
          <a:p>
            <a:pPr>
              <a:spcAft>
                <a:spcPts val="400"/>
              </a:spcAft>
            </a:pPr>
            <a:r>
              <a:rPr sz="1100">
                <a:solidFill>
                  <a:srgbClr val="0B2A4A"/>
                </a:solidFill>
              </a:rPr>
              <a:t>•  kafka-connect-s3 (×2)        — sink: Kafka → MinIO bronze</a:t>
            </a:r>
          </a:p>
          <a:p>
            <a:pPr>
              <a:spcAft>
                <a:spcPts val="400"/>
              </a:spcAft>
            </a:pPr>
            <a:r>
              <a:rPr sz="1100">
                <a:solidFill>
                  <a:srgbClr val="0B2A4A"/>
                </a:solidFill>
              </a:rPr>
              <a:t>•  Plugins drop into  debezium/plugins/  → mounted at /etc/kafka-connect/plugins.</a:t>
            </a:r>
          </a:p>
          <a:p>
            <a:pPr>
              <a:spcAft>
                <a:spcPts val="400"/>
              </a:spcAft>
            </a:pPr>
            <a:r>
              <a:rPr sz="1100">
                <a:solidFill>
                  <a:srgbClr val="0B2A4A"/>
                </a:solidFill>
              </a:rPr>
              <a:t>•  JSON config posted to REST :8083; restart-safe (offsets in internal topics).</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Power adapters</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Connectors are travel adapters — same Kafka 'plug', different shapes on the other side: Postgres, S3, ElasticSearch, Snowflake. You don't write the adapter; you configure it with JSON.</a:t>
            </a:r>
          </a:p>
        </p:txBody>
      </p:sp>
      <p:sp>
        <p:nvSpPr>
          <p:cNvPr id="13" name="Rectangle 12"/>
          <p:cNvSpPr/>
          <p:nvPr/>
        </p:nvSpPr>
        <p:spPr>
          <a:xfrm>
            <a:off x="0" y="4914900"/>
            <a:ext cx="9144000" cy="2286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5 / 10  ·  Module 2</a:t>
            </a:r>
          </a:p>
        </p:txBody>
      </p:sp>
    </p:spTree>
  </p:cSld>
  <p:clrMapOvr>
    <a:masterClrMapping/>
  </p:clrMapOvr>
</p:sld>
</file>

<file path=ppt/slides/slide4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2  · Integration</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Apache Hop — pipelines and workflows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Visual ETL with .hpl / .hwf files that are also git-friendly XML</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hop.png"/>
          <p:cNvPicPr>
            <a:picLocks noChangeAspect="1"/>
          </p:cNvPicPr>
          <p:nvPr/>
        </p:nvPicPr>
        <p:blipFill>
          <a:blip r:embed="rId2"/>
          <a:stretch>
            <a:fillRect/>
          </a:stretch>
        </p:blipFill>
        <p:spPr>
          <a:xfrm>
            <a:off x="1605376" y="982980"/>
            <a:ext cx="2458528"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bronze_to_silver.hpl  — per entity dedupe + late-filter + write audit.</a:t>
            </a:r>
          </a:p>
          <a:p>
            <a:pPr>
              <a:spcAft>
                <a:spcPts val="400"/>
              </a:spcAft>
            </a:pPr>
            <a:r>
              <a:rPr sz="1100">
                <a:solidFill>
                  <a:srgbClr val="0B2A4A"/>
                </a:solidFill>
              </a:rPr>
              <a:t>•  silver_to_gold.hpl    — DuckDB query over silver Avro → Parquet.</a:t>
            </a:r>
          </a:p>
          <a:p>
            <a:pPr>
              <a:spcAft>
                <a:spcPts val="400"/>
              </a:spcAft>
            </a:pPr>
            <a:r>
              <a:rPr sz="1100">
                <a:solidFill>
                  <a:srgbClr val="0B2A4A"/>
                </a:solidFill>
              </a:rPr>
              <a:t>•  Workflows (.hwf) chain pipelines: wf_bronze_to_silver, wf_full_medallion.</a:t>
            </a:r>
          </a:p>
          <a:p>
            <a:pPr>
              <a:spcAft>
                <a:spcPts val="400"/>
              </a:spcAft>
            </a:pPr>
            <a:r>
              <a:rPr sz="1100">
                <a:solidFill>
                  <a:srgbClr val="0B2A4A"/>
                </a:solidFill>
              </a:rPr>
              <a:t>•  Python equivalents (hop/transforms/*.py) run headless inside Airflow.</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LEGO instruction booklet</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A Hop pipeline (.hpl) is the LEGO instruction sheet — every step is a named brick, ordered, with inputs and outputs you can see. The Python twin runs the same recipe from Airflow when there's no GUI.</a:t>
            </a:r>
          </a:p>
        </p:txBody>
      </p:sp>
      <p:sp>
        <p:nvSpPr>
          <p:cNvPr id="13" name="Rectangle 12"/>
          <p:cNvSpPr/>
          <p:nvPr/>
        </p:nvSpPr>
        <p:spPr>
          <a:xfrm>
            <a:off x="0" y="4914900"/>
            <a:ext cx="9144000" cy="2286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6 / 10  ·  Module 2</a:t>
            </a:r>
          </a:p>
        </p:txBody>
      </p:sp>
    </p:spTree>
  </p:cSld>
  <p:clrMapOvr>
    <a:masterClrMapping/>
  </p:clrMapOvr>
</p:sld>
</file>

<file path=ppt/slides/slide4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2  · Integration</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Airflow DAGs in this stack</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5 DAGs — 1 manual bootstrap, 1 drift generator, 3 every-5-minute jobs</a:t>
            </a:r>
          </a:p>
        </p:txBody>
      </p:sp>
      <p:graphicFrame>
        <p:nvGraphicFramePr>
          <p:cNvPr id="6" name="Table 5"/>
          <p:cNvGraphicFramePr>
            <a:graphicFrameLocks noGrp="1"/>
          </p:cNvGraphicFramePr>
          <p:nvPr/>
        </p:nvGraphicFramePr>
        <p:xfrm>
          <a:off x="274320" y="914400"/>
          <a:ext cx="5212080" cy="4023360"/>
        </p:xfrm>
        <a:graphic>
          <a:graphicData uri="http://schemas.openxmlformats.org/drawingml/2006/table">
            <a:tbl>
              <a:tblPr firstRow="1" bandRow="1">
                <a:tableStyleId>{5C22544A-7EE6-4342-B048-85BDC9FD1C3A}</a:tableStyleId>
              </a:tblPr>
              <a:tblGrid>
                <a:gridCol w="1737360"/>
                <a:gridCol w="1737360"/>
                <a:gridCol w="1737360"/>
              </a:tblGrid>
              <a:tr h="670560">
                <a:tc>
                  <a:txBody>
                    <a:bodyPr/>
                    <a:lstStyle/>
                    <a:p>
                      <a:r>
                        <a:rPr sz="1100" b="1">
                          <a:solidFill>
                            <a:srgbClr val="FFFFFF"/>
                          </a:solidFill>
                        </a:rPr>
                        <a:t>DAG</a:t>
                      </a:r>
                    </a:p>
                  </a:txBody>
                  <a:tcPr>
                    <a:solidFill>
                      <a:srgbClr val="0B2A4A"/>
                    </a:solidFill>
                  </a:tcPr>
                </a:tc>
                <a:tc>
                  <a:txBody>
                    <a:bodyPr/>
                    <a:lstStyle/>
                    <a:p>
                      <a:r>
                        <a:rPr sz="1100" b="1">
                          <a:solidFill>
                            <a:srgbClr val="FFFFFF"/>
                          </a:solidFill>
                        </a:rPr>
                        <a:t>Schedule</a:t>
                      </a:r>
                    </a:p>
                  </a:txBody>
                  <a:tcPr>
                    <a:solidFill>
                      <a:srgbClr val="0B2A4A"/>
                    </a:solidFill>
                  </a:tcPr>
                </a:tc>
                <a:tc>
                  <a:txBody>
                    <a:bodyPr/>
                    <a:lstStyle/>
                    <a:p>
                      <a:r>
                        <a:rPr sz="1100" b="1">
                          <a:solidFill>
                            <a:srgbClr val="FFFFFF"/>
                          </a:solidFill>
                        </a:rPr>
                        <a:t>What it does</a:t>
                      </a:r>
                    </a:p>
                  </a:txBody>
                  <a:tcPr>
                    <a:solidFill>
                      <a:srgbClr val="0B2A4A"/>
                    </a:solidFill>
                  </a:tcPr>
                </a:tc>
              </a:tr>
              <a:tr h="670560">
                <a:tc>
                  <a:txBody>
                    <a:bodyPr/>
                    <a:lstStyle/>
                    <a:p>
                      <a:r>
                        <a:rPr sz="1000">
                          <a:solidFill>
                            <a:srgbClr val="0B2A4A"/>
                          </a:solidFill>
                        </a:rPr>
                        <a:t>00_bootstrap</a:t>
                      </a:r>
                    </a:p>
                  </a:txBody>
                  <a:tcPr/>
                </a:tc>
                <a:tc>
                  <a:txBody>
                    <a:bodyPr/>
                    <a:lstStyle/>
                    <a:p>
                      <a:r>
                        <a:rPr sz="1000">
                          <a:solidFill>
                            <a:srgbClr val="0B2A4A"/>
                          </a:solidFill>
                        </a:rPr>
                        <a:t>manual</a:t>
                      </a:r>
                    </a:p>
                  </a:txBody>
                  <a:tcPr/>
                </a:tc>
                <a:tc>
                  <a:txBody>
                    <a:bodyPr/>
                    <a:lstStyle/>
                    <a:p>
                      <a:r>
                        <a:rPr sz="1000">
                          <a:solidFill>
                            <a:srgbClr val="0B2A4A"/>
                          </a:solidFill>
                        </a:rPr>
                        <a:t>create topics, buckets, schemas, connectors</a:t>
                      </a:r>
                    </a:p>
                  </a:txBody>
                  <a:tcPr/>
                </a:tc>
              </a:tr>
              <a:tr h="670560">
                <a:tc>
                  <a:txBody>
                    <a:bodyPr/>
                    <a:lstStyle/>
                    <a:p>
                      <a:r>
                        <a:rPr sz="1000">
                          <a:solidFill>
                            <a:srgbClr val="0B2A4A"/>
                          </a:solidFill>
                        </a:rPr>
                        <a:t>15_config_drift</a:t>
                      </a:r>
                    </a:p>
                  </a:txBody>
                  <a:tcPr>
                    <a:solidFill>
                      <a:srgbClr val="F1F5F9"/>
                    </a:solidFill>
                  </a:tcPr>
                </a:tc>
                <a:tc>
                  <a:txBody>
                    <a:bodyPr/>
                    <a:lstStyle/>
                    <a:p>
                      <a:r>
                        <a:rPr sz="1000">
                          <a:solidFill>
                            <a:srgbClr val="0B2A4A"/>
                          </a:solidFill>
                        </a:rPr>
                        <a:t>every 2 m</a:t>
                      </a:r>
                    </a:p>
                  </a:txBody>
                  <a:tcPr>
                    <a:solidFill>
                      <a:srgbClr val="F1F5F9"/>
                    </a:solidFill>
                  </a:tcPr>
                </a:tc>
                <a:tc>
                  <a:txBody>
                    <a:bodyPr/>
                    <a:lstStyle/>
                    <a:p>
                      <a:r>
                        <a:rPr sz="1000">
                          <a:solidFill>
                            <a:srgbClr val="0B2A4A"/>
                          </a:solidFill>
                        </a:rPr>
                        <a:t>mutate Postgres rows to keep CDC busy</a:t>
                      </a:r>
                    </a:p>
                  </a:txBody>
                  <a:tcPr>
                    <a:solidFill>
                      <a:srgbClr val="F1F5F9"/>
                    </a:solidFill>
                  </a:tcPr>
                </a:tc>
              </a:tr>
              <a:tr h="670560">
                <a:tc>
                  <a:txBody>
                    <a:bodyPr/>
                    <a:lstStyle/>
                    <a:p>
                      <a:r>
                        <a:rPr sz="1000">
                          <a:solidFill>
                            <a:srgbClr val="0B2A4A"/>
                          </a:solidFill>
                        </a:rPr>
                        <a:t>30_hop_medallion</a:t>
                      </a:r>
                    </a:p>
                  </a:txBody>
                  <a:tcPr/>
                </a:tc>
                <a:tc>
                  <a:txBody>
                    <a:bodyPr/>
                    <a:lstStyle/>
                    <a:p>
                      <a:r>
                        <a:rPr sz="1000">
                          <a:solidFill>
                            <a:srgbClr val="0B2A4A"/>
                          </a:solidFill>
                        </a:rPr>
                        <a:t>every 5 m</a:t>
                      </a:r>
                    </a:p>
                  </a:txBody>
                  <a:tcPr/>
                </a:tc>
                <a:tc>
                  <a:txBody>
                    <a:bodyPr/>
                    <a:lstStyle/>
                    <a:p>
                      <a:r>
                        <a:rPr sz="1000">
                          <a:solidFill>
                            <a:srgbClr val="0B2A4A"/>
                          </a:solidFill>
                        </a:rPr>
                        <a:t>silver streams ∥ silver CDC → 4 gold marts</a:t>
                      </a:r>
                    </a:p>
                  </a:txBody>
                  <a:tcPr/>
                </a:tc>
              </a:tr>
              <a:tr h="670560">
                <a:tc>
                  <a:txBody>
                    <a:bodyPr/>
                    <a:lstStyle/>
                    <a:p>
                      <a:r>
                        <a:rPr sz="1000">
                          <a:solidFill>
                            <a:srgbClr val="0B2A4A"/>
                          </a:solidFill>
                        </a:rPr>
                        <a:t>40_data_quality</a:t>
                      </a:r>
                    </a:p>
                  </a:txBody>
                  <a:tcPr>
                    <a:solidFill>
                      <a:srgbClr val="F1F5F9"/>
                    </a:solidFill>
                  </a:tcPr>
                </a:tc>
                <a:tc>
                  <a:txBody>
                    <a:bodyPr/>
                    <a:lstStyle/>
                    <a:p>
                      <a:r>
                        <a:rPr sz="1000">
                          <a:solidFill>
                            <a:srgbClr val="0B2A4A"/>
                          </a:solidFill>
                        </a:rPr>
                        <a:t>every 5 m</a:t>
                      </a:r>
                    </a:p>
                  </a:txBody>
                  <a:tcPr>
                    <a:solidFill>
                      <a:srgbClr val="F1F5F9"/>
                    </a:solidFill>
                  </a:tcPr>
                </a:tc>
                <a:tc>
                  <a:txBody>
                    <a:bodyPr/>
                    <a:lstStyle/>
                    <a:p>
                      <a:r>
                        <a:rPr sz="1000">
                          <a:solidFill>
                            <a:srgbClr val="0B2A4A"/>
                          </a:solidFill>
                        </a:rPr>
                        <a:t>rule pack → POST quality-dashboard</a:t>
                      </a:r>
                    </a:p>
                  </a:txBody>
                  <a:tcPr>
                    <a:solidFill>
                      <a:srgbClr val="F1F5F9"/>
                    </a:solidFill>
                  </a:tcPr>
                </a:tc>
              </a:tr>
              <a:tr h="670560">
                <a:tc>
                  <a:txBody>
                    <a:bodyPr/>
                    <a:lstStyle/>
                    <a:p>
                      <a:r>
                        <a:rPr sz="1000">
                          <a:solidFill>
                            <a:srgbClr val="0B2A4A"/>
                          </a:solidFill>
                        </a:rPr>
                        <a:t>50_business_kpis</a:t>
                      </a:r>
                    </a:p>
                  </a:txBody>
                  <a:tcPr/>
                </a:tc>
                <a:tc>
                  <a:txBody>
                    <a:bodyPr/>
                    <a:lstStyle/>
                    <a:p>
                      <a:r>
                        <a:rPr sz="1000">
                          <a:solidFill>
                            <a:srgbClr val="0B2A4A"/>
                          </a:solidFill>
                        </a:rPr>
                        <a:t>every 5 m</a:t>
                      </a:r>
                    </a:p>
                  </a:txBody>
                  <a:tcPr/>
                </a:tc>
                <a:tc>
                  <a:txBody>
                    <a:bodyPr/>
                    <a:lstStyle/>
                    <a:p>
                      <a:r>
                        <a:rPr sz="1000">
                          <a:solidFill>
                            <a:srgbClr val="0B2A4A"/>
                          </a:solidFill>
                        </a:rPr>
                        <a:t>POST business-dashboard /api/refresh</a:t>
                      </a:r>
                    </a:p>
                  </a:txBody>
                  <a:tcPr/>
                </a:tc>
              </a:tr>
            </a:tbl>
          </a:graphicData>
        </a:graphic>
      </p:graphicFrame>
      <p:sp>
        <p:nvSpPr>
          <p:cNvPr id="7" name="Rectangle 6"/>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9" name="TextBox 8"/>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Symphony conductor</a:t>
            </a:r>
          </a:p>
        </p:txBody>
      </p:sp>
      <p:sp>
        <p:nvSpPr>
          <p:cNvPr id="10" name="TextBox 9"/>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Airflow doesn't play any instrument — it tells each section when to come in and how loud. The streams are still playing all the time on their own.</a:t>
            </a:r>
          </a:p>
        </p:txBody>
      </p:sp>
      <p:sp>
        <p:nvSpPr>
          <p:cNvPr id="11" name="Rectangle 10"/>
          <p:cNvSpPr/>
          <p:nvPr/>
        </p:nvSpPr>
        <p:spPr>
          <a:xfrm>
            <a:off x="0" y="4914900"/>
            <a:ext cx="9144000" cy="2286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7 / 10  ·  Module 2</a:t>
            </a:r>
          </a:p>
        </p:txBody>
      </p:sp>
    </p:spTree>
  </p:cSld>
  <p:clrMapOvr>
    <a:masterClrMapping/>
  </p:clrMapOvr>
</p:sld>
</file>

<file path=ppt/slides/slide5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2  · Integration</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How they wire together</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One picture: every box you saw in the previous slides, in place</a:t>
            </a:r>
          </a:p>
        </p:txBody>
      </p:sp>
      <p:sp>
        <p:nvSpPr>
          <p:cNvPr id="6" name="TextBox 5"/>
          <p:cNvSpPr txBox="1"/>
          <p:nvPr/>
        </p:nvSpPr>
        <p:spPr>
          <a:xfrm>
            <a:off x="274320" y="914400"/>
            <a:ext cx="5212080" cy="274320"/>
          </a:xfrm>
          <a:prstGeom prst="rect">
            <a:avLst/>
          </a:prstGeom>
          <a:noFill/>
        </p:spPr>
        <p:txBody>
          <a:bodyPr wrap="square" lIns="45720" rIns="45720" tIns="18288" bIns="18288">
            <a:spAutoFit/>
          </a:bodyPr>
          <a:lstStyle/>
          <a:p>
            <a:pPr algn="ctr"/>
            <a:r>
              <a:rPr sz="1200" b="1">
                <a:solidFill>
                  <a:srgbClr val="1F77B4"/>
                </a:solidFill>
              </a:rPr>
              <a:t>End-to-end: APRS packet → dashboard tile</a:t>
            </a:r>
          </a:p>
        </p:txBody>
      </p:sp>
      <p:sp>
        <p:nvSpPr>
          <p:cNvPr id="7" name="Rectangle 6"/>
          <p:cNvSpPr/>
          <p:nvPr/>
        </p:nvSpPr>
        <p:spPr>
          <a:xfrm>
            <a:off x="365760" y="1463040"/>
            <a:ext cx="1188720" cy="41148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549908"/>
            <a:ext cx="1188720" cy="237744"/>
          </a:xfrm>
          <a:prstGeom prst="rect">
            <a:avLst/>
          </a:prstGeom>
          <a:noFill/>
        </p:spPr>
        <p:txBody>
          <a:bodyPr wrap="square" lIns="45720" rIns="45720" tIns="18288" bIns="18288">
            <a:spAutoFit/>
          </a:bodyPr>
          <a:lstStyle/>
          <a:p>
            <a:pPr algn="ctr"/>
            <a:r>
              <a:rPr sz="1000" b="1">
                <a:solidFill>
                  <a:srgbClr val="FFFFFF"/>
                </a:solidFill>
              </a:rPr>
              <a:t>OGN APRS</a:t>
            </a:r>
          </a:p>
        </p:txBody>
      </p:sp>
      <p:cxnSp>
        <p:nvCxnSpPr>
          <p:cNvPr id="9" name="Connector 8"/>
          <p:cNvCxnSpPr/>
          <p:nvPr/>
        </p:nvCxnSpPr>
        <p:spPr>
          <a:xfrm>
            <a:off x="1554480" y="166878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645920" y="1463040"/>
            <a:ext cx="1188720" cy="41148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45920" y="1549908"/>
            <a:ext cx="1188720" cy="237744"/>
          </a:xfrm>
          <a:prstGeom prst="rect">
            <a:avLst/>
          </a:prstGeom>
          <a:noFill/>
        </p:spPr>
        <p:txBody>
          <a:bodyPr wrap="square" lIns="45720" rIns="45720" tIns="18288" bIns="18288">
            <a:spAutoFit/>
          </a:bodyPr>
          <a:lstStyle/>
          <a:p>
            <a:pPr algn="ctr"/>
            <a:r>
              <a:rPr sz="1000" b="1">
                <a:solidFill>
                  <a:srgbClr val="FFFFFF"/>
                </a:solidFill>
              </a:rPr>
              <a:t>ingestor</a:t>
            </a:r>
          </a:p>
        </p:txBody>
      </p:sp>
      <p:cxnSp>
        <p:nvCxnSpPr>
          <p:cNvPr id="12" name="Connector 11"/>
          <p:cNvCxnSpPr/>
          <p:nvPr/>
        </p:nvCxnSpPr>
        <p:spPr>
          <a:xfrm>
            <a:off x="2834640" y="166878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26080" y="1463040"/>
            <a:ext cx="1188720" cy="411480"/>
          </a:xfrm>
          <a:prstGeom prst="rect">
            <a:avLst/>
          </a:prstGeom>
          <a:solidFill>
            <a:srgbClr val="2CA02C"/>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0" y="1549908"/>
            <a:ext cx="1188720" cy="237744"/>
          </a:xfrm>
          <a:prstGeom prst="rect">
            <a:avLst/>
          </a:prstGeom>
          <a:noFill/>
        </p:spPr>
        <p:txBody>
          <a:bodyPr wrap="square" lIns="45720" rIns="45720" tIns="18288" bIns="18288">
            <a:spAutoFit/>
          </a:bodyPr>
          <a:lstStyle/>
          <a:p>
            <a:pPr algn="ctr"/>
            <a:r>
              <a:rPr sz="1000" b="1">
                <a:solidFill>
                  <a:srgbClr val="FFFFFF"/>
                </a:solidFill>
              </a:rPr>
              <a:t>Kafka</a:t>
            </a:r>
          </a:p>
        </p:txBody>
      </p:sp>
      <p:cxnSp>
        <p:nvCxnSpPr>
          <p:cNvPr id="15" name="Connector 14"/>
          <p:cNvCxnSpPr/>
          <p:nvPr/>
        </p:nvCxnSpPr>
        <p:spPr>
          <a:xfrm>
            <a:off x="4114800" y="166878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206240" y="1463040"/>
            <a:ext cx="1188720" cy="411480"/>
          </a:xfrm>
          <a:prstGeom prst="rect">
            <a:avLst/>
          </a:prstGeom>
          <a:solidFill>
            <a:srgbClr val="2CA02C"/>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1549908"/>
            <a:ext cx="1188720" cy="237744"/>
          </a:xfrm>
          <a:prstGeom prst="rect">
            <a:avLst/>
          </a:prstGeom>
          <a:noFill/>
        </p:spPr>
        <p:txBody>
          <a:bodyPr wrap="square" lIns="45720" rIns="45720" tIns="18288" bIns="18288">
            <a:spAutoFit/>
          </a:bodyPr>
          <a:lstStyle/>
          <a:p>
            <a:pPr algn="ctr"/>
            <a:r>
              <a:rPr sz="1000" b="1">
                <a:solidFill>
                  <a:srgbClr val="FFFFFF"/>
                </a:solidFill>
              </a:rPr>
              <a:t>S3 sink</a:t>
            </a:r>
          </a:p>
        </p:txBody>
      </p:sp>
      <p:sp>
        <p:nvSpPr>
          <p:cNvPr id="18" name="Rectangle 17"/>
          <p:cNvSpPr/>
          <p:nvPr/>
        </p:nvSpPr>
        <p:spPr>
          <a:xfrm>
            <a:off x="365760" y="2286000"/>
            <a:ext cx="1188720" cy="411480"/>
          </a:xfrm>
          <a:prstGeom prst="rect">
            <a:avLst/>
          </a:prstGeom>
          <a:solidFill>
            <a:srgbClr val="E88B1E"/>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2372868"/>
            <a:ext cx="1188720" cy="237744"/>
          </a:xfrm>
          <a:prstGeom prst="rect">
            <a:avLst/>
          </a:prstGeom>
          <a:noFill/>
        </p:spPr>
        <p:txBody>
          <a:bodyPr wrap="square" lIns="45720" rIns="45720" tIns="18288" bIns="18288">
            <a:spAutoFit/>
          </a:bodyPr>
          <a:lstStyle/>
          <a:p>
            <a:pPr algn="ctr"/>
            <a:r>
              <a:rPr sz="1000" b="1">
                <a:solidFill>
                  <a:srgbClr val="FFFFFF"/>
                </a:solidFill>
              </a:rPr>
              <a:t>MinIO bronze</a:t>
            </a:r>
          </a:p>
        </p:txBody>
      </p:sp>
      <p:cxnSp>
        <p:nvCxnSpPr>
          <p:cNvPr id="20" name="Connector 19"/>
          <p:cNvCxnSpPr/>
          <p:nvPr/>
        </p:nvCxnSpPr>
        <p:spPr>
          <a:xfrm>
            <a:off x="1554480" y="249174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1645920" y="2286000"/>
            <a:ext cx="1188720" cy="411480"/>
          </a:xfrm>
          <a:prstGeom prst="rect">
            <a:avLst/>
          </a:prstGeom>
          <a:solidFill>
            <a:srgbClr val="E88B1E"/>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45920" y="2372868"/>
            <a:ext cx="1188720" cy="237744"/>
          </a:xfrm>
          <a:prstGeom prst="rect">
            <a:avLst/>
          </a:prstGeom>
          <a:noFill/>
        </p:spPr>
        <p:txBody>
          <a:bodyPr wrap="square" lIns="45720" rIns="45720" tIns="18288" bIns="18288">
            <a:spAutoFit/>
          </a:bodyPr>
          <a:lstStyle/>
          <a:p>
            <a:pPr algn="ctr"/>
            <a:r>
              <a:rPr sz="1000" b="1">
                <a:solidFill>
                  <a:srgbClr val="FFFFFF"/>
                </a:solidFill>
              </a:rPr>
              <a:t>Hop silver</a:t>
            </a:r>
          </a:p>
        </p:txBody>
      </p:sp>
      <p:cxnSp>
        <p:nvCxnSpPr>
          <p:cNvPr id="23" name="Connector 22"/>
          <p:cNvCxnSpPr/>
          <p:nvPr/>
        </p:nvCxnSpPr>
        <p:spPr>
          <a:xfrm>
            <a:off x="2834640" y="249174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2926080" y="2286000"/>
            <a:ext cx="1188720" cy="411480"/>
          </a:xfrm>
          <a:prstGeom prst="rect">
            <a:avLst/>
          </a:prstGeom>
          <a:solidFill>
            <a:srgbClr val="C0392B"/>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0" y="2372868"/>
            <a:ext cx="1188720" cy="237744"/>
          </a:xfrm>
          <a:prstGeom prst="rect">
            <a:avLst/>
          </a:prstGeom>
          <a:noFill/>
        </p:spPr>
        <p:txBody>
          <a:bodyPr wrap="square" lIns="45720" rIns="45720" tIns="18288" bIns="18288">
            <a:spAutoFit/>
          </a:bodyPr>
          <a:lstStyle/>
          <a:p>
            <a:pPr algn="ctr"/>
            <a:r>
              <a:rPr sz="1000" b="1">
                <a:solidFill>
                  <a:srgbClr val="FFFFFF"/>
                </a:solidFill>
              </a:rPr>
              <a:t>DuckDB gold</a:t>
            </a:r>
          </a:p>
        </p:txBody>
      </p:sp>
      <p:cxnSp>
        <p:nvCxnSpPr>
          <p:cNvPr id="26" name="Connector 25"/>
          <p:cNvCxnSpPr/>
          <p:nvPr/>
        </p:nvCxnSpPr>
        <p:spPr>
          <a:xfrm>
            <a:off x="4114800" y="249174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4206240" y="2286000"/>
            <a:ext cx="1188720" cy="411480"/>
          </a:xfrm>
          <a:prstGeom prst="rect">
            <a:avLst/>
          </a:prstGeom>
          <a:solidFill>
            <a:srgbClr val="C0392B"/>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06240" y="2372868"/>
            <a:ext cx="1188720" cy="237744"/>
          </a:xfrm>
          <a:prstGeom prst="rect">
            <a:avLst/>
          </a:prstGeom>
          <a:noFill/>
        </p:spPr>
        <p:txBody>
          <a:bodyPr wrap="square" lIns="45720" rIns="45720" tIns="18288" bIns="18288">
            <a:spAutoFit/>
          </a:bodyPr>
          <a:lstStyle/>
          <a:p>
            <a:pPr algn="ctr"/>
            <a:r>
              <a:rPr sz="1000" b="1">
                <a:solidFill>
                  <a:srgbClr val="FFFFFF"/>
                </a:solidFill>
              </a:rPr>
              <a:t>dashboard</a:t>
            </a:r>
          </a:p>
        </p:txBody>
      </p:sp>
      <p:cxnSp>
        <p:nvCxnSpPr>
          <p:cNvPr id="29" name="Connector 28"/>
          <p:cNvCxnSpPr/>
          <p:nvPr/>
        </p:nvCxnSpPr>
        <p:spPr>
          <a:xfrm flipH="1">
            <a:off x="960120" y="1874520"/>
            <a:ext cx="3840480" cy="41148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74320" y="3017520"/>
            <a:ext cx="5212080" cy="274320"/>
          </a:xfrm>
          <a:prstGeom prst="rect">
            <a:avLst/>
          </a:prstGeom>
          <a:noFill/>
        </p:spPr>
        <p:txBody>
          <a:bodyPr wrap="square" lIns="45720" rIns="45720" tIns="18288" bIns="18288">
            <a:spAutoFit/>
          </a:bodyPr>
          <a:lstStyle/>
          <a:p>
            <a:pPr algn="ctr"/>
            <a:r>
              <a:rPr sz="1100" b="1">
                <a:solidFill>
                  <a:srgbClr val="1F77B4"/>
                </a:solidFill>
              </a:rPr>
              <a:t>Latency budget</a:t>
            </a:r>
          </a:p>
        </p:txBody>
      </p:sp>
      <p:sp>
        <p:nvSpPr>
          <p:cNvPr id="31" name="TextBox 30"/>
          <p:cNvSpPr txBox="1"/>
          <p:nvPr/>
        </p:nvSpPr>
        <p:spPr>
          <a:xfrm>
            <a:off x="274320" y="3291840"/>
            <a:ext cx="5212080" cy="1645920"/>
          </a:xfrm>
          <a:prstGeom prst="rect">
            <a:avLst/>
          </a:prstGeom>
          <a:noFill/>
        </p:spPr>
        <p:txBody>
          <a:bodyPr wrap="square" lIns="45720" rIns="45720" tIns="18288" bIns="18288">
            <a:spAutoFit/>
          </a:bodyPr>
          <a:lstStyle/>
          <a:p>
            <a:pPr algn="ctr"/>
            <a:r>
              <a:rPr sz="1000" b="0">
                <a:solidFill>
                  <a:srgbClr val="0B2A4A"/>
                </a:solidFill>
                <a:latin typeface="Consolas"/>
              </a:rPr>
              <a:t>Source → Kafka topic        ~ seconds</a:t>
            </a:r>
          </a:p>
          <a:p>
            <a:pPr algn="ctr"/>
            <a:r>
              <a:rPr sz="1000" b="0">
                <a:solidFill>
                  <a:srgbClr val="0B2A4A"/>
                </a:solidFill>
                <a:latin typeface="Consolas"/>
              </a:rPr>
              <a:t>Topic → bronze object       ≤ S3 sink flush interval</a:t>
            </a:r>
          </a:p>
          <a:p>
            <a:pPr algn="ctr"/>
            <a:r>
              <a:rPr sz="1000" b="0">
                <a:solidFill>
                  <a:srgbClr val="0B2A4A"/>
                </a:solidFill>
                <a:latin typeface="Consolas"/>
              </a:rPr>
              <a:t>Bronze → silver → gold      ~ 5 min   (30_hop_medallion)</a:t>
            </a:r>
          </a:p>
          <a:p>
            <a:pPr algn="ctr"/>
            <a:r>
              <a:rPr sz="1000" b="0">
                <a:solidFill>
                  <a:srgbClr val="0B2A4A"/>
                </a:solidFill>
                <a:latin typeface="Consolas"/>
              </a:rPr>
              <a:t>Gold → dashboard tile       ~ 5 min   (40 + 50 push DAGs)</a:t>
            </a:r>
          </a:p>
          <a:p>
            <a:pPr algn="ctr"/>
            <a:r>
              <a:rPr sz="1000" b="0">
                <a:solidFill>
                  <a:srgbClr val="0B2A4A"/>
                </a:solidFill>
                <a:latin typeface="Consolas"/>
              </a:rPr>
              <a:t/>
            </a:r>
          </a:p>
          <a:p>
            <a:pPr algn="ctr"/>
            <a:r>
              <a:rPr sz="1000" b="0">
                <a:solidFill>
                  <a:srgbClr val="0B2A4A"/>
                </a:solidFill>
                <a:latin typeface="Consolas"/>
              </a:rPr>
              <a:t>End-to-end p95: about 10 minutes from packet to KPI.</a:t>
            </a:r>
          </a:p>
        </p:txBody>
      </p:sp>
      <p:sp>
        <p:nvSpPr>
          <p:cNvPr id="32" name="Rectangle 31"/>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34" name="TextBox 33"/>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Postal system</a:t>
            </a:r>
          </a:p>
        </p:txBody>
      </p:sp>
      <p:sp>
        <p:nvSpPr>
          <p:cNvPr id="35" name="TextBox 34"/>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Postman picks up letters (ingestor), sorting office routes by zipcode (Kafka partition), regional warehouse stores them (bronze), couriers re-package by route (silver→gold), recipient opens the envelope (dashboard).</a:t>
            </a:r>
          </a:p>
        </p:txBody>
      </p:sp>
      <p:sp>
        <p:nvSpPr>
          <p:cNvPr id="36" name="Rectangle 35"/>
          <p:cNvSpPr/>
          <p:nvPr/>
        </p:nvSpPr>
        <p:spPr>
          <a:xfrm>
            <a:off x="0" y="4914900"/>
            <a:ext cx="9144000" cy="2286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8 / 10  ·  Module 2</a:t>
            </a:r>
          </a:p>
        </p:txBody>
      </p:sp>
    </p:spTree>
  </p:cSld>
  <p:clrMapOvr>
    <a:masterClrMapping/>
  </p:clrMapOvr>
</p:sld>
</file>

<file path=ppt/slides/slide5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2  · Integration</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Top 5 integration pitfalls (and how this stack dodges them)</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Where teams typically lose a week — and what to do instead</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ker.png"/>
          <p:cNvPicPr>
            <a:picLocks noChangeAspect="1"/>
          </p:cNvPicPr>
          <p:nvPr/>
        </p:nvPicPr>
        <p:blipFill>
          <a:blip r:embed="rId2"/>
          <a:stretch>
            <a:fillRect/>
          </a:stretch>
        </p:blipFill>
        <p:spPr>
          <a:xfrm>
            <a:off x="342900" y="1692966"/>
            <a:ext cx="4983480" cy="1186068"/>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1. Unpinned image tags — :latest changes silently. We pin Kafka 7.5.0, Debezium 2.5.4.Final.</a:t>
            </a:r>
          </a:p>
          <a:p>
            <a:pPr>
              <a:spcAft>
                <a:spcPts val="400"/>
              </a:spcAft>
            </a:pPr>
            <a:r>
              <a:rPr sz="1100">
                <a:solidFill>
                  <a:srgbClr val="0B2A4A"/>
                </a:solidFill>
              </a:rPr>
              <a:t>•  2. No DLQs — poison message kills the consumer. We ship 3 DLQ topics.</a:t>
            </a:r>
          </a:p>
          <a:p>
            <a:pPr>
              <a:spcAft>
                <a:spcPts val="400"/>
              </a:spcAft>
            </a:pPr>
            <a:r>
              <a:rPr sz="1100">
                <a:solidFill>
                  <a:srgbClr val="0B2A4A"/>
                </a:solidFill>
              </a:rPr>
              <a:t>•  3. WAL not enabled — Debezium silently does nothing. 03_enable_wal.sql.</a:t>
            </a:r>
          </a:p>
          <a:p>
            <a:pPr>
              <a:spcAft>
                <a:spcPts val="400"/>
              </a:spcAft>
            </a:pPr>
            <a:r>
              <a:rPr sz="1100">
                <a:solidFill>
                  <a:srgbClr val="0B2A4A"/>
                </a:solidFill>
              </a:rPr>
              <a:t>•  4. Schema drift without registry — bronze breaks silver. BACKWARD compat.</a:t>
            </a:r>
          </a:p>
          <a:p>
            <a:pPr>
              <a:spcAft>
                <a:spcPts val="400"/>
              </a:spcAft>
            </a:pPr>
            <a:r>
              <a:rPr sz="1100">
                <a:solidFill>
                  <a:srgbClr val="0B2A4A"/>
                </a:solidFill>
              </a:rPr>
              <a:t>•  5. DAG owns the stream — when scheduler dies, data dies. Ingestors are services.</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Climbing rope rules</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Climbers say 'always tie in, always check, always communicate.' Same here: always pin versions, always check Schema Registry, always send to a DLQ rather than crash.</a:t>
            </a:r>
          </a:p>
        </p:txBody>
      </p:sp>
      <p:sp>
        <p:nvSpPr>
          <p:cNvPr id="13" name="Rectangle 12"/>
          <p:cNvSpPr/>
          <p:nvPr/>
        </p:nvSpPr>
        <p:spPr>
          <a:xfrm>
            <a:off x="0" y="4914900"/>
            <a:ext cx="9144000" cy="2286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9 / 10  ·  Module 2</a:t>
            </a:r>
          </a:p>
        </p:txBody>
      </p:sp>
    </p:spTree>
  </p:cSld>
  <p:clrMapOvr>
    <a:masterClrMapping/>
  </p:clrMapOvr>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2  · Integration</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Knowledge Check</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5 quick questions — answers in green</a:t>
            </a:r>
          </a:p>
        </p:txBody>
      </p:sp>
      <p:sp>
        <p:nvSpPr>
          <p:cNvPr id="6" name="TextBox 5"/>
          <p:cNvSpPr txBox="1"/>
          <p:nvPr/>
        </p:nvSpPr>
        <p:spPr>
          <a:xfrm>
            <a:off x="365760" y="914400"/>
            <a:ext cx="8412480" cy="329184"/>
          </a:xfrm>
          <a:prstGeom prst="rect">
            <a:avLst/>
          </a:prstGeom>
          <a:noFill/>
        </p:spPr>
        <p:txBody>
          <a:bodyPr wrap="square" lIns="45720" rIns="45720" tIns="18288" bIns="18288">
            <a:spAutoFit/>
          </a:bodyPr>
          <a:lstStyle/>
          <a:p>
            <a:pPr algn="l"/>
            <a:r>
              <a:rPr sz="1200" b="1">
                <a:solidFill>
                  <a:srgbClr val="0B2A4A"/>
                </a:solidFill>
              </a:rPr>
              <a:t>Q1. What does Debezium read from Postgres to produce events?</a:t>
            </a:r>
          </a:p>
        </p:txBody>
      </p:sp>
      <p:sp>
        <p:nvSpPr>
          <p:cNvPr id="7" name="TextBox 6"/>
          <p:cNvSpPr txBox="1"/>
          <p:nvPr/>
        </p:nvSpPr>
        <p:spPr>
          <a:xfrm>
            <a:off x="548640" y="1234440"/>
            <a:ext cx="8229600" cy="384048"/>
          </a:xfrm>
          <a:prstGeom prst="rect">
            <a:avLst/>
          </a:prstGeom>
          <a:noFill/>
        </p:spPr>
        <p:txBody>
          <a:bodyPr wrap="square" lIns="45720" rIns="45720" tIns="18288" bIns="18288">
            <a:spAutoFit/>
          </a:bodyPr>
          <a:lstStyle/>
          <a:p>
            <a:pPr algn="l"/>
            <a:r>
              <a:rPr sz="1100" b="0">
                <a:solidFill>
                  <a:srgbClr val="2CA02C"/>
                </a:solidFill>
              </a:rPr>
              <a:t>A. The write-ahead log (WAL) via the pgoutput logical-decoding plugin — it does NOT poll the tables.</a:t>
            </a:r>
          </a:p>
        </p:txBody>
      </p:sp>
      <p:sp>
        <p:nvSpPr>
          <p:cNvPr id="8" name="TextBox 7"/>
          <p:cNvSpPr txBox="1"/>
          <p:nvPr/>
        </p:nvSpPr>
        <p:spPr>
          <a:xfrm>
            <a:off x="365760" y="1664208"/>
            <a:ext cx="8412480" cy="329184"/>
          </a:xfrm>
          <a:prstGeom prst="rect">
            <a:avLst/>
          </a:prstGeom>
          <a:noFill/>
        </p:spPr>
        <p:txBody>
          <a:bodyPr wrap="square" lIns="45720" rIns="45720" tIns="18288" bIns="18288">
            <a:spAutoFit/>
          </a:bodyPr>
          <a:lstStyle/>
          <a:p>
            <a:pPr algn="l"/>
            <a:r>
              <a:rPr sz="1200" b="1">
                <a:solidFill>
                  <a:srgbClr val="0B2A4A"/>
                </a:solidFill>
              </a:rPr>
              <a:t>Q2. Where do Kafka Connect plugin JARs live in this stack?</a:t>
            </a:r>
          </a:p>
        </p:txBody>
      </p:sp>
      <p:sp>
        <p:nvSpPr>
          <p:cNvPr id="9" name="TextBox 8"/>
          <p:cNvSpPr txBox="1"/>
          <p:nvPr/>
        </p:nvSpPr>
        <p:spPr>
          <a:xfrm>
            <a:off x="548640" y="1984248"/>
            <a:ext cx="8229600" cy="384048"/>
          </a:xfrm>
          <a:prstGeom prst="rect">
            <a:avLst/>
          </a:prstGeom>
          <a:noFill/>
        </p:spPr>
        <p:txBody>
          <a:bodyPr wrap="square" lIns="45720" rIns="45720" tIns="18288" bIns="18288">
            <a:spAutoFit/>
          </a:bodyPr>
          <a:lstStyle/>
          <a:p>
            <a:pPr algn="l"/>
            <a:r>
              <a:rPr sz="1100" b="0">
                <a:solidFill>
                  <a:srgbClr val="2CA02C"/>
                </a:solidFill>
              </a:rPr>
              <a:t>A. debezium/plugins/ on the host, mounted into the connect container at /etc/kafka-connect/plugins (declared via CONNECT_PLUGIN_PATH).</a:t>
            </a:r>
          </a:p>
        </p:txBody>
      </p:sp>
      <p:sp>
        <p:nvSpPr>
          <p:cNvPr id="10" name="TextBox 9"/>
          <p:cNvSpPr txBox="1"/>
          <p:nvPr/>
        </p:nvSpPr>
        <p:spPr>
          <a:xfrm>
            <a:off x="365760" y="2414016"/>
            <a:ext cx="8412480" cy="329184"/>
          </a:xfrm>
          <a:prstGeom prst="rect">
            <a:avLst/>
          </a:prstGeom>
          <a:noFill/>
        </p:spPr>
        <p:txBody>
          <a:bodyPr wrap="square" lIns="45720" rIns="45720" tIns="18288" bIns="18288">
            <a:spAutoFit/>
          </a:bodyPr>
          <a:lstStyle/>
          <a:p>
            <a:pPr algn="l"/>
            <a:r>
              <a:rPr sz="1200" b="1">
                <a:solidFill>
                  <a:srgbClr val="0B2A4A"/>
                </a:solidFill>
              </a:rPr>
              <a:t>Q3. Why are the 3 ingestors services and not Airflow DAGs?</a:t>
            </a:r>
          </a:p>
        </p:txBody>
      </p:sp>
      <p:sp>
        <p:nvSpPr>
          <p:cNvPr id="11" name="TextBox 10"/>
          <p:cNvSpPr txBox="1"/>
          <p:nvPr/>
        </p:nvSpPr>
        <p:spPr>
          <a:xfrm>
            <a:off x="548640" y="2734056"/>
            <a:ext cx="8229600" cy="384048"/>
          </a:xfrm>
          <a:prstGeom prst="rect">
            <a:avLst/>
          </a:prstGeom>
          <a:noFill/>
        </p:spPr>
        <p:txBody>
          <a:bodyPr wrap="square" lIns="45720" rIns="45720" tIns="18288" bIns="18288">
            <a:spAutoFit/>
          </a:bodyPr>
          <a:lstStyle/>
          <a:p>
            <a:pPr algn="l"/>
            <a:r>
              <a:rPr sz="1100" b="0">
                <a:solidFill>
                  <a:srgbClr val="2CA02C"/>
                </a:solidFill>
              </a:rPr>
              <a:t>A. Streams are continuous; if Airflow's scheduler dies, you'd lose data. Long-lived sockets belong in services that restart on failure.</a:t>
            </a:r>
          </a:p>
        </p:txBody>
      </p:sp>
      <p:sp>
        <p:nvSpPr>
          <p:cNvPr id="12" name="TextBox 11"/>
          <p:cNvSpPr txBox="1"/>
          <p:nvPr/>
        </p:nvSpPr>
        <p:spPr>
          <a:xfrm>
            <a:off x="365760" y="3163824"/>
            <a:ext cx="8412480" cy="329184"/>
          </a:xfrm>
          <a:prstGeom prst="rect">
            <a:avLst/>
          </a:prstGeom>
          <a:noFill/>
        </p:spPr>
        <p:txBody>
          <a:bodyPr wrap="square" lIns="45720" rIns="45720" tIns="18288" bIns="18288">
            <a:spAutoFit/>
          </a:bodyPr>
          <a:lstStyle/>
          <a:p>
            <a:pPr algn="l"/>
            <a:r>
              <a:rPr sz="1200" b="1">
                <a:solidFill>
                  <a:srgbClr val="0B2A4A"/>
                </a:solidFill>
              </a:rPr>
              <a:t>Q4. What's the trade-off of FULL schema compatibility vs BACKWARD?</a:t>
            </a:r>
          </a:p>
        </p:txBody>
      </p:sp>
      <p:sp>
        <p:nvSpPr>
          <p:cNvPr id="13" name="TextBox 12"/>
          <p:cNvSpPr txBox="1"/>
          <p:nvPr/>
        </p:nvSpPr>
        <p:spPr>
          <a:xfrm>
            <a:off x="548640" y="3483864"/>
            <a:ext cx="8229600" cy="384048"/>
          </a:xfrm>
          <a:prstGeom prst="rect">
            <a:avLst/>
          </a:prstGeom>
          <a:noFill/>
        </p:spPr>
        <p:txBody>
          <a:bodyPr wrap="square" lIns="45720" rIns="45720" tIns="18288" bIns="18288">
            <a:spAutoFit/>
          </a:bodyPr>
          <a:lstStyle/>
          <a:p>
            <a:pPr algn="l"/>
            <a:r>
              <a:rPr sz="1100" b="0">
                <a:solidFill>
                  <a:srgbClr val="2CA02C"/>
                </a:solidFill>
              </a:rPr>
              <a:t>A. FULL = old AND new readers both work = safest but tightest constraints. BACKWARD = only new readers need to read old data = easier to evolve.</a:t>
            </a:r>
          </a:p>
        </p:txBody>
      </p:sp>
      <p:sp>
        <p:nvSpPr>
          <p:cNvPr id="14" name="TextBox 13"/>
          <p:cNvSpPr txBox="1"/>
          <p:nvPr/>
        </p:nvSpPr>
        <p:spPr>
          <a:xfrm>
            <a:off x="365760" y="3913632"/>
            <a:ext cx="8412480" cy="329184"/>
          </a:xfrm>
          <a:prstGeom prst="rect">
            <a:avLst/>
          </a:prstGeom>
          <a:noFill/>
        </p:spPr>
        <p:txBody>
          <a:bodyPr wrap="square" lIns="45720" rIns="45720" tIns="18288" bIns="18288">
            <a:spAutoFit/>
          </a:bodyPr>
          <a:lstStyle/>
          <a:p>
            <a:pPr algn="l"/>
            <a:r>
              <a:rPr sz="1200" b="1">
                <a:solidFill>
                  <a:srgbClr val="0B2A4A"/>
                </a:solidFill>
              </a:rPr>
              <a:t>Q5. If a poison message lands on a topic, what stops Connect from crashing?</a:t>
            </a:r>
          </a:p>
        </p:txBody>
      </p:sp>
      <p:sp>
        <p:nvSpPr>
          <p:cNvPr id="15" name="TextBox 14"/>
          <p:cNvSpPr txBox="1"/>
          <p:nvPr/>
        </p:nvSpPr>
        <p:spPr>
          <a:xfrm>
            <a:off x="548640" y="4233672"/>
            <a:ext cx="8229600" cy="384048"/>
          </a:xfrm>
          <a:prstGeom prst="rect">
            <a:avLst/>
          </a:prstGeom>
          <a:noFill/>
        </p:spPr>
        <p:txBody>
          <a:bodyPr wrap="square" lIns="45720" rIns="45720" tIns="18288" bIns="18288">
            <a:spAutoFit/>
          </a:bodyPr>
          <a:lstStyle/>
          <a:p>
            <a:pPr algn="l"/>
            <a:r>
              <a:rPr sz="1100" b="0">
                <a:solidFill>
                  <a:srgbClr val="2CA02C"/>
                </a:solidFill>
              </a:rPr>
              <a:t>A. errors.tolerance + the DLQ topic (dlq.s3-sink-bronze-cdc etc.) — the bad record is parked, processing continues.</a:t>
            </a:r>
          </a:p>
        </p:txBody>
      </p:sp>
      <p:sp>
        <p:nvSpPr>
          <p:cNvPr id="16" name="Rectangle 15"/>
          <p:cNvSpPr/>
          <p:nvPr/>
        </p:nvSpPr>
        <p:spPr>
          <a:xfrm>
            <a:off x="0" y="4914900"/>
            <a:ext cx="9144000" cy="2286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10 / 10  ·  Module 2 — Knowledge Check</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51435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0080"/>
            <a:ext cx="8229600" cy="457200"/>
          </a:xfrm>
          <a:prstGeom prst="rect">
            <a:avLst/>
          </a:prstGeom>
          <a:noFill/>
        </p:spPr>
        <p:txBody>
          <a:bodyPr wrap="square" lIns="45720" rIns="45720" tIns="18288" bIns="18288">
            <a:spAutoFit/>
          </a:bodyPr>
          <a:lstStyle/>
          <a:p>
            <a:pPr algn="l"/>
            <a:r>
              <a:rPr sz="1400" b="1">
                <a:solidFill>
                  <a:srgbClr val="CCDDEE"/>
                </a:solidFill>
              </a:rPr>
              <a:t>MODULE 3</a:t>
            </a:r>
          </a:p>
        </p:txBody>
      </p:sp>
      <p:sp>
        <p:nvSpPr>
          <p:cNvPr id="5" name="TextBox 4"/>
          <p:cNvSpPr txBox="1"/>
          <p:nvPr/>
        </p:nvSpPr>
        <p:spPr>
          <a:xfrm>
            <a:off x="457200" y="1097280"/>
            <a:ext cx="8229600" cy="1280160"/>
          </a:xfrm>
          <a:prstGeom prst="rect">
            <a:avLst/>
          </a:prstGeom>
          <a:noFill/>
        </p:spPr>
        <p:txBody>
          <a:bodyPr wrap="square" lIns="45720" rIns="45720" tIns="18288" bIns="18288">
            <a:spAutoFit/>
          </a:bodyPr>
          <a:lstStyle/>
          <a:p>
            <a:pPr algn="l"/>
            <a:r>
              <a:rPr sz="3600" b="1">
                <a:solidFill>
                  <a:srgbClr val="FFFFFF"/>
                </a:solidFill>
              </a:rPr>
              <a:t>Building a Real-Time Data Pipeline</a:t>
            </a:r>
          </a:p>
        </p:txBody>
      </p:sp>
      <p:sp>
        <p:nvSpPr>
          <p:cNvPr id="6" name="TextBox 5"/>
          <p:cNvSpPr txBox="1"/>
          <p:nvPr/>
        </p:nvSpPr>
        <p:spPr>
          <a:xfrm>
            <a:off x="457200" y="2377440"/>
            <a:ext cx="8229600" cy="731520"/>
          </a:xfrm>
          <a:prstGeom prst="rect">
            <a:avLst/>
          </a:prstGeom>
          <a:noFill/>
        </p:spPr>
        <p:txBody>
          <a:bodyPr wrap="square" lIns="45720" rIns="45720" tIns="18288" bIns="18288">
            <a:spAutoFit/>
          </a:bodyPr>
          <a:lstStyle/>
          <a:p>
            <a:pPr algn="l"/>
            <a:r>
              <a:rPr sz="1600" b="0">
                <a:solidFill>
                  <a:srgbClr val="CCDDEE"/>
                </a:solidFill>
              </a:rPr>
              <a:t>From a public packet on the internet to a refreshed KPI in ~10 minutes</a:t>
            </a:r>
          </a:p>
        </p:txBody>
      </p:sp>
      <p:sp>
        <p:nvSpPr>
          <p:cNvPr id="7" name="Rectangle 6"/>
          <p:cNvSpPr/>
          <p:nvPr/>
        </p:nvSpPr>
        <p:spPr>
          <a:xfrm>
            <a:off x="1371600" y="3749039"/>
            <a:ext cx="1463040" cy="1097280"/>
          </a:xfrm>
          <a:prstGeom prst="rect">
            <a:avLst/>
          </a:prstGeom>
          <a:solidFill>
            <a:srgbClr val="FFFFFF"/>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6304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kafka.png"/>
          <p:cNvPicPr>
            <a:picLocks noChangeAspect="1"/>
          </p:cNvPicPr>
          <p:nvPr/>
        </p:nvPicPr>
        <p:blipFill>
          <a:blip r:embed="rId2"/>
          <a:stretch>
            <a:fillRect/>
          </a:stretch>
        </p:blipFill>
        <p:spPr>
          <a:xfrm>
            <a:off x="1863822" y="3909059"/>
            <a:ext cx="478596" cy="777240"/>
          </a:xfrm>
          <a:prstGeom prst="rect">
            <a:avLst/>
          </a:prstGeom>
        </p:spPr>
      </p:pic>
      <p:sp>
        <p:nvSpPr>
          <p:cNvPr id="10" name="Rectangle 9"/>
          <p:cNvSpPr/>
          <p:nvPr/>
        </p:nvSpPr>
        <p:spPr>
          <a:xfrm>
            <a:off x="3017520" y="3749039"/>
            <a:ext cx="1463040" cy="1097280"/>
          </a:xfrm>
          <a:prstGeom prst="rect">
            <a:avLst/>
          </a:prstGeom>
          <a:solidFill>
            <a:srgbClr val="FFFFFF"/>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0896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minio.png"/>
          <p:cNvPicPr>
            <a:picLocks noChangeAspect="1"/>
          </p:cNvPicPr>
          <p:nvPr/>
        </p:nvPicPr>
        <p:blipFill>
          <a:blip r:embed="rId3"/>
          <a:stretch>
            <a:fillRect/>
          </a:stretch>
        </p:blipFill>
        <p:spPr>
          <a:xfrm>
            <a:off x="3360420" y="3909059"/>
            <a:ext cx="777240" cy="777240"/>
          </a:xfrm>
          <a:prstGeom prst="rect">
            <a:avLst/>
          </a:prstGeom>
        </p:spPr>
      </p:pic>
      <p:sp>
        <p:nvSpPr>
          <p:cNvPr id="13" name="Rectangle 12"/>
          <p:cNvSpPr/>
          <p:nvPr/>
        </p:nvSpPr>
        <p:spPr>
          <a:xfrm>
            <a:off x="4663440" y="3749039"/>
            <a:ext cx="1463040" cy="1097280"/>
          </a:xfrm>
          <a:prstGeom prst="rect">
            <a:avLst/>
          </a:prstGeom>
          <a:solidFill>
            <a:srgbClr val="FFFFFF"/>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5488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duckdb.png"/>
          <p:cNvPicPr>
            <a:picLocks noChangeAspect="1"/>
          </p:cNvPicPr>
          <p:nvPr/>
        </p:nvPicPr>
        <p:blipFill>
          <a:blip r:embed="rId4"/>
          <a:stretch>
            <a:fillRect/>
          </a:stretch>
        </p:blipFill>
        <p:spPr>
          <a:xfrm>
            <a:off x="4890259" y="3909059"/>
            <a:ext cx="1009402" cy="777240"/>
          </a:xfrm>
          <a:prstGeom prst="rect">
            <a:avLst/>
          </a:prstGeom>
        </p:spPr>
      </p:pic>
      <p:sp>
        <p:nvSpPr>
          <p:cNvPr id="16" name="Rectangle 15"/>
          <p:cNvSpPr/>
          <p:nvPr/>
        </p:nvSpPr>
        <p:spPr>
          <a:xfrm>
            <a:off x="6309360" y="3749039"/>
            <a:ext cx="1463040" cy="1097280"/>
          </a:xfrm>
          <a:prstGeom prst="rect">
            <a:avLst/>
          </a:prstGeom>
          <a:solidFill>
            <a:srgbClr val="FFFFFF"/>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grafana.png"/>
          <p:cNvPicPr>
            <a:picLocks noChangeAspect="1"/>
          </p:cNvPicPr>
          <p:nvPr/>
        </p:nvPicPr>
        <p:blipFill>
          <a:blip r:embed="rId5"/>
          <a:stretch>
            <a:fillRect/>
          </a:stretch>
        </p:blipFill>
        <p:spPr>
          <a:xfrm>
            <a:off x="6668076" y="3909059"/>
            <a:ext cx="745608" cy="777240"/>
          </a:xfrm>
          <a:prstGeom prst="rect">
            <a:avLst/>
          </a:prstGeom>
        </p:spPr>
      </p:pic>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3  · Pipeline build</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OGN ingestor walkthrough</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APRS over TCP → Avro on ogn.aircraft.positions</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afka.png"/>
          <p:cNvPicPr>
            <a:picLocks noChangeAspect="1"/>
          </p:cNvPicPr>
          <p:nvPr/>
        </p:nvPicPr>
        <p:blipFill>
          <a:blip r:embed="rId2"/>
          <a:stretch>
            <a:fillRect/>
          </a:stretch>
        </p:blipFill>
        <p:spPr>
          <a:xfrm>
            <a:off x="2032288" y="982980"/>
            <a:ext cx="1604704"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ogn-client connects to APRS-IS with a callsign and a radius filter.</a:t>
            </a:r>
          </a:p>
          <a:p>
            <a:pPr>
              <a:spcAft>
                <a:spcPts val="400"/>
              </a:spcAft>
            </a:pPr>
            <a:r>
              <a:rPr sz="1100">
                <a:solidFill>
                  <a:srgbClr val="0B2A4A"/>
                </a:solidFill>
              </a:rPr>
              <a:t>•  Parser handles malformed packets — bad ones go to logs, not topic.</a:t>
            </a:r>
          </a:p>
          <a:p>
            <a:pPr>
              <a:spcAft>
                <a:spcPts val="400"/>
              </a:spcAft>
            </a:pPr>
            <a:r>
              <a:rPr sz="1100">
                <a:solidFill>
                  <a:srgbClr val="0B2A4A"/>
                </a:solidFill>
              </a:rPr>
              <a:t>•  Avro serializer registers schema on first message.</a:t>
            </a:r>
          </a:p>
          <a:p>
            <a:pPr>
              <a:spcAft>
                <a:spcPts val="400"/>
              </a:spcAft>
            </a:pPr>
            <a:r>
              <a:rPr sz="1100">
                <a:solidFill>
                  <a:srgbClr val="0B2A4A"/>
                </a:solidFill>
              </a:rPr>
              <a:t>•  Restart policy: unless-stopped — survives a single APRS server hiccup.</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Police radio scanner</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An OGN beacon is a tiny radio announcement: 'I'm here, this altitude, this speed.' The ingestor is the scanner that listens, transcribes, and pins each call to a noticeboard (Kafka).</a:t>
            </a:r>
          </a:p>
        </p:txBody>
      </p:sp>
      <p:sp>
        <p:nvSpPr>
          <p:cNvPr id="13" name="Rectangle 12"/>
          <p:cNvSpPr/>
          <p:nvPr/>
        </p:nvSpPr>
        <p:spPr>
          <a:xfrm>
            <a:off x="0" y="4914900"/>
            <a:ext cx="9144000" cy="2286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2 / 10  ·  Module 3</a:t>
            </a:r>
          </a:p>
        </p:txBody>
      </p:sp>
    </p:spTree>
  </p:cSld>
  <p:clrMapOvr>
    <a:masterClrMapping/>
  </p:clrMapOvr>
</p:sld>
</file>

<file path=ppt/slides/slide5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3  · Pipeline build</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NOAA + EMSC ingestors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REST polling and a long-lived WebSocket — two more ingestion shapes</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afka.png"/>
          <p:cNvPicPr>
            <a:picLocks noChangeAspect="1"/>
          </p:cNvPicPr>
          <p:nvPr/>
        </p:nvPicPr>
        <p:blipFill>
          <a:blip r:embed="rId2"/>
          <a:stretch>
            <a:fillRect/>
          </a:stretch>
        </p:blipFill>
        <p:spPr>
          <a:xfrm>
            <a:off x="2032288" y="982980"/>
            <a:ext cx="1604704"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noaa_ingestor: api.weather.gov for stations + active alerts, 60 s poll.</a:t>
            </a:r>
          </a:p>
          <a:p>
            <a:pPr>
              <a:spcAft>
                <a:spcPts val="400"/>
              </a:spcAft>
            </a:pPr>
            <a:r>
              <a:rPr sz="1100">
                <a:solidFill>
                  <a:srgbClr val="0B2A4A"/>
                </a:solidFill>
              </a:rPr>
              <a:t>•  seismic_ingestor: EMSC WebSocket; reconnects with backoff on close.</a:t>
            </a:r>
          </a:p>
          <a:p>
            <a:pPr>
              <a:spcAft>
                <a:spcPts val="400"/>
              </a:spcAft>
            </a:pPr>
            <a:r>
              <a:rPr sz="1100">
                <a:solidFill>
                  <a:srgbClr val="0B2A4A"/>
                </a:solidFill>
              </a:rPr>
              <a:t>•  Both emit to Avro topics, sharing the same Schema Registry.</a:t>
            </a:r>
          </a:p>
          <a:p>
            <a:pPr>
              <a:spcAft>
                <a:spcPts val="400"/>
              </a:spcAft>
            </a:pPr>
            <a:r>
              <a:rPr sz="1100">
                <a:solidFill>
                  <a:srgbClr val="0B2A4A"/>
                </a:solidFill>
              </a:rPr>
              <a:t>•  All 3 read CITY_LAT / CITY_LON from .env so swapping demo location is trivial.</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Two ways to read the news</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Polling NOAA = refreshing the homepage every 60 s. The seismic WebSocket = subscribing to a push notification. Same goal (latest news), different cost.</a:t>
            </a:r>
          </a:p>
        </p:txBody>
      </p:sp>
      <p:sp>
        <p:nvSpPr>
          <p:cNvPr id="13" name="Rectangle 12"/>
          <p:cNvSpPr/>
          <p:nvPr/>
        </p:nvSpPr>
        <p:spPr>
          <a:xfrm>
            <a:off x="0" y="4914900"/>
            <a:ext cx="9144000" cy="2286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3 / 10  ·  Module 3</a:t>
            </a:r>
          </a:p>
        </p:txBody>
      </p:sp>
    </p:spTree>
  </p:cSld>
  <p:clrMapOvr>
    <a:masterClrMapping/>
  </p:clrMapOvr>
</p:sld>
</file>

<file path=ppt/slides/slide5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3  · Pipeline build</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Bronze: S3 sink partitioning</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Why hourly partitions, and what the path actually looks like</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arquet.png"/>
          <p:cNvPicPr>
            <a:picLocks noChangeAspect="1"/>
          </p:cNvPicPr>
          <p:nvPr/>
        </p:nvPicPr>
        <p:blipFill>
          <a:blip r:embed="rId2"/>
          <a:stretch>
            <a:fillRect/>
          </a:stretch>
        </p:blipFill>
        <p:spPr>
          <a:xfrm>
            <a:off x="342900" y="1772702"/>
            <a:ext cx="4983480" cy="1026596"/>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Path: s3://bronze/&lt;topic&gt;/year=YYYY/month=MM/day=DD/hour=HH/&lt;topic&gt;+&lt;part&gt;+&lt;off&gt;.avro</a:t>
            </a:r>
          </a:p>
          <a:p>
            <a:pPr>
              <a:spcAft>
                <a:spcPts val="400"/>
              </a:spcAft>
            </a:pPr>
            <a:r>
              <a:rPr sz="1100">
                <a:solidFill>
                  <a:srgbClr val="0B2A4A"/>
                </a:solidFill>
              </a:rPr>
              <a:t>•  Hive-style partitions = automatic pruning in DuckDB / Spark / Athena.</a:t>
            </a:r>
          </a:p>
          <a:p>
            <a:pPr>
              <a:spcAft>
                <a:spcPts val="400"/>
              </a:spcAft>
            </a:pPr>
            <a:r>
              <a:rPr sz="1100">
                <a:solidFill>
                  <a:srgbClr val="0B2A4A"/>
                </a:solidFill>
              </a:rPr>
              <a:t>•  Hour is a sweet spot — small enough to prune, big enough to avoid millions of tiny files.</a:t>
            </a:r>
          </a:p>
          <a:p>
            <a:pPr>
              <a:spcAft>
                <a:spcPts val="400"/>
              </a:spcAft>
            </a:pPr>
            <a:r>
              <a:rPr sz="1100">
                <a:solidFill>
                  <a:srgbClr val="0B2A4A"/>
                </a:solidFill>
              </a:rPr>
              <a:t>•  Two sink connectors split CDC vs streams to keep tunings independent.</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Filing cabinet</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Year/month/day/hour folders are the labels on a filing cabinet drawer. Without them, a query has to read every file. With them, the planner skips 99% of the cabinet.</a:t>
            </a:r>
          </a:p>
        </p:txBody>
      </p:sp>
      <p:sp>
        <p:nvSpPr>
          <p:cNvPr id="13" name="Rectangle 12"/>
          <p:cNvSpPr/>
          <p:nvPr/>
        </p:nvSpPr>
        <p:spPr>
          <a:xfrm>
            <a:off x="0" y="4914900"/>
            <a:ext cx="9144000" cy="2286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4 / 10  ·  Module 3</a:t>
            </a:r>
          </a:p>
        </p:txBody>
      </p:sp>
    </p:spTree>
  </p:cSld>
  <p:clrMapOvr>
    <a:masterClrMapping/>
  </p:clrMapOvr>
</p:sld>
</file>

<file path=ppt/slides/slide5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3  · Pipeline build</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Silver: dedupe and late events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What 'clean' actually means in code — bronze_to_silver.py</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afka.png"/>
          <p:cNvPicPr>
            <a:picLocks noChangeAspect="1"/>
          </p:cNvPicPr>
          <p:nvPr/>
        </p:nvPicPr>
        <p:blipFill>
          <a:blip r:embed="rId2"/>
          <a:stretch>
            <a:fillRect/>
          </a:stretch>
        </p:blipFill>
        <p:spPr>
          <a:xfrm>
            <a:off x="2032288" y="982980"/>
            <a:ext cx="1604704"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Dedup: group by natural PK, keep the row with max(ts_ms).</a:t>
            </a:r>
          </a:p>
          <a:p>
            <a:pPr>
              <a:spcAft>
                <a:spcPts val="400"/>
              </a:spcAft>
            </a:pPr>
            <a:r>
              <a:rPr sz="1100">
                <a:solidFill>
                  <a:srgbClr val="0B2A4A"/>
                </a:solidFill>
              </a:rPr>
              <a:t>•  Late filter: drop rows older than max(ts_ms) − 24h (configurable).</a:t>
            </a:r>
          </a:p>
          <a:p>
            <a:pPr>
              <a:spcAft>
                <a:spcPts val="400"/>
              </a:spcAft>
            </a:pPr>
            <a:r>
              <a:rPr sz="1100">
                <a:solidFill>
                  <a:srgbClr val="0B2A4A"/>
                </a:solidFill>
              </a:rPr>
              <a:t>•  Audit: every run writes silver/_quality/&lt;entity&gt;/&lt;utc-iso&gt;.avro (rows_in, rows_out, dropped_late, dup_collapsed).</a:t>
            </a:r>
          </a:p>
          <a:p>
            <a:pPr>
              <a:spcAft>
                <a:spcPts val="400"/>
              </a:spcAft>
            </a:pPr>
            <a:r>
              <a:rPr sz="1100">
                <a:solidFill>
                  <a:srgbClr val="0B2A4A"/>
                </a:solidFill>
              </a:rPr>
              <a:t>•  Idempotent — re-running just re-writes the same files, no double-count.</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Photographer's keeper folder</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A photographer shoots 200 frames of the same pose. Silver is the keeper folder — one best frame per pose, blurries deleted, EXIF audited.</a:t>
            </a:r>
          </a:p>
        </p:txBody>
      </p:sp>
      <p:sp>
        <p:nvSpPr>
          <p:cNvPr id="13" name="Rectangle 12"/>
          <p:cNvSpPr/>
          <p:nvPr/>
        </p:nvSpPr>
        <p:spPr>
          <a:xfrm>
            <a:off x="0" y="4914900"/>
            <a:ext cx="9144000" cy="2286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5 / 10  ·  Module 3</a:t>
            </a:r>
          </a:p>
        </p:txBody>
      </p:sp>
    </p:spTree>
  </p:cSld>
  <p:clrMapOvr>
    <a:masterClrMapping/>
  </p:clrMapOvr>
</p:sld>
</file>

<file path=ppt/slides/slide5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3  · Pipeline build</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Gold: DuckDB marts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Embedded analytic engine doing the heavy lifting, no extra server</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uckdb.png"/>
          <p:cNvPicPr>
            <a:picLocks noChangeAspect="1"/>
          </p:cNvPicPr>
          <p:nvPr/>
        </p:nvPicPr>
        <p:blipFill>
          <a:blip r:embed="rId2"/>
          <a:stretch>
            <a:fillRect/>
          </a:stretch>
        </p:blipFill>
        <p:spPr>
          <a:xfrm>
            <a:off x="1142406" y="982980"/>
            <a:ext cx="3384467"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silver_to_gold.py reads silver Avro via DuckDB (fastavro fallback).</a:t>
            </a:r>
          </a:p>
          <a:p>
            <a:pPr>
              <a:spcAft>
                <a:spcPts val="400"/>
              </a:spcAft>
            </a:pPr>
            <a:r>
              <a:rPr sz="1100">
                <a:solidFill>
                  <a:srgbClr val="0B2A4A"/>
                </a:solidFill>
              </a:rPr>
              <a:t>•  Joins regions / thresholds / watchlist inside one SELECT.</a:t>
            </a:r>
          </a:p>
          <a:p>
            <a:pPr>
              <a:spcAft>
                <a:spcPts val="400"/>
              </a:spcAft>
            </a:pPr>
            <a:r>
              <a:rPr sz="1100">
                <a:solidFill>
                  <a:srgbClr val="0B2A4A"/>
                </a:solidFill>
              </a:rPr>
              <a:t>•  Writes snapshot=&lt;utc&gt;/part-0.parquet AND overwrites latest.parquet.</a:t>
            </a:r>
          </a:p>
          <a:p>
            <a:pPr>
              <a:spcAft>
                <a:spcPts val="400"/>
              </a:spcAft>
            </a:pPr>
            <a:r>
              <a:rPr sz="1100">
                <a:solidFill>
                  <a:srgbClr val="0B2A4A"/>
                </a:solidFill>
              </a:rPr>
              <a:t>•  Dashboards point at latest.parquet — atomic rename = zero-downtime swap.</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Pocket calculator vs mainframe</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DuckDB is a high-end pocket calculator: no server, no admin, but it can crunch tens of GB of Parquet over the network in seconds. Perfect for Gold-mart builds.</a:t>
            </a:r>
          </a:p>
        </p:txBody>
      </p:sp>
      <p:sp>
        <p:nvSpPr>
          <p:cNvPr id="13" name="Rectangle 12"/>
          <p:cNvSpPr/>
          <p:nvPr/>
        </p:nvSpPr>
        <p:spPr>
          <a:xfrm>
            <a:off x="0" y="4914900"/>
            <a:ext cx="9144000" cy="2286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6 / 10  ·  Module 3</a:t>
            </a:r>
          </a:p>
        </p:txBody>
      </p:sp>
    </p:spTree>
  </p:cSld>
  <p:clrMapOvr>
    <a:masterClrMapping/>
  </p:clrMapOvr>
</p:sld>
</file>

<file path=ppt/slides/slide5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3  · Pipeline build</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End-to-end latency budget</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Where the seconds and minutes actually go</a:t>
            </a:r>
          </a:p>
        </p:txBody>
      </p:sp>
      <p:sp>
        <p:nvSpPr>
          <p:cNvPr id="6" name="TextBox 5"/>
          <p:cNvSpPr txBox="1"/>
          <p:nvPr/>
        </p:nvSpPr>
        <p:spPr>
          <a:xfrm>
            <a:off x="274320" y="914400"/>
            <a:ext cx="5212080" cy="274320"/>
          </a:xfrm>
          <a:prstGeom prst="rect">
            <a:avLst/>
          </a:prstGeom>
          <a:noFill/>
        </p:spPr>
        <p:txBody>
          <a:bodyPr wrap="square" lIns="45720" rIns="45720" tIns="18288" bIns="18288">
            <a:spAutoFit/>
          </a:bodyPr>
          <a:lstStyle/>
          <a:p>
            <a:pPr algn="ctr"/>
            <a:r>
              <a:rPr sz="1200" b="1">
                <a:solidFill>
                  <a:srgbClr val="1F77B4"/>
                </a:solidFill>
              </a:rPr>
              <a:t>End-to-end: APRS packet → dashboard tile</a:t>
            </a:r>
          </a:p>
        </p:txBody>
      </p:sp>
      <p:sp>
        <p:nvSpPr>
          <p:cNvPr id="7" name="Rectangle 6"/>
          <p:cNvSpPr/>
          <p:nvPr/>
        </p:nvSpPr>
        <p:spPr>
          <a:xfrm>
            <a:off x="365760" y="1463040"/>
            <a:ext cx="1188720" cy="41148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365760" y="1549908"/>
            <a:ext cx="1188720" cy="237744"/>
          </a:xfrm>
          <a:prstGeom prst="rect">
            <a:avLst/>
          </a:prstGeom>
          <a:noFill/>
        </p:spPr>
        <p:txBody>
          <a:bodyPr wrap="square" lIns="45720" rIns="45720" tIns="18288" bIns="18288">
            <a:spAutoFit/>
          </a:bodyPr>
          <a:lstStyle/>
          <a:p>
            <a:pPr algn="ctr"/>
            <a:r>
              <a:rPr sz="1000" b="1">
                <a:solidFill>
                  <a:srgbClr val="FFFFFF"/>
                </a:solidFill>
              </a:rPr>
              <a:t>OGN APRS</a:t>
            </a:r>
          </a:p>
        </p:txBody>
      </p:sp>
      <p:cxnSp>
        <p:nvCxnSpPr>
          <p:cNvPr id="9" name="Connector 8"/>
          <p:cNvCxnSpPr/>
          <p:nvPr/>
        </p:nvCxnSpPr>
        <p:spPr>
          <a:xfrm>
            <a:off x="1554480" y="166878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1645920" y="1463040"/>
            <a:ext cx="1188720" cy="41148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1645920" y="1549908"/>
            <a:ext cx="1188720" cy="237744"/>
          </a:xfrm>
          <a:prstGeom prst="rect">
            <a:avLst/>
          </a:prstGeom>
          <a:noFill/>
        </p:spPr>
        <p:txBody>
          <a:bodyPr wrap="square" lIns="45720" rIns="45720" tIns="18288" bIns="18288">
            <a:spAutoFit/>
          </a:bodyPr>
          <a:lstStyle/>
          <a:p>
            <a:pPr algn="ctr"/>
            <a:r>
              <a:rPr sz="1000" b="1">
                <a:solidFill>
                  <a:srgbClr val="FFFFFF"/>
                </a:solidFill>
              </a:rPr>
              <a:t>ingestor</a:t>
            </a:r>
          </a:p>
        </p:txBody>
      </p:sp>
      <p:cxnSp>
        <p:nvCxnSpPr>
          <p:cNvPr id="12" name="Connector 11"/>
          <p:cNvCxnSpPr/>
          <p:nvPr/>
        </p:nvCxnSpPr>
        <p:spPr>
          <a:xfrm>
            <a:off x="2834640" y="166878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926080" y="1463040"/>
            <a:ext cx="1188720" cy="411480"/>
          </a:xfrm>
          <a:prstGeom prst="rect">
            <a:avLst/>
          </a:prstGeom>
          <a:solidFill>
            <a:srgbClr val="2CA02C"/>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926080" y="1549908"/>
            <a:ext cx="1188720" cy="237744"/>
          </a:xfrm>
          <a:prstGeom prst="rect">
            <a:avLst/>
          </a:prstGeom>
          <a:noFill/>
        </p:spPr>
        <p:txBody>
          <a:bodyPr wrap="square" lIns="45720" rIns="45720" tIns="18288" bIns="18288">
            <a:spAutoFit/>
          </a:bodyPr>
          <a:lstStyle/>
          <a:p>
            <a:pPr algn="ctr"/>
            <a:r>
              <a:rPr sz="1000" b="1">
                <a:solidFill>
                  <a:srgbClr val="FFFFFF"/>
                </a:solidFill>
              </a:rPr>
              <a:t>Kafka</a:t>
            </a:r>
          </a:p>
        </p:txBody>
      </p:sp>
      <p:cxnSp>
        <p:nvCxnSpPr>
          <p:cNvPr id="15" name="Connector 14"/>
          <p:cNvCxnSpPr/>
          <p:nvPr/>
        </p:nvCxnSpPr>
        <p:spPr>
          <a:xfrm>
            <a:off x="4114800" y="166878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4206240" y="1463040"/>
            <a:ext cx="1188720" cy="411480"/>
          </a:xfrm>
          <a:prstGeom prst="rect">
            <a:avLst/>
          </a:prstGeom>
          <a:solidFill>
            <a:srgbClr val="2CA02C"/>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4206240" y="1549908"/>
            <a:ext cx="1188720" cy="237744"/>
          </a:xfrm>
          <a:prstGeom prst="rect">
            <a:avLst/>
          </a:prstGeom>
          <a:noFill/>
        </p:spPr>
        <p:txBody>
          <a:bodyPr wrap="square" lIns="45720" rIns="45720" tIns="18288" bIns="18288">
            <a:spAutoFit/>
          </a:bodyPr>
          <a:lstStyle/>
          <a:p>
            <a:pPr algn="ctr"/>
            <a:r>
              <a:rPr sz="1000" b="1">
                <a:solidFill>
                  <a:srgbClr val="FFFFFF"/>
                </a:solidFill>
              </a:rPr>
              <a:t>S3 sink</a:t>
            </a:r>
          </a:p>
        </p:txBody>
      </p:sp>
      <p:sp>
        <p:nvSpPr>
          <p:cNvPr id="18" name="Rectangle 17"/>
          <p:cNvSpPr/>
          <p:nvPr/>
        </p:nvSpPr>
        <p:spPr>
          <a:xfrm>
            <a:off x="365760" y="2286000"/>
            <a:ext cx="1188720" cy="411480"/>
          </a:xfrm>
          <a:prstGeom prst="rect">
            <a:avLst/>
          </a:prstGeom>
          <a:solidFill>
            <a:srgbClr val="E88B1E"/>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365760" y="2372868"/>
            <a:ext cx="1188720" cy="237744"/>
          </a:xfrm>
          <a:prstGeom prst="rect">
            <a:avLst/>
          </a:prstGeom>
          <a:noFill/>
        </p:spPr>
        <p:txBody>
          <a:bodyPr wrap="square" lIns="45720" rIns="45720" tIns="18288" bIns="18288">
            <a:spAutoFit/>
          </a:bodyPr>
          <a:lstStyle/>
          <a:p>
            <a:pPr algn="ctr"/>
            <a:r>
              <a:rPr sz="1000" b="1">
                <a:solidFill>
                  <a:srgbClr val="FFFFFF"/>
                </a:solidFill>
              </a:rPr>
              <a:t>MinIO bronze</a:t>
            </a:r>
          </a:p>
        </p:txBody>
      </p:sp>
      <p:cxnSp>
        <p:nvCxnSpPr>
          <p:cNvPr id="20" name="Connector 19"/>
          <p:cNvCxnSpPr/>
          <p:nvPr/>
        </p:nvCxnSpPr>
        <p:spPr>
          <a:xfrm>
            <a:off x="1554480" y="249174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1645920" y="2286000"/>
            <a:ext cx="1188720" cy="411480"/>
          </a:xfrm>
          <a:prstGeom prst="rect">
            <a:avLst/>
          </a:prstGeom>
          <a:solidFill>
            <a:srgbClr val="E88B1E"/>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645920" y="2372868"/>
            <a:ext cx="1188720" cy="237744"/>
          </a:xfrm>
          <a:prstGeom prst="rect">
            <a:avLst/>
          </a:prstGeom>
          <a:noFill/>
        </p:spPr>
        <p:txBody>
          <a:bodyPr wrap="square" lIns="45720" rIns="45720" tIns="18288" bIns="18288">
            <a:spAutoFit/>
          </a:bodyPr>
          <a:lstStyle/>
          <a:p>
            <a:pPr algn="ctr"/>
            <a:r>
              <a:rPr sz="1000" b="1">
                <a:solidFill>
                  <a:srgbClr val="FFFFFF"/>
                </a:solidFill>
              </a:rPr>
              <a:t>Hop silver</a:t>
            </a:r>
          </a:p>
        </p:txBody>
      </p:sp>
      <p:cxnSp>
        <p:nvCxnSpPr>
          <p:cNvPr id="23" name="Connector 22"/>
          <p:cNvCxnSpPr/>
          <p:nvPr/>
        </p:nvCxnSpPr>
        <p:spPr>
          <a:xfrm>
            <a:off x="2834640" y="249174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2926080" y="2286000"/>
            <a:ext cx="1188720" cy="411480"/>
          </a:xfrm>
          <a:prstGeom prst="rect">
            <a:avLst/>
          </a:prstGeom>
          <a:solidFill>
            <a:srgbClr val="C0392B"/>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2926080" y="2372868"/>
            <a:ext cx="1188720" cy="237744"/>
          </a:xfrm>
          <a:prstGeom prst="rect">
            <a:avLst/>
          </a:prstGeom>
          <a:noFill/>
        </p:spPr>
        <p:txBody>
          <a:bodyPr wrap="square" lIns="45720" rIns="45720" tIns="18288" bIns="18288">
            <a:spAutoFit/>
          </a:bodyPr>
          <a:lstStyle/>
          <a:p>
            <a:pPr algn="ctr"/>
            <a:r>
              <a:rPr sz="1000" b="1">
                <a:solidFill>
                  <a:srgbClr val="FFFFFF"/>
                </a:solidFill>
              </a:rPr>
              <a:t>DuckDB gold</a:t>
            </a:r>
          </a:p>
        </p:txBody>
      </p:sp>
      <p:cxnSp>
        <p:nvCxnSpPr>
          <p:cNvPr id="26" name="Connector 25"/>
          <p:cNvCxnSpPr/>
          <p:nvPr/>
        </p:nvCxnSpPr>
        <p:spPr>
          <a:xfrm>
            <a:off x="4114800" y="2491740"/>
            <a:ext cx="9144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4206240" y="2286000"/>
            <a:ext cx="1188720" cy="411480"/>
          </a:xfrm>
          <a:prstGeom prst="rect">
            <a:avLst/>
          </a:prstGeom>
          <a:solidFill>
            <a:srgbClr val="C0392B"/>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4206240" y="2372868"/>
            <a:ext cx="1188720" cy="237744"/>
          </a:xfrm>
          <a:prstGeom prst="rect">
            <a:avLst/>
          </a:prstGeom>
          <a:noFill/>
        </p:spPr>
        <p:txBody>
          <a:bodyPr wrap="square" lIns="45720" rIns="45720" tIns="18288" bIns="18288">
            <a:spAutoFit/>
          </a:bodyPr>
          <a:lstStyle/>
          <a:p>
            <a:pPr algn="ctr"/>
            <a:r>
              <a:rPr sz="1000" b="1">
                <a:solidFill>
                  <a:srgbClr val="FFFFFF"/>
                </a:solidFill>
              </a:rPr>
              <a:t>dashboard</a:t>
            </a:r>
          </a:p>
        </p:txBody>
      </p:sp>
      <p:cxnSp>
        <p:nvCxnSpPr>
          <p:cNvPr id="29" name="Connector 28"/>
          <p:cNvCxnSpPr/>
          <p:nvPr/>
        </p:nvCxnSpPr>
        <p:spPr>
          <a:xfrm flipH="1">
            <a:off x="960120" y="1874520"/>
            <a:ext cx="3840480" cy="41148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274320" y="3017520"/>
            <a:ext cx="5212080" cy="274320"/>
          </a:xfrm>
          <a:prstGeom prst="rect">
            <a:avLst/>
          </a:prstGeom>
          <a:noFill/>
        </p:spPr>
        <p:txBody>
          <a:bodyPr wrap="square" lIns="45720" rIns="45720" tIns="18288" bIns="18288">
            <a:spAutoFit/>
          </a:bodyPr>
          <a:lstStyle/>
          <a:p>
            <a:pPr algn="ctr"/>
            <a:r>
              <a:rPr sz="1100" b="1">
                <a:solidFill>
                  <a:srgbClr val="1F77B4"/>
                </a:solidFill>
              </a:rPr>
              <a:t>Latency budget</a:t>
            </a:r>
          </a:p>
        </p:txBody>
      </p:sp>
      <p:sp>
        <p:nvSpPr>
          <p:cNvPr id="31" name="TextBox 30"/>
          <p:cNvSpPr txBox="1"/>
          <p:nvPr/>
        </p:nvSpPr>
        <p:spPr>
          <a:xfrm>
            <a:off x="274320" y="3291840"/>
            <a:ext cx="5212080" cy="1645920"/>
          </a:xfrm>
          <a:prstGeom prst="rect">
            <a:avLst/>
          </a:prstGeom>
          <a:noFill/>
        </p:spPr>
        <p:txBody>
          <a:bodyPr wrap="square" lIns="45720" rIns="45720" tIns="18288" bIns="18288">
            <a:spAutoFit/>
          </a:bodyPr>
          <a:lstStyle/>
          <a:p>
            <a:pPr algn="ctr"/>
            <a:r>
              <a:rPr sz="1000" b="0">
                <a:solidFill>
                  <a:srgbClr val="0B2A4A"/>
                </a:solidFill>
                <a:latin typeface="Consolas"/>
              </a:rPr>
              <a:t>Source → Kafka topic        ~ seconds</a:t>
            </a:r>
          </a:p>
          <a:p>
            <a:pPr algn="ctr"/>
            <a:r>
              <a:rPr sz="1000" b="0">
                <a:solidFill>
                  <a:srgbClr val="0B2A4A"/>
                </a:solidFill>
                <a:latin typeface="Consolas"/>
              </a:rPr>
              <a:t>Topic → bronze object       ≤ S3 sink flush interval</a:t>
            </a:r>
          </a:p>
          <a:p>
            <a:pPr algn="ctr"/>
            <a:r>
              <a:rPr sz="1000" b="0">
                <a:solidFill>
                  <a:srgbClr val="0B2A4A"/>
                </a:solidFill>
                <a:latin typeface="Consolas"/>
              </a:rPr>
              <a:t>Bronze → silver → gold      ~ 5 min   (30_hop_medallion)</a:t>
            </a:r>
          </a:p>
          <a:p>
            <a:pPr algn="ctr"/>
            <a:r>
              <a:rPr sz="1000" b="0">
                <a:solidFill>
                  <a:srgbClr val="0B2A4A"/>
                </a:solidFill>
                <a:latin typeface="Consolas"/>
              </a:rPr>
              <a:t>Gold → dashboard tile       ~ 5 min   (40 + 50 push DAGs)</a:t>
            </a:r>
          </a:p>
          <a:p>
            <a:pPr algn="ctr"/>
            <a:r>
              <a:rPr sz="1000" b="0">
                <a:solidFill>
                  <a:srgbClr val="0B2A4A"/>
                </a:solidFill>
                <a:latin typeface="Consolas"/>
              </a:rPr>
              <a:t/>
            </a:r>
          </a:p>
          <a:p>
            <a:pPr algn="ctr"/>
            <a:r>
              <a:rPr sz="1000" b="0">
                <a:solidFill>
                  <a:srgbClr val="0B2A4A"/>
                </a:solidFill>
                <a:latin typeface="Consolas"/>
              </a:rPr>
              <a:t>End-to-end p95: about 10 minutes from packet to KPI.</a:t>
            </a:r>
          </a:p>
        </p:txBody>
      </p:sp>
      <p:sp>
        <p:nvSpPr>
          <p:cNvPr id="32" name="Rectangle 31"/>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34" name="TextBox 33"/>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Pizza delivery time</a:t>
            </a:r>
          </a:p>
        </p:txBody>
      </p:sp>
      <p:sp>
        <p:nvSpPr>
          <p:cNvPr id="35" name="TextBox 34"/>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Order placed → kitchen acknowledges (Kafka commit, seconds) → cooked (Hop, 5 min) → driver leaves (gold publish) → you eat (dashboard refresh). 10-minute p95 is fine for KPIs, painful for live ops.</a:t>
            </a:r>
          </a:p>
        </p:txBody>
      </p:sp>
      <p:sp>
        <p:nvSpPr>
          <p:cNvPr id="36" name="Rectangle 35"/>
          <p:cNvSpPr/>
          <p:nvPr/>
        </p:nvSpPr>
        <p:spPr>
          <a:xfrm>
            <a:off x="0" y="4914900"/>
            <a:ext cx="9144000" cy="2286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7 / 10  ·  Module 3</a:t>
            </a:r>
          </a:p>
        </p:txBody>
      </p:sp>
    </p:spTree>
  </p:cSld>
  <p:clrMapOvr>
    <a:masterClrMapping/>
  </p:clrMapOvr>
</p:sld>
</file>

<file path=ppt/slides/slide6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3  · Pipeline build</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Three dashboards, three audiences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Quality, business, and live map — one stack, three viewpoints</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grafana.png"/>
          <p:cNvPicPr>
            <a:picLocks noChangeAspect="1"/>
          </p:cNvPicPr>
          <p:nvPr/>
        </p:nvPicPr>
        <p:blipFill>
          <a:blip r:embed="rId2"/>
          <a:stretch>
            <a:fillRect/>
          </a:stretch>
        </p:blipFill>
        <p:spPr>
          <a:xfrm>
            <a:off x="1584650" y="982980"/>
            <a:ext cx="2499980"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quality-dashboard :5001 — rule pass/fail counters, DLQ depth, alerts.</a:t>
            </a:r>
          </a:p>
          <a:p>
            <a:pPr>
              <a:spcAft>
                <a:spcPts val="400"/>
              </a:spcAft>
            </a:pPr>
            <a:r>
              <a:rPr sz="1100">
                <a:solidFill>
                  <a:srgbClr val="0B2A4A"/>
                </a:solidFill>
              </a:rPr>
              <a:t>•  business-dashboard :5002 — KPIs from gold marts, refreshes every 5 min.</a:t>
            </a:r>
          </a:p>
          <a:p>
            <a:pPr>
              <a:spcAft>
                <a:spcPts val="400"/>
              </a:spcAft>
            </a:pPr>
            <a:r>
              <a:rPr sz="1100">
                <a:solidFill>
                  <a:srgbClr val="0B2A4A"/>
                </a:solidFill>
              </a:rPr>
              <a:t>•  live-map :5003 — Leaflet map of OGN aircraft, near-real-time.</a:t>
            </a:r>
          </a:p>
          <a:p>
            <a:pPr>
              <a:spcAft>
                <a:spcPts val="400"/>
              </a:spcAft>
            </a:pPr>
            <a:r>
              <a:rPr sz="1100">
                <a:solidFill>
                  <a:srgbClr val="0B2A4A"/>
                </a:solidFill>
              </a:rPr>
              <a:t>•  All expose /metrics — Prometheus scrapes for unified observability.</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Cockpit, weather radar, in-flight movie</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Pilot watches the cockpit (quality dashboard). Crew checks weather radar (business KPIs). Passengers watch the live map (live_map_dashboard). Same plane, same data, different needs.</a:t>
            </a:r>
          </a:p>
        </p:txBody>
      </p:sp>
      <p:sp>
        <p:nvSpPr>
          <p:cNvPr id="13" name="Rectangle 12"/>
          <p:cNvSpPr/>
          <p:nvPr/>
        </p:nvSpPr>
        <p:spPr>
          <a:xfrm>
            <a:off x="0" y="4914900"/>
            <a:ext cx="9144000" cy="2286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8 / 10  ·  Module 3</a:t>
            </a:r>
          </a:p>
        </p:txBody>
      </p:sp>
    </p:spTree>
  </p:cSld>
  <p:clrMapOvr>
    <a:masterClrMapping/>
  </p:clrMapOvr>
</p:sld>
</file>

<file path=ppt/slides/slide6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3  · Pipeline build</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Big-picture analogy — airport baggage handling</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Why the whole architecture clicks once you see it as luggage</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ker.png"/>
          <p:cNvPicPr>
            <a:picLocks noChangeAspect="1"/>
          </p:cNvPicPr>
          <p:nvPr/>
        </p:nvPicPr>
        <p:blipFill>
          <a:blip r:embed="rId2"/>
          <a:stretch>
            <a:fillRect/>
          </a:stretch>
        </p:blipFill>
        <p:spPr>
          <a:xfrm>
            <a:off x="342900" y="1692966"/>
            <a:ext cx="4983480" cy="1186068"/>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Check-in agent     = Schema Registry  (tag the bag once, trust it everywhere)</a:t>
            </a:r>
          </a:p>
          <a:p>
            <a:pPr>
              <a:spcAft>
                <a:spcPts val="400"/>
              </a:spcAft>
            </a:pPr>
            <a:r>
              <a:rPr sz="1100">
                <a:solidFill>
                  <a:srgbClr val="0B2A4A"/>
                </a:solidFill>
              </a:rPr>
              <a:t>•  Sorter / belt      = Kafka partitions</a:t>
            </a:r>
          </a:p>
          <a:p>
            <a:pPr>
              <a:spcAft>
                <a:spcPts val="400"/>
              </a:spcAft>
            </a:pPr>
            <a:r>
              <a:rPr sz="1100">
                <a:solidFill>
                  <a:srgbClr val="0B2A4A"/>
                </a:solidFill>
              </a:rPr>
              <a:t>•  X-ray operator     = Connect with DLQ tolerance</a:t>
            </a:r>
          </a:p>
          <a:p>
            <a:pPr>
              <a:spcAft>
                <a:spcPts val="400"/>
              </a:spcAft>
            </a:pPr>
            <a:r>
              <a:rPr sz="1100">
                <a:solidFill>
                  <a:srgbClr val="0B2A4A"/>
                </a:solidFill>
              </a:rPr>
              <a:t>•  Aircraft hold      = S3 bronze, sealed for transport</a:t>
            </a:r>
          </a:p>
          <a:p>
            <a:pPr>
              <a:spcAft>
                <a:spcPts val="400"/>
              </a:spcAft>
            </a:pPr>
            <a:r>
              <a:rPr sz="1100">
                <a:solidFill>
                  <a:srgbClr val="0B2A4A"/>
                </a:solidFill>
              </a:rPr>
              <a:t>•  Baggage carousel   = Gold mart latest.parquet</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Tag → belt → x-ray → cart → carousel</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Check-in tags the bag (schema). Conveyor sorts by destination (partition key). X-ray flags problems (DLQ). Cart batches to the plane (bronze hourly files). Carousel delivers to you (dashboard). Each handler does ONE thing well — that's the whole game.</a:t>
            </a:r>
          </a:p>
        </p:txBody>
      </p:sp>
      <p:sp>
        <p:nvSpPr>
          <p:cNvPr id="13" name="Rectangle 12"/>
          <p:cNvSpPr/>
          <p:nvPr/>
        </p:nvSpPr>
        <p:spPr>
          <a:xfrm>
            <a:off x="0" y="4914900"/>
            <a:ext cx="9144000" cy="2286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9 / 10  ·  Module 3</a:t>
            </a:r>
          </a:p>
        </p:txBody>
      </p:sp>
    </p:spTree>
  </p:cSld>
  <p:clrMapOvr>
    <a:masterClrMapping/>
  </p:clrMapOvr>
</p:sld>
</file>

<file path=ppt/slides/slide6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3  · Pipeline build</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Knowledge Check</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5 quick questions — answers in green</a:t>
            </a:r>
          </a:p>
        </p:txBody>
      </p:sp>
      <p:sp>
        <p:nvSpPr>
          <p:cNvPr id="6" name="TextBox 5"/>
          <p:cNvSpPr txBox="1"/>
          <p:nvPr/>
        </p:nvSpPr>
        <p:spPr>
          <a:xfrm>
            <a:off x="365760" y="914400"/>
            <a:ext cx="8412480" cy="329184"/>
          </a:xfrm>
          <a:prstGeom prst="rect">
            <a:avLst/>
          </a:prstGeom>
          <a:noFill/>
        </p:spPr>
        <p:txBody>
          <a:bodyPr wrap="square" lIns="45720" rIns="45720" tIns="18288" bIns="18288">
            <a:spAutoFit/>
          </a:bodyPr>
          <a:lstStyle/>
          <a:p>
            <a:pPr algn="l"/>
            <a:r>
              <a:rPr sz="1200" b="1">
                <a:solidFill>
                  <a:srgbClr val="0B2A4A"/>
                </a:solidFill>
              </a:rPr>
              <a:t>Q1. Why does silver keep an audit file under _quality/?</a:t>
            </a:r>
          </a:p>
        </p:txBody>
      </p:sp>
      <p:sp>
        <p:nvSpPr>
          <p:cNvPr id="7" name="TextBox 6"/>
          <p:cNvSpPr txBox="1"/>
          <p:nvPr/>
        </p:nvSpPr>
        <p:spPr>
          <a:xfrm>
            <a:off x="548640" y="1234440"/>
            <a:ext cx="8229600" cy="384048"/>
          </a:xfrm>
          <a:prstGeom prst="rect">
            <a:avLst/>
          </a:prstGeom>
          <a:noFill/>
        </p:spPr>
        <p:txBody>
          <a:bodyPr wrap="square" lIns="45720" rIns="45720" tIns="18288" bIns="18288">
            <a:spAutoFit/>
          </a:bodyPr>
          <a:lstStyle/>
          <a:p>
            <a:pPr algn="l"/>
            <a:r>
              <a:rPr sz="1100" b="0">
                <a:solidFill>
                  <a:srgbClr val="2CA02C"/>
                </a:solidFill>
              </a:rPr>
              <a:t>A. So you can prove every Gold number — counts, drops, dedupes — without re-running. Compliance + debugging in one cheap file.</a:t>
            </a:r>
          </a:p>
        </p:txBody>
      </p:sp>
      <p:sp>
        <p:nvSpPr>
          <p:cNvPr id="8" name="TextBox 7"/>
          <p:cNvSpPr txBox="1"/>
          <p:nvPr/>
        </p:nvSpPr>
        <p:spPr>
          <a:xfrm>
            <a:off x="365760" y="1664208"/>
            <a:ext cx="8412480" cy="329184"/>
          </a:xfrm>
          <a:prstGeom prst="rect">
            <a:avLst/>
          </a:prstGeom>
          <a:noFill/>
        </p:spPr>
        <p:txBody>
          <a:bodyPr wrap="square" lIns="45720" rIns="45720" tIns="18288" bIns="18288">
            <a:spAutoFit/>
          </a:bodyPr>
          <a:lstStyle/>
          <a:p>
            <a:pPr algn="l"/>
            <a:r>
              <a:rPr sz="1200" b="1">
                <a:solidFill>
                  <a:srgbClr val="0B2A4A"/>
                </a:solidFill>
              </a:rPr>
              <a:t>Q2. What rule decides which row wins when silver dedupes?</a:t>
            </a:r>
          </a:p>
        </p:txBody>
      </p:sp>
      <p:sp>
        <p:nvSpPr>
          <p:cNvPr id="9" name="TextBox 8"/>
          <p:cNvSpPr txBox="1"/>
          <p:nvPr/>
        </p:nvSpPr>
        <p:spPr>
          <a:xfrm>
            <a:off x="548640" y="1984248"/>
            <a:ext cx="8229600" cy="384048"/>
          </a:xfrm>
          <a:prstGeom prst="rect">
            <a:avLst/>
          </a:prstGeom>
          <a:noFill/>
        </p:spPr>
        <p:txBody>
          <a:bodyPr wrap="square" lIns="45720" rIns="45720" tIns="18288" bIns="18288">
            <a:spAutoFit/>
          </a:bodyPr>
          <a:lstStyle/>
          <a:p>
            <a:pPr algn="l"/>
            <a:r>
              <a:rPr sz="1100" b="0">
                <a:solidFill>
                  <a:srgbClr val="2CA02C"/>
                </a:solidFill>
              </a:rPr>
              <a:t>A. Group by natural PK; keep the row with the maximum ts_ms (most recent).</a:t>
            </a:r>
          </a:p>
        </p:txBody>
      </p:sp>
      <p:sp>
        <p:nvSpPr>
          <p:cNvPr id="10" name="TextBox 9"/>
          <p:cNvSpPr txBox="1"/>
          <p:nvPr/>
        </p:nvSpPr>
        <p:spPr>
          <a:xfrm>
            <a:off x="365760" y="2414016"/>
            <a:ext cx="8412480" cy="329184"/>
          </a:xfrm>
          <a:prstGeom prst="rect">
            <a:avLst/>
          </a:prstGeom>
          <a:noFill/>
        </p:spPr>
        <p:txBody>
          <a:bodyPr wrap="square" lIns="45720" rIns="45720" tIns="18288" bIns="18288">
            <a:spAutoFit/>
          </a:bodyPr>
          <a:lstStyle/>
          <a:p>
            <a:pPr algn="l"/>
            <a:r>
              <a:rPr sz="1200" b="1">
                <a:solidFill>
                  <a:srgbClr val="0B2A4A"/>
                </a:solidFill>
              </a:rPr>
              <a:t>Q3. Why does Gold write BOTH a timestamped snapshot AND latest.parquet?</a:t>
            </a:r>
          </a:p>
        </p:txBody>
      </p:sp>
      <p:sp>
        <p:nvSpPr>
          <p:cNvPr id="11" name="TextBox 10"/>
          <p:cNvSpPr txBox="1"/>
          <p:nvPr/>
        </p:nvSpPr>
        <p:spPr>
          <a:xfrm>
            <a:off x="548640" y="2734056"/>
            <a:ext cx="8229600" cy="384048"/>
          </a:xfrm>
          <a:prstGeom prst="rect">
            <a:avLst/>
          </a:prstGeom>
          <a:noFill/>
        </p:spPr>
        <p:txBody>
          <a:bodyPr wrap="square" lIns="45720" rIns="45720" tIns="18288" bIns="18288">
            <a:spAutoFit/>
          </a:bodyPr>
          <a:lstStyle/>
          <a:p>
            <a:pPr algn="l"/>
            <a:r>
              <a:rPr sz="1100" b="0">
                <a:solidFill>
                  <a:srgbClr val="2CA02C"/>
                </a:solidFill>
              </a:rPr>
              <a:t>A. Snapshot = history / audit. latest.parquet = stable URL the dashboard reads. Atomic rename means dashboards never see a half-written file.</a:t>
            </a:r>
          </a:p>
        </p:txBody>
      </p:sp>
      <p:sp>
        <p:nvSpPr>
          <p:cNvPr id="12" name="TextBox 11"/>
          <p:cNvSpPr txBox="1"/>
          <p:nvPr/>
        </p:nvSpPr>
        <p:spPr>
          <a:xfrm>
            <a:off x="365760" y="3163824"/>
            <a:ext cx="8412480" cy="329184"/>
          </a:xfrm>
          <a:prstGeom prst="rect">
            <a:avLst/>
          </a:prstGeom>
          <a:noFill/>
        </p:spPr>
        <p:txBody>
          <a:bodyPr wrap="square" lIns="45720" rIns="45720" tIns="18288" bIns="18288">
            <a:spAutoFit/>
          </a:bodyPr>
          <a:lstStyle/>
          <a:p>
            <a:pPr algn="l"/>
            <a:r>
              <a:rPr sz="1200" b="1">
                <a:solidFill>
                  <a:srgbClr val="0B2A4A"/>
                </a:solidFill>
              </a:rPr>
              <a:t>Q4. If a NOAA ingestor crashes, what is the data loss exposure?</a:t>
            </a:r>
          </a:p>
        </p:txBody>
      </p:sp>
      <p:sp>
        <p:nvSpPr>
          <p:cNvPr id="13" name="TextBox 12"/>
          <p:cNvSpPr txBox="1"/>
          <p:nvPr/>
        </p:nvSpPr>
        <p:spPr>
          <a:xfrm>
            <a:off x="548640" y="3483864"/>
            <a:ext cx="8229600" cy="384048"/>
          </a:xfrm>
          <a:prstGeom prst="rect">
            <a:avLst/>
          </a:prstGeom>
          <a:noFill/>
        </p:spPr>
        <p:txBody>
          <a:bodyPr wrap="square" lIns="45720" rIns="45720" tIns="18288" bIns="18288">
            <a:spAutoFit/>
          </a:bodyPr>
          <a:lstStyle/>
          <a:p>
            <a:pPr algn="l"/>
            <a:r>
              <a:rPr sz="1100" b="0">
                <a:solidFill>
                  <a:srgbClr val="2CA02C"/>
                </a:solidFill>
              </a:rPr>
              <a:t>A. Anything in flight that wasn't yet produced to Kafka. The container restarts under restart: unless-stopped, then resumes polling.</a:t>
            </a:r>
          </a:p>
        </p:txBody>
      </p:sp>
      <p:sp>
        <p:nvSpPr>
          <p:cNvPr id="14" name="TextBox 13"/>
          <p:cNvSpPr txBox="1"/>
          <p:nvPr/>
        </p:nvSpPr>
        <p:spPr>
          <a:xfrm>
            <a:off x="365760" y="3913632"/>
            <a:ext cx="8412480" cy="329184"/>
          </a:xfrm>
          <a:prstGeom prst="rect">
            <a:avLst/>
          </a:prstGeom>
          <a:noFill/>
        </p:spPr>
        <p:txBody>
          <a:bodyPr wrap="square" lIns="45720" rIns="45720" tIns="18288" bIns="18288">
            <a:spAutoFit/>
          </a:bodyPr>
          <a:lstStyle/>
          <a:p>
            <a:pPr algn="l"/>
            <a:r>
              <a:rPr sz="1200" b="1">
                <a:solidFill>
                  <a:srgbClr val="0B2A4A"/>
                </a:solidFill>
              </a:rPr>
              <a:t>Q5. What's the end-to-end p95 latency target for this stack?</a:t>
            </a:r>
          </a:p>
        </p:txBody>
      </p:sp>
      <p:sp>
        <p:nvSpPr>
          <p:cNvPr id="15" name="TextBox 14"/>
          <p:cNvSpPr txBox="1"/>
          <p:nvPr/>
        </p:nvSpPr>
        <p:spPr>
          <a:xfrm>
            <a:off x="548640" y="4233672"/>
            <a:ext cx="8229600" cy="384048"/>
          </a:xfrm>
          <a:prstGeom prst="rect">
            <a:avLst/>
          </a:prstGeom>
          <a:noFill/>
        </p:spPr>
        <p:txBody>
          <a:bodyPr wrap="square" lIns="45720" rIns="45720" tIns="18288" bIns="18288">
            <a:spAutoFit/>
          </a:bodyPr>
          <a:lstStyle/>
          <a:p>
            <a:pPr algn="l"/>
            <a:r>
              <a:rPr sz="1100" b="0">
                <a:solidFill>
                  <a:srgbClr val="2CA02C"/>
                </a:solidFill>
              </a:rPr>
              <a:t>A. About 10 minutes — driven by the 5-min Hop schedule plus the 5-min dashboard-push DAG. Bronze landing itself is seconds.</a:t>
            </a:r>
          </a:p>
        </p:txBody>
      </p:sp>
      <p:sp>
        <p:nvSpPr>
          <p:cNvPr id="16" name="Rectangle 15"/>
          <p:cNvSpPr/>
          <p:nvPr/>
        </p:nvSpPr>
        <p:spPr>
          <a:xfrm>
            <a:off x="0" y="4914900"/>
            <a:ext cx="9144000" cy="2286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10 / 10  ·  Module 3 — Knowledge Check</a:t>
            </a:r>
          </a:p>
        </p:txBody>
      </p:sp>
    </p:spTree>
  </p:cSld>
  <p:clrMapOvr>
    <a:masterClrMapping/>
  </p:clrMapOvr>
</p:sld>
</file>

<file path=ppt/slides/slide6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514350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64592" cy="51435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640080"/>
            <a:ext cx="8229600" cy="457200"/>
          </a:xfrm>
          <a:prstGeom prst="rect">
            <a:avLst/>
          </a:prstGeom>
          <a:noFill/>
        </p:spPr>
        <p:txBody>
          <a:bodyPr wrap="square" lIns="45720" rIns="45720" tIns="18288" bIns="18288">
            <a:spAutoFit/>
          </a:bodyPr>
          <a:lstStyle/>
          <a:p>
            <a:pPr algn="l"/>
            <a:r>
              <a:rPr sz="1400" b="1">
                <a:solidFill>
                  <a:srgbClr val="CCDDEE"/>
                </a:solidFill>
              </a:rPr>
              <a:t>MODULE 4</a:t>
            </a:r>
          </a:p>
        </p:txBody>
      </p:sp>
      <p:sp>
        <p:nvSpPr>
          <p:cNvPr id="5" name="TextBox 4"/>
          <p:cNvSpPr txBox="1"/>
          <p:nvPr/>
        </p:nvSpPr>
        <p:spPr>
          <a:xfrm>
            <a:off x="457200" y="1097280"/>
            <a:ext cx="8229600" cy="1280160"/>
          </a:xfrm>
          <a:prstGeom prst="rect">
            <a:avLst/>
          </a:prstGeom>
          <a:noFill/>
        </p:spPr>
        <p:txBody>
          <a:bodyPr wrap="square" lIns="45720" rIns="45720" tIns="18288" bIns="18288">
            <a:spAutoFit/>
          </a:bodyPr>
          <a:lstStyle/>
          <a:p>
            <a:pPr algn="l"/>
            <a:r>
              <a:rPr sz="3600" b="1">
                <a:solidFill>
                  <a:srgbClr val="FFFFFF"/>
                </a:solidFill>
              </a:rPr>
              <a:t>Deployment and Best Practices</a:t>
            </a:r>
          </a:p>
        </p:txBody>
      </p:sp>
      <p:sp>
        <p:nvSpPr>
          <p:cNvPr id="6" name="TextBox 5"/>
          <p:cNvSpPr txBox="1"/>
          <p:nvPr/>
        </p:nvSpPr>
        <p:spPr>
          <a:xfrm>
            <a:off x="457200" y="2377440"/>
            <a:ext cx="8229600" cy="731520"/>
          </a:xfrm>
          <a:prstGeom prst="rect">
            <a:avLst/>
          </a:prstGeom>
          <a:noFill/>
        </p:spPr>
        <p:txBody>
          <a:bodyPr wrap="square" lIns="45720" rIns="45720" tIns="18288" bIns="18288">
            <a:spAutoFit/>
          </a:bodyPr>
          <a:lstStyle/>
          <a:p>
            <a:pPr algn="l"/>
            <a:r>
              <a:rPr sz="1600" b="0">
                <a:solidFill>
                  <a:srgbClr val="CCDDEE"/>
                </a:solidFill>
              </a:rPr>
              <a:t>Reproducible startup, observable runtime, recoverable failure</a:t>
            </a:r>
          </a:p>
        </p:txBody>
      </p:sp>
      <p:sp>
        <p:nvSpPr>
          <p:cNvPr id="7" name="Rectangle 6"/>
          <p:cNvSpPr/>
          <p:nvPr/>
        </p:nvSpPr>
        <p:spPr>
          <a:xfrm>
            <a:off x="1371600" y="3749039"/>
            <a:ext cx="1463040" cy="1097280"/>
          </a:xfrm>
          <a:prstGeom prst="rect">
            <a:avLst/>
          </a:prstGeom>
          <a:solidFill>
            <a:srgbClr val="FFFFFF"/>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146304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9" name="Picture 8" descr="docker.png"/>
          <p:cNvPicPr>
            <a:picLocks noChangeAspect="1"/>
          </p:cNvPicPr>
          <p:nvPr/>
        </p:nvPicPr>
        <p:blipFill>
          <a:blip r:embed="rId2"/>
          <a:stretch>
            <a:fillRect/>
          </a:stretch>
        </p:blipFill>
        <p:spPr>
          <a:xfrm>
            <a:off x="1531620" y="4161662"/>
            <a:ext cx="1143000" cy="272034"/>
          </a:xfrm>
          <a:prstGeom prst="rect">
            <a:avLst/>
          </a:prstGeom>
        </p:spPr>
      </p:pic>
      <p:sp>
        <p:nvSpPr>
          <p:cNvPr id="10" name="Rectangle 9"/>
          <p:cNvSpPr/>
          <p:nvPr/>
        </p:nvSpPr>
        <p:spPr>
          <a:xfrm>
            <a:off x="3017520" y="3749039"/>
            <a:ext cx="1463040" cy="1097280"/>
          </a:xfrm>
          <a:prstGeom prst="rect">
            <a:avLst/>
          </a:prstGeom>
          <a:solidFill>
            <a:srgbClr val="FFFFFF"/>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310896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2" name="Picture 11" descr="prometheus.png"/>
          <p:cNvPicPr>
            <a:picLocks noChangeAspect="1"/>
          </p:cNvPicPr>
          <p:nvPr/>
        </p:nvPicPr>
        <p:blipFill>
          <a:blip r:embed="rId3"/>
          <a:stretch>
            <a:fillRect/>
          </a:stretch>
        </p:blipFill>
        <p:spPr>
          <a:xfrm>
            <a:off x="3356855" y="3909059"/>
            <a:ext cx="784370" cy="777240"/>
          </a:xfrm>
          <a:prstGeom prst="rect">
            <a:avLst/>
          </a:prstGeom>
        </p:spPr>
      </p:pic>
      <p:sp>
        <p:nvSpPr>
          <p:cNvPr id="13" name="Rectangle 12"/>
          <p:cNvSpPr/>
          <p:nvPr/>
        </p:nvSpPr>
        <p:spPr>
          <a:xfrm>
            <a:off x="4663440" y="3749039"/>
            <a:ext cx="1463040" cy="1097280"/>
          </a:xfrm>
          <a:prstGeom prst="rect">
            <a:avLst/>
          </a:prstGeom>
          <a:solidFill>
            <a:srgbClr val="FFFFFF"/>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475488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5" name="Picture 14" descr="grafana.png"/>
          <p:cNvPicPr>
            <a:picLocks noChangeAspect="1"/>
          </p:cNvPicPr>
          <p:nvPr/>
        </p:nvPicPr>
        <p:blipFill>
          <a:blip r:embed="rId4"/>
          <a:stretch>
            <a:fillRect/>
          </a:stretch>
        </p:blipFill>
        <p:spPr>
          <a:xfrm>
            <a:off x="5022156" y="3909059"/>
            <a:ext cx="745608" cy="777240"/>
          </a:xfrm>
          <a:prstGeom prst="rect">
            <a:avLst/>
          </a:prstGeom>
        </p:spPr>
      </p:pic>
      <p:sp>
        <p:nvSpPr>
          <p:cNvPr id="16" name="Rectangle 15"/>
          <p:cNvSpPr/>
          <p:nvPr/>
        </p:nvSpPr>
        <p:spPr>
          <a:xfrm>
            <a:off x="6309360" y="3749039"/>
            <a:ext cx="1463040" cy="1097280"/>
          </a:xfrm>
          <a:prstGeom prst="rect">
            <a:avLst/>
          </a:prstGeom>
          <a:solidFill>
            <a:srgbClr val="FFFFFF"/>
          </a:solidFill>
          <a:ln w="12700">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400800" y="3840479"/>
            <a:ext cx="1280160" cy="9144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18" name="Picture 17" descr="postgres.png"/>
          <p:cNvPicPr>
            <a:picLocks noChangeAspect="1"/>
          </p:cNvPicPr>
          <p:nvPr/>
        </p:nvPicPr>
        <p:blipFill>
          <a:blip r:embed="rId5"/>
          <a:stretch>
            <a:fillRect/>
          </a:stretch>
        </p:blipFill>
        <p:spPr>
          <a:xfrm>
            <a:off x="6664796" y="3909059"/>
            <a:ext cx="752167" cy="777240"/>
          </a:xfrm>
          <a:prstGeom prst="rect">
            <a:avLst/>
          </a:prstGeom>
        </p:spPr>
      </p:pic>
    </p:spTree>
  </p:cSld>
  <p:clrMapOvr>
    <a:masterClrMapping/>
  </p:clrMapOvr>
</p:sld>
</file>

<file path=ppt/slides/slide6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4  · Deployment &amp; Ops</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The compose stack at a glance</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22 containers, one bridge network, one .env</a:t>
            </a:r>
          </a:p>
        </p:txBody>
      </p:sp>
      <p:sp>
        <p:nvSpPr>
          <p:cNvPr id="6" name="TextBox 5"/>
          <p:cNvSpPr txBox="1"/>
          <p:nvPr/>
        </p:nvSpPr>
        <p:spPr>
          <a:xfrm>
            <a:off x="274320" y="914400"/>
            <a:ext cx="5212080" cy="274320"/>
          </a:xfrm>
          <a:prstGeom prst="rect">
            <a:avLst/>
          </a:prstGeom>
          <a:noFill/>
        </p:spPr>
        <p:txBody>
          <a:bodyPr wrap="square" lIns="45720" rIns="45720" tIns="18288" bIns="18288">
            <a:spAutoFit/>
          </a:bodyPr>
          <a:lstStyle/>
          <a:p>
            <a:pPr algn="ctr"/>
            <a:r>
              <a:rPr sz="1200" b="1">
                <a:solidFill>
                  <a:srgbClr val="1F77B4"/>
                </a:solidFill>
              </a:rPr>
              <a:t>docker-compose stack (22 services)</a:t>
            </a:r>
          </a:p>
        </p:txBody>
      </p:sp>
      <p:sp>
        <p:nvSpPr>
          <p:cNvPr id="7" name="Rectangle 6"/>
          <p:cNvSpPr/>
          <p:nvPr/>
        </p:nvSpPr>
        <p:spPr>
          <a:xfrm>
            <a:off x="274320" y="1371600"/>
            <a:ext cx="914400" cy="457200"/>
          </a:xfrm>
          <a:prstGeom prst="rect">
            <a:avLst/>
          </a:prstGeom>
          <a:solidFill>
            <a:srgbClr val="2CA02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81328"/>
            <a:ext cx="914400" cy="274320"/>
          </a:xfrm>
          <a:prstGeom prst="rect">
            <a:avLst/>
          </a:prstGeom>
          <a:noFill/>
        </p:spPr>
        <p:txBody>
          <a:bodyPr wrap="square" lIns="45720" rIns="45720" tIns="18288" bIns="18288">
            <a:spAutoFit/>
          </a:bodyPr>
          <a:lstStyle/>
          <a:p>
            <a:pPr algn="ctr"/>
            <a:r>
              <a:rPr sz="1000" b="1">
                <a:solidFill>
                  <a:srgbClr val="FFFFFF"/>
                </a:solidFill>
              </a:rPr>
              <a:t>Streaming</a:t>
            </a:r>
          </a:p>
        </p:txBody>
      </p:sp>
      <p:sp>
        <p:nvSpPr>
          <p:cNvPr id="9" name="Rectangle 8"/>
          <p:cNvSpPr/>
          <p:nvPr/>
        </p:nvSpPr>
        <p:spPr>
          <a:xfrm>
            <a:off x="1234440" y="1371600"/>
            <a:ext cx="685800" cy="457200"/>
          </a:xfrm>
          <a:prstGeom prst="rect">
            <a:avLst/>
          </a:prstGeom>
          <a:solidFill>
            <a:srgbClr val="F1F5F9"/>
          </a:solidFill>
          <a:ln>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1234440" y="1490472"/>
            <a:ext cx="685800" cy="274320"/>
          </a:xfrm>
          <a:prstGeom prst="rect">
            <a:avLst/>
          </a:prstGeom>
          <a:noFill/>
        </p:spPr>
        <p:txBody>
          <a:bodyPr wrap="square" lIns="45720" rIns="45720" tIns="18288" bIns="18288">
            <a:spAutoFit/>
          </a:bodyPr>
          <a:lstStyle/>
          <a:p>
            <a:pPr algn="ctr"/>
            <a:r>
              <a:rPr sz="800" b="1">
                <a:solidFill>
                  <a:srgbClr val="0B2A4A"/>
                </a:solidFill>
              </a:rPr>
              <a:t>zookeeper</a:t>
            </a:r>
          </a:p>
        </p:txBody>
      </p:sp>
      <p:sp>
        <p:nvSpPr>
          <p:cNvPr id="11" name="Rectangle 10"/>
          <p:cNvSpPr/>
          <p:nvPr/>
        </p:nvSpPr>
        <p:spPr>
          <a:xfrm>
            <a:off x="1947672" y="1371600"/>
            <a:ext cx="685800" cy="457200"/>
          </a:xfrm>
          <a:prstGeom prst="rect">
            <a:avLst/>
          </a:prstGeom>
          <a:solidFill>
            <a:srgbClr val="F1F5F9"/>
          </a:solidFill>
          <a:ln>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1947672" y="1490472"/>
            <a:ext cx="685800" cy="274320"/>
          </a:xfrm>
          <a:prstGeom prst="rect">
            <a:avLst/>
          </a:prstGeom>
          <a:noFill/>
        </p:spPr>
        <p:txBody>
          <a:bodyPr wrap="square" lIns="45720" rIns="45720" tIns="18288" bIns="18288">
            <a:spAutoFit/>
          </a:bodyPr>
          <a:lstStyle/>
          <a:p>
            <a:pPr algn="ctr"/>
            <a:r>
              <a:rPr sz="800" b="1">
                <a:solidFill>
                  <a:srgbClr val="0B2A4A"/>
                </a:solidFill>
              </a:rPr>
              <a:t>kafka</a:t>
            </a:r>
          </a:p>
        </p:txBody>
      </p:sp>
      <p:sp>
        <p:nvSpPr>
          <p:cNvPr id="13" name="Rectangle 12"/>
          <p:cNvSpPr/>
          <p:nvPr/>
        </p:nvSpPr>
        <p:spPr>
          <a:xfrm>
            <a:off x="2660904" y="1371600"/>
            <a:ext cx="685800" cy="457200"/>
          </a:xfrm>
          <a:prstGeom prst="rect">
            <a:avLst/>
          </a:prstGeom>
          <a:solidFill>
            <a:srgbClr val="F1F5F9"/>
          </a:solidFill>
          <a:ln>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660904" y="1490472"/>
            <a:ext cx="685800" cy="274320"/>
          </a:xfrm>
          <a:prstGeom prst="rect">
            <a:avLst/>
          </a:prstGeom>
          <a:noFill/>
        </p:spPr>
        <p:txBody>
          <a:bodyPr wrap="square" lIns="45720" rIns="45720" tIns="18288" bIns="18288">
            <a:spAutoFit/>
          </a:bodyPr>
          <a:lstStyle/>
          <a:p>
            <a:pPr algn="ctr"/>
            <a:r>
              <a:rPr sz="800" b="1">
                <a:solidFill>
                  <a:srgbClr val="0B2A4A"/>
                </a:solidFill>
              </a:rPr>
              <a:t>schema-registry</a:t>
            </a:r>
          </a:p>
        </p:txBody>
      </p:sp>
      <p:sp>
        <p:nvSpPr>
          <p:cNvPr id="15" name="Rectangle 14"/>
          <p:cNvSpPr/>
          <p:nvPr/>
        </p:nvSpPr>
        <p:spPr>
          <a:xfrm>
            <a:off x="3374136" y="1371600"/>
            <a:ext cx="685800" cy="457200"/>
          </a:xfrm>
          <a:prstGeom prst="rect">
            <a:avLst/>
          </a:prstGeom>
          <a:solidFill>
            <a:srgbClr val="F1F5F9"/>
          </a:solidFill>
          <a:ln>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3374136" y="1490472"/>
            <a:ext cx="685800" cy="274320"/>
          </a:xfrm>
          <a:prstGeom prst="rect">
            <a:avLst/>
          </a:prstGeom>
          <a:noFill/>
        </p:spPr>
        <p:txBody>
          <a:bodyPr wrap="square" lIns="45720" rIns="45720" tIns="18288" bIns="18288">
            <a:spAutoFit/>
          </a:bodyPr>
          <a:lstStyle/>
          <a:p>
            <a:pPr algn="ctr"/>
            <a:r>
              <a:rPr sz="800" b="1">
                <a:solidFill>
                  <a:srgbClr val="0B2A4A"/>
                </a:solidFill>
              </a:rPr>
              <a:t>connect</a:t>
            </a:r>
          </a:p>
        </p:txBody>
      </p:sp>
      <p:sp>
        <p:nvSpPr>
          <p:cNvPr id="17" name="Rectangle 16"/>
          <p:cNvSpPr/>
          <p:nvPr/>
        </p:nvSpPr>
        <p:spPr>
          <a:xfrm>
            <a:off x="4087368" y="1371600"/>
            <a:ext cx="685800" cy="457200"/>
          </a:xfrm>
          <a:prstGeom prst="rect">
            <a:avLst/>
          </a:prstGeom>
          <a:solidFill>
            <a:srgbClr val="F1F5F9"/>
          </a:solidFill>
          <a:ln>
            <a:solidFill>
              <a:srgbClr val="2CA02C"/>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087368" y="1490472"/>
            <a:ext cx="685800" cy="274320"/>
          </a:xfrm>
          <a:prstGeom prst="rect">
            <a:avLst/>
          </a:prstGeom>
          <a:noFill/>
        </p:spPr>
        <p:txBody>
          <a:bodyPr wrap="square" lIns="45720" rIns="45720" tIns="18288" bIns="18288">
            <a:spAutoFit/>
          </a:bodyPr>
          <a:lstStyle/>
          <a:p>
            <a:pPr algn="ctr"/>
            <a:r>
              <a:rPr sz="800" b="1">
                <a:solidFill>
                  <a:srgbClr val="0B2A4A"/>
                </a:solidFill>
              </a:rPr>
              <a:t>kafka-ui</a:t>
            </a:r>
          </a:p>
        </p:txBody>
      </p:sp>
      <p:sp>
        <p:nvSpPr>
          <p:cNvPr id="19" name="Rectangle 18"/>
          <p:cNvSpPr/>
          <p:nvPr/>
        </p:nvSpPr>
        <p:spPr>
          <a:xfrm>
            <a:off x="274320" y="1920240"/>
            <a:ext cx="914400" cy="4572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2029968"/>
            <a:ext cx="914400" cy="274320"/>
          </a:xfrm>
          <a:prstGeom prst="rect">
            <a:avLst/>
          </a:prstGeom>
          <a:noFill/>
        </p:spPr>
        <p:txBody>
          <a:bodyPr wrap="square" lIns="45720" rIns="45720" tIns="18288" bIns="18288">
            <a:spAutoFit/>
          </a:bodyPr>
          <a:lstStyle/>
          <a:p>
            <a:pPr algn="ctr"/>
            <a:r>
              <a:rPr sz="1000" b="1">
                <a:solidFill>
                  <a:srgbClr val="FFFFFF"/>
                </a:solidFill>
              </a:rPr>
              <a:t>Sources</a:t>
            </a:r>
          </a:p>
        </p:txBody>
      </p:sp>
      <p:sp>
        <p:nvSpPr>
          <p:cNvPr id="21" name="Rectangle 20"/>
          <p:cNvSpPr/>
          <p:nvPr/>
        </p:nvSpPr>
        <p:spPr>
          <a:xfrm>
            <a:off x="1234440" y="1920240"/>
            <a:ext cx="685800" cy="45720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1234440" y="2039112"/>
            <a:ext cx="685800" cy="274320"/>
          </a:xfrm>
          <a:prstGeom prst="rect">
            <a:avLst/>
          </a:prstGeom>
          <a:noFill/>
        </p:spPr>
        <p:txBody>
          <a:bodyPr wrap="square" lIns="45720" rIns="45720" tIns="18288" bIns="18288">
            <a:spAutoFit/>
          </a:bodyPr>
          <a:lstStyle/>
          <a:p>
            <a:pPr algn="ctr"/>
            <a:r>
              <a:rPr sz="800" b="1">
                <a:solidFill>
                  <a:srgbClr val="0B2A4A"/>
                </a:solidFill>
              </a:rPr>
              <a:t>config-db</a:t>
            </a:r>
          </a:p>
        </p:txBody>
      </p:sp>
      <p:sp>
        <p:nvSpPr>
          <p:cNvPr id="23" name="Rectangle 22"/>
          <p:cNvSpPr/>
          <p:nvPr/>
        </p:nvSpPr>
        <p:spPr>
          <a:xfrm>
            <a:off x="1947672" y="1920240"/>
            <a:ext cx="685800" cy="45720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947672" y="2039112"/>
            <a:ext cx="685800" cy="274320"/>
          </a:xfrm>
          <a:prstGeom prst="rect">
            <a:avLst/>
          </a:prstGeom>
          <a:noFill/>
        </p:spPr>
        <p:txBody>
          <a:bodyPr wrap="square" lIns="45720" rIns="45720" tIns="18288" bIns="18288">
            <a:spAutoFit/>
          </a:bodyPr>
          <a:lstStyle/>
          <a:p>
            <a:pPr algn="ctr"/>
            <a:r>
              <a:rPr sz="800" b="1">
                <a:solidFill>
                  <a:srgbClr val="0B2A4A"/>
                </a:solidFill>
              </a:rPr>
              <a:t>pg-exp</a:t>
            </a:r>
          </a:p>
        </p:txBody>
      </p:sp>
      <p:sp>
        <p:nvSpPr>
          <p:cNvPr id="25" name="Rectangle 24"/>
          <p:cNvSpPr/>
          <p:nvPr/>
        </p:nvSpPr>
        <p:spPr>
          <a:xfrm>
            <a:off x="2660904" y="1920240"/>
            <a:ext cx="685800" cy="45720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660904" y="2039112"/>
            <a:ext cx="685800" cy="274320"/>
          </a:xfrm>
          <a:prstGeom prst="rect">
            <a:avLst/>
          </a:prstGeom>
          <a:noFill/>
        </p:spPr>
        <p:txBody>
          <a:bodyPr wrap="square" lIns="45720" rIns="45720" tIns="18288" bIns="18288">
            <a:spAutoFit/>
          </a:bodyPr>
          <a:lstStyle/>
          <a:p>
            <a:pPr algn="ctr"/>
            <a:r>
              <a:rPr sz="800" b="1">
                <a:solidFill>
                  <a:srgbClr val="0B2A4A"/>
                </a:solidFill>
              </a:rPr>
              <a:t>app</a:t>
            </a:r>
          </a:p>
        </p:txBody>
      </p:sp>
      <p:sp>
        <p:nvSpPr>
          <p:cNvPr id="27" name="Rectangle 26"/>
          <p:cNvSpPr/>
          <p:nvPr/>
        </p:nvSpPr>
        <p:spPr>
          <a:xfrm>
            <a:off x="3374136" y="1920240"/>
            <a:ext cx="685800" cy="45720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3374136" y="2039112"/>
            <a:ext cx="685800" cy="274320"/>
          </a:xfrm>
          <a:prstGeom prst="rect">
            <a:avLst/>
          </a:prstGeom>
          <a:noFill/>
        </p:spPr>
        <p:txBody>
          <a:bodyPr wrap="square" lIns="45720" rIns="45720" tIns="18288" bIns="18288">
            <a:spAutoFit/>
          </a:bodyPr>
          <a:lstStyle/>
          <a:p>
            <a:pPr algn="ctr"/>
            <a:r>
              <a:rPr sz="800" b="1">
                <a:solidFill>
                  <a:srgbClr val="0B2A4A"/>
                </a:solidFill>
              </a:rPr>
              <a:t>ogn</a:t>
            </a:r>
          </a:p>
        </p:txBody>
      </p:sp>
      <p:sp>
        <p:nvSpPr>
          <p:cNvPr id="29" name="Rectangle 28"/>
          <p:cNvSpPr/>
          <p:nvPr/>
        </p:nvSpPr>
        <p:spPr>
          <a:xfrm>
            <a:off x="4087368" y="1920240"/>
            <a:ext cx="685800" cy="45720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4087368" y="2039112"/>
            <a:ext cx="685800" cy="274320"/>
          </a:xfrm>
          <a:prstGeom prst="rect">
            <a:avLst/>
          </a:prstGeom>
          <a:noFill/>
        </p:spPr>
        <p:txBody>
          <a:bodyPr wrap="square" lIns="45720" rIns="45720" tIns="18288" bIns="18288">
            <a:spAutoFit/>
          </a:bodyPr>
          <a:lstStyle/>
          <a:p>
            <a:pPr algn="ctr"/>
            <a:r>
              <a:rPr sz="800" b="1">
                <a:solidFill>
                  <a:srgbClr val="0B2A4A"/>
                </a:solidFill>
              </a:rPr>
              <a:t>noaa</a:t>
            </a:r>
          </a:p>
        </p:txBody>
      </p:sp>
      <p:sp>
        <p:nvSpPr>
          <p:cNvPr id="31" name="Rectangle 30"/>
          <p:cNvSpPr/>
          <p:nvPr/>
        </p:nvSpPr>
        <p:spPr>
          <a:xfrm>
            <a:off x="4800600" y="1920240"/>
            <a:ext cx="685800" cy="45720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4800600" y="2039112"/>
            <a:ext cx="685800" cy="274320"/>
          </a:xfrm>
          <a:prstGeom prst="rect">
            <a:avLst/>
          </a:prstGeom>
          <a:noFill/>
        </p:spPr>
        <p:txBody>
          <a:bodyPr wrap="square" lIns="45720" rIns="45720" tIns="18288" bIns="18288">
            <a:spAutoFit/>
          </a:bodyPr>
          <a:lstStyle/>
          <a:p>
            <a:pPr algn="ctr"/>
            <a:r>
              <a:rPr sz="800" b="1">
                <a:solidFill>
                  <a:srgbClr val="0B2A4A"/>
                </a:solidFill>
              </a:rPr>
              <a:t>seismic</a:t>
            </a:r>
          </a:p>
        </p:txBody>
      </p:sp>
      <p:sp>
        <p:nvSpPr>
          <p:cNvPr id="33" name="Rectangle 32"/>
          <p:cNvSpPr/>
          <p:nvPr/>
        </p:nvSpPr>
        <p:spPr>
          <a:xfrm>
            <a:off x="274320" y="2468880"/>
            <a:ext cx="914400" cy="457200"/>
          </a:xfrm>
          <a:prstGeom prst="rect">
            <a:avLst/>
          </a:prstGeom>
          <a:solidFill>
            <a:srgbClr val="E88B1E"/>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274320" y="2578608"/>
            <a:ext cx="914400" cy="274320"/>
          </a:xfrm>
          <a:prstGeom prst="rect">
            <a:avLst/>
          </a:prstGeom>
          <a:noFill/>
        </p:spPr>
        <p:txBody>
          <a:bodyPr wrap="square" lIns="45720" rIns="45720" tIns="18288" bIns="18288">
            <a:spAutoFit/>
          </a:bodyPr>
          <a:lstStyle/>
          <a:p>
            <a:pPr algn="ctr"/>
            <a:r>
              <a:rPr sz="1000" b="1">
                <a:solidFill>
                  <a:srgbClr val="FFFFFF"/>
                </a:solidFill>
              </a:rPr>
              <a:t>Storage</a:t>
            </a:r>
          </a:p>
        </p:txBody>
      </p:sp>
      <p:sp>
        <p:nvSpPr>
          <p:cNvPr id="35" name="Rectangle 34"/>
          <p:cNvSpPr/>
          <p:nvPr/>
        </p:nvSpPr>
        <p:spPr>
          <a:xfrm>
            <a:off x="1234440" y="2468880"/>
            <a:ext cx="685800" cy="457200"/>
          </a:xfrm>
          <a:prstGeom prst="rect">
            <a:avLst/>
          </a:prstGeom>
          <a:solidFill>
            <a:srgbClr val="F1F5F9"/>
          </a:solidFill>
          <a:ln>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1234440" y="2587752"/>
            <a:ext cx="685800" cy="274320"/>
          </a:xfrm>
          <a:prstGeom prst="rect">
            <a:avLst/>
          </a:prstGeom>
          <a:noFill/>
        </p:spPr>
        <p:txBody>
          <a:bodyPr wrap="square" lIns="45720" rIns="45720" tIns="18288" bIns="18288">
            <a:spAutoFit/>
          </a:bodyPr>
          <a:lstStyle/>
          <a:p>
            <a:pPr algn="ctr"/>
            <a:r>
              <a:rPr sz="800" b="1">
                <a:solidFill>
                  <a:srgbClr val="0B2A4A"/>
                </a:solidFill>
              </a:rPr>
              <a:t>minio</a:t>
            </a:r>
          </a:p>
        </p:txBody>
      </p:sp>
      <p:sp>
        <p:nvSpPr>
          <p:cNvPr id="37" name="Rectangle 36"/>
          <p:cNvSpPr/>
          <p:nvPr/>
        </p:nvSpPr>
        <p:spPr>
          <a:xfrm>
            <a:off x="274320" y="3017520"/>
            <a:ext cx="914400" cy="4572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274320" y="3127248"/>
            <a:ext cx="914400" cy="274320"/>
          </a:xfrm>
          <a:prstGeom prst="rect">
            <a:avLst/>
          </a:prstGeom>
          <a:noFill/>
        </p:spPr>
        <p:txBody>
          <a:bodyPr wrap="square" lIns="45720" rIns="45720" tIns="18288" bIns="18288">
            <a:spAutoFit/>
          </a:bodyPr>
          <a:lstStyle/>
          <a:p>
            <a:pPr algn="ctr"/>
            <a:r>
              <a:rPr sz="1000" b="1">
                <a:solidFill>
                  <a:srgbClr val="FFFFFF"/>
                </a:solidFill>
              </a:rPr>
              <a:t>Compute</a:t>
            </a:r>
          </a:p>
        </p:txBody>
      </p:sp>
      <p:sp>
        <p:nvSpPr>
          <p:cNvPr id="39" name="Rectangle 38"/>
          <p:cNvSpPr/>
          <p:nvPr/>
        </p:nvSpPr>
        <p:spPr>
          <a:xfrm>
            <a:off x="1234440" y="3017520"/>
            <a:ext cx="685800" cy="457200"/>
          </a:xfrm>
          <a:prstGeom prst="rect">
            <a:avLst/>
          </a:prstGeom>
          <a:solidFill>
            <a:srgbClr val="F1F5F9"/>
          </a:solidFill>
          <a:ln>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234440" y="3136392"/>
            <a:ext cx="685800" cy="274320"/>
          </a:xfrm>
          <a:prstGeom prst="rect">
            <a:avLst/>
          </a:prstGeom>
          <a:noFill/>
        </p:spPr>
        <p:txBody>
          <a:bodyPr wrap="square" lIns="45720" rIns="45720" tIns="18288" bIns="18288">
            <a:spAutoFit/>
          </a:bodyPr>
          <a:lstStyle/>
          <a:p>
            <a:pPr algn="ctr"/>
            <a:r>
              <a:rPr sz="800" b="1">
                <a:solidFill>
                  <a:srgbClr val="0B2A4A"/>
                </a:solidFill>
              </a:rPr>
              <a:t>hop</a:t>
            </a:r>
          </a:p>
        </p:txBody>
      </p:sp>
      <p:sp>
        <p:nvSpPr>
          <p:cNvPr id="41" name="Rectangle 40"/>
          <p:cNvSpPr/>
          <p:nvPr/>
        </p:nvSpPr>
        <p:spPr>
          <a:xfrm>
            <a:off x="1947672" y="3017520"/>
            <a:ext cx="685800" cy="457200"/>
          </a:xfrm>
          <a:prstGeom prst="rect">
            <a:avLst/>
          </a:prstGeom>
          <a:solidFill>
            <a:srgbClr val="F1F5F9"/>
          </a:solidFill>
          <a:ln>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947672" y="3136392"/>
            <a:ext cx="685800" cy="274320"/>
          </a:xfrm>
          <a:prstGeom prst="rect">
            <a:avLst/>
          </a:prstGeom>
          <a:noFill/>
        </p:spPr>
        <p:txBody>
          <a:bodyPr wrap="square" lIns="45720" rIns="45720" tIns="18288" bIns="18288">
            <a:spAutoFit/>
          </a:bodyPr>
          <a:lstStyle/>
          <a:p>
            <a:pPr algn="ctr"/>
            <a:r>
              <a:rPr sz="800" b="1">
                <a:solidFill>
                  <a:srgbClr val="0B2A4A"/>
                </a:solidFill>
              </a:rPr>
              <a:t>airflow-db</a:t>
            </a:r>
          </a:p>
        </p:txBody>
      </p:sp>
      <p:sp>
        <p:nvSpPr>
          <p:cNvPr id="43" name="Rectangle 42"/>
          <p:cNvSpPr/>
          <p:nvPr/>
        </p:nvSpPr>
        <p:spPr>
          <a:xfrm>
            <a:off x="2660904" y="3017520"/>
            <a:ext cx="685800" cy="457200"/>
          </a:xfrm>
          <a:prstGeom prst="rect">
            <a:avLst/>
          </a:prstGeom>
          <a:solidFill>
            <a:srgbClr val="F1F5F9"/>
          </a:solidFill>
          <a:ln>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2660904" y="3136392"/>
            <a:ext cx="685800" cy="274320"/>
          </a:xfrm>
          <a:prstGeom prst="rect">
            <a:avLst/>
          </a:prstGeom>
          <a:noFill/>
        </p:spPr>
        <p:txBody>
          <a:bodyPr wrap="square" lIns="45720" rIns="45720" tIns="18288" bIns="18288">
            <a:spAutoFit/>
          </a:bodyPr>
          <a:lstStyle/>
          <a:p>
            <a:pPr algn="ctr"/>
            <a:r>
              <a:rPr sz="800" b="1">
                <a:solidFill>
                  <a:srgbClr val="0B2A4A"/>
                </a:solidFill>
              </a:rPr>
              <a:t>airflow-init</a:t>
            </a:r>
          </a:p>
        </p:txBody>
      </p:sp>
      <p:sp>
        <p:nvSpPr>
          <p:cNvPr id="45" name="Rectangle 44"/>
          <p:cNvSpPr/>
          <p:nvPr/>
        </p:nvSpPr>
        <p:spPr>
          <a:xfrm>
            <a:off x="3374136" y="3017520"/>
            <a:ext cx="685800" cy="457200"/>
          </a:xfrm>
          <a:prstGeom prst="rect">
            <a:avLst/>
          </a:prstGeom>
          <a:solidFill>
            <a:srgbClr val="F1F5F9"/>
          </a:solidFill>
          <a:ln>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3374136" y="3136392"/>
            <a:ext cx="685800" cy="274320"/>
          </a:xfrm>
          <a:prstGeom prst="rect">
            <a:avLst/>
          </a:prstGeom>
          <a:noFill/>
        </p:spPr>
        <p:txBody>
          <a:bodyPr wrap="square" lIns="45720" rIns="45720" tIns="18288" bIns="18288">
            <a:spAutoFit/>
          </a:bodyPr>
          <a:lstStyle/>
          <a:p>
            <a:pPr algn="ctr"/>
            <a:r>
              <a:rPr sz="800" b="1">
                <a:solidFill>
                  <a:srgbClr val="0B2A4A"/>
                </a:solidFill>
              </a:rPr>
              <a:t>airflow-web</a:t>
            </a:r>
          </a:p>
        </p:txBody>
      </p:sp>
      <p:sp>
        <p:nvSpPr>
          <p:cNvPr id="47" name="Rectangle 46"/>
          <p:cNvSpPr/>
          <p:nvPr/>
        </p:nvSpPr>
        <p:spPr>
          <a:xfrm>
            <a:off x="4087368" y="3017520"/>
            <a:ext cx="685800" cy="457200"/>
          </a:xfrm>
          <a:prstGeom prst="rect">
            <a:avLst/>
          </a:prstGeom>
          <a:solidFill>
            <a:srgbClr val="F1F5F9"/>
          </a:solidFill>
          <a:ln>
            <a:solidFill>
              <a:srgbClr val="C0392B"/>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4087368" y="3136392"/>
            <a:ext cx="685800" cy="274320"/>
          </a:xfrm>
          <a:prstGeom prst="rect">
            <a:avLst/>
          </a:prstGeom>
          <a:noFill/>
        </p:spPr>
        <p:txBody>
          <a:bodyPr wrap="square" lIns="45720" rIns="45720" tIns="18288" bIns="18288">
            <a:spAutoFit/>
          </a:bodyPr>
          <a:lstStyle/>
          <a:p>
            <a:pPr algn="ctr"/>
            <a:r>
              <a:rPr sz="800" b="1">
                <a:solidFill>
                  <a:srgbClr val="0B2A4A"/>
                </a:solidFill>
              </a:rPr>
              <a:t>airflow-sched</a:t>
            </a:r>
          </a:p>
        </p:txBody>
      </p:sp>
      <p:sp>
        <p:nvSpPr>
          <p:cNvPr id="49" name="Rectangle 48"/>
          <p:cNvSpPr/>
          <p:nvPr/>
        </p:nvSpPr>
        <p:spPr>
          <a:xfrm>
            <a:off x="274320" y="3566160"/>
            <a:ext cx="914400" cy="457200"/>
          </a:xfrm>
          <a:prstGeom prst="rect">
            <a:avLst/>
          </a:prstGeom>
          <a:solidFill>
            <a:srgbClr val="1F77B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274320" y="3675888"/>
            <a:ext cx="914400" cy="274320"/>
          </a:xfrm>
          <a:prstGeom prst="rect">
            <a:avLst/>
          </a:prstGeom>
          <a:noFill/>
        </p:spPr>
        <p:txBody>
          <a:bodyPr wrap="square" lIns="45720" rIns="45720" tIns="18288" bIns="18288">
            <a:spAutoFit/>
          </a:bodyPr>
          <a:lstStyle/>
          <a:p>
            <a:pPr algn="ctr"/>
            <a:r>
              <a:rPr sz="1000" b="1">
                <a:solidFill>
                  <a:srgbClr val="FFFFFF"/>
                </a:solidFill>
              </a:rPr>
              <a:t>Dashboards</a:t>
            </a:r>
          </a:p>
        </p:txBody>
      </p:sp>
      <p:sp>
        <p:nvSpPr>
          <p:cNvPr id="51" name="Rectangle 50"/>
          <p:cNvSpPr/>
          <p:nvPr/>
        </p:nvSpPr>
        <p:spPr>
          <a:xfrm>
            <a:off x="1234440" y="3566160"/>
            <a:ext cx="685800" cy="45720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1234440" y="3685032"/>
            <a:ext cx="685800" cy="274320"/>
          </a:xfrm>
          <a:prstGeom prst="rect">
            <a:avLst/>
          </a:prstGeom>
          <a:noFill/>
        </p:spPr>
        <p:txBody>
          <a:bodyPr wrap="square" lIns="45720" rIns="45720" tIns="18288" bIns="18288">
            <a:spAutoFit/>
          </a:bodyPr>
          <a:lstStyle/>
          <a:p>
            <a:pPr algn="ctr"/>
            <a:r>
              <a:rPr sz="800" b="1">
                <a:solidFill>
                  <a:srgbClr val="0B2A4A"/>
                </a:solidFill>
              </a:rPr>
              <a:t>quality</a:t>
            </a:r>
          </a:p>
        </p:txBody>
      </p:sp>
      <p:sp>
        <p:nvSpPr>
          <p:cNvPr id="53" name="Rectangle 52"/>
          <p:cNvSpPr/>
          <p:nvPr/>
        </p:nvSpPr>
        <p:spPr>
          <a:xfrm>
            <a:off x="1947672" y="3566160"/>
            <a:ext cx="685800" cy="45720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1947672" y="3685032"/>
            <a:ext cx="685800" cy="274320"/>
          </a:xfrm>
          <a:prstGeom prst="rect">
            <a:avLst/>
          </a:prstGeom>
          <a:noFill/>
        </p:spPr>
        <p:txBody>
          <a:bodyPr wrap="square" lIns="45720" rIns="45720" tIns="18288" bIns="18288">
            <a:spAutoFit/>
          </a:bodyPr>
          <a:lstStyle/>
          <a:p>
            <a:pPr algn="ctr"/>
            <a:r>
              <a:rPr sz="800" b="1">
                <a:solidFill>
                  <a:srgbClr val="0B2A4A"/>
                </a:solidFill>
              </a:rPr>
              <a:t>business</a:t>
            </a:r>
          </a:p>
        </p:txBody>
      </p:sp>
      <p:sp>
        <p:nvSpPr>
          <p:cNvPr id="55" name="Rectangle 54"/>
          <p:cNvSpPr/>
          <p:nvPr/>
        </p:nvSpPr>
        <p:spPr>
          <a:xfrm>
            <a:off x="2660904" y="3566160"/>
            <a:ext cx="685800" cy="45720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2660904" y="3685032"/>
            <a:ext cx="685800" cy="274320"/>
          </a:xfrm>
          <a:prstGeom prst="rect">
            <a:avLst/>
          </a:prstGeom>
          <a:noFill/>
        </p:spPr>
        <p:txBody>
          <a:bodyPr wrap="square" lIns="45720" rIns="45720" tIns="18288" bIns="18288">
            <a:spAutoFit/>
          </a:bodyPr>
          <a:lstStyle/>
          <a:p>
            <a:pPr algn="ctr"/>
            <a:r>
              <a:rPr sz="800" b="1">
                <a:solidFill>
                  <a:srgbClr val="0B2A4A"/>
                </a:solidFill>
              </a:rPr>
              <a:t>live-map</a:t>
            </a:r>
          </a:p>
        </p:txBody>
      </p:sp>
      <p:sp>
        <p:nvSpPr>
          <p:cNvPr id="57" name="Rectangle 56"/>
          <p:cNvSpPr/>
          <p:nvPr/>
        </p:nvSpPr>
        <p:spPr>
          <a:xfrm>
            <a:off x="274320" y="4114800"/>
            <a:ext cx="914400" cy="457200"/>
          </a:xfrm>
          <a:prstGeom prst="rect">
            <a:avLst/>
          </a:prstGeom>
          <a:solidFill>
            <a:srgbClr val="55555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274320" y="4224528"/>
            <a:ext cx="914400" cy="274320"/>
          </a:xfrm>
          <a:prstGeom prst="rect">
            <a:avLst/>
          </a:prstGeom>
          <a:noFill/>
        </p:spPr>
        <p:txBody>
          <a:bodyPr wrap="square" lIns="45720" rIns="45720" tIns="18288" bIns="18288">
            <a:spAutoFit/>
          </a:bodyPr>
          <a:lstStyle/>
          <a:p>
            <a:pPr algn="ctr"/>
            <a:r>
              <a:rPr sz="1000" b="1">
                <a:solidFill>
                  <a:srgbClr val="FFFFFF"/>
                </a:solidFill>
              </a:rPr>
              <a:t>Observ.</a:t>
            </a:r>
          </a:p>
        </p:txBody>
      </p:sp>
      <p:sp>
        <p:nvSpPr>
          <p:cNvPr id="59" name="Rectangle 58"/>
          <p:cNvSpPr/>
          <p:nvPr/>
        </p:nvSpPr>
        <p:spPr>
          <a:xfrm>
            <a:off x="1234440" y="4114800"/>
            <a:ext cx="685800" cy="457200"/>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234440" y="4233672"/>
            <a:ext cx="685800" cy="274320"/>
          </a:xfrm>
          <a:prstGeom prst="rect">
            <a:avLst/>
          </a:prstGeom>
          <a:noFill/>
        </p:spPr>
        <p:txBody>
          <a:bodyPr wrap="square" lIns="45720" rIns="45720" tIns="18288" bIns="18288">
            <a:spAutoFit/>
          </a:bodyPr>
          <a:lstStyle/>
          <a:p>
            <a:pPr algn="ctr"/>
            <a:r>
              <a:rPr sz="800" b="1">
                <a:solidFill>
                  <a:srgbClr val="0B2A4A"/>
                </a:solidFill>
              </a:rPr>
              <a:t>prometheus</a:t>
            </a:r>
          </a:p>
        </p:txBody>
      </p:sp>
      <p:sp>
        <p:nvSpPr>
          <p:cNvPr id="61" name="Rectangle 60"/>
          <p:cNvSpPr/>
          <p:nvPr/>
        </p:nvSpPr>
        <p:spPr>
          <a:xfrm>
            <a:off x="1947672" y="4114800"/>
            <a:ext cx="685800" cy="457200"/>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1947672" y="4233672"/>
            <a:ext cx="685800" cy="274320"/>
          </a:xfrm>
          <a:prstGeom prst="rect">
            <a:avLst/>
          </a:prstGeom>
          <a:noFill/>
        </p:spPr>
        <p:txBody>
          <a:bodyPr wrap="square" lIns="45720" rIns="45720" tIns="18288" bIns="18288">
            <a:spAutoFit/>
          </a:bodyPr>
          <a:lstStyle/>
          <a:p>
            <a:pPr algn="ctr"/>
            <a:r>
              <a:rPr sz="800" b="1">
                <a:solidFill>
                  <a:srgbClr val="0B2A4A"/>
                </a:solidFill>
              </a:rPr>
              <a:t>alertmanager</a:t>
            </a:r>
          </a:p>
        </p:txBody>
      </p:sp>
      <p:sp>
        <p:nvSpPr>
          <p:cNvPr id="63" name="Rectangle 62"/>
          <p:cNvSpPr/>
          <p:nvPr/>
        </p:nvSpPr>
        <p:spPr>
          <a:xfrm>
            <a:off x="2660904" y="4114800"/>
            <a:ext cx="685800" cy="457200"/>
          </a:xfrm>
          <a:prstGeom prst="rect">
            <a:avLst/>
          </a:prstGeom>
          <a:solidFill>
            <a:srgbClr val="F1F5F9"/>
          </a:solidFill>
          <a:ln>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2660904" y="4233672"/>
            <a:ext cx="685800" cy="274320"/>
          </a:xfrm>
          <a:prstGeom prst="rect">
            <a:avLst/>
          </a:prstGeom>
          <a:noFill/>
        </p:spPr>
        <p:txBody>
          <a:bodyPr wrap="square" lIns="45720" rIns="45720" tIns="18288" bIns="18288">
            <a:spAutoFit/>
          </a:bodyPr>
          <a:lstStyle/>
          <a:p>
            <a:pPr algn="ctr"/>
            <a:r>
              <a:rPr sz="800" b="1">
                <a:solidFill>
                  <a:srgbClr val="0B2A4A"/>
                </a:solidFill>
              </a:rPr>
              <a:t>grafana</a:t>
            </a:r>
          </a:p>
        </p:txBody>
      </p:sp>
      <p:sp>
        <p:nvSpPr>
          <p:cNvPr id="65" name="Rectangle 64"/>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67" name="TextBox 66"/>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Apartment block</a:t>
            </a:r>
          </a:p>
        </p:txBody>
      </p:sp>
      <p:sp>
        <p:nvSpPr>
          <p:cNvPr id="68" name="TextBox 67"/>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Each container is an apartment. Compose is the building, the .env is the rulebook every apartment shares, the bridge network is the hallway. You move out one tenant without disturbing the others.</a:t>
            </a:r>
          </a:p>
        </p:txBody>
      </p:sp>
      <p:sp>
        <p:nvSpPr>
          <p:cNvPr id="69" name="Rectangle 68"/>
          <p:cNvSpPr/>
          <p:nvPr/>
        </p:nvSpPr>
        <p:spPr>
          <a:xfrm>
            <a:off x="0" y="4914900"/>
            <a:ext cx="914400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2 / 10  ·  Module 4</a:t>
            </a:r>
          </a:p>
        </p:txBody>
      </p:sp>
    </p:spTree>
  </p:cSld>
  <p:clrMapOvr>
    <a:masterClrMapping/>
  </p:clrMapOvr>
</p:sld>
</file>

<file path=ppt/slides/slide6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4  · Deployment &amp; Ops</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bootstrap.ps1 walkthrough</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What `./bootstrap.ps1` actually does on first run vs re-run</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ker.png"/>
          <p:cNvPicPr>
            <a:picLocks noChangeAspect="1"/>
          </p:cNvPicPr>
          <p:nvPr/>
        </p:nvPicPr>
        <p:blipFill>
          <a:blip r:embed="rId2"/>
          <a:stretch>
            <a:fillRect/>
          </a:stretch>
        </p:blipFill>
        <p:spPr>
          <a:xfrm>
            <a:off x="342900" y="1692966"/>
            <a:ext cx="4983480" cy="1186068"/>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1. Ensure .env exists (copy from .env.example if not).</a:t>
            </a:r>
          </a:p>
          <a:p>
            <a:pPr>
              <a:spcAft>
                <a:spcPts val="400"/>
              </a:spcAft>
            </a:pPr>
            <a:r>
              <a:rPr sz="1100">
                <a:solidFill>
                  <a:srgbClr val="0B2A4A"/>
                </a:solidFill>
              </a:rPr>
              <a:t>•  2. Download Connect plugins + JMX agent (skip if present).</a:t>
            </a:r>
          </a:p>
          <a:p>
            <a:pPr>
              <a:spcAft>
                <a:spcPts val="400"/>
              </a:spcAft>
            </a:pPr>
            <a:r>
              <a:rPr sz="1100">
                <a:solidFill>
                  <a:srgbClr val="0B2A4A"/>
                </a:solidFill>
              </a:rPr>
              <a:t>•  3. Build local app-base image, then compose pull, then compose up -d.</a:t>
            </a:r>
          </a:p>
          <a:p>
            <a:pPr>
              <a:spcAft>
                <a:spcPts val="400"/>
              </a:spcAft>
            </a:pPr>
            <a:r>
              <a:rPr sz="1100">
                <a:solidFill>
                  <a:srgbClr val="0B2A4A"/>
                </a:solidFill>
              </a:rPr>
              <a:t>•  4. Wait-Http on minio / schema-registry / connect / airflow.</a:t>
            </a:r>
          </a:p>
          <a:p>
            <a:pPr>
              <a:spcAft>
                <a:spcPts val="400"/>
              </a:spcAft>
            </a:pPr>
            <a:r>
              <a:rPr sz="1100">
                <a:solidFill>
                  <a:srgbClr val="0B2A4A"/>
                </a:solidFill>
              </a:rPr>
              <a:t>•  5. Create MinIO buckets, register Avro schemas, register all connectors.</a:t>
            </a:r>
          </a:p>
          <a:p>
            <a:pPr>
              <a:spcAft>
                <a:spcPts val="400"/>
              </a:spcAft>
            </a:pPr>
            <a:r>
              <a:rPr sz="1100">
                <a:solidFill>
                  <a:srgbClr val="0B2A4A"/>
                </a:solidFill>
              </a:rPr>
              <a:t>•  6. Unpause the 4 continuous DAGs and print the URL cheat-sheet.</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Recipe with checkpoints</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Like a recipe that says 'if dough is already proven, skip step 4.' Idempotent bootstrap = safe to re-run after any failure; only the missing steps execute.</a:t>
            </a:r>
          </a:p>
        </p:txBody>
      </p:sp>
      <p:sp>
        <p:nvSpPr>
          <p:cNvPr id="13" name="Rectangle 12"/>
          <p:cNvSpPr/>
          <p:nvPr/>
        </p:nvSpPr>
        <p:spPr>
          <a:xfrm>
            <a:off x="0" y="4914900"/>
            <a:ext cx="914400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3 / 10  ·  Module 4</a:t>
            </a:r>
          </a:p>
        </p:txBody>
      </p:sp>
    </p:spTree>
  </p:cSld>
  <p:clrMapOvr>
    <a:masterClrMapping/>
  </p:clrMapOvr>
</p:sld>
</file>

<file path=ppt/slides/slide6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4  · Deployment &amp; Ops</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Image strategy: pin, build, pull — in that order</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Why the 'pull access denied for day10-app' warning is harmless</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ker.png"/>
          <p:cNvPicPr>
            <a:picLocks noChangeAspect="1"/>
          </p:cNvPicPr>
          <p:nvPr/>
        </p:nvPicPr>
        <p:blipFill>
          <a:blip r:embed="rId2"/>
          <a:stretch>
            <a:fillRect/>
          </a:stretch>
        </p:blipFill>
        <p:spPr>
          <a:xfrm>
            <a:off x="342900" y="1692966"/>
            <a:ext cx="4983480" cy="1186068"/>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Pin every external image (Kafka 7.5.0, Debezium 2.5.4.Final, Postgres 15).</a:t>
            </a:r>
          </a:p>
          <a:p>
            <a:pPr>
              <a:spcAft>
                <a:spcPts val="400"/>
              </a:spcAft>
            </a:pPr>
            <a:r>
              <a:rPr sz="1100">
                <a:solidFill>
                  <a:srgbClr val="0B2A4A"/>
                </a:solidFill>
              </a:rPr>
              <a:t>•  `compose build app-base` first — locally-built image now in the cache.</a:t>
            </a:r>
          </a:p>
          <a:p>
            <a:pPr>
              <a:spcAft>
                <a:spcPts val="400"/>
              </a:spcAft>
            </a:pPr>
            <a:r>
              <a:rPr sz="1100">
                <a:solidFill>
                  <a:srgbClr val="0B2A4A"/>
                </a:solidFill>
              </a:rPr>
              <a:t>•  `compose pull --ignore-pull-failures` to bring remote ones without timing out `up -d`.</a:t>
            </a:r>
          </a:p>
          <a:p>
            <a:pPr>
              <a:spcAft>
                <a:spcPts val="400"/>
              </a:spcAft>
            </a:pPr>
            <a:r>
              <a:rPr sz="1100">
                <a:solidFill>
                  <a:srgbClr val="0B2A4A"/>
                </a:solidFill>
              </a:rPr>
              <a:t>•  `compose up -d` — no network races, no surprise version drift.</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Library card vs your own bookshelf</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Pulled images are library books (versioned, returnable). The day10-app image is a book you wrote yourself — Docker Hub doesn't have it, the warning is just the library looking and finding nothing.</a:t>
            </a:r>
          </a:p>
        </p:txBody>
      </p:sp>
      <p:sp>
        <p:nvSpPr>
          <p:cNvPr id="13" name="Rectangle 12"/>
          <p:cNvSpPr/>
          <p:nvPr/>
        </p:nvSpPr>
        <p:spPr>
          <a:xfrm>
            <a:off x="0" y="4914900"/>
            <a:ext cx="914400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4 / 10  ·  Module 4</a:t>
            </a:r>
          </a:p>
        </p:txBody>
      </p:sp>
    </p:spTree>
  </p:cSld>
  <p:clrMapOvr>
    <a:masterClrMapping/>
  </p:clrMapOvr>
</p:sld>
</file>

<file path=ppt/slides/slide6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4  · Deployment &amp; Ops</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Observability: Prometheus + Grafana + Alertmanager</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Scrape the metrics, alert on the rules, show the dashboards</a:t>
            </a:r>
          </a:p>
        </p:txBody>
      </p:sp>
      <p:sp>
        <p:nvSpPr>
          <p:cNvPr id="6" name="TextBox 5"/>
          <p:cNvSpPr txBox="1"/>
          <p:nvPr/>
        </p:nvSpPr>
        <p:spPr>
          <a:xfrm>
            <a:off x="274320" y="914400"/>
            <a:ext cx="5212080" cy="274320"/>
          </a:xfrm>
          <a:prstGeom prst="rect">
            <a:avLst/>
          </a:prstGeom>
          <a:noFill/>
        </p:spPr>
        <p:txBody>
          <a:bodyPr wrap="square" lIns="45720" rIns="45720" tIns="18288" bIns="18288">
            <a:spAutoFit/>
          </a:bodyPr>
          <a:lstStyle/>
          <a:p>
            <a:pPr algn="ctr"/>
            <a:r>
              <a:rPr sz="1200" b="1">
                <a:solidFill>
                  <a:srgbClr val="1F77B4"/>
                </a:solidFill>
              </a:rPr>
              <a:t>Observability wiring</a:t>
            </a:r>
          </a:p>
        </p:txBody>
      </p:sp>
      <p:sp>
        <p:nvSpPr>
          <p:cNvPr id="7" name="Rectangle 6"/>
          <p:cNvSpPr/>
          <p:nvPr/>
        </p:nvSpPr>
        <p:spPr>
          <a:xfrm>
            <a:off x="274320" y="1417320"/>
            <a:ext cx="1463040" cy="36576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274320" y="1490472"/>
            <a:ext cx="1463040" cy="274320"/>
          </a:xfrm>
          <a:prstGeom prst="rect">
            <a:avLst/>
          </a:prstGeom>
          <a:noFill/>
        </p:spPr>
        <p:txBody>
          <a:bodyPr wrap="square" lIns="45720" rIns="45720" tIns="18288" bIns="18288">
            <a:spAutoFit/>
          </a:bodyPr>
          <a:lstStyle/>
          <a:p>
            <a:pPr algn="ctr"/>
            <a:r>
              <a:rPr sz="1000" b="1">
                <a:solidFill>
                  <a:srgbClr val="0B2A4A"/>
                </a:solidFill>
                <a:latin typeface="Consolas"/>
              </a:rPr>
              <a:t>kafka :9404</a:t>
            </a:r>
          </a:p>
        </p:txBody>
      </p:sp>
      <p:cxnSp>
        <p:nvCxnSpPr>
          <p:cNvPr id="9" name="Connector 8"/>
          <p:cNvCxnSpPr/>
          <p:nvPr/>
        </p:nvCxnSpPr>
        <p:spPr>
          <a:xfrm>
            <a:off x="1737360" y="1600200"/>
            <a:ext cx="731520" cy="114300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0" name="Rectangle 9"/>
          <p:cNvSpPr/>
          <p:nvPr/>
        </p:nvSpPr>
        <p:spPr>
          <a:xfrm>
            <a:off x="274320" y="1874520"/>
            <a:ext cx="1463040" cy="36576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274320" y="1947672"/>
            <a:ext cx="1463040" cy="274320"/>
          </a:xfrm>
          <a:prstGeom prst="rect">
            <a:avLst/>
          </a:prstGeom>
          <a:noFill/>
        </p:spPr>
        <p:txBody>
          <a:bodyPr wrap="square" lIns="45720" rIns="45720" tIns="18288" bIns="18288">
            <a:spAutoFit/>
          </a:bodyPr>
          <a:lstStyle/>
          <a:p>
            <a:pPr algn="ctr"/>
            <a:r>
              <a:rPr sz="1000" b="1">
                <a:solidFill>
                  <a:srgbClr val="0B2A4A"/>
                </a:solidFill>
                <a:latin typeface="Consolas"/>
              </a:rPr>
              <a:t>pg-exp :9187</a:t>
            </a:r>
          </a:p>
        </p:txBody>
      </p:sp>
      <p:cxnSp>
        <p:nvCxnSpPr>
          <p:cNvPr id="12" name="Connector 11"/>
          <p:cNvCxnSpPr/>
          <p:nvPr/>
        </p:nvCxnSpPr>
        <p:spPr>
          <a:xfrm>
            <a:off x="1737360" y="2057400"/>
            <a:ext cx="731520" cy="68580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3" name="Rectangle 12"/>
          <p:cNvSpPr/>
          <p:nvPr/>
        </p:nvSpPr>
        <p:spPr>
          <a:xfrm>
            <a:off x="274320" y="2331720"/>
            <a:ext cx="1463040" cy="36576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2404872"/>
            <a:ext cx="1463040" cy="274320"/>
          </a:xfrm>
          <a:prstGeom prst="rect">
            <a:avLst/>
          </a:prstGeom>
          <a:noFill/>
        </p:spPr>
        <p:txBody>
          <a:bodyPr wrap="square" lIns="45720" rIns="45720" tIns="18288" bIns="18288">
            <a:spAutoFit/>
          </a:bodyPr>
          <a:lstStyle/>
          <a:p>
            <a:pPr algn="ctr"/>
            <a:r>
              <a:rPr sz="1000" b="1">
                <a:solidFill>
                  <a:srgbClr val="0B2A4A"/>
                </a:solidFill>
                <a:latin typeface="Consolas"/>
              </a:rPr>
              <a:t>minio :9000</a:t>
            </a:r>
          </a:p>
        </p:txBody>
      </p:sp>
      <p:cxnSp>
        <p:nvCxnSpPr>
          <p:cNvPr id="15" name="Connector 14"/>
          <p:cNvCxnSpPr/>
          <p:nvPr/>
        </p:nvCxnSpPr>
        <p:spPr>
          <a:xfrm>
            <a:off x="1737360" y="2514600"/>
            <a:ext cx="731520" cy="22860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6" name="Rectangle 15"/>
          <p:cNvSpPr/>
          <p:nvPr/>
        </p:nvSpPr>
        <p:spPr>
          <a:xfrm>
            <a:off x="274320" y="2788920"/>
            <a:ext cx="1463040" cy="36576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2862072"/>
            <a:ext cx="1463040" cy="274320"/>
          </a:xfrm>
          <a:prstGeom prst="rect">
            <a:avLst/>
          </a:prstGeom>
          <a:noFill/>
        </p:spPr>
        <p:txBody>
          <a:bodyPr wrap="square" lIns="45720" rIns="45720" tIns="18288" bIns="18288">
            <a:spAutoFit/>
          </a:bodyPr>
          <a:lstStyle/>
          <a:p>
            <a:pPr algn="ctr"/>
            <a:r>
              <a:rPr sz="1000" b="1">
                <a:solidFill>
                  <a:srgbClr val="0B2A4A"/>
                </a:solidFill>
                <a:latin typeface="Consolas"/>
              </a:rPr>
              <a:t>quality :5001</a:t>
            </a:r>
          </a:p>
        </p:txBody>
      </p:sp>
      <p:cxnSp>
        <p:nvCxnSpPr>
          <p:cNvPr id="18" name="Connector 17"/>
          <p:cNvCxnSpPr/>
          <p:nvPr/>
        </p:nvCxnSpPr>
        <p:spPr>
          <a:xfrm flipV="1">
            <a:off x="1737360" y="2743200"/>
            <a:ext cx="731520" cy="22860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19" name="Rectangle 18"/>
          <p:cNvSpPr/>
          <p:nvPr/>
        </p:nvSpPr>
        <p:spPr>
          <a:xfrm>
            <a:off x="274320" y="3246120"/>
            <a:ext cx="1463040" cy="36576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274320" y="3319272"/>
            <a:ext cx="1463040" cy="274320"/>
          </a:xfrm>
          <a:prstGeom prst="rect">
            <a:avLst/>
          </a:prstGeom>
          <a:noFill/>
        </p:spPr>
        <p:txBody>
          <a:bodyPr wrap="square" lIns="45720" rIns="45720" tIns="18288" bIns="18288">
            <a:spAutoFit/>
          </a:bodyPr>
          <a:lstStyle/>
          <a:p>
            <a:pPr algn="ctr"/>
            <a:r>
              <a:rPr sz="1000" b="1">
                <a:solidFill>
                  <a:srgbClr val="0B2A4A"/>
                </a:solidFill>
                <a:latin typeface="Consolas"/>
              </a:rPr>
              <a:t>business :5002</a:t>
            </a:r>
          </a:p>
        </p:txBody>
      </p:sp>
      <p:cxnSp>
        <p:nvCxnSpPr>
          <p:cNvPr id="21" name="Connector 20"/>
          <p:cNvCxnSpPr/>
          <p:nvPr/>
        </p:nvCxnSpPr>
        <p:spPr>
          <a:xfrm flipV="1">
            <a:off x="1737360" y="2743200"/>
            <a:ext cx="731520" cy="68580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274320" y="3703320"/>
            <a:ext cx="1463040" cy="365760"/>
          </a:xfrm>
          <a:prstGeom prst="rect">
            <a:avLst/>
          </a:prstGeom>
          <a:solidFill>
            <a:srgbClr val="F1F5F9"/>
          </a:solidFill>
          <a:ln>
            <a:solidFill>
              <a:srgbClr val="1F77B4"/>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274320" y="3776472"/>
            <a:ext cx="1463040" cy="274320"/>
          </a:xfrm>
          <a:prstGeom prst="rect">
            <a:avLst/>
          </a:prstGeom>
          <a:noFill/>
        </p:spPr>
        <p:txBody>
          <a:bodyPr wrap="square" lIns="45720" rIns="45720" tIns="18288" bIns="18288">
            <a:spAutoFit/>
          </a:bodyPr>
          <a:lstStyle/>
          <a:p>
            <a:pPr algn="ctr"/>
            <a:r>
              <a:rPr sz="1000" b="1">
                <a:solidFill>
                  <a:srgbClr val="0B2A4A"/>
                </a:solidFill>
                <a:latin typeface="Consolas"/>
              </a:rPr>
              <a:t>connect :8083</a:t>
            </a:r>
          </a:p>
        </p:txBody>
      </p:sp>
      <p:cxnSp>
        <p:nvCxnSpPr>
          <p:cNvPr id="24" name="Connector 23"/>
          <p:cNvCxnSpPr/>
          <p:nvPr/>
        </p:nvCxnSpPr>
        <p:spPr>
          <a:xfrm flipV="1">
            <a:off x="1737360" y="2743200"/>
            <a:ext cx="731520" cy="114300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5" name="Rectangle 24"/>
          <p:cNvSpPr/>
          <p:nvPr/>
        </p:nvSpPr>
        <p:spPr>
          <a:xfrm>
            <a:off x="2468880" y="2468880"/>
            <a:ext cx="1371600" cy="640080"/>
          </a:xfrm>
          <a:prstGeom prst="rect">
            <a:avLst/>
          </a:prstGeom>
          <a:solidFill>
            <a:srgbClr val="1F77B4"/>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2468880" y="2670048"/>
            <a:ext cx="1371600" cy="237744"/>
          </a:xfrm>
          <a:prstGeom prst="rect">
            <a:avLst/>
          </a:prstGeom>
          <a:noFill/>
        </p:spPr>
        <p:txBody>
          <a:bodyPr wrap="square" lIns="45720" rIns="45720" tIns="18288" bIns="18288">
            <a:spAutoFit/>
          </a:bodyPr>
          <a:lstStyle/>
          <a:p>
            <a:pPr algn="ctr"/>
            <a:r>
              <a:rPr sz="1000" b="1">
                <a:solidFill>
                  <a:srgbClr val="FFFFFF"/>
                </a:solidFill>
              </a:rPr>
              <a:t>Prometheus</a:t>
            </a:r>
          </a:p>
          <a:p>
            <a:pPr algn="ctr"/>
            <a:r>
              <a:rPr sz="1000" b="1">
                <a:solidFill>
                  <a:srgbClr val="FFFFFF"/>
                </a:solidFill>
              </a:rPr>
              <a:t>:9090</a:t>
            </a:r>
          </a:p>
        </p:txBody>
      </p:sp>
      <p:cxnSp>
        <p:nvCxnSpPr>
          <p:cNvPr id="27" name="Connector 26"/>
          <p:cNvCxnSpPr/>
          <p:nvPr/>
        </p:nvCxnSpPr>
        <p:spPr>
          <a:xfrm>
            <a:off x="3840480" y="2788919"/>
            <a:ext cx="457200" cy="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4297680" y="2468880"/>
            <a:ext cx="1188720" cy="640080"/>
          </a:xfrm>
          <a:prstGeom prst="rect">
            <a:avLst/>
          </a:prstGeom>
          <a:solidFill>
            <a:srgbClr val="C0392B"/>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4297680" y="2670048"/>
            <a:ext cx="1188720" cy="237744"/>
          </a:xfrm>
          <a:prstGeom prst="rect">
            <a:avLst/>
          </a:prstGeom>
          <a:noFill/>
        </p:spPr>
        <p:txBody>
          <a:bodyPr wrap="square" lIns="45720" rIns="45720" tIns="18288" bIns="18288">
            <a:spAutoFit/>
          </a:bodyPr>
          <a:lstStyle/>
          <a:p>
            <a:pPr algn="ctr"/>
            <a:r>
              <a:rPr sz="1000" b="1">
                <a:solidFill>
                  <a:srgbClr val="FFFFFF"/>
                </a:solidFill>
              </a:rPr>
              <a:t>Alertmgr</a:t>
            </a:r>
          </a:p>
          <a:p>
            <a:pPr algn="ctr"/>
            <a:r>
              <a:rPr sz="1000" b="1">
                <a:solidFill>
                  <a:srgbClr val="FFFFFF"/>
                </a:solidFill>
              </a:rPr>
              <a:t>:9093</a:t>
            </a:r>
          </a:p>
        </p:txBody>
      </p:sp>
      <p:cxnSp>
        <p:nvCxnSpPr>
          <p:cNvPr id="30" name="Connector 29"/>
          <p:cNvCxnSpPr/>
          <p:nvPr/>
        </p:nvCxnSpPr>
        <p:spPr>
          <a:xfrm flipH="1" flipV="1">
            <a:off x="1280160" y="2743200"/>
            <a:ext cx="3611880" cy="36576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2468880" y="3474720"/>
            <a:ext cx="1371600" cy="548640"/>
          </a:xfrm>
          <a:prstGeom prst="rect">
            <a:avLst/>
          </a:prstGeom>
          <a:solidFill>
            <a:srgbClr val="E88B1E"/>
          </a:solidFill>
          <a:ln>
            <a:solidFill>
              <a:srgbClr val="0B2A4A"/>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2468880" y="3630168"/>
            <a:ext cx="1371600" cy="237744"/>
          </a:xfrm>
          <a:prstGeom prst="rect">
            <a:avLst/>
          </a:prstGeom>
          <a:noFill/>
        </p:spPr>
        <p:txBody>
          <a:bodyPr wrap="square" lIns="45720" rIns="45720" tIns="18288" bIns="18288">
            <a:spAutoFit/>
          </a:bodyPr>
          <a:lstStyle/>
          <a:p>
            <a:pPr algn="ctr"/>
            <a:r>
              <a:rPr sz="1000" b="1">
                <a:solidFill>
                  <a:srgbClr val="FFFFFF"/>
                </a:solidFill>
              </a:rPr>
              <a:t>Grafana :3000</a:t>
            </a:r>
          </a:p>
        </p:txBody>
      </p:sp>
      <p:cxnSp>
        <p:nvCxnSpPr>
          <p:cNvPr id="33" name="Connector 32"/>
          <p:cNvCxnSpPr/>
          <p:nvPr/>
        </p:nvCxnSpPr>
        <p:spPr>
          <a:xfrm>
            <a:off x="3154680" y="3108960"/>
            <a:ext cx="0" cy="365760"/>
          </a:xfrm>
          <a:prstGeom prst="bentConnector3">
            <a:avLst/>
          </a:prstGeom>
          <a:ln w="19050">
            <a:solidFill>
              <a:srgbClr val="555555"/>
            </a:solidFill>
          </a:ln>
        </p:spPr>
        <p:style>
          <a:lnRef idx="2">
            <a:schemeClr val="accent1"/>
          </a:lnRef>
          <a:fillRef idx="0">
            <a:schemeClr val="accent1"/>
          </a:fillRef>
          <a:effectRef idx="1">
            <a:schemeClr val="accent1"/>
          </a:effectRef>
          <a:fontRef idx="minor">
            <a:schemeClr val="tx1"/>
          </a:fontRef>
        </p:style>
      </p:cxnSp>
      <p:sp>
        <p:nvSpPr>
          <p:cNvPr id="34" name="TextBox 33"/>
          <p:cNvSpPr txBox="1"/>
          <p:nvPr/>
        </p:nvSpPr>
        <p:spPr>
          <a:xfrm>
            <a:off x="274320" y="4206240"/>
            <a:ext cx="5212080" cy="822960"/>
          </a:xfrm>
          <a:prstGeom prst="rect">
            <a:avLst/>
          </a:prstGeom>
          <a:noFill/>
        </p:spPr>
        <p:txBody>
          <a:bodyPr wrap="square" lIns="45720" rIns="45720" tIns="18288" bIns="18288">
            <a:spAutoFit/>
          </a:bodyPr>
          <a:lstStyle/>
          <a:p>
            <a:pPr algn="ctr"/>
            <a:r>
              <a:rPr sz="1000" b="0">
                <a:solidFill>
                  <a:srgbClr val="0B2A4A"/>
                </a:solidFill>
              </a:rPr>
              <a:t>Alerts fire from rule_files (data_quality, pipeline) →</a:t>
            </a:r>
          </a:p>
          <a:p>
            <a:pPr algn="ctr"/>
            <a:r>
              <a:rPr sz="1000" b="0">
                <a:solidFill>
                  <a:srgbClr val="0B2A4A"/>
                </a:solidFill>
              </a:rPr>
              <a:t>Alertmanager POSTs JSON to quality-dashboard /webhook/alerts →</a:t>
            </a:r>
          </a:p>
          <a:p>
            <a:pPr algn="ctr"/>
            <a:r>
              <a:rPr sz="1000" b="0">
                <a:solidFill>
                  <a:srgbClr val="0B2A4A"/>
                </a:solidFill>
              </a:rPr>
              <a:t>DataOps sees the alert in the same UI where they see the metric.</a:t>
            </a:r>
          </a:p>
        </p:txBody>
      </p:sp>
      <p:sp>
        <p:nvSpPr>
          <p:cNvPr id="35" name="Rectangle 34"/>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37" name="TextBox 36"/>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Hospital monitor</a:t>
            </a:r>
          </a:p>
        </p:txBody>
      </p:sp>
      <p:sp>
        <p:nvSpPr>
          <p:cNvPr id="38" name="TextBox 37"/>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Sensors on every patient (exporters) → ECG screen (Prometheus) → red button when vitals cross thresholds (Alertmanager) → nurse dashboard (quality-dashboard / Grafana).</a:t>
            </a:r>
          </a:p>
        </p:txBody>
      </p:sp>
      <p:sp>
        <p:nvSpPr>
          <p:cNvPr id="39" name="Rectangle 38"/>
          <p:cNvSpPr/>
          <p:nvPr/>
        </p:nvSpPr>
        <p:spPr>
          <a:xfrm>
            <a:off x="0" y="4914900"/>
            <a:ext cx="914400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5 / 10  ·  Module 4</a:t>
            </a:r>
          </a:p>
        </p:txBody>
      </p:sp>
    </p:spTree>
  </p:cSld>
  <p:clrMapOvr>
    <a:masterClrMapping/>
  </p:clrMapOvr>
</p:sld>
</file>

<file path=ppt/slides/slide6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4  · Deployment &amp; Ops</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DLQ and recovery patterns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Three DLQs in this stack — what fills them, what drains them</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kafka.png"/>
          <p:cNvPicPr>
            <a:picLocks noChangeAspect="1"/>
          </p:cNvPicPr>
          <p:nvPr/>
        </p:nvPicPr>
        <p:blipFill>
          <a:blip r:embed="rId2"/>
          <a:stretch>
            <a:fillRect/>
          </a:stretch>
        </p:blipFill>
        <p:spPr>
          <a:xfrm>
            <a:off x="2032288" y="982980"/>
            <a:ext cx="1604704"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dlq.config-source             — Debezium can't decode this WAL row</a:t>
            </a:r>
          </a:p>
          <a:p>
            <a:pPr>
              <a:spcAft>
                <a:spcPts val="400"/>
              </a:spcAft>
            </a:pPr>
            <a:r>
              <a:rPr sz="1100">
                <a:solidFill>
                  <a:srgbClr val="0B2A4A"/>
                </a:solidFill>
              </a:rPr>
              <a:t>•  dlq.s3-sink-bronze-cdc        — sink couldn't write this record</a:t>
            </a:r>
          </a:p>
          <a:p>
            <a:pPr>
              <a:spcAft>
                <a:spcPts val="400"/>
              </a:spcAft>
            </a:pPr>
            <a:r>
              <a:rPr sz="1100">
                <a:solidFill>
                  <a:srgbClr val="0B2A4A"/>
                </a:solidFill>
              </a:rPr>
              <a:t>•  dlq.s3-sink-bronze-streams    — sink couldn't write this record</a:t>
            </a:r>
          </a:p>
          <a:p>
            <a:pPr>
              <a:spcAft>
                <a:spcPts val="400"/>
              </a:spcAft>
            </a:pPr>
            <a:r>
              <a:rPr sz="1100">
                <a:solidFill>
                  <a:srgbClr val="0B2A4A"/>
                </a:solidFill>
              </a:rPr>
              <a:t>•  Drain: re-process by hand → republish to original topic OR archive forever.</a:t>
            </a:r>
          </a:p>
          <a:p>
            <a:pPr>
              <a:spcAft>
                <a:spcPts val="400"/>
              </a:spcAft>
            </a:pPr>
            <a:r>
              <a:rPr sz="1100">
                <a:solidFill>
                  <a:srgbClr val="0B2A4A"/>
                </a:solidFill>
              </a:rPr>
              <a:t>•  Gauge: quality_dlq_size{topic} alerts when growth &gt; 0.</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Hospital triage</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DLQs are the triage corner: don't block the ER, treat the easy patients first, come back to the hard cases with a specialist. Same for messages — park the poison, keep throughput, fix later.</a:t>
            </a:r>
          </a:p>
        </p:txBody>
      </p:sp>
      <p:sp>
        <p:nvSpPr>
          <p:cNvPr id="13" name="Rectangle 12"/>
          <p:cNvSpPr/>
          <p:nvPr/>
        </p:nvSpPr>
        <p:spPr>
          <a:xfrm>
            <a:off x="0" y="4914900"/>
            <a:ext cx="914400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6 / 10  ·  Module 4</a:t>
            </a:r>
          </a:p>
        </p:txBody>
      </p:sp>
    </p:spTree>
  </p:cSld>
  <p:clrMapOvr>
    <a:masterClrMapping/>
  </p:clrMapOvr>
</p:sld>
</file>

<file path=ppt/slides/slide6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4  · Deployment &amp; Ops</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Common production gotchas</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Failure mode → first symptom → quickest fix</a:t>
            </a:r>
          </a:p>
        </p:txBody>
      </p:sp>
      <p:graphicFrame>
        <p:nvGraphicFramePr>
          <p:cNvPr id="6" name="Table 5"/>
          <p:cNvGraphicFramePr>
            <a:graphicFrameLocks noGrp="1"/>
          </p:cNvGraphicFramePr>
          <p:nvPr/>
        </p:nvGraphicFramePr>
        <p:xfrm>
          <a:off x="274320" y="914400"/>
          <a:ext cx="5212080" cy="4023360"/>
        </p:xfrm>
        <a:graphic>
          <a:graphicData uri="http://schemas.openxmlformats.org/drawingml/2006/table">
            <a:tbl>
              <a:tblPr firstRow="1" bandRow="1">
                <a:tableStyleId>{5C22544A-7EE6-4342-B048-85BDC9FD1C3A}</a:tableStyleId>
              </a:tblPr>
              <a:tblGrid>
                <a:gridCol w="1737360"/>
                <a:gridCol w="1737360"/>
                <a:gridCol w="1737360"/>
              </a:tblGrid>
              <a:tr h="574765">
                <a:tc>
                  <a:txBody>
                    <a:bodyPr/>
                    <a:lstStyle/>
                    <a:p>
                      <a:r>
                        <a:rPr sz="1100" b="1">
                          <a:solidFill>
                            <a:srgbClr val="FFFFFF"/>
                          </a:solidFill>
                        </a:rPr>
                        <a:t>Failure mode</a:t>
                      </a:r>
                    </a:p>
                  </a:txBody>
                  <a:tcPr>
                    <a:solidFill>
                      <a:srgbClr val="0B2A4A"/>
                    </a:solidFill>
                  </a:tcPr>
                </a:tc>
                <a:tc>
                  <a:txBody>
                    <a:bodyPr/>
                    <a:lstStyle/>
                    <a:p>
                      <a:r>
                        <a:rPr sz="1100" b="1">
                          <a:solidFill>
                            <a:srgbClr val="FFFFFF"/>
                          </a:solidFill>
                        </a:rPr>
                        <a:t>First symptom</a:t>
                      </a:r>
                    </a:p>
                  </a:txBody>
                  <a:tcPr>
                    <a:solidFill>
                      <a:srgbClr val="0B2A4A"/>
                    </a:solidFill>
                  </a:tcPr>
                </a:tc>
                <a:tc>
                  <a:txBody>
                    <a:bodyPr/>
                    <a:lstStyle/>
                    <a:p>
                      <a:r>
                        <a:rPr sz="1100" b="1">
                          <a:solidFill>
                            <a:srgbClr val="FFFFFF"/>
                          </a:solidFill>
                        </a:rPr>
                        <a:t>Quickest fix</a:t>
                      </a:r>
                    </a:p>
                  </a:txBody>
                  <a:tcPr>
                    <a:solidFill>
                      <a:srgbClr val="0B2A4A"/>
                    </a:solidFill>
                  </a:tcPr>
                </a:tc>
              </a:tr>
              <a:tr h="574765">
                <a:tc>
                  <a:txBody>
                    <a:bodyPr/>
                    <a:lstStyle/>
                    <a:p>
                      <a:r>
                        <a:rPr sz="1000">
                          <a:solidFill>
                            <a:srgbClr val="0B2A4A"/>
                          </a:solidFill>
                        </a:rPr>
                        <a:t>WAL not enabled on Postgres</a:t>
                      </a:r>
                    </a:p>
                  </a:txBody>
                  <a:tcPr/>
                </a:tc>
                <a:tc>
                  <a:txBody>
                    <a:bodyPr/>
                    <a:lstStyle/>
                    <a:p>
                      <a:r>
                        <a:rPr sz="1000">
                          <a:solidFill>
                            <a:srgbClr val="0B2A4A"/>
                          </a:solidFill>
                        </a:rPr>
                        <a:t>Debezium creates slot then 0 events</a:t>
                      </a:r>
                    </a:p>
                  </a:txBody>
                  <a:tcPr/>
                </a:tc>
                <a:tc>
                  <a:txBody>
                    <a:bodyPr/>
                    <a:lstStyle/>
                    <a:p>
                      <a:r>
                        <a:rPr sz="1000">
                          <a:solidFill>
                            <a:srgbClr val="0B2A4A"/>
                          </a:solidFill>
                        </a:rPr>
                        <a:t>ALTER SYSTEM wal_level = logical; restart</a:t>
                      </a:r>
                    </a:p>
                  </a:txBody>
                  <a:tcPr/>
                </a:tc>
              </a:tr>
              <a:tr h="574765">
                <a:tc>
                  <a:txBody>
                    <a:bodyPr/>
                    <a:lstStyle/>
                    <a:p>
                      <a:r>
                        <a:rPr sz="1000">
                          <a:solidFill>
                            <a:srgbClr val="0B2A4A"/>
                          </a:solidFill>
                        </a:rPr>
                        <a:t>Schema Registry down</a:t>
                      </a:r>
                    </a:p>
                  </a:txBody>
                  <a:tcPr>
                    <a:solidFill>
                      <a:srgbClr val="F1F5F9"/>
                    </a:solidFill>
                  </a:tcPr>
                </a:tc>
                <a:tc>
                  <a:txBody>
                    <a:bodyPr/>
                    <a:lstStyle/>
                    <a:p>
                      <a:r>
                        <a:rPr sz="1000">
                          <a:solidFill>
                            <a:srgbClr val="0B2A4A"/>
                          </a:solidFill>
                        </a:rPr>
                        <a:t>Connect produces ‘SerializationException’</a:t>
                      </a:r>
                    </a:p>
                  </a:txBody>
                  <a:tcPr>
                    <a:solidFill>
                      <a:srgbClr val="F1F5F9"/>
                    </a:solidFill>
                  </a:tcPr>
                </a:tc>
                <a:tc>
                  <a:txBody>
                    <a:bodyPr/>
                    <a:lstStyle/>
                    <a:p>
                      <a:r>
                        <a:rPr sz="1000">
                          <a:solidFill>
                            <a:srgbClr val="0B2A4A"/>
                          </a:solidFill>
                        </a:rPr>
                        <a:t>compose restart schema-registry; replay DLQ</a:t>
                      </a:r>
                    </a:p>
                  </a:txBody>
                  <a:tcPr>
                    <a:solidFill>
                      <a:srgbClr val="F1F5F9"/>
                    </a:solidFill>
                  </a:tcPr>
                </a:tc>
              </a:tr>
              <a:tr h="574765">
                <a:tc>
                  <a:txBody>
                    <a:bodyPr/>
                    <a:lstStyle/>
                    <a:p>
                      <a:r>
                        <a:rPr sz="1000">
                          <a:solidFill>
                            <a:srgbClr val="0B2A4A"/>
                          </a:solidFill>
                        </a:rPr>
                        <a:t>Connect plugin path wrong</a:t>
                      </a:r>
                    </a:p>
                  </a:txBody>
                  <a:tcPr/>
                </a:tc>
                <a:tc>
                  <a:txBody>
                    <a:bodyPr/>
                    <a:lstStyle/>
                    <a:p>
                      <a:r>
                        <a:rPr sz="1000">
                          <a:solidFill>
                            <a:srgbClr val="0B2A4A"/>
                          </a:solidFill>
                        </a:rPr>
                        <a:t>0 connectors visible at /connectors</a:t>
                      </a:r>
                    </a:p>
                  </a:txBody>
                  <a:tcPr/>
                </a:tc>
                <a:tc>
                  <a:txBody>
                    <a:bodyPr/>
                    <a:lstStyle/>
                    <a:p>
                      <a:r>
                        <a:rPr sz="1000">
                          <a:solidFill>
                            <a:srgbClr val="0B2A4A"/>
                          </a:solidFill>
                        </a:rPr>
                        <a:t>check CONNECT_PLUGIN_PATH and bind mount</a:t>
                      </a:r>
                    </a:p>
                  </a:txBody>
                  <a:tcPr/>
                </a:tc>
              </a:tr>
              <a:tr h="574765">
                <a:tc>
                  <a:txBody>
                    <a:bodyPr/>
                    <a:lstStyle/>
                    <a:p>
                      <a:r>
                        <a:rPr sz="1000">
                          <a:solidFill>
                            <a:srgbClr val="0B2A4A"/>
                          </a:solidFill>
                        </a:rPr>
                        <a:t>MinIO out of space</a:t>
                      </a:r>
                    </a:p>
                  </a:txBody>
                  <a:tcPr>
                    <a:solidFill>
                      <a:srgbClr val="F1F5F9"/>
                    </a:solidFill>
                  </a:tcPr>
                </a:tc>
                <a:tc>
                  <a:txBody>
                    <a:bodyPr/>
                    <a:lstStyle/>
                    <a:p>
                      <a:r>
                        <a:rPr sz="1000">
                          <a:solidFill>
                            <a:srgbClr val="0B2A4A"/>
                          </a:solidFill>
                        </a:rPr>
                        <a:t>S3 sink RUNNING → FAILED, 507 in logs</a:t>
                      </a:r>
                    </a:p>
                  </a:txBody>
                  <a:tcPr>
                    <a:solidFill>
                      <a:srgbClr val="F1F5F9"/>
                    </a:solidFill>
                  </a:tcPr>
                </a:tc>
                <a:tc>
                  <a:txBody>
                    <a:bodyPr/>
                    <a:lstStyle/>
                    <a:p>
                      <a:r>
                        <a:rPr sz="1000">
                          <a:solidFill>
                            <a:srgbClr val="0B2A4A"/>
                          </a:solidFill>
                        </a:rPr>
                        <a:t>mc rm or extend volume; restart connector</a:t>
                      </a:r>
                    </a:p>
                  </a:txBody>
                  <a:tcPr>
                    <a:solidFill>
                      <a:srgbClr val="F1F5F9"/>
                    </a:solidFill>
                  </a:tcPr>
                </a:tc>
              </a:tr>
              <a:tr h="574765">
                <a:tc>
                  <a:txBody>
                    <a:bodyPr/>
                    <a:lstStyle/>
                    <a:p>
                      <a:r>
                        <a:rPr sz="1000">
                          <a:solidFill>
                            <a:srgbClr val="0B2A4A"/>
                          </a:solidFill>
                        </a:rPr>
                        <a:t>Airflow scheduler dead</a:t>
                      </a:r>
                    </a:p>
                  </a:txBody>
                  <a:tcPr/>
                </a:tc>
                <a:tc>
                  <a:txBody>
                    <a:bodyPr/>
                    <a:lstStyle/>
                    <a:p>
                      <a:r>
                        <a:rPr sz="1000">
                          <a:solidFill>
                            <a:srgbClr val="0B2A4A"/>
                          </a:solidFill>
                        </a:rPr>
                        <a:t>DAGs queued but never start</a:t>
                      </a:r>
                    </a:p>
                  </a:txBody>
                  <a:tcPr/>
                </a:tc>
                <a:tc>
                  <a:txBody>
                    <a:bodyPr/>
                    <a:lstStyle/>
                    <a:p>
                      <a:r>
                        <a:rPr sz="1000">
                          <a:solidFill>
                            <a:srgbClr val="0B2A4A"/>
                          </a:solidFill>
                        </a:rPr>
                        <a:t>compose restart airflow-scheduler</a:t>
                      </a:r>
                    </a:p>
                  </a:txBody>
                  <a:tcPr/>
                </a:tc>
              </a:tr>
              <a:tr h="574770">
                <a:tc>
                  <a:txBody>
                    <a:bodyPr/>
                    <a:lstStyle/>
                    <a:p>
                      <a:r>
                        <a:rPr sz="1000">
                          <a:solidFill>
                            <a:srgbClr val="0B2A4A"/>
                          </a:solidFill>
                        </a:rPr>
                        <a:t>Pinned image moved on Hub</a:t>
                      </a:r>
                    </a:p>
                  </a:txBody>
                  <a:tcPr>
                    <a:solidFill>
                      <a:srgbClr val="F1F5F9"/>
                    </a:solidFill>
                  </a:tcPr>
                </a:tc>
                <a:tc>
                  <a:txBody>
                    <a:bodyPr/>
                    <a:lstStyle/>
                    <a:p>
                      <a:r>
                        <a:rPr sz="1000">
                          <a:solidFill>
                            <a:srgbClr val="0B2A4A"/>
                          </a:solidFill>
                        </a:rPr>
                        <a:t>compose pull says ‘not found’</a:t>
                      </a:r>
                    </a:p>
                  </a:txBody>
                  <a:tcPr>
                    <a:solidFill>
                      <a:srgbClr val="F1F5F9"/>
                    </a:solidFill>
                  </a:tcPr>
                </a:tc>
                <a:tc>
                  <a:txBody>
                    <a:bodyPr/>
                    <a:lstStyle/>
                    <a:p>
                      <a:r>
                        <a:rPr sz="1000">
                          <a:solidFill>
                            <a:srgbClr val="0B2A4A"/>
                          </a:solidFill>
                        </a:rPr>
                        <a:t>switch tag, audit version in .env</a:t>
                      </a:r>
                    </a:p>
                  </a:txBody>
                  <a:tcPr>
                    <a:solidFill>
                      <a:srgbClr val="F1F5F9"/>
                    </a:solidFill>
                  </a:tcPr>
                </a:tc>
              </a:tr>
            </a:tbl>
          </a:graphicData>
        </a:graphic>
      </p:graphicFrame>
      <p:sp>
        <p:nvSpPr>
          <p:cNvPr id="7" name="Rectangle 6"/>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9" name="TextBox 8"/>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Pilot's checklist</a:t>
            </a:r>
          </a:p>
        </p:txBody>
      </p:sp>
      <p:sp>
        <p:nvSpPr>
          <p:cNvPr id="10" name="TextBox 9"/>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Pilots don't memorise emergencies — they read the laminated card. This table is your laminated card.</a:t>
            </a:r>
          </a:p>
        </p:txBody>
      </p:sp>
      <p:sp>
        <p:nvSpPr>
          <p:cNvPr id="11" name="Rectangle 10"/>
          <p:cNvSpPr/>
          <p:nvPr/>
        </p:nvSpPr>
        <p:spPr>
          <a:xfrm>
            <a:off x="0" y="4914900"/>
            <a:ext cx="914400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7 / 10  ·  Module 4</a:t>
            </a:r>
          </a:p>
        </p:txBody>
      </p:sp>
    </p:spTree>
  </p:cSld>
  <p:clrMapOvr>
    <a:masterClrMapping/>
  </p:clrMapOvr>
</p:sld>
</file>

<file path=ppt/slides/slide7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4  · Deployment &amp; Ops</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Secrets, configuration, and the .env file</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Where credentials live (and where they must NOT live)</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docker.png"/>
          <p:cNvPicPr>
            <a:picLocks noChangeAspect="1"/>
          </p:cNvPicPr>
          <p:nvPr/>
        </p:nvPicPr>
        <p:blipFill>
          <a:blip r:embed="rId2"/>
          <a:stretch>
            <a:fillRect/>
          </a:stretch>
        </p:blipFill>
        <p:spPr>
          <a:xfrm>
            <a:off x="342900" y="1692966"/>
            <a:ext cx="4983480" cy="1186068"/>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.env holds: MinIO creds, Postgres creds, Airflow Fernet key, ports.</a:t>
            </a:r>
          </a:p>
          <a:p>
            <a:pPr>
              <a:spcAft>
                <a:spcPts val="400"/>
              </a:spcAft>
            </a:pPr>
            <a:r>
              <a:rPr sz="1100">
                <a:solidFill>
                  <a:srgbClr val="0B2A4A"/>
                </a:solidFill>
              </a:rPr>
              <a:t>•  .env.example is committed; .env is .gitignored.</a:t>
            </a:r>
          </a:p>
          <a:p>
            <a:pPr>
              <a:spcAft>
                <a:spcPts val="400"/>
              </a:spcAft>
            </a:pPr>
            <a:r>
              <a:rPr sz="1100">
                <a:solidFill>
                  <a:srgbClr val="0B2A4A"/>
                </a:solidFill>
              </a:rPr>
              <a:t>•  For real prod: swap .env for Docker secrets / Vault / AWS SSM.</a:t>
            </a:r>
          </a:p>
          <a:p>
            <a:pPr>
              <a:spcAft>
                <a:spcPts val="400"/>
              </a:spcAft>
            </a:pPr>
            <a:r>
              <a:rPr sz="1100">
                <a:solidFill>
                  <a:srgbClr val="0B2A4A"/>
                </a:solidFill>
              </a:rPr>
              <a:t>•  Never bake credentials into Dockerfile RUN lines or git history.</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Hotel room safe</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Your passwords are jewellery — they live in the safe (.env / a secret manager), not on the dresser (git, Dockerfile, source code). Everything else (image versions, ports, paths) is fine in the open.</a:t>
            </a:r>
          </a:p>
        </p:txBody>
      </p:sp>
      <p:sp>
        <p:nvSpPr>
          <p:cNvPr id="13" name="Rectangle 12"/>
          <p:cNvSpPr/>
          <p:nvPr/>
        </p:nvSpPr>
        <p:spPr>
          <a:xfrm>
            <a:off x="0" y="4914900"/>
            <a:ext cx="914400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8 / 10  ·  Module 4</a:t>
            </a:r>
          </a:p>
        </p:txBody>
      </p:sp>
    </p:spTree>
  </p:cSld>
  <p:clrMapOvr>
    <a:masterClrMapping/>
  </p:clrMapOvr>
</p:sld>
</file>

<file path=ppt/slides/slide7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4  · Deployment &amp; Ops</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Capacity planning rules of thumb</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When (not if) to scale each layer</a:t>
            </a:r>
          </a:p>
        </p:txBody>
      </p:sp>
      <p:sp>
        <p:nvSpPr>
          <p:cNvPr id="6" name="Rectangle 5"/>
          <p:cNvSpPr/>
          <p:nvPr/>
        </p:nvSpPr>
        <p:spPr>
          <a:xfrm>
            <a:off x="274320" y="914400"/>
            <a:ext cx="5120640" cy="2743200"/>
          </a:xfrm>
          <a:prstGeom prst="rect">
            <a:avLst/>
          </a:prstGeom>
          <a:solidFill>
            <a:srgbClr val="F1F5F9"/>
          </a:solidFill>
          <a:ln w="6350">
            <a:solidFill>
              <a:srgbClr val="555555"/>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7" name="Picture 6" descr="prometheus.png"/>
          <p:cNvPicPr>
            <a:picLocks noChangeAspect="1"/>
          </p:cNvPicPr>
          <p:nvPr/>
        </p:nvPicPr>
        <p:blipFill>
          <a:blip r:embed="rId2"/>
          <a:stretch>
            <a:fillRect/>
          </a:stretch>
        </p:blipFill>
        <p:spPr>
          <a:xfrm>
            <a:off x="1519666" y="982980"/>
            <a:ext cx="2629948" cy="2606040"/>
          </a:xfrm>
          <a:prstGeom prst="rect">
            <a:avLst/>
          </a:prstGeom>
        </p:spPr>
      </p:pic>
      <p:sp>
        <p:nvSpPr>
          <p:cNvPr id="8" name="TextBox 7"/>
          <p:cNvSpPr txBox="1"/>
          <p:nvPr/>
        </p:nvSpPr>
        <p:spPr>
          <a:xfrm>
            <a:off x="274320" y="3749039"/>
            <a:ext cx="5120640" cy="1188720"/>
          </a:xfrm>
          <a:prstGeom prst="rect">
            <a:avLst/>
          </a:prstGeom>
          <a:noFill/>
        </p:spPr>
        <p:txBody>
          <a:bodyPr wrap="square">
            <a:spAutoFit/>
          </a:bodyPr>
          <a:lstStyle/>
          <a:p>
            <a:pPr>
              <a:spcAft>
                <a:spcPts val="400"/>
              </a:spcAft>
            </a:pPr>
            <a:r>
              <a:rPr sz="1100">
                <a:solidFill>
                  <a:srgbClr val="0B2A4A"/>
                </a:solidFill>
              </a:rPr>
              <a:t>•  Kafka: scale partitions when consumer lag stays &gt; 30 s; brokers when disk fills.</a:t>
            </a:r>
          </a:p>
          <a:p>
            <a:pPr>
              <a:spcAft>
                <a:spcPts val="400"/>
              </a:spcAft>
            </a:pPr>
            <a:r>
              <a:rPr sz="1100">
                <a:solidFill>
                  <a:srgbClr val="0B2A4A"/>
                </a:solidFill>
              </a:rPr>
              <a:t>•  Connect: scale workers when tasks-per-worker &gt; 5 and CPU &gt; 70 %.</a:t>
            </a:r>
          </a:p>
          <a:p>
            <a:pPr>
              <a:spcAft>
                <a:spcPts val="400"/>
              </a:spcAft>
            </a:pPr>
            <a:r>
              <a:rPr sz="1100">
                <a:solidFill>
                  <a:srgbClr val="0B2A4A"/>
                </a:solidFill>
              </a:rPr>
              <a:t>•  MinIO: add drives when used &gt; 70 %; rebalance is online.</a:t>
            </a:r>
          </a:p>
          <a:p>
            <a:pPr>
              <a:spcAft>
                <a:spcPts val="400"/>
              </a:spcAft>
            </a:pPr>
            <a:r>
              <a:rPr sz="1100">
                <a:solidFill>
                  <a:srgbClr val="0B2A4A"/>
                </a:solidFill>
              </a:rPr>
              <a:t>•  Airflow: scale workers when scheduler queue &gt; 0 sustained; switch to CeleryExecutor before that.</a:t>
            </a:r>
          </a:p>
        </p:txBody>
      </p:sp>
      <p:sp>
        <p:nvSpPr>
          <p:cNvPr id="9" name="Rectangle 8"/>
          <p:cNvSpPr/>
          <p:nvPr/>
        </p:nvSpPr>
        <p:spPr>
          <a:xfrm>
            <a:off x="5577840" y="914400"/>
            <a:ext cx="3291840" cy="4023360"/>
          </a:xfrm>
          <a:prstGeom prst="rect">
            <a:avLst/>
          </a:prstGeom>
          <a:solidFill>
            <a:srgbClr val="FAF1DA"/>
          </a:solidFill>
          <a:ln w="12700">
            <a:solidFill>
              <a:srgbClr val="E88B1E"/>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669280" y="987552"/>
            <a:ext cx="3108960" cy="292608"/>
          </a:xfrm>
          <a:prstGeom prst="rect">
            <a:avLst/>
          </a:prstGeom>
          <a:noFill/>
        </p:spPr>
        <p:txBody>
          <a:bodyPr wrap="square" lIns="45720" rIns="45720" tIns="18288" bIns="18288">
            <a:spAutoFit/>
          </a:bodyPr>
          <a:lstStyle/>
          <a:p>
            <a:pPr algn="l"/>
            <a:r>
              <a:rPr sz="1000" b="1">
                <a:solidFill>
                  <a:srgbClr val="E88B1E"/>
                </a:solidFill>
              </a:rPr>
              <a:t>Analogy</a:t>
            </a:r>
          </a:p>
        </p:txBody>
      </p:sp>
      <p:sp>
        <p:nvSpPr>
          <p:cNvPr id="11" name="TextBox 10"/>
          <p:cNvSpPr txBox="1"/>
          <p:nvPr/>
        </p:nvSpPr>
        <p:spPr>
          <a:xfrm>
            <a:off x="5669280" y="1243584"/>
            <a:ext cx="3108960" cy="292608"/>
          </a:xfrm>
          <a:prstGeom prst="rect">
            <a:avLst/>
          </a:prstGeom>
          <a:noFill/>
        </p:spPr>
        <p:txBody>
          <a:bodyPr wrap="square" lIns="45720" rIns="45720" tIns="18288" bIns="18288">
            <a:spAutoFit/>
          </a:bodyPr>
          <a:lstStyle/>
          <a:p>
            <a:pPr algn="l"/>
            <a:r>
              <a:rPr sz="1200" b="1">
                <a:solidFill>
                  <a:srgbClr val="0B2A4A"/>
                </a:solidFill>
              </a:rPr>
              <a:t>Restaurant kitchen during a rush</a:t>
            </a:r>
          </a:p>
        </p:txBody>
      </p:sp>
      <p:sp>
        <p:nvSpPr>
          <p:cNvPr id="12" name="TextBox 11"/>
          <p:cNvSpPr txBox="1"/>
          <p:nvPr/>
        </p:nvSpPr>
        <p:spPr>
          <a:xfrm>
            <a:off x="5669280" y="1554480"/>
            <a:ext cx="3108960" cy="3246120"/>
          </a:xfrm>
          <a:prstGeom prst="rect">
            <a:avLst/>
          </a:prstGeom>
          <a:noFill/>
        </p:spPr>
        <p:txBody>
          <a:bodyPr wrap="square" lIns="45720" rIns="45720" tIns="18288" bIns="18288">
            <a:spAutoFit/>
          </a:bodyPr>
          <a:lstStyle/>
          <a:p>
            <a:pPr algn="l"/>
            <a:r>
              <a:rPr sz="1000" b="0">
                <a:solidFill>
                  <a:srgbClr val="0B2A4A"/>
                </a:solidFill>
              </a:rPr>
              <a:t>You don't hire more chefs when the dining room is half full. Watch the metrics, scale the bottleneck, then re-measure. Premature scaling = expensive empty restaurant.</a:t>
            </a:r>
          </a:p>
        </p:txBody>
      </p:sp>
      <p:sp>
        <p:nvSpPr>
          <p:cNvPr id="13" name="Rectangle 12"/>
          <p:cNvSpPr/>
          <p:nvPr/>
        </p:nvSpPr>
        <p:spPr>
          <a:xfrm>
            <a:off x="0" y="4914900"/>
            <a:ext cx="914400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9 / 10  ·  Module 4</a:t>
            </a:r>
          </a:p>
        </p:txBody>
      </p:sp>
    </p:spTree>
  </p:cSld>
  <p:clrMapOvr>
    <a:masterClrMapping/>
  </p:clrMapOvr>
</p:sld>
</file>

<file path=ppt/slides/slide7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777240"/>
          </a:xfrm>
          <a:prstGeom prst="rect">
            <a:avLst/>
          </a:prstGeom>
          <a:solidFill>
            <a:srgbClr val="0B2A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274320" y="54864"/>
            <a:ext cx="2011680" cy="274320"/>
          </a:xfrm>
          <a:prstGeom prst="rect">
            <a:avLst/>
          </a:prstGeom>
          <a:noFill/>
        </p:spPr>
        <p:txBody>
          <a:bodyPr wrap="square" lIns="45720" rIns="45720" tIns="18288" bIns="18288">
            <a:spAutoFit/>
          </a:bodyPr>
          <a:lstStyle/>
          <a:p>
            <a:pPr algn="l"/>
            <a:r>
              <a:rPr sz="1000" b="1">
                <a:solidFill>
                  <a:srgbClr val="CCDDEE"/>
                </a:solidFill>
              </a:rPr>
              <a:t>MODULE 4  · Deployment &amp; Ops</a:t>
            </a:r>
          </a:p>
        </p:txBody>
      </p:sp>
      <p:sp>
        <p:nvSpPr>
          <p:cNvPr id="4" name="TextBox 3"/>
          <p:cNvSpPr txBox="1"/>
          <p:nvPr/>
        </p:nvSpPr>
        <p:spPr>
          <a:xfrm>
            <a:off x="274320" y="256032"/>
            <a:ext cx="8595360" cy="502920"/>
          </a:xfrm>
          <a:prstGeom prst="rect">
            <a:avLst/>
          </a:prstGeom>
          <a:noFill/>
        </p:spPr>
        <p:txBody>
          <a:bodyPr wrap="square" lIns="45720" rIns="45720" tIns="18288" bIns="18288">
            <a:spAutoFit/>
          </a:bodyPr>
          <a:lstStyle/>
          <a:p>
            <a:pPr algn="l"/>
            <a:r>
              <a:rPr sz="2200" b="1">
                <a:solidFill>
                  <a:srgbClr val="FFFFFF"/>
                </a:solidFill>
              </a:rPr>
              <a:t>Knowledge Check</a:t>
            </a:r>
          </a:p>
        </p:txBody>
      </p:sp>
      <p:sp>
        <p:nvSpPr>
          <p:cNvPr id="5" name="TextBox 4"/>
          <p:cNvSpPr txBox="1"/>
          <p:nvPr/>
        </p:nvSpPr>
        <p:spPr>
          <a:xfrm>
            <a:off x="274320" y="594360"/>
            <a:ext cx="8595360" cy="201168"/>
          </a:xfrm>
          <a:prstGeom prst="rect">
            <a:avLst/>
          </a:prstGeom>
          <a:noFill/>
        </p:spPr>
        <p:txBody>
          <a:bodyPr wrap="square" lIns="45720" rIns="45720" tIns="18288" bIns="18288">
            <a:spAutoFit/>
          </a:bodyPr>
          <a:lstStyle/>
          <a:p>
            <a:pPr algn="l"/>
            <a:r>
              <a:rPr sz="1000" b="0">
                <a:solidFill>
                  <a:srgbClr val="CCDDEE"/>
                </a:solidFill>
              </a:rPr>
              <a:t>5 quick questions — answers in green</a:t>
            </a:r>
          </a:p>
        </p:txBody>
      </p:sp>
      <p:sp>
        <p:nvSpPr>
          <p:cNvPr id="6" name="TextBox 5"/>
          <p:cNvSpPr txBox="1"/>
          <p:nvPr/>
        </p:nvSpPr>
        <p:spPr>
          <a:xfrm>
            <a:off x="365760" y="914400"/>
            <a:ext cx="8412480" cy="329184"/>
          </a:xfrm>
          <a:prstGeom prst="rect">
            <a:avLst/>
          </a:prstGeom>
          <a:noFill/>
        </p:spPr>
        <p:txBody>
          <a:bodyPr wrap="square" lIns="45720" rIns="45720" tIns="18288" bIns="18288">
            <a:spAutoFit/>
          </a:bodyPr>
          <a:lstStyle/>
          <a:p>
            <a:pPr algn="l"/>
            <a:r>
              <a:rPr sz="1200" b="1">
                <a:solidFill>
                  <a:srgbClr val="0B2A4A"/>
                </a:solidFill>
              </a:rPr>
              <a:t>Q1. Why pre-build day10-app before `compose up -d` in bootstrap?</a:t>
            </a:r>
          </a:p>
        </p:txBody>
      </p:sp>
      <p:sp>
        <p:nvSpPr>
          <p:cNvPr id="7" name="TextBox 6"/>
          <p:cNvSpPr txBox="1"/>
          <p:nvPr/>
        </p:nvSpPr>
        <p:spPr>
          <a:xfrm>
            <a:off x="548640" y="1234440"/>
            <a:ext cx="8229600" cy="384048"/>
          </a:xfrm>
          <a:prstGeom prst="rect">
            <a:avLst/>
          </a:prstGeom>
          <a:noFill/>
        </p:spPr>
        <p:txBody>
          <a:bodyPr wrap="square" lIns="45720" rIns="45720" tIns="18288" bIns="18288">
            <a:spAutoFit/>
          </a:bodyPr>
          <a:lstStyle/>
          <a:p>
            <a:pPr algn="l"/>
            <a:r>
              <a:rPr sz="1100" b="0">
                <a:solidFill>
                  <a:srgbClr val="2CA02C"/>
                </a:solidFill>
              </a:rPr>
              <a:t>A. So compose has the image locally and doesn't waste a network round-trip + timeout trying to pull it from Docker Hub.</a:t>
            </a:r>
          </a:p>
        </p:txBody>
      </p:sp>
      <p:sp>
        <p:nvSpPr>
          <p:cNvPr id="8" name="TextBox 7"/>
          <p:cNvSpPr txBox="1"/>
          <p:nvPr/>
        </p:nvSpPr>
        <p:spPr>
          <a:xfrm>
            <a:off x="365760" y="1664208"/>
            <a:ext cx="8412480" cy="329184"/>
          </a:xfrm>
          <a:prstGeom prst="rect">
            <a:avLst/>
          </a:prstGeom>
          <a:noFill/>
        </p:spPr>
        <p:txBody>
          <a:bodyPr wrap="square" lIns="45720" rIns="45720" tIns="18288" bIns="18288">
            <a:spAutoFit/>
          </a:bodyPr>
          <a:lstStyle/>
          <a:p>
            <a:pPr algn="l"/>
            <a:r>
              <a:rPr sz="1200" b="1">
                <a:solidFill>
                  <a:srgbClr val="0B2A4A"/>
                </a:solidFill>
              </a:rPr>
              <a:t>Q2. Where does Alertmanager send firing alerts in this stack?</a:t>
            </a:r>
          </a:p>
        </p:txBody>
      </p:sp>
      <p:sp>
        <p:nvSpPr>
          <p:cNvPr id="9" name="TextBox 8"/>
          <p:cNvSpPr txBox="1"/>
          <p:nvPr/>
        </p:nvSpPr>
        <p:spPr>
          <a:xfrm>
            <a:off x="548640" y="1984248"/>
            <a:ext cx="8229600" cy="384048"/>
          </a:xfrm>
          <a:prstGeom prst="rect">
            <a:avLst/>
          </a:prstGeom>
          <a:noFill/>
        </p:spPr>
        <p:txBody>
          <a:bodyPr wrap="square" lIns="45720" rIns="45720" tIns="18288" bIns="18288">
            <a:spAutoFit/>
          </a:bodyPr>
          <a:lstStyle/>
          <a:p>
            <a:pPr algn="l"/>
            <a:r>
              <a:rPr sz="1100" b="0">
                <a:solidFill>
                  <a:srgbClr val="2CA02C"/>
                </a:solidFill>
              </a:rPr>
              <a:t>A. POST → http://quality-dashboard:5001/webhook/alerts, so DataOps sees them in the same UI as the metrics.</a:t>
            </a:r>
          </a:p>
        </p:txBody>
      </p:sp>
      <p:sp>
        <p:nvSpPr>
          <p:cNvPr id="10" name="TextBox 9"/>
          <p:cNvSpPr txBox="1"/>
          <p:nvPr/>
        </p:nvSpPr>
        <p:spPr>
          <a:xfrm>
            <a:off x="365760" y="2414016"/>
            <a:ext cx="8412480" cy="329184"/>
          </a:xfrm>
          <a:prstGeom prst="rect">
            <a:avLst/>
          </a:prstGeom>
          <a:noFill/>
        </p:spPr>
        <p:txBody>
          <a:bodyPr wrap="square" lIns="45720" rIns="45720" tIns="18288" bIns="18288">
            <a:spAutoFit/>
          </a:bodyPr>
          <a:lstStyle/>
          <a:p>
            <a:pPr algn="l"/>
            <a:r>
              <a:rPr sz="1200" b="1">
                <a:solidFill>
                  <a:srgbClr val="0B2A4A"/>
                </a:solidFill>
              </a:rPr>
              <a:t>Q3. What's the single most common cause of 'Debezium silent / 0 events'?</a:t>
            </a:r>
          </a:p>
        </p:txBody>
      </p:sp>
      <p:sp>
        <p:nvSpPr>
          <p:cNvPr id="11" name="TextBox 10"/>
          <p:cNvSpPr txBox="1"/>
          <p:nvPr/>
        </p:nvSpPr>
        <p:spPr>
          <a:xfrm>
            <a:off x="548640" y="2734056"/>
            <a:ext cx="8229600" cy="384048"/>
          </a:xfrm>
          <a:prstGeom prst="rect">
            <a:avLst/>
          </a:prstGeom>
          <a:noFill/>
        </p:spPr>
        <p:txBody>
          <a:bodyPr wrap="square" lIns="45720" rIns="45720" tIns="18288" bIns="18288">
            <a:spAutoFit/>
          </a:bodyPr>
          <a:lstStyle/>
          <a:p>
            <a:pPr algn="l"/>
            <a:r>
              <a:rPr sz="1100" b="0">
                <a:solidFill>
                  <a:srgbClr val="2CA02C"/>
                </a:solidFill>
              </a:rPr>
              <a:t>A. Postgres wal_level is not 'logical' (or the publication/slot wasn't created). Run 03_enable_wal.sql, restart, re-create the connector.</a:t>
            </a:r>
          </a:p>
        </p:txBody>
      </p:sp>
      <p:sp>
        <p:nvSpPr>
          <p:cNvPr id="12" name="TextBox 11"/>
          <p:cNvSpPr txBox="1"/>
          <p:nvPr/>
        </p:nvSpPr>
        <p:spPr>
          <a:xfrm>
            <a:off x="365760" y="3163824"/>
            <a:ext cx="8412480" cy="329184"/>
          </a:xfrm>
          <a:prstGeom prst="rect">
            <a:avLst/>
          </a:prstGeom>
          <a:noFill/>
        </p:spPr>
        <p:txBody>
          <a:bodyPr wrap="square" lIns="45720" rIns="45720" tIns="18288" bIns="18288">
            <a:spAutoFit/>
          </a:bodyPr>
          <a:lstStyle/>
          <a:p>
            <a:pPr algn="l"/>
            <a:r>
              <a:rPr sz="1200" b="1">
                <a:solidFill>
                  <a:srgbClr val="0B2A4A"/>
                </a:solidFill>
              </a:rPr>
              <a:t>Q4. What's the cleanest way to handle a poison message in the S3 sink?</a:t>
            </a:r>
          </a:p>
        </p:txBody>
      </p:sp>
      <p:sp>
        <p:nvSpPr>
          <p:cNvPr id="13" name="TextBox 12"/>
          <p:cNvSpPr txBox="1"/>
          <p:nvPr/>
        </p:nvSpPr>
        <p:spPr>
          <a:xfrm>
            <a:off x="548640" y="3483864"/>
            <a:ext cx="8229600" cy="384048"/>
          </a:xfrm>
          <a:prstGeom prst="rect">
            <a:avLst/>
          </a:prstGeom>
          <a:noFill/>
        </p:spPr>
        <p:txBody>
          <a:bodyPr wrap="square" lIns="45720" rIns="45720" tIns="18288" bIns="18288">
            <a:spAutoFit/>
          </a:bodyPr>
          <a:lstStyle/>
          <a:p>
            <a:pPr algn="l"/>
            <a:r>
              <a:rPr sz="1100" b="0">
                <a:solidFill>
                  <a:srgbClr val="2CA02C"/>
                </a:solidFill>
              </a:rPr>
              <a:t>A. Set errors.tolerance=all + errors.deadletterqueue.topic.name — bad records go to dlq.s3-sink-bronze-* and the sink keeps running.</a:t>
            </a:r>
          </a:p>
        </p:txBody>
      </p:sp>
      <p:sp>
        <p:nvSpPr>
          <p:cNvPr id="14" name="TextBox 13"/>
          <p:cNvSpPr txBox="1"/>
          <p:nvPr/>
        </p:nvSpPr>
        <p:spPr>
          <a:xfrm>
            <a:off x="365760" y="3913632"/>
            <a:ext cx="8412480" cy="329184"/>
          </a:xfrm>
          <a:prstGeom prst="rect">
            <a:avLst/>
          </a:prstGeom>
          <a:noFill/>
        </p:spPr>
        <p:txBody>
          <a:bodyPr wrap="square" lIns="45720" rIns="45720" tIns="18288" bIns="18288">
            <a:spAutoFit/>
          </a:bodyPr>
          <a:lstStyle/>
          <a:p>
            <a:pPr algn="l"/>
            <a:r>
              <a:rPr sz="1200" b="1">
                <a:solidFill>
                  <a:srgbClr val="0B2A4A"/>
                </a:solidFill>
              </a:rPr>
              <a:t>Q5. How do you make bootstrap.ps1 safe to re-run after a failure?</a:t>
            </a:r>
          </a:p>
        </p:txBody>
      </p:sp>
      <p:sp>
        <p:nvSpPr>
          <p:cNvPr id="15" name="TextBox 14"/>
          <p:cNvSpPr txBox="1"/>
          <p:nvPr/>
        </p:nvSpPr>
        <p:spPr>
          <a:xfrm>
            <a:off x="548640" y="4233672"/>
            <a:ext cx="8229600" cy="384048"/>
          </a:xfrm>
          <a:prstGeom prst="rect">
            <a:avLst/>
          </a:prstGeom>
          <a:noFill/>
        </p:spPr>
        <p:txBody>
          <a:bodyPr wrap="square" lIns="45720" rIns="45720" tIns="18288" bIns="18288">
            <a:spAutoFit/>
          </a:bodyPr>
          <a:lstStyle/>
          <a:p>
            <a:pPr algn="l"/>
            <a:r>
              <a:rPr sz="1100" b="0">
                <a:solidFill>
                  <a:srgbClr val="2CA02C"/>
                </a:solidFill>
              </a:rPr>
              <a:t>A. Idempotent steps: skip downloads if files exist, `compose up -d` is a no-op for healthy services, schema/connector registration uses PUT.</a:t>
            </a:r>
          </a:p>
        </p:txBody>
      </p:sp>
      <p:sp>
        <p:nvSpPr>
          <p:cNvPr id="16" name="Rectangle 15"/>
          <p:cNvSpPr/>
          <p:nvPr/>
        </p:nvSpPr>
        <p:spPr>
          <a:xfrm>
            <a:off x="0" y="4914900"/>
            <a:ext cx="9144000" cy="228600"/>
          </a:xfrm>
          <a:prstGeom prst="rect">
            <a:avLst/>
          </a:prstGeom>
          <a:solidFill>
            <a:srgbClr val="C0392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274320" y="4933188"/>
            <a:ext cx="8595360" cy="182880"/>
          </a:xfrm>
          <a:prstGeom prst="rect">
            <a:avLst/>
          </a:prstGeom>
          <a:noFill/>
        </p:spPr>
        <p:txBody>
          <a:bodyPr wrap="square" lIns="45720" rIns="45720" tIns="18288" bIns="18288">
            <a:spAutoFit/>
          </a:bodyPr>
          <a:lstStyle/>
          <a:p>
            <a:pPr algn="l"/>
            <a:r>
              <a:rPr sz="900" b="0">
                <a:solidFill>
                  <a:srgbClr val="FFFFFF"/>
                </a:solidFill>
              </a:rPr>
              <a:t>Slide 10 / 10  ·  Module 4 — Knowledge Check</a:t>
            </a:r>
          </a:p>
        </p:txBody>
      </p:sp>
    </p:spTree>
  </p:cSld>
  <p:clrMapOvr>
    <a:masterClrMapping/>
  </p:clrMapOvr>
</p:sld>
</file>

<file path=ppt/theme/theme1.xml><?xml version="1.0" encoding="utf-8"?>
<a:theme xmlns:a="http://schemas.openxmlformats.org/drawingml/2006/main" xmlns:r="http://schemas.openxmlformats.org/officeDocument/2006/relationships" name="Offic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itchFamily="0" charset="1"/>
        <a:ea typeface=""/>
        <a:cs typeface=""/>
      </a:majorFont>
      <a:minorFont>
        <a:latin typeface="Calibri" pitchFamily="0" charset="1"/>
        <a:ea typeface=""/>
        <a:cs typeface=""/>
      </a:minorFont>
    </a:fontScheme>
    <a:fmtScheme>
      <a:fillStyleLst>
        <a:solidFill>
          <a:schemeClr val="phClr"/>
        </a:solidFill>
        <a:solidFill>
          <a:schemeClr val="dk1"/>
        </a:solidFill>
        <a:solidFill>
          <a:schemeClr val="accent1"/>
        </a:solidFill>
      </a:fillStyleLst>
      <a:lnStyleLst>
        <a:ln w="6350">
          <a:prstDash val="solid"/>
        </a:ln>
        <a:ln w="12700">
          <a:prstDash val="solid"/>
        </a:ln>
        <a:ln w="19050">
          <a:prstDash val="solid"/>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Office">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pitchFamily="0" charset="1"/>
        <a:ea typeface=""/>
        <a:cs typeface=""/>
      </a:majorFont>
      <a:minorFont>
        <a:latin typeface="Aptos" panose="02110004020202020204" pitchFamily="0" charset="1"/>
        <a:ea typeface=""/>
        <a:cs typeface=""/>
      </a:minorFont>
    </a:fontScheme>
    <a:fmtScheme>
      <a:fillStyleLst>
        <a:solidFill>
          <a:schemeClr val="phClr"/>
        </a:solidFill>
        <a:gradFill>
          <a:gsLst>
            <a:gs pos="0">
              <a:schemeClr val="phClr">
                <a:lumMod val="110000"/>
                <a:tint val="67000"/>
              </a:schemeClr>
            </a:gs>
            <a:gs pos="50000">
              <a:schemeClr val="phClr">
                <a:lumMod val="105000"/>
                <a:tint val="73000"/>
              </a:schemeClr>
            </a:gs>
            <a:gs pos="100000">
              <a:schemeClr val="phClr">
                <a:lumMod val="105000"/>
                <a:tint val="81000"/>
              </a:schemeClr>
            </a:gs>
          </a:gsLst>
          <a:lin ang="5400000" scaled="0"/>
          <a:tileRect l="0" t="0" r="0" b="0"/>
        </a:gradFill>
        <a:gradFill>
          <a:gsLst>
            <a:gs pos="0">
              <a:schemeClr val="phClr">
                <a:lumMod val="102000"/>
                <a:tint val="94000"/>
              </a:schemeClr>
            </a:gs>
            <a:gs pos="50000">
              <a:schemeClr val="phClr">
                <a:lumMod val="100000"/>
                <a:shade val="100000"/>
              </a:schemeClr>
            </a:gs>
            <a:gs pos="100000">
              <a:schemeClr val="phClr">
                <a:lumMod val="99000"/>
                <a:shade val="78000"/>
              </a:schemeClr>
            </a:gs>
          </a:gsLst>
          <a:lin ang="5400000" scaled="0"/>
          <a:tileRect l="0" t="0" r="0" b="0"/>
        </a:gradFill>
      </a:fillStyleLst>
      <a:lnStyleLst>
        <a:ln w="12700" cap="flat" cmpd="sng" algn="ctr">
          <a:prstDash val="solid"/>
          <a:miter lim="800000"/>
        </a:ln>
        <a:ln w="19050" cap="flat" cmpd="sng" algn="ctr">
          <a:prstDash val="solid"/>
          <a:miter lim="800000"/>
        </a:ln>
        <a:ln w="25400" cap="flat" cmpd="sng" algn="ctr">
          <a:prstDash val="solid"/>
          <a:miter lim="800000"/>
        </a:ln>
      </a:lnStyleLst>
      <a:effectStyleLst>
        <a:effectStyle>
          <a:effectLst/>
        </a:effectStyle>
        <a:effectStyle>
          <a:effectLst/>
        </a:effectStyle>
        <a:effectStyle>
          <a:effectLst/>
        </a:effectStyle>
      </a:effectStyleLst>
      <a:bgFillStyleLst>
        <a:solidFill>
          <a:schemeClr val="phClr"/>
        </a:solidFill>
        <a:solidFill>
          <a:schemeClr val="phClr">
            <a:tint val="95000"/>
          </a:schemeClr>
        </a:solidFill>
        <a:gradFill>
          <a:gsLst>
            <a:gs pos="0">
              <a:schemeClr val="phClr">
                <a:tint val="93000"/>
                <a:shade val="98000"/>
                <a:lumMod val="102000"/>
              </a:schemeClr>
            </a:gs>
            <a:gs pos="50000">
              <a:schemeClr val="phClr">
                <a:tint val="98000"/>
                <a:shade val="90000"/>
                <a:lumMod val="103000"/>
              </a:schemeClr>
            </a:gs>
            <a:gs pos="100000">
              <a:schemeClr val="phClr">
                <a:shade val="63000"/>
              </a:schemeClr>
            </a:gs>
          </a:gsLst>
          <a:lin ang="5400000" scaled="0"/>
          <a:tileRect l="0" t="0" r="0" b="0"/>
        </a:gradFill>
      </a:bgFillStyleLst>
    </a:fmtScheme>
  </a:themeElements>
</a:theme>
</file>

<file path=ppt/theme/theme3.xml><?xml version="1.0" encoding="utf-8"?>
<a:theme xmlns:a="http://schemas.openxmlformats.org/drawingml/2006/main" xmlns:r="http://schemas.openxmlformats.org/officeDocument/2006/relationships"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pitchFamily="0" charset="1"/>
        <a:ea typeface="DejaVu Sans" pitchFamily="0" charset="1"/>
        <a:cs typeface="DejaVu Sans" pitchFamily="0" charset="1"/>
      </a:majorFont>
      <a:minorFont>
        <a:latin typeface="Arial" pitchFamily="0" charset="1"/>
        <a:ea typeface="DejaVu Sans" pitchFamily="0" charset="1"/>
        <a:cs typeface="DejaVu Sans" pitchFamily="0" charset="1"/>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theme>
</file>

<file path=docProps/app.xml><?xml version="1.0" encoding="utf-8"?>
<Properties xmlns="http://schemas.openxmlformats.org/officeDocument/2006/extended-properties" xmlns:vt="http://schemas.openxmlformats.org/officeDocument/2006/docPropsVTypes">
  <Template/>
  <TotalTime>5</TotalTime>
  <Application>LibreOffice/25.8.6.2$Windows_X86_64 LibreOffice_project/b4b39682cd9868fa725bc664aff94278d315bd04</Application>
  <AppVersion>15.0000</AppVersion>
  <Words>2110</Words>
  <Paragraphs>267</Paragraphs>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2026-05-26T10:20:04Z</dcterms:created>
  <dc:creator>Walnut Exporter</dc:creator>
  <dc:description/>
  <dc:language>en-IN</dc:language>
  <cp:lastModifiedBy/>
  <dcterms:modified xsi:type="dcterms:W3CDTF">2026-05-29T16:45:14Z</dcterms:modified>
  <cp:revision>3</cp:revision>
  <dc:subject/>
  <dc:title>Presentation</dc:titl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Notes">
    <vt:i4>27</vt:i4>
  </property>
  <property fmtid="{D5CDD505-2E9C-101B-9397-08002B2CF9AE}" pid="3" name="PresentationFormat">
    <vt:lpwstr>On-screen Show (16:9)</vt:lpwstr>
  </property>
  <property fmtid="{D5CDD505-2E9C-101B-9397-08002B2CF9AE}" pid="4" name="Slides">
    <vt:i4>27</vt:i4>
  </property>
</Properties>
</file>