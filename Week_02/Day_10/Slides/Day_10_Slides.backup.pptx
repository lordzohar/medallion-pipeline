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10"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11"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80DF5083-2F90-49C2-B733-581E2EFD1F2D}"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0" y="0"/>
            <a:ext cx="0" cy="0"/>
          </a:xfrm>
          <a:prstGeom prst="rect">
            <a:avLst/>
          </a:prstGeom>
          <a:ln w="0">
            <a:noFill/>
          </a:ln>
        </p:spPr>
      </p:sp>
      <p:sp>
        <p:nvSpPr>
          <p:cNvPr id="33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31"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0" y="0"/>
            <a:ext cx="0" cy="0"/>
          </a:xfrm>
          <a:prstGeom prst="rect">
            <a:avLst/>
          </a:prstGeom>
          <a:ln w="0">
            <a:noFill/>
          </a:ln>
        </p:spPr>
      </p:sp>
      <p:sp>
        <p:nvSpPr>
          <p:cNvPr id="33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34"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IN" sz="1800" b="0" u="none" strike="noStrike">
              <a:solidFill>
                <a:srgbClr val="000000"/>
              </a:solidFill>
              <a:effectLst/>
              <a:uFillTx/>
              <a:latin typeface="Arial"/>
            </a:endParaRPr>
          </a:p>
        </p:txBody>
      </p:sp>
      <p:sp>
        <p:nvSpPr>
          <p:cNvPr id="33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p>
            <a:pPr indent="0">
              <a:buNone/>
            </a:pPr>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0" y="0"/>
            <a:ext cx="0" cy="0"/>
          </a:xfrm>
          <a:prstGeom prst="rect">
            <a:avLst/>
          </a:prstGeom>
          <a:ln w="0">
            <a:noFill/>
          </a:ln>
        </p:spPr>
      </p:sp>
      <p:sp>
        <p:nvSpPr>
          <p:cNvPr id="33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40"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0" y="0"/>
            <a:ext cx="0" cy="0"/>
          </a:xfrm>
          <a:prstGeom prst="rect">
            <a:avLst/>
          </a:prstGeom>
          <a:ln w="0">
            <a:noFill/>
          </a:ln>
        </p:spPr>
      </p:sp>
      <p:sp>
        <p:nvSpPr>
          <p:cNvPr id="34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43"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6040" cy="3085920"/>
          </a:xfrm>
          <a:prstGeom prst="rect">
            <a:avLst/>
          </a:prstGeom>
          <a:ln w="0">
            <a:noFill/>
          </a:ln>
        </p:spPr>
      </p:sp>
      <p:sp>
        <p:nvSpPr>
          <p:cNvPr id="3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IN" sz="1800" b="0" u="none" strike="noStrike">
              <a:solidFill>
                <a:srgbClr val="000000"/>
              </a:solidFill>
              <a:effectLst/>
              <a:uFillTx/>
              <a:latin typeface="Arial"/>
            </a:endParaRPr>
          </a:p>
        </p:txBody>
      </p:sp>
      <p:sp>
        <p:nvSpPr>
          <p:cNvPr id="34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p>
            <a:pPr indent="0">
              <a:buNone/>
            </a:pPr>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0" y="0"/>
            <a:ext cx="0" cy="0"/>
          </a:xfrm>
          <a:prstGeom prst="rect">
            <a:avLst/>
          </a:prstGeom>
          <a:ln w="0">
            <a:noFill/>
          </a:ln>
        </p:spPr>
      </p:sp>
      <p:sp>
        <p:nvSpPr>
          <p:cNvPr id="34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49"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0" y="0"/>
            <a:ext cx="0" cy="0"/>
          </a:xfrm>
          <a:prstGeom prst="rect">
            <a:avLst/>
          </a:prstGeom>
          <a:ln w="0">
            <a:noFill/>
          </a:ln>
        </p:spPr>
      </p:sp>
      <p:sp>
        <p:nvSpPr>
          <p:cNvPr id="35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52"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0" y="0"/>
            <a:ext cx="0" cy="0"/>
          </a:xfrm>
          <a:prstGeom prst="rect">
            <a:avLst/>
          </a:prstGeom>
          <a:ln w="0">
            <a:noFill/>
          </a:ln>
        </p:spPr>
      </p:sp>
      <p:sp>
        <p:nvSpPr>
          <p:cNvPr id="35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55"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0" y="0"/>
            <a:ext cx="0" cy="0"/>
          </a:xfrm>
          <a:prstGeom prst="rect">
            <a:avLst/>
          </a:prstGeom>
          <a:ln w="0">
            <a:noFill/>
          </a:ln>
        </p:spPr>
      </p:sp>
      <p:sp>
        <p:nvSpPr>
          <p:cNvPr id="35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58"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0" y="0"/>
            <a:ext cx="0" cy="0"/>
          </a:xfrm>
          <a:prstGeom prst="rect">
            <a:avLst/>
          </a:prstGeom>
          <a:ln w="0">
            <a:noFill/>
          </a:ln>
        </p:spPr>
      </p:sp>
      <p:sp>
        <p:nvSpPr>
          <p:cNvPr id="36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61"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0" y="0"/>
            <a:ext cx="0" cy="0"/>
          </a:xfrm>
          <a:prstGeom prst="rect">
            <a:avLst/>
          </a:prstGeom>
          <a:ln w="0">
            <a:noFill/>
          </a:ln>
        </p:spPr>
      </p:sp>
      <p:sp>
        <p:nvSpPr>
          <p:cNvPr id="36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64"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0" y="0"/>
            <a:ext cx="0" cy="0"/>
          </a:xfrm>
          <a:prstGeom prst="rect">
            <a:avLst/>
          </a:prstGeom>
          <a:ln w="0">
            <a:noFill/>
          </a:ln>
        </p:spPr>
      </p:sp>
      <p:sp>
        <p:nvSpPr>
          <p:cNvPr id="36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67"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0" y="0"/>
            <a:ext cx="0" cy="0"/>
          </a:xfrm>
          <a:prstGeom prst="rect">
            <a:avLst/>
          </a:prstGeom>
          <a:ln w="0">
            <a:noFill/>
          </a:ln>
        </p:spPr>
      </p:sp>
      <p:sp>
        <p:nvSpPr>
          <p:cNvPr id="36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0"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0" y="0"/>
            <a:ext cx="0" cy="0"/>
          </a:xfrm>
          <a:prstGeom prst="rect">
            <a:avLst/>
          </a:prstGeom>
          <a:ln w="0">
            <a:noFill/>
          </a:ln>
        </p:spPr>
      </p:sp>
      <p:sp>
        <p:nvSpPr>
          <p:cNvPr id="37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3"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0" y="0"/>
            <a:ext cx="0" cy="0"/>
          </a:xfrm>
          <a:prstGeom prst="rect">
            <a:avLst/>
          </a:prstGeom>
          <a:ln w="0">
            <a:noFill/>
          </a:ln>
        </p:spPr>
      </p:sp>
      <p:sp>
        <p:nvSpPr>
          <p:cNvPr id="37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6"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0" y="0"/>
            <a:ext cx="0" cy="0"/>
          </a:xfrm>
          <a:prstGeom prst="rect">
            <a:avLst/>
          </a:prstGeom>
          <a:ln w="0">
            <a:noFill/>
          </a:ln>
        </p:spPr>
      </p:sp>
      <p:sp>
        <p:nvSpPr>
          <p:cNvPr id="37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9"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0" y="0"/>
            <a:ext cx="0" cy="0"/>
          </a:xfrm>
          <a:prstGeom prst="rect">
            <a:avLst/>
          </a:prstGeom>
          <a:ln w="0">
            <a:noFill/>
          </a:ln>
        </p:spPr>
      </p:sp>
      <p:sp>
        <p:nvSpPr>
          <p:cNvPr id="38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82" name="PlaceHolder 3"/>
          <p:cNvSpPr>
            <a:spLocks noGrp="1"/>
          </p:cNvSpPr>
          <p:nvPr>
            <p:ph type="sldNum" idx="21"/>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0" y="0"/>
            <a:ext cx="0" cy="0"/>
          </a:xfrm>
          <a:prstGeom prst="rect">
            <a:avLst/>
          </a:prstGeom>
          <a:ln w="0">
            <a:noFill/>
          </a:ln>
        </p:spPr>
      </p:sp>
      <p:sp>
        <p:nvSpPr>
          <p:cNvPr id="38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85" name="PlaceHolder 3"/>
          <p:cNvSpPr>
            <a:spLocks noGrp="1"/>
          </p:cNvSpPr>
          <p:nvPr>
            <p:ph type="sldNum" idx="22"/>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0" y="0"/>
            <a:ext cx="0" cy="0"/>
          </a:xfrm>
          <a:prstGeom prst="rect">
            <a:avLst/>
          </a:prstGeom>
          <a:ln w="0">
            <a:noFill/>
          </a:ln>
        </p:spPr>
      </p:sp>
      <p:sp>
        <p:nvSpPr>
          <p:cNvPr id="38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88" name="PlaceHolder 3"/>
          <p:cNvSpPr>
            <a:spLocks noGrp="1"/>
          </p:cNvSpPr>
          <p:nvPr>
            <p:ph type="sldNum" idx="23"/>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0" y="0"/>
            <a:ext cx="0" cy="0"/>
          </a:xfrm>
          <a:prstGeom prst="rect">
            <a:avLst/>
          </a:prstGeom>
          <a:ln w="0">
            <a:noFill/>
          </a:ln>
        </p:spPr>
      </p:sp>
      <p:sp>
        <p:nvSpPr>
          <p:cNvPr id="39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91" name="PlaceHolder 3"/>
          <p:cNvSpPr>
            <a:spLocks noGrp="1"/>
          </p:cNvSpPr>
          <p:nvPr>
            <p:ph type="sldNum" idx="24"/>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0" y="0"/>
            <a:ext cx="0" cy="0"/>
          </a:xfrm>
          <a:prstGeom prst="rect">
            <a:avLst/>
          </a:prstGeom>
          <a:ln w="0">
            <a:noFill/>
          </a:ln>
        </p:spPr>
      </p:sp>
      <p:sp>
        <p:nvSpPr>
          <p:cNvPr id="39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94" name="PlaceHolder 3"/>
          <p:cNvSpPr>
            <a:spLocks noGrp="1"/>
          </p:cNvSpPr>
          <p:nvPr>
            <p:ph type="sldNum" idx="25"/>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0" y="0"/>
            <a:ext cx="0" cy="0"/>
          </a:xfrm>
          <a:prstGeom prst="rect">
            <a:avLst/>
          </a:prstGeom>
          <a:ln w="0">
            <a:noFill/>
          </a:ln>
        </p:spPr>
      </p:sp>
      <p:sp>
        <p:nvSpPr>
          <p:cNvPr id="39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97" name="PlaceHolder 3"/>
          <p:cNvSpPr>
            <a:spLocks noGrp="1"/>
          </p:cNvSpPr>
          <p:nvPr>
            <p:ph type="sldNum" idx="26"/>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0" y="0"/>
            <a:ext cx="0" cy="0"/>
          </a:xfrm>
          <a:prstGeom prst="rect">
            <a:avLst/>
          </a:prstGeom>
          <a:ln w="0">
            <a:noFill/>
          </a:ln>
        </p:spPr>
      </p:sp>
      <p:sp>
        <p:nvSpPr>
          <p:cNvPr id="39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400" name="PlaceHolder 3"/>
          <p:cNvSpPr>
            <a:spLocks noGrp="1"/>
          </p:cNvSpPr>
          <p:nvPr>
            <p:ph type="sldNum" idx="27"/>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0" y="0"/>
            <a:ext cx="0" cy="0"/>
          </a:xfrm>
          <a:prstGeom prst="rect">
            <a:avLst/>
          </a:prstGeom>
          <a:ln w="0">
            <a:noFill/>
          </a:ln>
        </p:spPr>
      </p:sp>
      <p:sp>
        <p:nvSpPr>
          <p:cNvPr id="40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403" name="PlaceHolder 3"/>
          <p:cNvSpPr>
            <a:spLocks noGrp="1"/>
          </p:cNvSpPr>
          <p:nvPr>
            <p:ph type="sldNum" idx="28"/>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0" y="0"/>
            <a:ext cx="0" cy="0"/>
          </a:xfrm>
          <a:prstGeom prst="rect">
            <a:avLst/>
          </a:prstGeom>
          <a:ln w="0">
            <a:noFill/>
          </a:ln>
        </p:spPr>
      </p:sp>
      <p:sp>
        <p:nvSpPr>
          <p:cNvPr id="40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406" name="PlaceHolder 3"/>
          <p:cNvSpPr>
            <a:spLocks noGrp="1"/>
          </p:cNvSpPr>
          <p:nvPr>
            <p:ph type="sldNum" idx="29"/>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6840" y="205200"/>
            <a:ext cx="8229240" cy="858600"/>
          </a:xfrm>
          <a:prstGeom prst="rect">
            <a:avLst/>
          </a:prstGeom>
          <a:noFill/>
          <a:ln w="0">
            <a:noFill/>
          </a:ln>
        </p:spPr>
        <p:txBody>
          <a:bodyPr lIns="0" rIns="0" tIns="0" bIns="0" anchor="ctr">
            <a:noAutofit/>
          </a:bodyPr>
          <a:p>
            <a:pPr indent="0">
              <a:buNone/>
            </a:pPr>
            <a:r>
              <a:rPr lang="en-US" sz="1350" b="0" u="none" strike="noStrike">
                <a:solidFill>
                  <a:schemeClr val="dk1"/>
                </a:solidFill>
                <a:effectLst/>
                <a:uFillTx/>
                <a:latin typeface="Aptos"/>
              </a:rPr>
              <a:t>Click to edit the title text format</a:t>
            </a:r>
            <a:endParaRPr lang="en-US" sz="1350" b="0" u="none" strike="noStrike">
              <a:solidFill>
                <a:schemeClr val="dk1"/>
              </a:solidFill>
              <a:effectLst/>
              <a:uFillTx/>
              <a:latin typeface="Aptos"/>
            </a:endParaRPr>
          </a:p>
        </p:txBody>
      </p:sp>
      <p:sp>
        <p:nvSpPr>
          <p:cNvPr id="5" name="PlaceHolder 2"/>
          <p:cNvSpPr>
            <a:spLocks noGrp="1"/>
          </p:cNvSpPr>
          <p:nvPr>
            <p:ph type="body"/>
          </p:nvPr>
        </p:nvSpPr>
        <p:spPr>
          <a:xfrm>
            <a:off x="456840" y="1203120"/>
            <a:ext cx="8229240" cy="2982960"/>
          </a:xfrm>
          <a:prstGeom prst="rect">
            <a:avLst/>
          </a:prstGeom>
          <a:noFill/>
          <a:ln w="0">
            <a:noFill/>
          </a:ln>
        </p:spPr>
        <p:txBody>
          <a:bodyPr lIns="0" rIns="0" tIns="0" bIns="0" anchor="t">
            <a:normAutofit/>
          </a:bodyPr>
          <a:p>
            <a:pPr marL="432000" indent="-324000">
              <a:lnSpc>
                <a:spcPct val="90000"/>
              </a:lnSpc>
              <a:spcBef>
                <a:spcPts val="1063"/>
              </a:spcBef>
              <a:buClr>
                <a:srgbClr val="000000"/>
              </a:buClr>
              <a:buSzPct val="45000"/>
              <a:buFont typeface="Wingdings" charset="2"/>
              <a:buChar char=""/>
            </a:pPr>
            <a:r>
              <a:rPr lang="en-US" sz="2100" b="0" u="none" strike="noStrike">
                <a:solidFill>
                  <a:schemeClr val="dk1"/>
                </a:solidFill>
                <a:effectLst/>
                <a:uFillTx/>
                <a:latin typeface="Aptos"/>
              </a:rPr>
              <a:t>Click to edit the outline text format</a:t>
            </a:r>
            <a:endParaRPr lang="en-US" sz="2100" b="0" u="none" strike="noStrike">
              <a:solidFill>
                <a:schemeClr val="dk1"/>
              </a:solidFill>
              <a:effectLst/>
              <a:uFillTx/>
              <a:latin typeface="Aptos"/>
            </a:endParaRPr>
          </a:p>
          <a:p>
            <a:pPr marL="864000" lvl="1" indent="-324000">
              <a:lnSpc>
                <a:spcPct val="90000"/>
              </a:lnSpc>
              <a:spcBef>
                <a:spcPts val="848"/>
              </a:spcBef>
              <a:buClr>
                <a:srgbClr val="000000"/>
              </a:buClr>
              <a:buSzPct val="75000"/>
              <a:buFont typeface="Symbol" charset="2"/>
              <a:buChar char=""/>
            </a:pPr>
            <a:r>
              <a:rPr lang="en-US" sz="1500" b="0" u="none" strike="noStrike">
                <a:solidFill>
                  <a:schemeClr val="dk1"/>
                </a:solidFill>
                <a:effectLst/>
                <a:uFillTx/>
                <a:latin typeface="Aptos"/>
              </a:rPr>
              <a:t>Second Outline Level</a:t>
            </a:r>
            <a:endParaRPr lang="en-US" sz="1500" b="0" u="none" strike="noStrike">
              <a:solidFill>
                <a:schemeClr val="dk1"/>
              </a:solidFill>
              <a:effectLst/>
              <a:uFillTx/>
              <a:latin typeface="Aptos"/>
            </a:endParaRPr>
          </a:p>
          <a:p>
            <a:pPr marL="1296000" lvl="2" indent="-288000">
              <a:lnSpc>
                <a:spcPct val="90000"/>
              </a:lnSpc>
              <a:spcBef>
                <a:spcPts val="635"/>
              </a:spcBef>
              <a:buClr>
                <a:srgbClr val="000000"/>
              </a:buClr>
              <a:buSzPct val="45000"/>
              <a:buFont typeface="Wingdings" charset="2"/>
              <a:buChar char=""/>
            </a:pPr>
            <a:r>
              <a:rPr lang="en-US" sz="1350" b="0" u="none" strike="noStrike">
                <a:solidFill>
                  <a:schemeClr val="dk1"/>
                </a:solidFill>
                <a:effectLst/>
                <a:uFillTx/>
                <a:latin typeface="Aptos"/>
              </a:rPr>
              <a:t>Third Outline Level</a:t>
            </a:r>
            <a:endParaRPr lang="en-US" sz="1350" b="0" u="none" strike="noStrike">
              <a:solidFill>
                <a:schemeClr val="dk1"/>
              </a:solidFill>
              <a:effectLst/>
              <a:uFillTx/>
              <a:latin typeface="Aptos"/>
            </a:endParaRPr>
          </a:p>
          <a:p>
            <a:pPr marL="1728000" lvl="3" indent="-216000">
              <a:lnSpc>
                <a:spcPct val="90000"/>
              </a:lnSpc>
              <a:spcBef>
                <a:spcPts val="422"/>
              </a:spcBef>
              <a:buClr>
                <a:srgbClr val="000000"/>
              </a:buClr>
              <a:buSzPct val="75000"/>
              <a:buFont typeface="Symbol" charset="2"/>
              <a:buChar char=""/>
            </a:pPr>
            <a:r>
              <a:rPr lang="en-US" sz="1350" b="0" u="none" strike="noStrike">
                <a:solidFill>
                  <a:schemeClr val="dk1"/>
                </a:solidFill>
                <a:effectLst/>
                <a:uFillTx/>
                <a:latin typeface="Aptos"/>
              </a:rPr>
              <a:t>Fourth Outline Level</a:t>
            </a:r>
            <a:endParaRPr lang="en-US" sz="1350" b="0" u="none" strike="noStrike">
              <a:solidFill>
                <a:schemeClr val="dk1"/>
              </a:solidFill>
              <a:effectLst/>
              <a:uFillTx/>
              <a:latin typeface="Aptos"/>
            </a:endParaRPr>
          </a:p>
          <a:p>
            <a:pPr marL="2160000" lvl="4" indent="-2160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endParaRPr lang="en-US" sz="1500" b="0" u="none" strike="noStrike">
              <a:solidFill>
                <a:schemeClr val="dk1"/>
              </a:solidFill>
              <a:effectLst/>
              <a:uFillTx/>
              <a:latin typeface="Aptos"/>
            </a:endParaRPr>
          </a:p>
          <a:p>
            <a:pPr marL="2592000" lvl="5" indent="-2160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endParaRPr lang="en-US" sz="1500" b="0" u="none" strike="noStrike">
              <a:solidFill>
                <a:schemeClr val="dk1"/>
              </a:solidFill>
              <a:effectLst/>
              <a:uFillTx/>
              <a:latin typeface="Aptos"/>
            </a:endParaRPr>
          </a:p>
          <a:p>
            <a:pPr marL="3024000" lvl="6" indent="-2160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endParaRPr lang="en-US" sz="1500" b="0" u="none" strike="noStrik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hyperlink" Target="file:///C:/Users/Gamer/Documents/GitHub/Medallion%20pipeline/Week_02/Day_10/Slides/&#12304;264677521234698&#8224;L16-L31&#12305;" TargetMode="External"/><Relationship Id="rId10" Type="http://schemas.openxmlformats.org/officeDocument/2006/relationships/hyperlink" Target="file:///C:/Users/Gamer/Documents/GitHub/Medallion%20pipeline/Week_02/Day_10/Slides/&#12304;914129425933635&#8224;L69-L87&#12305;" TargetMode="External"/><Relationship Id="rId11" Type="http://schemas.openxmlformats.org/officeDocument/2006/relationships/hyperlink" Target="file:///C:/Users/Gamer/Documents/GitHub/Medallion%20pipeline/Week_02/Day_10/Slides/&#12304;832184536137635&#8224;L50-L71&#12305;" TargetMode="External"/><Relationship Id="rId12" Type="http://schemas.openxmlformats.org/officeDocument/2006/relationships/slideLayout" Target="../slideLayouts/slideLayout1.xml"/><Relationship Id="rId1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13.png"/><Relationship Id="rId9" Type="http://schemas.openxmlformats.org/officeDocument/2006/relationships/hyperlink" Target="file:///C:/Users/Gamer/Documents/&#12304;914129425933635&#8224;L107-L141&#12305;" TargetMode="External"/><Relationship Id="rId10" Type="http://schemas.openxmlformats.org/officeDocument/2006/relationships/hyperlink" Target="file:///C:/Users/Gamer/Documents/&#12304;757855153343287&#8224;L133-L150&#12305;" TargetMode="External"/><Relationship Id="rId11" Type="http://schemas.openxmlformats.org/officeDocument/2006/relationships/slideLayout" Target="../slideLayouts/slideLayout2.xml"/><Relationship Id="rId1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hyperlink" Target="file:///C:/Users/Gamer/Documents/GitHub/Medallion%20pipeline/Week_02/Day_10/Slides/&#12304;764676770703156&#8224;L185-L196&#12305;" TargetMode="External"/><Relationship Id="rId2" Type="http://schemas.openxmlformats.org/officeDocument/2006/relationships/hyperlink" Target="file:///C:/Users/Gamer/Documents/GitHub/Medallion%20pipeline/Week_02/Day_10/Slides/&#12304;161651347344140&#8224;L248-L255&#12305;" TargetMode="External"/><Relationship Id="rId3" Type="http://schemas.openxmlformats.org/officeDocument/2006/relationships/hyperlink" Target="file:///C:/Users/Gamer/Documents/GitHub/Medallion%20pipeline/Week_02/Day_10/Slides/&#12304;76655757129239&#8224;L164-L176&#12305;" TargetMode="External"/><Relationship Id="rId4" Type="http://schemas.openxmlformats.org/officeDocument/2006/relationships/slideLayout" Target="../slideLayouts/slideLayout1.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file:///C:/Users/Gamer/Documents/GitHub/Medallion%20pipeline/Week_02/Day_10/Slides/&#12304;832184536137635&#8224;L24-L46&#12305;" TargetMode="External"/><Relationship Id="rId6" Type="http://schemas.openxmlformats.org/officeDocument/2006/relationships/hyperlink" Target="file:///C:/Users/Gamer/Documents/GitHub/Medallion%20pipeline/Week_02/Day_10/Slides/&#12304;161651347344140&#8224;L210-L222&#12305;" TargetMode="External"/><Relationship Id="rId7" Type="http://schemas.openxmlformats.org/officeDocument/2006/relationships/slideLayout" Target="../slideLayouts/slideLayout1.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hyperlink" Target="file:///C:/Users/Gamer/Documents/&#12304;764676770703156&#8224;L297-L321&#12305;" TargetMode="External"/><Relationship Id="rId2" Type="http://schemas.openxmlformats.org/officeDocument/2006/relationships/hyperlink" Target="file:///C:/Users/Gamer/Documents/&#12304;240411915442221&#8224;L571-L594&#12305;" TargetMode="External"/><Relationship Id="rId3" Type="http://schemas.openxmlformats.org/officeDocument/2006/relationships/hyperlink" Target="file:///C:/Users/Gamer/Documents/&#12304;76655757129239&#8224;L187-L207&#12305;" TargetMode="External"/><Relationship Id="rId4" Type="http://schemas.openxmlformats.org/officeDocument/2006/relationships/slideLayout" Target="../slideLayouts/slideLayout2.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hyperlink" Target="file:///C:/Users/Gamer/Documents/GitHub/Medallion%20pipeline/Week_02/Day_10/Slides/&#12304;264677521234698&#8224;L16-L31&#12305;" TargetMode="External"/><Relationship Id="rId2" Type="http://schemas.openxmlformats.org/officeDocument/2006/relationships/hyperlink" Target="file:///C:/Users/Gamer/Documents/GitHub/Medallion%20pipeline/Week_02/Day_10/Slides/&#12304;73443659327933&#8224;L127-L148&#12305;" TargetMode="External"/><Relationship Id="rId3" Type="http://schemas.openxmlformats.org/officeDocument/2006/relationships/hyperlink" Target="file:///C:/Users/Gamer/Documents/GitHub/Medallion%20pipeline/Week_02/Day_10/Slides/&#12304;764676770703156&#8224;L234-L248&#12305;" TargetMode="External"/><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hyperlink" Target="file:///C:/Users/Gamer/Documents/GitHub/Medallion%20pipeline/Week_02/Day_10/Slides/&#12304;645518690862239&#8224;L139-L173&#12305;" TargetMode="External"/><Relationship Id="rId2" Type="http://schemas.openxmlformats.org/officeDocument/2006/relationships/hyperlink" Target="file:///C:/Users/Gamer/Documents/GitHub/Medallion%20pipeline/Week_02/Day_10/Slides/&#12304;645518690862239&#8224;L284-L296&#12305;" TargetMode="External"/><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hyperlink" Target="file:///C:/Users/Gamer/Documents/GitHub/Medallion%20pipeline/Week_02/Day_10/Slides/&#12304;738270415585089&#8224;L571-L594&#12305;" TargetMode="External"/><Relationship Id="rId2" Type="http://schemas.openxmlformats.org/officeDocument/2006/relationships/hyperlink" Target="file:///C:/Users/Gamer/Documents/GitHub/Medallion%20pipeline/Week_02/Day_10/Slides/&#12304;161651347344140&#8224;L248-L255&#12305;" TargetMode="External"/><Relationship Id="rId3" Type="http://schemas.openxmlformats.org/officeDocument/2006/relationships/hyperlink" Target="file:///C:/Users/Gamer/Documents/GitHub/Medallion%20pipeline/Week_02/Day_10/Slides/&#12304;161651347344140&#8224;L259-L279&#12305;" TargetMode="External"/><Relationship Id="rId4" Type="http://schemas.openxmlformats.org/officeDocument/2006/relationships/hyperlink" Target="file:///C:/Users/Gamer/Documents/GitHub/Medallion%20pipeline/Week_02/Day_10/Slides/&#12304;161651347344140&#8224;L288-L298&#12305;" TargetMode="External"/><Relationship Id="rId5" Type="http://schemas.openxmlformats.org/officeDocument/2006/relationships/slideLayout" Target="../slideLayouts/slideLayout1.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hyperlink" Target="file:///C:/Users/Gamer/Documents/GitHub/Medallion%20pipeline/Week_02/Day_10/Slides/&#12304;76655757129239&#8224;L187-L207&#12305;" TargetMode="External"/><Relationship Id="rId2" Type="http://schemas.openxmlformats.org/officeDocument/2006/relationships/hyperlink" Target="file:///C:/Users/Gamer/Documents/GitHub/Medallion%20pipeline/Week_02/Day_10/Slides/&#12304;298368715109598&#8224;L154-L180&#12305;" TargetMode="External"/><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hyperlink" Target="file:///C:/Users/Gamer/Documents/GitHub/Medallion%20pipeline/Week_02/Day_10/Slides/&#12304;914129425933635&#8224;L107-L141&#12305;" TargetMode="External"/><Relationship Id="rId2" Type="http://schemas.openxmlformats.org/officeDocument/2006/relationships/hyperlink" Target="file:///C:/Users/Gamer/Documents/GitHub/Medallion%20pipeline/Week_02/Day_10/Slides/&#12304;757855153343287&#8224;L133-L150&#12305;" TargetMode="External"/><Relationship Id="rId3" Type="http://schemas.openxmlformats.org/officeDocument/2006/relationships/hyperlink" Target="file:///C:/Users/Gamer/Documents/GitHub/Medallion%20pipeline/Week_02/Day_10/Slides/&#12304;831215892819426&#8224;L136-L154&#12305;" TargetMode="External"/><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hyperlink" Target="file:///C:/Users/Gamer/Documents/GitHub/Medallion%20pipeline/Week_02/Day_10/Slides/&#12304;764676770703156&#8224;L327-L329&#12305;" TargetMode="External"/><Relationship Id="rId2" Type="http://schemas.openxmlformats.org/officeDocument/2006/relationships/hyperlink" Target="file:///C:/Users/Gamer/Documents/GitHub/Medallion%20pipeline/Week_02/Day_10/Slides/&#12304;240411915442221&#8224;L571-L594&#12305;" TargetMode="External"/><Relationship Id="rId3" Type="http://schemas.openxmlformats.org/officeDocument/2006/relationships/hyperlink" Target="file:///C:/Users/Gamer/Documents/GitHub/Medallion%20pipeline/Week_02/Day_10/Slides/&#12304;298368715109598&#8224;L154-L180&#12305;" TargetMode="External"/><Relationship Id="rId4" Type="http://schemas.openxmlformats.org/officeDocument/2006/relationships/slideLayout" Target="../slideLayouts/slideLayout1.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hyperlink" Target="file:///C:/Users/Gamer/Documents/GitHub/Medallion%20pipeline/Week_02/Day_10/Slides/&#12304;702206152357481&#8224;L131-L153&#12305;" TargetMode="External"/><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hyperlink" Target="file:///C:/Users/Gamer/Documents/GitHub/Medallion%20pipeline/Week_02/Day_10/Slides/&#12304;73443659327933&#8224;L127-L148&#12305;" TargetMode="External"/><Relationship Id="rId2" Type="http://schemas.openxmlformats.org/officeDocument/2006/relationships/hyperlink" Target="file:///C:/Users/Gamer/Documents/GitHub/Medallion%20pipeline/Week_02/Day_10/Slides/&#12304;764676770703156&#8224;L185-L196&#12305;" TargetMode="External"/><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hyperlink" Target="file:///C:/Users/Gamer/Documents/GitHub/Medallion%20pipeline/Week_02/Day_10/Slides/&#12304;645518690862239&#8224;L213-L232&#12305;" TargetMode="External"/><Relationship Id="rId2" Type="http://schemas.openxmlformats.org/officeDocument/2006/relationships/hyperlink" Target="file:///C:/Users/Gamer/Documents/GitHub/Medallion%20pipeline/Week_02/Day_10/Slides/&#12304;645518690862239&#8224;L284-L296&#12305;" TargetMode="External"/><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hyperlink" Target="file:///C:/Users/Gamer/Documents/GitHub/Medallion%20pipeline/Week_02/Day_10/Slides/&#12304;709367339829282&#8224;L361-L401&#12305;" TargetMode="External"/><Relationship Id="rId2" Type="http://schemas.openxmlformats.org/officeDocument/2006/relationships/hyperlink" Target="file:///C:/Users/Gamer/Documents/GitHub/Medallion%20pipeline/Week_02/Day_10/Slides/&#12304;161651347344140&#8224;L259-L279&#12305;" TargetMode="External"/><Relationship Id="rId3" Type="http://schemas.openxmlformats.org/officeDocument/2006/relationships/hyperlink" Target="file:///C:/Users/Gamer/Documents/GitHub/Medallion%20pipeline/Week_02/Day_10/Slides/&#12304;161651347344140&#8224;L288-L298&#12305;" TargetMode="External"/><Relationship Id="rId4" Type="http://schemas.openxmlformats.org/officeDocument/2006/relationships/slideLayout" Target="../slideLayouts/slideLayout1.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hyperlink" Target="file:///C:/Users/Gamer/Documents/GitHub/Medallion%20pipeline/Week_02/Day_10/Slides/&#12304;76655757129239&#8224;L217-L224&#12305;" TargetMode="External"/><Relationship Id="rId2" Type="http://schemas.openxmlformats.org/officeDocument/2006/relationships/hyperlink" Target="file:///C:/Users/Gamer/Documents/GitHub/Medallion%20pipeline/Week_02/Day_10/Slides/&#12304;161651347344140&#8224;L310-L316&#12305;" TargetMode="External"/><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hyperlink" Target="file:///C:/Users/Gamer/Documents/GitHub/Medallion%20pipeline/Week_02/Day_10/Slides/&#12304;831215892819426&#8224;L165-L179&#12305;" TargetMode="External"/><Relationship Id="rId2" Type="http://schemas.openxmlformats.org/officeDocument/2006/relationships/hyperlink" Target="file:///C:/Users/Gamer/Documents/GitHub/Medallion%20pipeline/Week_02/Day_10/Slides/&#12304;11958451080285&#8224;L326-L347&#12305;" TargetMode="External"/><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3.png"/><Relationship Id="rId3" Type="http://schemas.openxmlformats.org/officeDocument/2006/relationships/image" Target="../media/image13.png"/><Relationship Id="rId4" Type="http://schemas.openxmlformats.org/officeDocument/2006/relationships/image" Target="../media/image13.png"/><Relationship Id="rId5" Type="http://schemas.openxmlformats.org/officeDocument/2006/relationships/image" Target="../media/image13.png"/><Relationship Id="rId6" Type="http://schemas.openxmlformats.org/officeDocument/2006/relationships/image" Target="../media/image13.png"/><Relationship Id="rId7" Type="http://schemas.openxmlformats.org/officeDocument/2006/relationships/slideLayout" Target="../slideLayouts/slideLayout1.xml"/><Relationship Id="rId8"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hyperlink" Target="file:///C:/Users/Gamer/Documents/GitHub/Medallion%20pipeline/Week_02/Day_10/Slides/&#12304;831215892819426&#8224;L213-L219&#12305;" TargetMode="External"/><Relationship Id="rId2" Type="http://schemas.openxmlformats.org/officeDocument/2006/relationships/hyperlink" Target="file:///C:/Users/Gamer/Documents/GitHub/Medallion%20pipeline/Week_02/Day_10/Slides/&#12304;11958451080285&#8224;L451-L459&#12305;" TargetMode="External"/><Relationship Id="rId3" Type="http://schemas.openxmlformats.org/officeDocument/2006/relationships/slideLayout" Target="../slideLayouts/slideLayout1.xml"/><Relationship Id="rId4" Type="http://schemas.openxmlformats.org/officeDocument/2006/relationships/notesSlide" Target="../notesSlides/notesSlide2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2" name="Shape 0"/>
          <p:cNvSpPr/>
          <p:nvPr/>
        </p:nvSpPr>
        <p:spPr>
          <a:xfrm>
            <a:off x="0" y="0"/>
            <a:ext cx="9143640" cy="54828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 name="Text 1"/>
          <p:cNvSpPr/>
          <p:nvPr/>
        </p:nvSpPr>
        <p:spPr>
          <a:xfrm>
            <a:off x="457200" y="91440"/>
            <a:ext cx="731484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400" b="1" u="none" strike="noStrike">
                <a:solidFill>
                  <a:srgbClr val="ffffff"/>
                </a:solidFill>
                <a:effectLst/>
                <a:uFillTx/>
                <a:latin typeface="Calibri"/>
              </a:rPr>
              <a:t>Day 10</a:t>
            </a:r>
            <a:r>
              <a:rPr lang="en-US" sz="1600" b="0" u="none" strike="noStrike">
                <a:solidFill>
                  <a:srgbClr val="ffffff"/>
                </a:solidFill>
                <a:effectLst/>
                <a:uFillTx/>
                <a:latin typeface="Calibri"/>
              </a:rPr>
              <a:t>  Final Project: Unified Streaming Data Platform</a:t>
            </a:r>
            <a:endParaRPr lang="en-IN" sz="1600" b="0" u="none" strike="noStrike">
              <a:solidFill>
                <a:srgbClr val="000000"/>
              </a:solidFill>
              <a:effectLst/>
              <a:uFillTx/>
              <a:latin typeface="Arial"/>
            </a:endParaRPr>
          </a:p>
        </p:txBody>
      </p:sp>
      <p:sp>
        <p:nvSpPr>
          <p:cNvPr id="14" name="Text 2"/>
          <p:cNvSpPr/>
          <p:nvPr/>
        </p:nvSpPr>
        <p:spPr>
          <a:xfrm>
            <a:off x="457200" y="914400"/>
            <a:ext cx="777204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600" b="0" i="1" u="none" strike="noStrike">
                <a:solidFill>
                  <a:srgbClr val="003c54"/>
                </a:solidFill>
                <a:effectLst/>
                <a:uFillTx/>
                <a:latin typeface="Calibri"/>
              </a:rPr>
              <a:t>Capstone Project</a:t>
            </a:r>
            <a:br>
              <a:rPr sz="1600"/>
            </a:br>
            <a:r>
              <a:rPr lang="en-US" sz="1600" b="0" i="1" u="none" strike="noStrike">
                <a:solidFill>
                  <a:srgbClr val="003c54"/>
                </a:solidFill>
                <a:effectLst/>
                <a:uFillTx/>
                <a:latin typeface="Calibri"/>
              </a:rPr>
              <a:t>Bringing it all together: from CDC to serving</a:t>
            </a:r>
            <a:endParaRPr lang="en-IN" sz="1600" b="0" u="none" strike="noStrike">
              <a:solidFill>
                <a:srgbClr val="000000"/>
              </a:solidFill>
              <a:effectLst/>
              <a:uFillTx/>
              <a:latin typeface="Arial"/>
            </a:endParaRPr>
          </a:p>
        </p:txBody>
      </p:sp>
      <p:sp>
        <p:nvSpPr>
          <p:cNvPr id="15" name="Text 12"/>
          <p:cNvSpPr/>
          <p:nvPr/>
        </p:nvSpPr>
        <p:spPr>
          <a:xfrm>
            <a:off x="7315200" y="91440"/>
            <a:ext cx="1371240" cy="3654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6"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Learning Objectives</a:t>
            </a:r>
            <a:endParaRPr lang="en-IN" sz="2000" b="0" u="none" strike="noStrike">
              <a:solidFill>
                <a:srgbClr val="000000"/>
              </a:solidFill>
              <a:effectLst/>
              <a:uFillTx/>
              <a:latin typeface="Arial"/>
            </a:endParaRPr>
          </a:p>
        </p:txBody>
      </p:sp>
      <p:pic>
        <p:nvPicPr>
          <p:cNvPr id="18" name="Image 0"/>
          <p:cNvPicPr/>
          <p:nvPr/>
        </p:nvPicPr>
        <p:blipFill>
          <a:blip r:embed="rId1"/>
          <a:stretch/>
        </p:blipFill>
        <p:spPr>
          <a:xfrm>
            <a:off x="457200" y="640080"/>
            <a:ext cx="228240" cy="228240"/>
          </a:xfrm>
          <a:prstGeom prst="rect">
            <a:avLst/>
          </a:prstGeom>
          <a:noFill/>
          <a:ln w="0">
            <a:noFill/>
          </a:ln>
        </p:spPr>
      </p:pic>
      <p:sp>
        <p:nvSpPr>
          <p:cNvPr id="19" name="Text 2"/>
          <p:cNvSpPr/>
          <p:nvPr/>
        </p:nvSpPr>
        <p:spPr>
          <a:xfrm>
            <a:off x="777240" y="68580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Articulate the business problem and map data sources</a:t>
            </a:r>
            <a:endParaRPr lang="en-IN" sz="1100" b="0" u="none" strike="noStrike">
              <a:solidFill>
                <a:srgbClr val="000000"/>
              </a:solidFill>
              <a:effectLst/>
              <a:uFillTx/>
              <a:latin typeface="Arial"/>
            </a:endParaRPr>
          </a:p>
        </p:txBody>
      </p:sp>
      <p:pic>
        <p:nvPicPr>
          <p:cNvPr id="20" name="Image 1"/>
          <p:cNvPicPr/>
          <p:nvPr/>
        </p:nvPicPr>
        <p:blipFill>
          <a:blip r:embed="rId2"/>
          <a:stretch/>
        </p:blipFill>
        <p:spPr>
          <a:xfrm>
            <a:off x="457200" y="960120"/>
            <a:ext cx="228240" cy="228240"/>
          </a:xfrm>
          <a:prstGeom prst="rect">
            <a:avLst/>
          </a:prstGeom>
          <a:noFill/>
          <a:ln w="0">
            <a:noFill/>
          </a:ln>
        </p:spPr>
      </p:pic>
      <p:sp>
        <p:nvSpPr>
          <p:cNvPr id="21" name="Text 3"/>
          <p:cNvSpPr/>
          <p:nvPr/>
        </p:nvSpPr>
        <p:spPr>
          <a:xfrm>
            <a:off x="777240" y="100584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Design an end‑to‑end streaming data architecture</a:t>
            </a:r>
            <a:endParaRPr lang="en-IN" sz="1100" b="0" u="none" strike="noStrike">
              <a:solidFill>
                <a:srgbClr val="000000"/>
              </a:solidFill>
              <a:effectLst/>
              <a:uFillTx/>
              <a:latin typeface="Arial"/>
            </a:endParaRPr>
          </a:p>
        </p:txBody>
      </p:sp>
      <p:pic>
        <p:nvPicPr>
          <p:cNvPr id="22" name="Image 2"/>
          <p:cNvPicPr/>
          <p:nvPr/>
        </p:nvPicPr>
        <p:blipFill>
          <a:blip r:embed="rId3"/>
          <a:stretch/>
        </p:blipFill>
        <p:spPr>
          <a:xfrm>
            <a:off x="457200" y="1280160"/>
            <a:ext cx="228240" cy="228240"/>
          </a:xfrm>
          <a:prstGeom prst="rect">
            <a:avLst/>
          </a:prstGeom>
          <a:noFill/>
          <a:ln w="0">
            <a:noFill/>
          </a:ln>
        </p:spPr>
      </p:pic>
      <p:sp>
        <p:nvSpPr>
          <p:cNvPr id="23" name="Text 4"/>
          <p:cNvSpPr/>
          <p:nvPr/>
        </p:nvSpPr>
        <p:spPr>
          <a:xfrm>
            <a:off x="777240" y="132588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Capture changes with Debezium and manage schemas</a:t>
            </a:r>
            <a:endParaRPr lang="en-IN" sz="1100" b="0" u="none" strike="noStrike">
              <a:solidFill>
                <a:srgbClr val="000000"/>
              </a:solidFill>
              <a:effectLst/>
              <a:uFillTx/>
              <a:latin typeface="Arial"/>
            </a:endParaRPr>
          </a:p>
        </p:txBody>
      </p:sp>
      <p:pic>
        <p:nvPicPr>
          <p:cNvPr id="24" name="Image 3"/>
          <p:cNvPicPr/>
          <p:nvPr/>
        </p:nvPicPr>
        <p:blipFill>
          <a:blip r:embed="rId4"/>
          <a:stretch/>
        </p:blipFill>
        <p:spPr>
          <a:xfrm>
            <a:off x="457200" y="1600200"/>
            <a:ext cx="228240" cy="228240"/>
          </a:xfrm>
          <a:prstGeom prst="rect">
            <a:avLst/>
          </a:prstGeom>
          <a:noFill/>
          <a:ln w="0">
            <a:noFill/>
          </a:ln>
        </p:spPr>
      </p:pic>
      <p:sp>
        <p:nvSpPr>
          <p:cNvPr id="25" name="Text 5"/>
          <p:cNvSpPr/>
          <p:nvPr/>
        </p:nvSpPr>
        <p:spPr>
          <a:xfrm>
            <a:off x="777240" y="164592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Map transformation and medallion-storage extensions from earlier days</a:t>
            </a:r>
            <a:endParaRPr lang="en-IN" sz="1100" b="0" u="none" strike="noStrike">
              <a:solidFill>
                <a:srgbClr val="000000"/>
              </a:solidFill>
              <a:effectLst/>
              <a:uFillTx/>
              <a:latin typeface="Arial"/>
            </a:endParaRPr>
          </a:p>
        </p:txBody>
      </p:sp>
      <p:pic>
        <p:nvPicPr>
          <p:cNvPr id="26" name="Image 4"/>
          <p:cNvPicPr/>
          <p:nvPr/>
        </p:nvPicPr>
        <p:blipFill>
          <a:blip r:embed="rId5"/>
          <a:stretch/>
        </p:blipFill>
        <p:spPr>
          <a:xfrm>
            <a:off x="457200" y="1920240"/>
            <a:ext cx="228240" cy="228240"/>
          </a:xfrm>
          <a:prstGeom prst="rect">
            <a:avLst/>
          </a:prstGeom>
          <a:noFill/>
          <a:ln w="0">
            <a:noFill/>
          </a:ln>
        </p:spPr>
      </p:pic>
      <p:sp>
        <p:nvSpPr>
          <p:cNvPr id="27" name="Text 6"/>
          <p:cNvSpPr/>
          <p:nvPr/>
        </p:nvSpPr>
        <p:spPr>
          <a:xfrm>
            <a:off x="777240" y="196596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Explain where Airflow orchestration would coordinate bounded jobs</a:t>
            </a:r>
            <a:endParaRPr lang="en-IN" sz="1100" b="0" u="none" strike="noStrike">
              <a:solidFill>
                <a:srgbClr val="000000"/>
              </a:solidFill>
              <a:effectLst/>
              <a:uFillTx/>
              <a:latin typeface="Arial"/>
            </a:endParaRPr>
          </a:p>
        </p:txBody>
      </p:sp>
      <p:pic>
        <p:nvPicPr>
          <p:cNvPr id="28" name="Image 5"/>
          <p:cNvPicPr/>
          <p:nvPr/>
        </p:nvPicPr>
        <p:blipFill>
          <a:blip r:embed="rId6"/>
          <a:stretch/>
        </p:blipFill>
        <p:spPr>
          <a:xfrm>
            <a:off x="457200" y="2240280"/>
            <a:ext cx="228240" cy="228240"/>
          </a:xfrm>
          <a:prstGeom prst="rect">
            <a:avLst/>
          </a:prstGeom>
          <a:noFill/>
          <a:ln w="0">
            <a:noFill/>
          </a:ln>
        </p:spPr>
      </p:pic>
      <p:sp>
        <p:nvSpPr>
          <p:cNvPr id="29" name="Text 7"/>
          <p:cNvSpPr/>
          <p:nvPr/>
        </p:nvSpPr>
        <p:spPr>
          <a:xfrm>
            <a:off x="777240" y="228600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Query &amp; serve data in real time with ksqlDB and Kafka Streams</a:t>
            </a:r>
            <a:endParaRPr lang="en-IN" sz="1100" b="0" u="none" strike="noStrike">
              <a:solidFill>
                <a:srgbClr val="000000"/>
              </a:solidFill>
              <a:effectLst/>
              <a:uFillTx/>
              <a:latin typeface="Arial"/>
            </a:endParaRPr>
          </a:p>
        </p:txBody>
      </p:sp>
      <p:pic>
        <p:nvPicPr>
          <p:cNvPr id="30" name="Image 6"/>
          <p:cNvPicPr/>
          <p:nvPr/>
        </p:nvPicPr>
        <p:blipFill>
          <a:blip r:embed="rId7"/>
          <a:stretch/>
        </p:blipFill>
        <p:spPr>
          <a:xfrm>
            <a:off x="457200" y="2560320"/>
            <a:ext cx="228240" cy="228240"/>
          </a:xfrm>
          <a:prstGeom prst="rect">
            <a:avLst/>
          </a:prstGeom>
          <a:noFill/>
          <a:ln w="0">
            <a:noFill/>
          </a:ln>
        </p:spPr>
      </p:pic>
      <p:sp>
        <p:nvSpPr>
          <p:cNvPr id="31" name="Text 8"/>
          <p:cNvSpPr/>
          <p:nvPr/>
        </p:nvSpPr>
        <p:spPr>
          <a:xfrm>
            <a:off x="777240" y="260604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Implement the supplied CDC-to-ksqlDB capstone and diagnose issues</a:t>
            </a:r>
            <a:endParaRPr lang="en-IN" sz="1100" b="0" u="none" strike="noStrike">
              <a:solidFill>
                <a:srgbClr val="000000"/>
              </a:solidFill>
              <a:effectLst/>
              <a:uFillTx/>
              <a:latin typeface="Arial"/>
            </a:endParaRPr>
          </a:p>
        </p:txBody>
      </p:sp>
      <p:pic>
        <p:nvPicPr>
          <p:cNvPr id="32" name="Image 7"/>
          <p:cNvPicPr/>
          <p:nvPr/>
        </p:nvPicPr>
        <p:blipFill>
          <a:blip r:embed="rId8"/>
          <a:stretch/>
        </p:blipFill>
        <p:spPr>
          <a:xfrm>
            <a:off x="457200" y="2880360"/>
            <a:ext cx="228240" cy="228240"/>
          </a:xfrm>
          <a:prstGeom prst="rect">
            <a:avLst/>
          </a:prstGeom>
          <a:noFill/>
          <a:ln w="0">
            <a:noFill/>
          </a:ln>
        </p:spPr>
      </p:pic>
      <p:sp>
        <p:nvSpPr>
          <p:cNvPr id="33" name="Text 9"/>
          <p:cNvSpPr/>
          <p:nvPr/>
        </p:nvSpPr>
        <p:spPr>
          <a:xfrm>
            <a:off x="777240" y="292608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Submit architecture, evidence, Gold metric and BI dashboard artifact</a:t>
            </a:r>
            <a:endParaRPr lang="en-IN" sz="1100" b="0" u="none" strike="noStrike">
              <a:solidFill>
                <a:srgbClr val="000000"/>
              </a:solidFill>
              <a:effectLst/>
              <a:uFillTx/>
              <a:latin typeface="Arial"/>
            </a:endParaRPr>
          </a:p>
        </p:txBody>
      </p:sp>
      <p:sp>
        <p:nvSpPr>
          <p:cNvPr id="34" name="Text 10"/>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9"/>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10"/>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11"/>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Shape 29"/>
          <p:cNvSpPr/>
          <p:nvPr/>
        </p:nvSpPr>
        <p:spPr>
          <a:xfrm>
            <a:off x="0" y="360"/>
            <a:ext cx="914400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36" name="Text 42"/>
          <p:cNvSpPr/>
          <p:nvPr/>
        </p:nvSpPr>
        <p:spPr>
          <a:xfrm>
            <a:off x="45684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lang="en-US" sz="2660" b="1" u="none" strike="noStrike">
                <a:solidFill>
                  <a:srgbClr val="ffffff"/>
                </a:solidFill>
                <a:effectLst/>
                <a:uFillTx/>
                <a:latin typeface="Aptos"/>
              </a:rPr>
              <a:t>Agenda</a:t>
            </a:r>
            <a:endParaRPr lang="en-IN" sz="2660" b="0" u="none" strike="noStrike">
              <a:solidFill>
                <a:srgbClr val="000000"/>
              </a:solidFill>
              <a:effectLst/>
              <a:uFillTx/>
              <a:latin typeface="Arial"/>
            </a:endParaRPr>
          </a:p>
        </p:txBody>
      </p:sp>
      <p:sp>
        <p:nvSpPr>
          <p:cNvPr id="37" name="Shape 48"/>
          <p:cNvSpPr/>
          <p:nvPr/>
        </p:nvSpPr>
        <p:spPr>
          <a:xfrm>
            <a:off x="1081080" y="1097280"/>
            <a:ext cx="80892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38" name="Shape 49"/>
          <p:cNvSpPr/>
          <p:nvPr/>
        </p:nvSpPr>
        <p:spPr>
          <a:xfrm>
            <a:off x="8614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39" name="Image 16"/>
          <p:cNvPicPr/>
          <p:nvPr/>
        </p:nvPicPr>
        <p:blipFill>
          <a:blip r:embed="rId1"/>
          <a:stretch/>
        </p:blipFill>
        <p:spPr>
          <a:xfrm>
            <a:off x="879840" y="1023840"/>
            <a:ext cx="182520" cy="182520"/>
          </a:xfrm>
          <a:prstGeom prst="rect">
            <a:avLst/>
          </a:prstGeom>
          <a:solidFill>
            <a:schemeClr val="bg1"/>
          </a:solidFill>
          <a:ln w="0">
            <a:noFill/>
          </a:ln>
        </p:spPr>
      </p:pic>
      <p:sp>
        <p:nvSpPr>
          <p:cNvPr id="40" name="Text 43"/>
          <p:cNvSpPr/>
          <p:nvPr/>
        </p:nvSpPr>
        <p:spPr>
          <a:xfrm>
            <a:off x="2739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9:00</a:t>
            </a:r>
            <a:endParaRPr lang="en-IN" sz="1070" b="0" u="none" strike="noStrike">
              <a:solidFill>
                <a:srgbClr val="000000"/>
              </a:solidFill>
              <a:effectLst/>
              <a:uFillTx/>
              <a:latin typeface="Arial"/>
            </a:endParaRPr>
          </a:p>
        </p:txBody>
      </p:sp>
      <p:sp>
        <p:nvSpPr>
          <p:cNvPr id="41" name="Text 44"/>
          <p:cNvSpPr/>
          <p:nvPr/>
        </p:nvSpPr>
        <p:spPr>
          <a:xfrm>
            <a:off x="91440" y="1416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Recap &amp; Problem Definition</a:t>
            </a:r>
            <a:endParaRPr lang="en-IN" sz="939" b="0" u="none" strike="noStrike">
              <a:solidFill>
                <a:srgbClr val="000000"/>
              </a:solidFill>
              <a:effectLst/>
              <a:uFillTx/>
              <a:latin typeface="Arial"/>
            </a:endParaRPr>
          </a:p>
        </p:txBody>
      </p:sp>
      <p:sp>
        <p:nvSpPr>
          <p:cNvPr id="42" name="Shape 50"/>
          <p:cNvSpPr/>
          <p:nvPr/>
        </p:nvSpPr>
        <p:spPr>
          <a:xfrm>
            <a:off x="2127600" y="1097280"/>
            <a:ext cx="80892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43" name="Shape 51"/>
          <p:cNvSpPr/>
          <p:nvPr/>
        </p:nvSpPr>
        <p:spPr>
          <a:xfrm>
            <a:off x="18900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44" name="Image 17"/>
          <p:cNvPicPr/>
          <p:nvPr/>
        </p:nvPicPr>
        <p:blipFill>
          <a:blip r:embed="rId2"/>
          <a:stretch/>
        </p:blipFill>
        <p:spPr>
          <a:xfrm>
            <a:off x="1908720" y="1023840"/>
            <a:ext cx="182520" cy="182520"/>
          </a:xfrm>
          <a:prstGeom prst="rect">
            <a:avLst/>
          </a:prstGeom>
          <a:solidFill>
            <a:schemeClr val="bg1"/>
          </a:solidFill>
          <a:ln w="0">
            <a:noFill/>
          </a:ln>
        </p:spPr>
      </p:pic>
      <p:sp>
        <p:nvSpPr>
          <p:cNvPr id="45" name="Text 45"/>
          <p:cNvSpPr/>
          <p:nvPr/>
        </p:nvSpPr>
        <p:spPr>
          <a:xfrm>
            <a:off x="13028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9:30</a:t>
            </a:r>
            <a:endParaRPr lang="en-IN" sz="1070" b="0" u="none" strike="noStrike">
              <a:solidFill>
                <a:srgbClr val="000000"/>
              </a:solidFill>
              <a:effectLst/>
              <a:uFillTx/>
              <a:latin typeface="Arial"/>
            </a:endParaRPr>
          </a:p>
        </p:txBody>
      </p:sp>
      <p:sp>
        <p:nvSpPr>
          <p:cNvPr id="46" name="Text 46"/>
          <p:cNvSpPr/>
          <p:nvPr/>
        </p:nvSpPr>
        <p:spPr>
          <a:xfrm>
            <a:off x="1119960" y="1812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Architecture Design</a:t>
            </a:r>
            <a:endParaRPr lang="en-IN" sz="939" b="0" u="none" strike="noStrike">
              <a:solidFill>
                <a:srgbClr val="000000"/>
              </a:solidFill>
              <a:effectLst/>
              <a:uFillTx/>
              <a:latin typeface="Arial"/>
            </a:endParaRPr>
          </a:p>
        </p:txBody>
      </p:sp>
      <p:sp>
        <p:nvSpPr>
          <p:cNvPr id="47" name="Shape 52"/>
          <p:cNvSpPr/>
          <p:nvPr/>
        </p:nvSpPr>
        <p:spPr>
          <a:xfrm>
            <a:off x="3019320" y="1097280"/>
            <a:ext cx="927720" cy="33840"/>
          </a:xfrm>
          <a:prstGeom prst="rect">
            <a:avLst/>
          </a:prstGeom>
          <a:solidFill>
            <a:srgbClr val="6a6a6a"/>
          </a:solidFill>
          <a:ln w="12700">
            <a:solidFill>
              <a:srgbClr val="6a6a6a"/>
            </a:solidFill>
            <a:round/>
          </a:ln>
        </p:spPr>
        <p:style>
          <a:lnRef idx="0"/>
          <a:fillRef idx="0"/>
          <a:effectRef idx="0"/>
          <a:fontRef idx="minor"/>
        </p:style>
        <p:txBody>
          <a:bodyPr lIns="90000" rIns="90000" tIns="-10800" bIns="-10800" anchor="t">
            <a:noAutofit/>
          </a:bodyPr>
          <a:p>
            <a:endParaRPr lang="en-IN" sz="2400" b="0" u="none" strike="noStrike">
              <a:solidFill>
                <a:schemeClr val="dk1"/>
              </a:solidFill>
              <a:effectLst/>
              <a:uFillTx/>
              <a:latin typeface="Aptos"/>
            </a:endParaRPr>
          </a:p>
        </p:txBody>
      </p:sp>
      <p:sp>
        <p:nvSpPr>
          <p:cNvPr id="48" name="Shape 53"/>
          <p:cNvSpPr/>
          <p:nvPr/>
        </p:nvSpPr>
        <p:spPr>
          <a:xfrm>
            <a:off x="29188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49" name="Image 18"/>
          <p:cNvPicPr/>
          <p:nvPr/>
        </p:nvPicPr>
        <p:blipFill>
          <a:blip r:embed="rId3"/>
          <a:stretch/>
        </p:blipFill>
        <p:spPr>
          <a:xfrm>
            <a:off x="2937240" y="1023840"/>
            <a:ext cx="182520" cy="182520"/>
          </a:xfrm>
          <a:prstGeom prst="rect">
            <a:avLst/>
          </a:prstGeom>
          <a:solidFill>
            <a:schemeClr val="bg1"/>
          </a:solidFill>
          <a:ln w="0">
            <a:noFill/>
          </a:ln>
        </p:spPr>
      </p:pic>
      <p:sp>
        <p:nvSpPr>
          <p:cNvPr id="50" name="Text 47"/>
          <p:cNvSpPr/>
          <p:nvPr/>
        </p:nvSpPr>
        <p:spPr>
          <a:xfrm>
            <a:off x="23313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10:15</a:t>
            </a:r>
            <a:endParaRPr lang="en-IN" sz="1070" b="0" u="none" strike="noStrike">
              <a:solidFill>
                <a:srgbClr val="000000"/>
              </a:solidFill>
              <a:effectLst/>
              <a:uFillTx/>
              <a:latin typeface="Arial"/>
            </a:endParaRPr>
          </a:p>
        </p:txBody>
      </p:sp>
      <p:sp>
        <p:nvSpPr>
          <p:cNvPr id="51" name="Text 48"/>
          <p:cNvSpPr/>
          <p:nvPr/>
        </p:nvSpPr>
        <p:spPr>
          <a:xfrm>
            <a:off x="2148840" y="1416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Components Deep Dive</a:t>
            </a:r>
            <a:endParaRPr lang="en-IN" sz="939" b="0" u="none" strike="noStrike">
              <a:solidFill>
                <a:srgbClr val="000000"/>
              </a:solidFill>
              <a:effectLst/>
              <a:uFillTx/>
              <a:latin typeface="Arial"/>
            </a:endParaRPr>
          </a:p>
        </p:txBody>
      </p:sp>
      <p:sp>
        <p:nvSpPr>
          <p:cNvPr id="52" name="Shape 54"/>
          <p:cNvSpPr/>
          <p:nvPr/>
        </p:nvSpPr>
        <p:spPr>
          <a:xfrm>
            <a:off x="4047840" y="1097280"/>
            <a:ext cx="92772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53" name="Shape 55"/>
          <p:cNvSpPr/>
          <p:nvPr/>
        </p:nvSpPr>
        <p:spPr>
          <a:xfrm>
            <a:off x="39474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54" name="Image 19"/>
          <p:cNvPicPr/>
          <p:nvPr/>
        </p:nvPicPr>
        <p:blipFill>
          <a:blip r:embed="rId4"/>
          <a:stretch/>
        </p:blipFill>
        <p:spPr>
          <a:xfrm>
            <a:off x="3966120" y="1023840"/>
            <a:ext cx="182520" cy="182520"/>
          </a:xfrm>
          <a:prstGeom prst="rect">
            <a:avLst/>
          </a:prstGeom>
          <a:solidFill>
            <a:schemeClr val="bg1"/>
          </a:solidFill>
          <a:ln w="0">
            <a:noFill/>
          </a:ln>
        </p:spPr>
      </p:pic>
      <p:sp>
        <p:nvSpPr>
          <p:cNvPr id="55" name="Text 49"/>
          <p:cNvSpPr/>
          <p:nvPr/>
        </p:nvSpPr>
        <p:spPr>
          <a:xfrm>
            <a:off x="33602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12:00</a:t>
            </a:r>
            <a:endParaRPr lang="en-IN" sz="1070" b="0" u="none" strike="noStrike">
              <a:solidFill>
                <a:srgbClr val="000000"/>
              </a:solidFill>
              <a:effectLst/>
              <a:uFillTx/>
              <a:latin typeface="Arial"/>
            </a:endParaRPr>
          </a:p>
        </p:txBody>
      </p:sp>
      <p:sp>
        <p:nvSpPr>
          <p:cNvPr id="56" name="Text 50"/>
          <p:cNvSpPr/>
          <p:nvPr/>
        </p:nvSpPr>
        <p:spPr>
          <a:xfrm>
            <a:off x="3177360" y="1884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Lunch Break</a:t>
            </a:r>
            <a:endParaRPr lang="en-IN" sz="939" b="0" u="none" strike="noStrike">
              <a:solidFill>
                <a:srgbClr val="000000"/>
              </a:solidFill>
              <a:effectLst/>
              <a:uFillTx/>
              <a:latin typeface="Arial"/>
            </a:endParaRPr>
          </a:p>
        </p:txBody>
      </p:sp>
      <p:sp>
        <p:nvSpPr>
          <p:cNvPr id="57" name="Shape 56"/>
          <p:cNvSpPr/>
          <p:nvPr/>
        </p:nvSpPr>
        <p:spPr>
          <a:xfrm>
            <a:off x="5076720" y="1097280"/>
            <a:ext cx="946080" cy="33840"/>
          </a:xfrm>
          <a:prstGeom prst="rect">
            <a:avLst/>
          </a:prstGeom>
          <a:solidFill>
            <a:srgbClr val="6a6a6a"/>
          </a:solidFill>
          <a:ln w="12700">
            <a:solidFill>
              <a:srgbClr val="6a6a6a"/>
            </a:solidFill>
            <a:round/>
          </a:ln>
        </p:spPr>
        <p:style>
          <a:lnRef idx="0"/>
          <a:fillRef idx="0"/>
          <a:effectRef idx="0"/>
          <a:fontRef idx="minor"/>
        </p:style>
        <p:txBody>
          <a:bodyPr lIns="90000" rIns="90000" tIns="-10800" bIns="-10800" anchor="t">
            <a:noAutofit/>
          </a:bodyPr>
          <a:p>
            <a:endParaRPr lang="en-IN" sz="2400" b="0" u="none" strike="noStrike">
              <a:solidFill>
                <a:schemeClr val="dk1"/>
              </a:solidFill>
              <a:effectLst/>
              <a:uFillTx/>
              <a:latin typeface="Aptos"/>
            </a:endParaRPr>
          </a:p>
        </p:txBody>
      </p:sp>
      <p:sp>
        <p:nvSpPr>
          <p:cNvPr id="58" name="Shape 57"/>
          <p:cNvSpPr/>
          <p:nvPr/>
        </p:nvSpPr>
        <p:spPr>
          <a:xfrm>
            <a:off x="49762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59" name="Image 20"/>
          <p:cNvPicPr/>
          <p:nvPr/>
        </p:nvPicPr>
        <p:blipFill>
          <a:blip r:embed="rId5"/>
          <a:stretch/>
        </p:blipFill>
        <p:spPr>
          <a:xfrm>
            <a:off x="4994640" y="1023840"/>
            <a:ext cx="182520" cy="182520"/>
          </a:xfrm>
          <a:prstGeom prst="rect">
            <a:avLst/>
          </a:prstGeom>
          <a:solidFill>
            <a:schemeClr val="bg1"/>
          </a:solidFill>
          <a:ln w="0">
            <a:noFill/>
          </a:ln>
        </p:spPr>
      </p:pic>
      <p:sp>
        <p:nvSpPr>
          <p:cNvPr id="60" name="Text 51"/>
          <p:cNvSpPr/>
          <p:nvPr/>
        </p:nvSpPr>
        <p:spPr>
          <a:xfrm>
            <a:off x="43887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13:00</a:t>
            </a:r>
            <a:endParaRPr lang="en-IN" sz="1070" b="0" u="none" strike="noStrike">
              <a:solidFill>
                <a:srgbClr val="000000"/>
              </a:solidFill>
              <a:effectLst/>
              <a:uFillTx/>
              <a:latin typeface="Arial"/>
            </a:endParaRPr>
          </a:p>
        </p:txBody>
      </p:sp>
      <p:sp>
        <p:nvSpPr>
          <p:cNvPr id="61" name="Text 52"/>
          <p:cNvSpPr/>
          <p:nvPr/>
        </p:nvSpPr>
        <p:spPr>
          <a:xfrm>
            <a:off x="4206240" y="1416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Implementation Plan &amp; Lab</a:t>
            </a:r>
            <a:endParaRPr lang="en-IN" sz="939" b="0" u="none" strike="noStrike">
              <a:solidFill>
                <a:srgbClr val="000000"/>
              </a:solidFill>
              <a:effectLst/>
              <a:uFillTx/>
              <a:latin typeface="Arial"/>
            </a:endParaRPr>
          </a:p>
        </p:txBody>
      </p:sp>
      <p:sp>
        <p:nvSpPr>
          <p:cNvPr id="62" name="Shape 58"/>
          <p:cNvSpPr/>
          <p:nvPr/>
        </p:nvSpPr>
        <p:spPr>
          <a:xfrm>
            <a:off x="6105600" y="1097280"/>
            <a:ext cx="98028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63" name="Shape 59"/>
          <p:cNvSpPr/>
          <p:nvPr/>
        </p:nvSpPr>
        <p:spPr>
          <a:xfrm>
            <a:off x="60048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64" name="Image 21"/>
          <p:cNvPicPr/>
          <p:nvPr/>
        </p:nvPicPr>
        <p:blipFill>
          <a:blip r:embed="rId6"/>
          <a:stretch/>
        </p:blipFill>
        <p:spPr>
          <a:xfrm>
            <a:off x="6023520" y="1023840"/>
            <a:ext cx="182520" cy="182520"/>
          </a:xfrm>
          <a:prstGeom prst="rect">
            <a:avLst/>
          </a:prstGeom>
          <a:solidFill>
            <a:schemeClr val="bg1"/>
          </a:solidFill>
          <a:ln w="0">
            <a:noFill/>
          </a:ln>
        </p:spPr>
      </p:pic>
      <p:sp>
        <p:nvSpPr>
          <p:cNvPr id="65" name="Text 53"/>
          <p:cNvSpPr/>
          <p:nvPr/>
        </p:nvSpPr>
        <p:spPr>
          <a:xfrm>
            <a:off x="54176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14:30</a:t>
            </a:r>
            <a:endParaRPr lang="en-IN" sz="1070" b="0" u="none" strike="noStrike">
              <a:solidFill>
                <a:srgbClr val="000000"/>
              </a:solidFill>
              <a:effectLst/>
              <a:uFillTx/>
              <a:latin typeface="Arial"/>
            </a:endParaRPr>
          </a:p>
        </p:txBody>
      </p:sp>
      <p:sp>
        <p:nvSpPr>
          <p:cNvPr id="66" name="Text 54"/>
          <p:cNvSpPr/>
          <p:nvPr/>
        </p:nvSpPr>
        <p:spPr>
          <a:xfrm>
            <a:off x="5260320" y="190224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Mini Exercises &amp; Quiz</a:t>
            </a:r>
            <a:endParaRPr lang="en-IN" sz="939" b="0" u="none" strike="noStrike">
              <a:solidFill>
                <a:srgbClr val="000000"/>
              </a:solidFill>
              <a:effectLst/>
              <a:uFillTx/>
              <a:latin typeface="Arial"/>
            </a:endParaRPr>
          </a:p>
        </p:txBody>
      </p:sp>
      <p:sp>
        <p:nvSpPr>
          <p:cNvPr id="67" name="Shape 60"/>
          <p:cNvSpPr/>
          <p:nvPr/>
        </p:nvSpPr>
        <p:spPr>
          <a:xfrm>
            <a:off x="70336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68" name="Image 22"/>
          <p:cNvPicPr/>
          <p:nvPr/>
        </p:nvPicPr>
        <p:blipFill>
          <a:blip r:embed="rId7"/>
          <a:stretch/>
        </p:blipFill>
        <p:spPr>
          <a:xfrm>
            <a:off x="7052040" y="1023840"/>
            <a:ext cx="182520" cy="182520"/>
          </a:xfrm>
          <a:prstGeom prst="rect">
            <a:avLst/>
          </a:prstGeom>
          <a:solidFill>
            <a:schemeClr val="bg1"/>
          </a:solidFill>
          <a:ln w="0">
            <a:noFill/>
          </a:ln>
        </p:spPr>
      </p:pic>
      <p:sp>
        <p:nvSpPr>
          <p:cNvPr id="69" name="Text 55"/>
          <p:cNvSpPr/>
          <p:nvPr/>
        </p:nvSpPr>
        <p:spPr>
          <a:xfrm>
            <a:off x="64461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15:30</a:t>
            </a:r>
            <a:endParaRPr lang="en-IN" sz="1070" b="0" u="none" strike="noStrike">
              <a:solidFill>
                <a:srgbClr val="000000"/>
              </a:solidFill>
              <a:effectLst/>
              <a:uFillTx/>
              <a:latin typeface="Arial"/>
            </a:endParaRPr>
          </a:p>
        </p:txBody>
      </p:sp>
      <p:sp>
        <p:nvSpPr>
          <p:cNvPr id="70" name="Text 56"/>
          <p:cNvSpPr/>
          <p:nvPr/>
        </p:nvSpPr>
        <p:spPr>
          <a:xfrm>
            <a:off x="6263640" y="140400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Project Walkthrough</a:t>
            </a:r>
            <a:endParaRPr lang="en-IN" sz="939" b="0" u="none" strike="noStrike">
              <a:solidFill>
                <a:srgbClr val="000000"/>
              </a:solidFill>
              <a:effectLst/>
              <a:uFillTx/>
              <a:latin typeface="Arial"/>
            </a:endParaRPr>
          </a:p>
        </p:txBody>
      </p:sp>
      <p:sp>
        <p:nvSpPr>
          <p:cNvPr id="71" name="Shape 61"/>
          <p:cNvSpPr/>
          <p:nvPr/>
        </p:nvSpPr>
        <p:spPr>
          <a:xfrm flipH="1">
            <a:off x="7234560" y="1097280"/>
            <a:ext cx="927720" cy="63720"/>
          </a:xfrm>
          <a:prstGeom prst="rect">
            <a:avLst/>
          </a:prstGeom>
          <a:solidFill>
            <a:srgbClr val="6a6a6a"/>
          </a:solidFill>
          <a:ln w="12700">
            <a:solidFill>
              <a:srgbClr val="6a6a6a"/>
            </a:solidFill>
            <a:round/>
          </a:ln>
        </p:spPr>
        <p:style>
          <a:lnRef idx="0"/>
          <a:fillRef idx="0"/>
          <a:effectRef idx="0"/>
          <a:fontRef idx="minor"/>
        </p:style>
        <p:txBody>
          <a:bodyPr lIns="90000" rIns="90000" tIns="19080" bIns="19080" anchor="t">
            <a:noAutofit/>
          </a:bodyPr>
          <a:p>
            <a:endParaRPr lang="en-IN" sz="2400" b="0" u="none" strike="noStrike">
              <a:solidFill>
                <a:schemeClr val="dk1"/>
              </a:solidFill>
              <a:effectLst/>
              <a:uFillTx/>
              <a:latin typeface="Aptos"/>
            </a:endParaRPr>
          </a:p>
        </p:txBody>
      </p:sp>
      <p:sp>
        <p:nvSpPr>
          <p:cNvPr id="72" name="Shape 62"/>
          <p:cNvSpPr/>
          <p:nvPr/>
        </p:nvSpPr>
        <p:spPr>
          <a:xfrm>
            <a:off x="80622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73" name="Image 23"/>
          <p:cNvPicPr/>
          <p:nvPr/>
        </p:nvPicPr>
        <p:blipFill>
          <a:blip r:embed="rId8"/>
          <a:stretch/>
        </p:blipFill>
        <p:spPr>
          <a:xfrm>
            <a:off x="8080920" y="1023840"/>
            <a:ext cx="182520" cy="182520"/>
          </a:xfrm>
          <a:prstGeom prst="rect">
            <a:avLst/>
          </a:prstGeom>
          <a:solidFill>
            <a:schemeClr val="bg1"/>
          </a:solidFill>
          <a:ln w="0">
            <a:noFill/>
          </a:ln>
        </p:spPr>
      </p:pic>
      <p:sp>
        <p:nvSpPr>
          <p:cNvPr id="74" name="Text 57"/>
          <p:cNvSpPr/>
          <p:nvPr/>
        </p:nvSpPr>
        <p:spPr>
          <a:xfrm>
            <a:off x="74750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16:30</a:t>
            </a:r>
            <a:endParaRPr lang="en-IN" sz="1070" b="0" u="none" strike="noStrike">
              <a:solidFill>
                <a:srgbClr val="000000"/>
              </a:solidFill>
              <a:effectLst/>
              <a:uFillTx/>
              <a:latin typeface="Arial"/>
            </a:endParaRPr>
          </a:p>
        </p:txBody>
      </p:sp>
      <p:sp>
        <p:nvSpPr>
          <p:cNvPr id="75" name="Text 58"/>
          <p:cNvSpPr/>
          <p:nvPr/>
        </p:nvSpPr>
        <p:spPr>
          <a:xfrm>
            <a:off x="7292160" y="1884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Wrap‑Up &amp; Next Steps</a:t>
            </a:r>
            <a:endParaRPr lang="en-IN" sz="939" b="0" u="none" strike="noStrike">
              <a:solidFill>
                <a:srgbClr val="000000"/>
              </a:solidFill>
              <a:effectLst/>
              <a:uFillTx/>
              <a:latin typeface="Arial"/>
            </a:endParaRPr>
          </a:p>
        </p:txBody>
      </p:sp>
      <p:sp>
        <p:nvSpPr>
          <p:cNvPr id="76" name="Text 59"/>
          <p:cNvSpPr/>
          <p:nvPr/>
        </p:nvSpPr>
        <p:spPr>
          <a:xfrm>
            <a:off x="456840" y="6217920"/>
            <a:ext cx="8229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sng" strike="noStrike">
                <a:solidFill>
                  <a:srgbClr val="467886"/>
                </a:solidFill>
                <a:effectLst/>
                <a:uFillTx/>
                <a:latin typeface="Aptos"/>
                <a:hlinkClick r:id="rId9"/>
              </a:rPr>
              <a:t>[1]</a:t>
            </a:r>
            <a:r>
              <a:rPr lang="en-US" sz="800" b="0" u="none" strike="noStrike">
                <a:solidFill>
                  <a:srgbClr val="000000"/>
                </a:solidFill>
                <a:effectLst/>
                <a:uFillTx/>
                <a:latin typeface="Aptos"/>
              </a:rPr>
              <a:t>  </a:t>
            </a:r>
            <a:r>
              <a:rPr lang="en-US" sz="800" b="0" u="sng" strike="noStrike">
                <a:solidFill>
                  <a:srgbClr val="467886"/>
                </a:solidFill>
                <a:effectLst/>
                <a:uFillTx/>
                <a:latin typeface="Aptos"/>
                <a:hlinkClick r:id="rId10"/>
              </a:rPr>
              <a:t>[2]</a:t>
            </a:r>
            <a:endParaRPr lang="en-IN"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77"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78"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Recap &amp; Problem Definition</a:t>
            </a:r>
            <a:endParaRPr lang="en-IN" sz="2000" b="0" u="none" strike="noStrike">
              <a:solidFill>
                <a:srgbClr val="000000"/>
              </a:solidFill>
              <a:effectLst/>
              <a:uFillTx/>
              <a:latin typeface="Arial"/>
            </a:endParaRPr>
          </a:p>
        </p:txBody>
      </p:sp>
      <p:sp>
        <p:nvSpPr>
          <p:cNvPr id="79" name="Text 2"/>
          <p:cNvSpPr/>
          <p:nvPr/>
        </p:nvSpPr>
        <p:spPr>
          <a:xfrm>
            <a:off x="457200" y="731520"/>
            <a:ext cx="8229240" cy="2742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400" b="1" u="none" strike="noStrike">
                <a:solidFill>
                  <a:srgbClr val="003c54"/>
                </a:solidFill>
                <a:effectLst/>
                <a:uFillTx/>
                <a:latin typeface="Calibri"/>
              </a:rPr>
              <a:t>What have we built so far?</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Captured and validated event changes with Kafka and Debezium concepts.</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Designed Bronze/Silver/Gold transformation and storage responsibilities.</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Scheduled bounded pipeline tasks with Airflow and documented operational evidence.</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Established monitoring and recovery thinking.</a:t>
            </a:r>
            <a:endParaRPr lang="en-IN" sz="1400" b="0" u="none" strike="noStrike">
              <a:solidFill>
                <a:srgbClr val="000000"/>
              </a:solidFill>
              <a:effectLst/>
              <a:uFillTx/>
              <a:latin typeface="Arial"/>
            </a:endParaRPr>
          </a:p>
          <a:p>
            <a:pPr defTabSz="914400">
              <a:lnSpc>
                <a:spcPct val="100000"/>
              </a:lnSpc>
              <a:tabLst>
                <a:tab algn="l" pos="0"/>
              </a:tabLst>
            </a:pP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Today the supplied runnable stack implements CDC, Schema Registry and ksqlDB; Hop, Airflow, lakehouse storage and BI are integration deliverables or extensions.</a:t>
            </a:r>
            <a:endParaRPr lang="en-IN" sz="1400" b="0" u="none" strike="noStrike">
              <a:solidFill>
                <a:srgbClr val="000000"/>
              </a:solidFill>
              <a:effectLst/>
              <a:uFillTx/>
              <a:latin typeface="Arial"/>
            </a:endParaRPr>
          </a:p>
        </p:txBody>
      </p:sp>
      <p:sp>
        <p:nvSpPr>
          <p:cNvPr id="80"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81"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82"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Use Case &amp; Data Sources</a:t>
            </a:r>
            <a:endParaRPr lang="en-IN" sz="2000" b="0" u="none" strike="noStrike">
              <a:solidFill>
                <a:srgbClr val="000000"/>
              </a:solidFill>
              <a:effectLst/>
              <a:uFillTx/>
              <a:latin typeface="Arial"/>
            </a:endParaRPr>
          </a:p>
        </p:txBody>
      </p:sp>
      <p:sp>
        <p:nvSpPr>
          <p:cNvPr id="83" name="Text 2"/>
          <p:cNvSpPr/>
          <p:nvPr/>
        </p:nvSpPr>
        <p:spPr>
          <a:xfrm>
            <a:off x="457200" y="731520"/>
            <a:ext cx="4571640" cy="2742840"/>
          </a:xfrm>
          <a:prstGeom prst="rect">
            <a:avLst/>
          </a:prstGeom>
          <a:noFill/>
          <a:ln w="0">
            <a:noFill/>
          </a:ln>
        </p:spPr>
        <p:style>
          <a:lnRef idx="0"/>
          <a:fillRef idx="0"/>
          <a:effectRef idx="0"/>
          <a:fontRef idx="minor"/>
        </p:style>
        <p:txBody>
          <a:bodyPr lIns="90000" rIns="90000" tIns="45000" bIns="45000" anchor="ctr">
            <a:noAutofit/>
          </a:bodyPr>
          <a:p>
            <a:r>
              <a:rPr lang="en-US" sz="1200" b="1" u="none" strike="noStrike">
                <a:solidFill>
                  <a:srgbClr val="003c54"/>
                </a:solidFill>
                <a:effectLst/>
                <a:uFillTx/>
                <a:latin typeface="Calibri"/>
              </a:rPr>
              <a:t>Scenario:</a:t>
            </a:r>
            <a:endParaRPr lang="en-IN" sz="1200" b="0" u="none" strike="noStrike">
              <a:solidFill>
                <a:srgbClr val="000000"/>
              </a:solidFill>
              <a:effectLst/>
              <a:uFillTx/>
              <a:latin typeface="Arial"/>
            </a:endParaRPr>
          </a:p>
          <a:p>
            <a:r>
              <a:rPr lang="en-US" sz="1000" b="0" u="none" strike="noStrike">
                <a:solidFill>
                  <a:srgbClr val="6a6a6a"/>
                </a:solidFill>
                <a:effectLst/>
                <a:uFillTx/>
                <a:latin typeface="Calibri"/>
              </a:rPr>
              <a:t>Northstar Retail wants to build a real‑time dashboard and alerting system for its e‑commerce platform. Orders, inventory updates, product catalogue changes and user clickstream events must be ingested, transformed and served within seconds.</a:t>
            </a:r>
            <a:endParaRPr lang="en-IN" sz="1000" b="0" u="none" strike="noStrike">
              <a:solidFill>
                <a:srgbClr val="000000"/>
              </a:solidFill>
              <a:effectLst/>
              <a:uFillTx/>
              <a:latin typeface="Arial"/>
            </a:endParaRPr>
          </a:p>
          <a:p>
            <a:endParaRPr lang="en-IN" sz="10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Data Sources:</a:t>
            </a:r>
            <a:endParaRPr lang="en-IN" sz="1200" b="0" u="none" strike="noStrike">
              <a:solidFill>
                <a:srgbClr val="000000"/>
              </a:solidFill>
              <a:effectLst/>
              <a:uFillTx/>
              <a:latin typeface="Arial"/>
            </a:endParaRPr>
          </a:p>
        </p:txBody>
      </p:sp>
      <p:pic>
        <p:nvPicPr>
          <p:cNvPr id="84" name="Image 0"/>
          <p:cNvPicPr/>
          <p:nvPr/>
        </p:nvPicPr>
        <p:blipFill>
          <a:blip r:embed="rId1"/>
          <a:stretch/>
        </p:blipFill>
        <p:spPr>
          <a:xfrm>
            <a:off x="5577840" y="1828800"/>
            <a:ext cx="228240" cy="228240"/>
          </a:xfrm>
          <a:prstGeom prst="rect">
            <a:avLst/>
          </a:prstGeom>
          <a:noFill/>
          <a:ln w="0">
            <a:noFill/>
          </a:ln>
        </p:spPr>
      </p:pic>
      <p:sp>
        <p:nvSpPr>
          <p:cNvPr id="85" name="Text 3"/>
          <p:cNvSpPr/>
          <p:nvPr/>
        </p:nvSpPr>
        <p:spPr>
          <a:xfrm>
            <a:off x="5852160" y="184716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Orders DB</a:t>
            </a:r>
            <a:endParaRPr lang="en-IN" sz="1000" b="0" u="none" strike="noStrike">
              <a:solidFill>
                <a:srgbClr val="000000"/>
              </a:solidFill>
              <a:effectLst/>
              <a:uFillTx/>
              <a:latin typeface="Arial"/>
            </a:endParaRPr>
          </a:p>
        </p:txBody>
      </p:sp>
      <p:sp>
        <p:nvSpPr>
          <p:cNvPr id="86" name="Text 4"/>
          <p:cNvSpPr/>
          <p:nvPr/>
        </p:nvSpPr>
        <p:spPr>
          <a:xfrm>
            <a:off x="5852160" y="199332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PostgreSQL table capturing new orders</a:t>
            </a:r>
            <a:endParaRPr lang="en-IN" sz="800" b="0" u="none" strike="noStrike">
              <a:solidFill>
                <a:srgbClr val="000000"/>
              </a:solidFill>
              <a:effectLst/>
              <a:uFillTx/>
              <a:latin typeface="Arial"/>
            </a:endParaRPr>
          </a:p>
        </p:txBody>
      </p:sp>
      <p:pic>
        <p:nvPicPr>
          <p:cNvPr id="87" name="Image 1"/>
          <p:cNvPicPr/>
          <p:nvPr/>
        </p:nvPicPr>
        <p:blipFill>
          <a:blip r:embed="rId2"/>
          <a:stretch/>
        </p:blipFill>
        <p:spPr>
          <a:xfrm>
            <a:off x="5577840" y="2331720"/>
            <a:ext cx="228240" cy="228240"/>
          </a:xfrm>
          <a:prstGeom prst="rect">
            <a:avLst/>
          </a:prstGeom>
          <a:noFill/>
          <a:ln w="0">
            <a:noFill/>
          </a:ln>
        </p:spPr>
      </p:pic>
      <p:sp>
        <p:nvSpPr>
          <p:cNvPr id="88" name="Text 5"/>
          <p:cNvSpPr/>
          <p:nvPr/>
        </p:nvSpPr>
        <p:spPr>
          <a:xfrm>
            <a:off x="5852160" y="235008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Inventory DB</a:t>
            </a:r>
            <a:endParaRPr lang="en-IN" sz="1000" b="0" u="none" strike="noStrike">
              <a:solidFill>
                <a:srgbClr val="000000"/>
              </a:solidFill>
              <a:effectLst/>
              <a:uFillTx/>
              <a:latin typeface="Arial"/>
            </a:endParaRPr>
          </a:p>
        </p:txBody>
      </p:sp>
      <p:sp>
        <p:nvSpPr>
          <p:cNvPr id="89" name="Text 6"/>
          <p:cNvSpPr/>
          <p:nvPr/>
        </p:nvSpPr>
        <p:spPr>
          <a:xfrm>
            <a:off x="5852160" y="249624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MySQL table tracking stock levels</a:t>
            </a:r>
            <a:endParaRPr lang="en-IN" sz="800" b="0" u="none" strike="noStrike">
              <a:solidFill>
                <a:srgbClr val="000000"/>
              </a:solidFill>
              <a:effectLst/>
              <a:uFillTx/>
              <a:latin typeface="Arial"/>
            </a:endParaRPr>
          </a:p>
        </p:txBody>
      </p:sp>
      <p:pic>
        <p:nvPicPr>
          <p:cNvPr id="90" name="Image 2"/>
          <p:cNvPicPr/>
          <p:nvPr/>
        </p:nvPicPr>
        <p:blipFill>
          <a:blip r:embed="rId3"/>
          <a:stretch/>
        </p:blipFill>
        <p:spPr>
          <a:xfrm>
            <a:off x="5577840" y="2834640"/>
            <a:ext cx="228240" cy="228240"/>
          </a:xfrm>
          <a:prstGeom prst="rect">
            <a:avLst/>
          </a:prstGeom>
          <a:noFill/>
          <a:ln w="0">
            <a:noFill/>
          </a:ln>
        </p:spPr>
      </p:pic>
      <p:sp>
        <p:nvSpPr>
          <p:cNvPr id="91" name="Text 7"/>
          <p:cNvSpPr/>
          <p:nvPr/>
        </p:nvSpPr>
        <p:spPr>
          <a:xfrm>
            <a:off x="5852160" y="285300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Clickstream</a:t>
            </a:r>
            <a:endParaRPr lang="en-IN" sz="1000" b="0" u="none" strike="noStrike">
              <a:solidFill>
                <a:srgbClr val="000000"/>
              </a:solidFill>
              <a:effectLst/>
              <a:uFillTx/>
              <a:latin typeface="Arial"/>
            </a:endParaRPr>
          </a:p>
        </p:txBody>
      </p:sp>
      <p:sp>
        <p:nvSpPr>
          <p:cNvPr id="92" name="Text 8"/>
          <p:cNvSpPr/>
          <p:nvPr/>
        </p:nvSpPr>
        <p:spPr>
          <a:xfrm>
            <a:off x="5852160" y="299916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Kafka topic capturing web events</a:t>
            </a:r>
            <a:endParaRPr lang="en-IN" sz="800" b="0" u="none" strike="noStrike">
              <a:solidFill>
                <a:srgbClr val="000000"/>
              </a:solidFill>
              <a:effectLst/>
              <a:uFillTx/>
              <a:latin typeface="Arial"/>
            </a:endParaRPr>
          </a:p>
        </p:txBody>
      </p:sp>
      <p:pic>
        <p:nvPicPr>
          <p:cNvPr id="93" name="Image 3"/>
          <p:cNvPicPr/>
          <p:nvPr/>
        </p:nvPicPr>
        <p:blipFill>
          <a:blip r:embed="rId4"/>
          <a:stretch/>
        </p:blipFill>
        <p:spPr>
          <a:xfrm>
            <a:off x="5577840" y="3337560"/>
            <a:ext cx="228240" cy="228240"/>
          </a:xfrm>
          <a:prstGeom prst="rect">
            <a:avLst/>
          </a:prstGeom>
          <a:noFill/>
          <a:ln w="0">
            <a:noFill/>
          </a:ln>
        </p:spPr>
      </p:pic>
      <p:sp>
        <p:nvSpPr>
          <p:cNvPr id="94" name="Text 9"/>
          <p:cNvSpPr/>
          <p:nvPr/>
        </p:nvSpPr>
        <p:spPr>
          <a:xfrm>
            <a:off x="5852160" y="335592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Products CSV</a:t>
            </a:r>
            <a:endParaRPr lang="en-IN" sz="1000" b="0" u="none" strike="noStrike">
              <a:solidFill>
                <a:srgbClr val="000000"/>
              </a:solidFill>
              <a:effectLst/>
              <a:uFillTx/>
              <a:latin typeface="Arial"/>
            </a:endParaRPr>
          </a:p>
        </p:txBody>
      </p:sp>
      <p:sp>
        <p:nvSpPr>
          <p:cNvPr id="95" name="Text 10"/>
          <p:cNvSpPr/>
          <p:nvPr/>
        </p:nvSpPr>
        <p:spPr>
          <a:xfrm>
            <a:off x="5852160" y="350208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Batch file with product attributes</a:t>
            </a:r>
            <a:endParaRPr lang="en-IN" sz="800" b="0" u="none" strike="noStrike">
              <a:solidFill>
                <a:srgbClr val="000000"/>
              </a:solidFill>
              <a:effectLst/>
              <a:uFillTx/>
              <a:latin typeface="Arial"/>
            </a:endParaRPr>
          </a:p>
        </p:txBody>
      </p:sp>
      <p:sp>
        <p:nvSpPr>
          <p:cNvPr id="96"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5"/>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6"/>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Shape 32"/>
          <p:cNvSpPr/>
          <p:nvPr/>
        </p:nvSpPr>
        <p:spPr>
          <a:xfrm>
            <a:off x="0" y="360"/>
            <a:ext cx="914400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98" name="Text 19"/>
          <p:cNvSpPr/>
          <p:nvPr/>
        </p:nvSpPr>
        <p:spPr>
          <a:xfrm>
            <a:off x="45684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lang="en-US" sz="2660" b="1" u="none" strike="noStrike">
                <a:solidFill>
                  <a:srgbClr val="ffffff"/>
                </a:solidFill>
                <a:effectLst/>
                <a:uFillTx/>
                <a:latin typeface="Aptos"/>
              </a:rPr>
              <a:t>End‑to‑End Architecture</a:t>
            </a:r>
            <a:endParaRPr lang="en-IN" sz="2660" b="0" u="none" strike="noStrike">
              <a:solidFill>
                <a:srgbClr val="000000"/>
              </a:solidFill>
              <a:effectLst/>
              <a:uFillTx/>
              <a:latin typeface="Arial"/>
            </a:endParaRPr>
          </a:p>
        </p:txBody>
      </p:sp>
      <p:sp>
        <p:nvSpPr>
          <p:cNvPr id="99" name="Shape 33"/>
          <p:cNvSpPr/>
          <p:nvPr/>
        </p:nvSpPr>
        <p:spPr>
          <a:xfrm>
            <a:off x="499680" y="1828440"/>
            <a:ext cx="116352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0" name="Text 27"/>
          <p:cNvSpPr/>
          <p:nvPr/>
        </p:nvSpPr>
        <p:spPr>
          <a:xfrm>
            <a:off x="50292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Sources</a:t>
            </a:r>
            <a:endParaRPr lang="en-IN" sz="800" b="0" u="none" strike="noStrike">
              <a:solidFill>
                <a:srgbClr val="000000"/>
              </a:solidFill>
              <a:effectLst/>
              <a:uFillTx/>
              <a:latin typeface="Arial"/>
            </a:endParaRPr>
          </a:p>
        </p:txBody>
      </p:sp>
      <p:sp>
        <p:nvSpPr>
          <p:cNvPr id="101" name="Shape 34"/>
          <p:cNvSpPr/>
          <p:nvPr/>
        </p:nvSpPr>
        <p:spPr>
          <a:xfrm>
            <a:off x="173700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02" name="Shape 35"/>
          <p:cNvSpPr/>
          <p:nvPr/>
        </p:nvSpPr>
        <p:spPr>
          <a:xfrm>
            <a:off x="1963080" y="1828440"/>
            <a:ext cx="1163520" cy="548280"/>
          </a:xfrm>
          <a:prstGeom prst="roundRect">
            <a:avLst>
              <a:gd name="adj" fmla="val 16667"/>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3" name="Text 30"/>
          <p:cNvSpPr/>
          <p:nvPr/>
        </p:nvSpPr>
        <p:spPr>
          <a:xfrm>
            <a:off x="196560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CDC (Debezium)</a:t>
            </a:r>
            <a:endParaRPr lang="en-IN" sz="800" b="0" u="none" strike="noStrike">
              <a:solidFill>
                <a:srgbClr val="000000"/>
              </a:solidFill>
              <a:effectLst/>
              <a:uFillTx/>
              <a:latin typeface="Arial"/>
            </a:endParaRPr>
          </a:p>
        </p:txBody>
      </p:sp>
      <p:sp>
        <p:nvSpPr>
          <p:cNvPr id="104" name="Shape 36"/>
          <p:cNvSpPr/>
          <p:nvPr/>
        </p:nvSpPr>
        <p:spPr>
          <a:xfrm>
            <a:off x="320004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05" name="Shape 37"/>
          <p:cNvSpPr/>
          <p:nvPr/>
        </p:nvSpPr>
        <p:spPr>
          <a:xfrm>
            <a:off x="3426120" y="1828440"/>
            <a:ext cx="116352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6" name="Text 31"/>
          <p:cNvSpPr/>
          <p:nvPr/>
        </p:nvSpPr>
        <p:spPr>
          <a:xfrm>
            <a:off x="342864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Kafka Topics</a:t>
            </a:r>
            <a:endParaRPr lang="en-IN" sz="800" b="0" u="none" strike="noStrike">
              <a:solidFill>
                <a:srgbClr val="000000"/>
              </a:solidFill>
              <a:effectLst/>
              <a:uFillTx/>
              <a:latin typeface="Arial"/>
            </a:endParaRPr>
          </a:p>
        </p:txBody>
      </p:sp>
      <p:sp>
        <p:nvSpPr>
          <p:cNvPr id="107" name="Shape 38"/>
          <p:cNvSpPr/>
          <p:nvPr/>
        </p:nvSpPr>
        <p:spPr>
          <a:xfrm>
            <a:off x="466308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08" name="Shape 39"/>
          <p:cNvSpPr/>
          <p:nvPr/>
        </p:nvSpPr>
        <p:spPr>
          <a:xfrm>
            <a:off x="4888800" y="1828440"/>
            <a:ext cx="1163520" cy="548280"/>
          </a:xfrm>
          <a:prstGeom prst="roundRect">
            <a:avLst>
              <a:gd name="adj" fmla="val 16667"/>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9" name="Text 35"/>
          <p:cNvSpPr/>
          <p:nvPr/>
        </p:nvSpPr>
        <p:spPr>
          <a:xfrm>
            <a:off x="489204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Schema &amp; Validation</a:t>
            </a:r>
            <a:endParaRPr lang="en-IN" sz="800" b="0" u="none" strike="noStrike">
              <a:solidFill>
                <a:srgbClr val="000000"/>
              </a:solidFill>
              <a:effectLst/>
              <a:uFillTx/>
              <a:latin typeface="Arial"/>
            </a:endParaRPr>
          </a:p>
        </p:txBody>
      </p:sp>
      <p:sp>
        <p:nvSpPr>
          <p:cNvPr id="110" name="Shape 40"/>
          <p:cNvSpPr/>
          <p:nvPr/>
        </p:nvSpPr>
        <p:spPr>
          <a:xfrm>
            <a:off x="612612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11" name="Shape 41"/>
          <p:cNvSpPr/>
          <p:nvPr/>
        </p:nvSpPr>
        <p:spPr>
          <a:xfrm>
            <a:off x="6309000" y="1828440"/>
            <a:ext cx="127980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12" name="Text 36"/>
          <p:cNvSpPr/>
          <p:nvPr/>
        </p:nvSpPr>
        <p:spPr>
          <a:xfrm>
            <a:off x="6393600" y="1874520"/>
            <a:ext cx="10800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Transformation (Hop)</a:t>
            </a:r>
            <a:endParaRPr lang="en-IN" sz="800" b="0" u="none" strike="noStrike">
              <a:solidFill>
                <a:srgbClr val="000000"/>
              </a:solidFill>
              <a:effectLst/>
              <a:uFillTx/>
              <a:latin typeface="Arial"/>
            </a:endParaRPr>
          </a:p>
        </p:txBody>
      </p:sp>
      <p:sp>
        <p:nvSpPr>
          <p:cNvPr id="113" name="Shape 42"/>
          <p:cNvSpPr/>
          <p:nvPr/>
        </p:nvSpPr>
        <p:spPr>
          <a:xfrm>
            <a:off x="758916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14" name="Shape 43"/>
          <p:cNvSpPr/>
          <p:nvPr/>
        </p:nvSpPr>
        <p:spPr>
          <a:xfrm>
            <a:off x="7815240" y="1828440"/>
            <a:ext cx="1163520" cy="548280"/>
          </a:xfrm>
          <a:prstGeom prst="roundRect">
            <a:avLst>
              <a:gd name="adj" fmla="val 16667"/>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15" name="Text 37"/>
          <p:cNvSpPr/>
          <p:nvPr/>
        </p:nvSpPr>
        <p:spPr>
          <a:xfrm>
            <a:off x="781776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Storage (Bronze/Silver/Gold)</a:t>
            </a:r>
            <a:endParaRPr lang="en-IN" sz="800" b="0" u="none" strike="noStrike">
              <a:solidFill>
                <a:srgbClr val="000000"/>
              </a:solidFill>
              <a:effectLst/>
              <a:uFillTx/>
              <a:latin typeface="Arial"/>
            </a:endParaRPr>
          </a:p>
        </p:txBody>
      </p:sp>
      <p:sp>
        <p:nvSpPr>
          <p:cNvPr id="116" name="Shape 44"/>
          <p:cNvSpPr/>
          <p:nvPr/>
        </p:nvSpPr>
        <p:spPr>
          <a:xfrm rot="5400000">
            <a:off x="8304120" y="2483640"/>
            <a:ext cx="182520" cy="9144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1080" bIns="1080" anchor="t">
            <a:noAutofit/>
          </a:bodyPr>
          <a:p>
            <a:endParaRPr lang="en-IN" sz="2400" b="0" u="none" strike="noStrike">
              <a:solidFill>
                <a:schemeClr val="dk1"/>
              </a:solidFill>
              <a:effectLst/>
              <a:uFillTx/>
              <a:latin typeface="Aptos"/>
            </a:endParaRPr>
          </a:p>
        </p:txBody>
      </p:sp>
      <p:sp>
        <p:nvSpPr>
          <p:cNvPr id="117" name="Shape 45"/>
          <p:cNvSpPr/>
          <p:nvPr/>
        </p:nvSpPr>
        <p:spPr>
          <a:xfrm>
            <a:off x="7772400" y="2697480"/>
            <a:ext cx="1163520" cy="548280"/>
          </a:xfrm>
          <a:prstGeom prst="roundRect">
            <a:avLst>
              <a:gd name="adj" fmla="val 16667"/>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18" name="Text 38"/>
          <p:cNvSpPr/>
          <p:nvPr/>
        </p:nvSpPr>
        <p:spPr>
          <a:xfrm>
            <a:off x="7817760" y="27889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Orchestration (Airflow)</a:t>
            </a:r>
            <a:endParaRPr lang="en-IN" sz="800" b="0" u="none" strike="noStrike">
              <a:solidFill>
                <a:srgbClr val="000000"/>
              </a:solidFill>
              <a:effectLst/>
              <a:uFillTx/>
              <a:latin typeface="Arial"/>
            </a:endParaRPr>
          </a:p>
        </p:txBody>
      </p:sp>
      <p:sp>
        <p:nvSpPr>
          <p:cNvPr id="119" name="Shape 46"/>
          <p:cNvSpPr/>
          <p:nvPr/>
        </p:nvSpPr>
        <p:spPr>
          <a:xfrm>
            <a:off x="7772040" y="3840480"/>
            <a:ext cx="127980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20" name="Text 39"/>
          <p:cNvSpPr/>
          <p:nvPr/>
        </p:nvSpPr>
        <p:spPr>
          <a:xfrm>
            <a:off x="7855560" y="3886200"/>
            <a:ext cx="10800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Analytics &amp; Serving</a:t>
            </a:r>
            <a:endParaRPr lang="en-IN" sz="800" b="0" u="none" strike="noStrike">
              <a:solidFill>
                <a:srgbClr val="000000"/>
              </a:solidFill>
              <a:effectLst/>
              <a:uFillTx/>
              <a:latin typeface="Arial"/>
            </a:endParaRPr>
          </a:p>
        </p:txBody>
      </p:sp>
      <p:sp>
        <p:nvSpPr>
          <p:cNvPr id="121" name="Text 40"/>
          <p:cNvSpPr/>
          <p:nvPr/>
        </p:nvSpPr>
        <p:spPr>
          <a:xfrm>
            <a:off x="456840" y="2743200"/>
            <a:ext cx="86864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lang="en-US" sz="1200" b="0" u="none" strike="noStrike">
                <a:solidFill>
                  <a:srgbClr val="6a6a6a"/>
                </a:solidFill>
                <a:effectLst/>
                <a:uFillTx/>
                <a:latin typeface="Aptos"/>
              </a:rPr>
              <a:t>Unified pipeline spans capture, ingest, transform, store, orchestrate, query and serve.</a:t>
            </a:r>
            <a:endParaRPr lang="en-IN" sz="1200" b="0" u="none" strike="noStrike">
              <a:solidFill>
                <a:srgbClr val="000000"/>
              </a:solidFill>
              <a:effectLst/>
              <a:uFillTx/>
              <a:latin typeface="Arial"/>
            </a:endParaRPr>
          </a:p>
        </p:txBody>
      </p:sp>
      <p:sp>
        <p:nvSpPr>
          <p:cNvPr id="122" name="Text 41"/>
          <p:cNvSpPr/>
          <p:nvPr/>
        </p:nvSpPr>
        <p:spPr>
          <a:xfrm>
            <a:off x="456840" y="6217920"/>
            <a:ext cx="8229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sng" strike="noStrike">
                <a:solidFill>
                  <a:srgbClr val="467886"/>
                </a:solidFill>
                <a:effectLst/>
                <a:uFillTx/>
                <a:latin typeface="Aptos"/>
                <a:hlinkClick r:id="rId1"/>
              </a:rPr>
              <a:t>[1]</a:t>
            </a:r>
            <a:r>
              <a:rPr lang="en-US" sz="800" b="0" u="none" strike="noStrike">
                <a:solidFill>
                  <a:srgbClr val="000000"/>
                </a:solidFill>
                <a:effectLst/>
                <a:uFillTx/>
                <a:latin typeface="Aptos"/>
              </a:rPr>
              <a:t>  </a:t>
            </a:r>
            <a:r>
              <a:rPr lang="en-US" sz="800" b="0" u="sng" strike="noStrike">
                <a:solidFill>
                  <a:srgbClr val="467886"/>
                </a:solidFill>
                <a:effectLst/>
                <a:uFillTx/>
                <a:latin typeface="Aptos"/>
                <a:hlinkClick r:id="rId2"/>
              </a:rPr>
              <a:t>[2]</a:t>
            </a:r>
            <a:r>
              <a:rPr lang="en-US" sz="800" b="0" u="none" strike="noStrike">
                <a:solidFill>
                  <a:srgbClr val="000000"/>
                </a:solidFill>
                <a:effectLst/>
                <a:uFillTx/>
                <a:latin typeface="Aptos"/>
              </a:rPr>
              <a:t>  </a:t>
            </a:r>
            <a:r>
              <a:rPr lang="en-US" sz="800" b="0" u="sng" strike="noStrike">
                <a:solidFill>
                  <a:srgbClr val="467886"/>
                </a:solidFill>
                <a:effectLst/>
                <a:uFillTx/>
                <a:latin typeface="Aptos"/>
                <a:hlinkClick r:id="rId3"/>
              </a:rPr>
              <a:t>[3]</a:t>
            </a:r>
            <a:endParaRPr lang="en-IN" sz="800" b="0" u="none" strike="noStrike">
              <a:solidFill>
                <a:srgbClr val="000000"/>
              </a:solidFill>
              <a:effectLst/>
              <a:uFillTx/>
              <a:latin typeface="Arial"/>
            </a:endParaRPr>
          </a:p>
        </p:txBody>
      </p:sp>
      <p:sp>
        <p:nvSpPr>
          <p:cNvPr id="123" name="Shape 47"/>
          <p:cNvSpPr/>
          <p:nvPr/>
        </p:nvSpPr>
        <p:spPr>
          <a:xfrm rot="5400000">
            <a:off x="8327160" y="3451680"/>
            <a:ext cx="182520" cy="9144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1080" bIns="1080" anchor="t">
            <a:noAutofit/>
          </a:bodyPr>
          <a:p>
            <a:endParaRPr lang="en-IN" sz="24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24"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25"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Capture &amp; Change Data Capture</a:t>
            </a:r>
            <a:endParaRPr lang="en-IN" sz="2000" b="0" u="none" strike="noStrike">
              <a:solidFill>
                <a:srgbClr val="000000"/>
              </a:solidFill>
              <a:effectLst/>
              <a:uFillTx/>
              <a:latin typeface="Arial"/>
            </a:endParaRPr>
          </a:p>
        </p:txBody>
      </p:sp>
      <p:sp>
        <p:nvSpPr>
          <p:cNvPr id="126"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r>
              <a:rPr lang="en-US" sz="1200" b="1" u="none" strike="noStrike">
                <a:solidFill>
                  <a:srgbClr val="003c54"/>
                </a:solidFill>
                <a:effectLst/>
                <a:uFillTx/>
                <a:latin typeface="Calibri"/>
              </a:rPr>
              <a:t>Debezium converts database changes into event streams</a:t>
            </a:r>
            <a:endParaRPr lang="en-IN" sz="1200" b="0" u="none" strike="noStrike">
              <a:solidFill>
                <a:srgbClr val="000000"/>
              </a:solidFill>
              <a:effectLst/>
              <a:uFillTx/>
              <a:latin typeface="Arial"/>
            </a:endParaRPr>
          </a:p>
          <a:p>
            <a:r>
              <a:rPr lang="en-US" sz="1000" b="0" u="none" strike="noStrike">
                <a:solidFill>
                  <a:srgbClr val="6a6a6a"/>
                </a:solidFill>
                <a:effectLst/>
                <a:uFillTx/>
                <a:latin typeface="Calibri"/>
              </a:rPr>
              <a:t>• Monitors transaction logs (binlog/WAL) and captures inserts, updates &amp; deletes</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Sends change events to Kafka Connect which writes to topics (one per table)</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Ensures order, durability and fault tolerance; resumes from last offset</a:t>
            </a:r>
            <a:endParaRPr lang="en-IN"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6a6a6a"/>
                </a:solidFill>
                <a:effectLst/>
                <a:uFillTx/>
                <a:latin typeface="Calibri"/>
              </a:rPr>
              <a:t>• Supports snapshot, streaming &amp; incremental snapshot modes</a:t>
            </a:r>
            <a:endParaRPr lang="en-IN" sz="1000" b="0" u="none" strike="noStrike">
              <a:solidFill>
                <a:srgbClr val="000000"/>
              </a:solidFill>
              <a:effectLst/>
              <a:uFillTx/>
              <a:latin typeface="Arial"/>
            </a:endParaRPr>
          </a:p>
        </p:txBody>
      </p:sp>
      <p:sp>
        <p:nvSpPr>
          <p:cNvPr id="127" name="Shape 3"/>
          <p:cNvSpPr/>
          <p:nvPr/>
        </p:nvSpPr>
        <p:spPr>
          <a:xfrm>
            <a:off x="5943600" y="914400"/>
            <a:ext cx="100548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28" name="Text 4"/>
          <p:cNvSpPr/>
          <p:nvPr/>
        </p:nvSpPr>
        <p:spPr>
          <a:xfrm>
            <a:off x="5943600" y="914400"/>
            <a:ext cx="100548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Database</a:t>
            </a:r>
            <a:endParaRPr lang="en-IN" sz="800" b="0" u="none" strike="noStrike">
              <a:solidFill>
                <a:srgbClr val="000000"/>
              </a:solidFill>
              <a:effectLst/>
              <a:uFillTx/>
              <a:latin typeface="Arial"/>
            </a:endParaRPr>
          </a:p>
        </p:txBody>
      </p:sp>
      <p:sp>
        <p:nvSpPr>
          <p:cNvPr id="129" name="Shape 5"/>
          <p:cNvSpPr/>
          <p:nvPr/>
        </p:nvSpPr>
        <p:spPr>
          <a:xfrm>
            <a:off x="694944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0" name="Shape 6"/>
          <p:cNvSpPr/>
          <p:nvPr/>
        </p:nvSpPr>
        <p:spPr>
          <a:xfrm>
            <a:off x="7223760" y="914400"/>
            <a:ext cx="1005480" cy="411120"/>
          </a:xfrm>
          <a:prstGeom prst="roundRect">
            <a:avLst>
              <a:gd name="adj" fmla="val 22222"/>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1" name="Text 7"/>
          <p:cNvSpPr/>
          <p:nvPr/>
        </p:nvSpPr>
        <p:spPr>
          <a:xfrm>
            <a:off x="7223760" y="914400"/>
            <a:ext cx="100548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Debezium</a:t>
            </a:r>
            <a:endParaRPr lang="en-IN" sz="800" b="0" u="none" strike="noStrike">
              <a:solidFill>
                <a:srgbClr val="000000"/>
              </a:solidFill>
              <a:effectLst/>
              <a:uFillTx/>
              <a:latin typeface="Arial"/>
            </a:endParaRPr>
          </a:p>
        </p:txBody>
      </p:sp>
      <p:sp>
        <p:nvSpPr>
          <p:cNvPr id="132" name="Shape 8"/>
          <p:cNvSpPr/>
          <p:nvPr/>
        </p:nvSpPr>
        <p:spPr>
          <a:xfrm>
            <a:off x="822960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3" name="Shape 9"/>
          <p:cNvSpPr/>
          <p:nvPr/>
        </p:nvSpPr>
        <p:spPr>
          <a:xfrm>
            <a:off x="8458200" y="914400"/>
            <a:ext cx="63972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4" name="Text 10"/>
          <p:cNvSpPr/>
          <p:nvPr/>
        </p:nvSpPr>
        <p:spPr>
          <a:xfrm>
            <a:off x="8458200" y="914400"/>
            <a:ext cx="6397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Topic</a:t>
            </a:r>
            <a:endParaRPr lang="en-IN" sz="800" b="0" u="none" strike="noStrike">
              <a:solidFill>
                <a:srgbClr val="000000"/>
              </a:solidFill>
              <a:effectLst/>
              <a:uFillTx/>
              <a:latin typeface="Arial"/>
            </a:endParaRPr>
          </a:p>
        </p:txBody>
      </p:sp>
      <p:sp>
        <p:nvSpPr>
          <p:cNvPr id="135"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36"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7"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Ingestion &amp; Schema Management</a:t>
            </a:r>
            <a:endParaRPr lang="en-IN" sz="2000" b="0" u="none" strike="noStrike">
              <a:solidFill>
                <a:srgbClr val="000000"/>
              </a:solidFill>
              <a:effectLst/>
              <a:uFillTx/>
              <a:latin typeface="Arial"/>
            </a:endParaRPr>
          </a:p>
        </p:txBody>
      </p:sp>
      <p:sp>
        <p:nvSpPr>
          <p:cNvPr id="138"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r>
              <a:rPr lang="en-US" sz="1200" b="1" u="none" strike="noStrike">
                <a:solidFill>
                  <a:srgbClr val="003c54"/>
                </a:solidFill>
                <a:effectLst/>
                <a:uFillTx/>
                <a:latin typeface="Calibri"/>
              </a:rPr>
              <a:t>Event schemas act as contracts</a:t>
            </a:r>
            <a:endParaRPr lang="en-IN" sz="1200" b="0" u="none" strike="noStrike">
              <a:solidFill>
                <a:srgbClr val="000000"/>
              </a:solidFill>
              <a:effectLst/>
              <a:uFillTx/>
              <a:latin typeface="Arial"/>
            </a:endParaRPr>
          </a:p>
          <a:p>
            <a:r>
              <a:rPr lang="en-US" sz="1000" b="0" u="none" strike="noStrike">
                <a:solidFill>
                  <a:srgbClr val="6a6a6a"/>
                </a:solidFill>
                <a:effectLst/>
                <a:uFillTx/>
                <a:latin typeface="Calibri"/>
              </a:rPr>
              <a:t>• Avro, JSON Schema &amp; Protobuf define the structure of each record</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Schema Registry stores versions and enforces compatibility</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Producers validate events; consumers evolve independently</a:t>
            </a:r>
            <a:endParaRPr lang="en-IN"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6a6a6a"/>
                </a:solidFill>
                <a:effectLst/>
                <a:uFillTx/>
                <a:latin typeface="Calibri"/>
              </a:rPr>
              <a:t>• DLQ patterns handle malformed records and poison messages</a:t>
            </a:r>
            <a:endParaRPr lang="en-IN" sz="1000" b="0" u="none" strike="noStrike">
              <a:solidFill>
                <a:srgbClr val="000000"/>
              </a:solidFill>
              <a:effectLst/>
              <a:uFillTx/>
              <a:latin typeface="Arial"/>
            </a:endParaRPr>
          </a:p>
        </p:txBody>
      </p:sp>
      <p:sp>
        <p:nvSpPr>
          <p:cNvPr id="139" name="Shape 3"/>
          <p:cNvSpPr/>
          <p:nvPr/>
        </p:nvSpPr>
        <p:spPr>
          <a:xfrm>
            <a:off x="5760720" y="914400"/>
            <a:ext cx="109692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0" name="Text 4"/>
          <p:cNvSpPr/>
          <p:nvPr/>
        </p:nvSpPr>
        <p:spPr>
          <a:xfrm>
            <a:off x="5760720" y="914400"/>
            <a:ext cx="10969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Producer</a:t>
            </a:r>
            <a:endParaRPr lang="en-IN" sz="800" b="0" u="none" strike="noStrike">
              <a:solidFill>
                <a:srgbClr val="000000"/>
              </a:solidFill>
              <a:effectLst/>
              <a:uFillTx/>
              <a:latin typeface="Arial"/>
            </a:endParaRPr>
          </a:p>
        </p:txBody>
      </p:sp>
      <p:sp>
        <p:nvSpPr>
          <p:cNvPr id="141" name="Shape 5"/>
          <p:cNvSpPr/>
          <p:nvPr/>
        </p:nvSpPr>
        <p:spPr>
          <a:xfrm>
            <a:off x="685800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2" name="Shape 6"/>
          <p:cNvSpPr/>
          <p:nvPr/>
        </p:nvSpPr>
        <p:spPr>
          <a:xfrm>
            <a:off x="7132320" y="914400"/>
            <a:ext cx="1096920" cy="411120"/>
          </a:xfrm>
          <a:prstGeom prst="roundRect">
            <a:avLst>
              <a:gd name="adj" fmla="val 22222"/>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3" name="Text 7"/>
          <p:cNvSpPr/>
          <p:nvPr/>
        </p:nvSpPr>
        <p:spPr>
          <a:xfrm>
            <a:off x="7132320" y="914400"/>
            <a:ext cx="10969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Schema Registry</a:t>
            </a:r>
            <a:endParaRPr lang="en-IN" sz="700" b="0" u="none" strike="noStrike">
              <a:solidFill>
                <a:srgbClr val="000000"/>
              </a:solidFill>
              <a:effectLst/>
              <a:uFillTx/>
              <a:latin typeface="Arial"/>
            </a:endParaRPr>
          </a:p>
        </p:txBody>
      </p:sp>
      <p:sp>
        <p:nvSpPr>
          <p:cNvPr id="144" name="Shape 8"/>
          <p:cNvSpPr/>
          <p:nvPr/>
        </p:nvSpPr>
        <p:spPr>
          <a:xfrm>
            <a:off x="822960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5" name="Shape 9"/>
          <p:cNvSpPr/>
          <p:nvPr/>
        </p:nvSpPr>
        <p:spPr>
          <a:xfrm>
            <a:off x="8458200" y="914400"/>
            <a:ext cx="63972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6" name="Text 10"/>
          <p:cNvSpPr/>
          <p:nvPr/>
        </p:nvSpPr>
        <p:spPr>
          <a:xfrm>
            <a:off x="8458200" y="914400"/>
            <a:ext cx="6397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Topic</a:t>
            </a:r>
            <a:endParaRPr lang="en-IN" sz="800" b="0" u="none" strike="noStrike">
              <a:solidFill>
                <a:srgbClr val="000000"/>
              </a:solidFill>
              <a:effectLst/>
              <a:uFillTx/>
              <a:latin typeface="Arial"/>
            </a:endParaRPr>
          </a:p>
        </p:txBody>
      </p:sp>
      <p:sp>
        <p:nvSpPr>
          <p:cNvPr id="147"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4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Transformation &amp; Storage</a:t>
            </a:r>
            <a:endParaRPr lang="en-IN" sz="2000" b="0" u="none" strike="noStrike">
              <a:solidFill>
                <a:srgbClr val="000000"/>
              </a:solidFill>
              <a:effectLst/>
              <a:uFillTx/>
              <a:latin typeface="Arial"/>
            </a:endParaRPr>
          </a:p>
        </p:txBody>
      </p:sp>
      <p:sp>
        <p:nvSpPr>
          <p:cNvPr id="150" name="Text 2"/>
          <p:cNvSpPr/>
          <p:nvPr/>
        </p:nvSpPr>
        <p:spPr>
          <a:xfrm>
            <a:off x="457200" y="731520"/>
            <a:ext cx="5028840" cy="2285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200" b="1" u="none" strike="noStrike">
                <a:solidFill>
                  <a:srgbClr val="003c54"/>
                </a:solidFill>
                <a:effectLst/>
                <a:uFillTx/>
                <a:latin typeface="Calibri"/>
              </a:rPr>
              <a:t>Transformation and Storage Extension</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Earlier-day Hop/Spark work defines cleaning, deduplication and enrichment rules.</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Map raw CDC to Bronze, accepted records to Silver and metrics to Gold.</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The supplied Day 10 stack does not ship a running Hop/Spark lakehouse job; include the extension design or evidence from prior labs.</a:t>
            </a:r>
            <a:endParaRPr lang="en-IN" sz="1200" b="0" u="none" strike="noStrike">
              <a:solidFill>
                <a:srgbClr val="000000"/>
              </a:solidFill>
              <a:effectLst/>
              <a:uFillTx/>
              <a:latin typeface="Arial"/>
            </a:endParaRPr>
          </a:p>
        </p:txBody>
      </p:sp>
      <p:sp>
        <p:nvSpPr>
          <p:cNvPr id="151" name="Shape 3"/>
          <p:cNvSpPr/>
          <p:nvPr/>
        </p:nvSpPr>
        <p:spPr>
          <a:xfrm>
            <a:off x="5669280" y="1645920"/>
            <a:ext cx="1828440" cy="365400"/>
          </a:xfrm>
          <a:prstGeom prst="rect">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2" name="Text 4"/>
          <p:cNvSpPr/>
          <p:nvPr/>
        </p:nvSpPr>
        <p:spPr>
          <a:xfrm>
            <a:off x="5669280" y="1645920"/>
            <a:ext cx="18284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900" b="0" u="none" strike="noStrike">
                <a:solidFill>
                  <a:srgbClr val="ffffff"/>
                </a:solidFill>
                <a:effectLst/>
                <a:uFillTx/>
                <a:latin typeface="Calibri"/>
              </a:rPr>
              <a:t>Bronze</a:t>
            </a:r>
            <a:endParaRPr lang="en-IN" sz="900" b="0" u="none" strike="noStrike">
              <a:solidFill>
                <a:srgbClr val="000000"/>
              </a:solidFill>
              <a:effectLst/>
              <a:uFillTx/>
              <a:latin typeface="Arial"/>
            </a:endParaRPr>
          </a:p>
        </p:txBody>
      </p:sp>
      <p:sp>
        <p:nvSpPr>
          <p:cNvPr id="153" name="Shape 5"/>
          <p:cNvSpPr/>
          <p:nvPr/>
        </p:nvSpPr>
        <p:spPr>
          <a:xfrm>
            <a:off x="5669280" y="1280160"/>
            <a:ext cx="1828440" cy="365400"/>
          </a:xfrm>
          <a:prstGeom prst="rect">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4" name="Text 6"/>
          <p:cNvSpPr/>
          <p:nvPr/>
        </p:nvSpPr>
        <p:spPr>
          <a:xfrm>
            <a:off x="5669280" y="1280160"/>
            <a:ext cx="18284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900" b="0" u="none" strike="noStrike">
                <a:solidFill>
                  <a:srgbClr val="ffffff"/>
                </a:solidFill>
                <a:effectLst/>
                <a:uFillTx/>
                <a:latin typeface="Calibri"/>
              </a:rPr>
              <a:t>Silver</a:t>
            </a:r>
            <a:endParaRPr lang="en-IN" sz="900" b="0" u="none" strike="noStrike">
              <a:solidFill>
                <a:srgbClr val="000000"/>
              </a:solidFill>
              <a:effectLst/>
              <a:uFillTx/>
              <a:latin typeface="Arial"/>
            </a:endParaRPr>
          </a:p>
        </p:txBody>
      </p:sp>
      <p:sp>
        <p:nvSpPr>
          <p:cNvPr id="155" name="Shape 7"/>
          <p:cNvSpPr/>
          <p:nvPr/>
        </p:nvSpPr>
        <p:spPr>
          <a:xfrm>
            <a:off x="5669280" y="914400"/>
            <a:ext cx="1828440" cy="365400"/>
          </a:xfrm>
          <a:prstGeom prst="rect">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6" name="Text 8"/>
          <p:cNvSpPr/>
          <p:nvPr/>
        </p:nvSpPr>
        <p:spPr>
          <a:xfrm>
            <a:off x="5669280" y="914400"/>
            <a:ext cx="18284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900" b="0" u="none" strike="noStrike">
                <a:solidFill>
                  <a:srgbClr val="ffffff"/>
                </a:solidFill>
                <a:effectLst/>
                <a:uFillTx/>
                <a:latin typeface="Calibri"/>
              </a:rPr>
              <a:t>Gold</a:t>
            </a:r>
            <a:endParaRPr lang="en-IN" sz="900" b="0" u="none" strike="noStrike">
              <a:solidFill>
                <a:srgbClr val="000000"/>
              </a:solidFill>
              <a:effectLst/>
              <a:uFillTx/>
              <a:latin typeface="Arial"/>
            </a:endParaRPr>
          </a:p>
        </p:txBody>
      </p:sp>
      <p:sp>
        <p:nvSpPr>
          <p:cNvPr id="157" name="Text 9"/>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4"/>
              </a:rPr>
              <a:t>[4]</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5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Orchestration &amp; Scheduling</a:t>
            </a:r>
            <a:endParaRPr lang="en-IN" sz="2000" b="0" u="none" strike="noStrike">
              <a:solidFill>
                <a:srgbClr val="000000"/>
              </a:solidFill>
              <a:effectLst/>
              <a:uFillTx/>
              <a:latin typeface="Arial"/>
            </a:endParaRPr>
          </a:p>
        </p:txBody>
      </p:sp>
      <p:sp>
        <p:nvSpPr>
          <p:cNvPr id="160"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200" b="1" u="none" strike="noStrike">
                <a:solidFill>
                  <a:srgbClr val="003c54"/>
                </a:solidFill>
                <a:effectLst/>
                <a:uFillTx/>
                <a:latin typeface="Calibri"/>
              </a:rPr>
              <a:t>Orchestration Extension</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Airflow coordinates bounded checks and transformation jobs; it does not replace continuous CDC capture.</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The supplied Day 10 Compose stack does not include Airflow.</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In your design, show the validation or Gold-refresh DAG, retry policy and idempotent outcome evidence.</a:t>
            </a:r>
            <a:endParaRPr lang="en-IN" sz="1200" b="0" u="none" strike="noStrike">
              <a:solidFill>
                <a:srgbClr val="000000"/>
              </a:solidFill>
              <a:effectLst/>
              <a:uFillTx/>
              <a:latin typeface="Arial"/>
            </a:endParaRPr>
          </a:p>
        </p:txBody>
      </p:sp>
      <p:sp>
        <p:nvSpPr>
          <p:cNvPr id="161" name="Shape 3"/>
          <p:cNvSpPr/>
          <p:nvPr/>
        </p:nvSpPr>
        <p:spPr>
          <a:xfrm>
            <a:off x="5760720" y="914400"/>
            <a:ext cx="548280" cy="54828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2" name="Text 4"/>
          <p:cNvSpPr/>
          <p:nvPr/>
        </p:nvSpPr>
        <p:spPr>
          <a:xfrm>
            <a:off x="5760720" y="91440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Ingest</a:t>
            </a:r>
            <a:endParaRPr lang="en-IN" sz="700" b="0" u="none" strike="noStrike">
              <a:solidFill>
                <a:srgbClr val="000000"/>
              </a:solidFill>
              <a:effectLst/>
              <a:uFillTx/>
              <a:latin typeface="Arial"/>
            </a:endParaRPr>
          </a:p>
        </p:txBody>
      </p:sp>
      <p:sp>
        <p:nvSpPr>
          <p:cNvPr id="163" name="Shape 5"/>
          <p:cNvSpPr/>
          <p:nvPr/>
        </p:nvSpPr>
        <p:spPr>
          <a:xfrm>
            <a:off x="6766560" y="914400"/>
            <a:ext cx="548280" cy="54828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4" name="Text 6"/>
          <p:cNvSpPr/>
          <p:nvPr/>
        </p:nvSpPr>
        <p:spPr>
          <a:xfrm>
            <a:off x="6766560" y="91440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Transform</a:t>
            </a:r>
            <a:endParaRPr lang="en-IN" sz="700" b="0" u="none" strike="noStrike">
              <a:solidFill>
                <a:srgbClr val="000000"/>
              </a:solidFill>
              <a:effectLst/>
              <a:uFillTx/>
              <a:latin typeface="Arial"/>
            </a:endParaRPr>
          </a:p>
        </p:txBody>
      </p:sp>
      <p:sp>
        <p:nvSpPr>
          <p:cNvPr id="165" name="Shape 7"/>
          <p:cNvSpPr/>
          <p:nvPr/>
        </p:nvSpPr>
        <p:spPr>
          <a:xfrm>
            <a:off x="7772400" y="914400"/>
            <a:ext cx="548280" cy="54828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6" name="Text 8"/>
          <p:cNvSpPr/>
          <p:nvPr/>
        </p:nvSpPr>
        <p:spPr>
          <a:xfrm>
            <a:off x="7772400" y="91440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Serve</a:t>
            </a:r>
            <a:endParaRPr lang="en-IN" sz="700" b="0" u="none" strike="noStrike">
              <a:solidFill>
                <a:srgbClr val="000000"/>
              </a:solidFill>
              <a:effectLst/>
              <a:uFillTx/>
              <a:latin typeface="Arial"/>
            </a:endParaRPr>
          </a:p>
        </p:txBody>
      </p:sp>
      <p:sp>
        <p:nvSpPr>
          <p:cNvPr id="167" name="Shape 9"/>
          <p:cNvSpPr/>
          <p:nvPr/>
        </p:nvSpPr>
        <p:spPr>
          <a:xfrm>
            <a:off x="6309360" y="1143000"/>
            <a:ext cx="4568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8" name="Shape 10"/>
          <p:cNvSpPr/>
          <p:nvPr/>
        </p:nvSpPr>
        <p:spPr>
          <a:xfrm>
            <a:off x="7315200" y="1143000"/>
            <a:ext cx="4568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9"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7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Real‑Time Analytics &amp; Serving</a:t>
            </a:r>
            <a:endParaRPr lang="en-IN" sz="2000" b="0" u="none" strike="noStrike">
              <a:solidFill>
                <a:srgbClr val="000000"/>
              </a:solidFill>
              <a:effectLst/>
              <a:uFillTx/>
              <a:latin typeface="Arial"/>
            </a:endParaRPr>
          </a:p>
        </p:txBody>
      </p:sp>
      <p:sp>
        <p:nvSpPr>
          <p:cNvPr id="172"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200" b="1" u="none" strike="noStrike">
                <a:solidFill>
                  <a:srgbClr val="003c54"/>
                </a:solidFill>
                <a:effectLst/>
                <a:uFillTx/>
                <a:latin typeface="Calibri"/>
              </a:rPr>
              <a:t>Consumption and BI Proof</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The runnable capstone uses ksqlDB derived tables/topics as the analytics output.</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Export or connect a Gold-style result to a BI tool such as Apache Superset or Metabase.</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Required dashboard evidence: one KPI plus two charts, with metric grain and refresh/freshness note.</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A microservice is optional, not a replacement for the dashboard proof.</a:t>
            </a:r>
            <a:endParaRPr lang="en-IN" sz="1200" b="0" u="none" strike="noStrike">
              <a:solidFill>
                <a:srgbClr val="000000"/>
              </a:solidFill>
              <a:effectLst/>
              <a:uFillTx/>
              <a:latin typeface="Arial"/>
            </a:endParaRPr>
          </a:p>
        </p:txBody>
      </p:sp>
      <p:sp>
        <p:nvSpPr>
          <p:cNvPr id="173" name="Shape 3"/>
          <p:cNvSpPr/>
          <p:nvPr/>
        </p:nvSpPr>
        <p:spPr>
          <a:xfrm>
            <a:off x="5486040" y="2243160"/>
            <a:ext cx="13712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4" name="Text 4"/>
          <p:cNvSpPr/>
          <p:nvPr/>
        </p:nvSpPr>
        <p:spPr>
          <a:xfrm>
            <a:off x="5486040" y="2243160"/>
            <a:ext cx="13712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Derived Topic</a:t>
            </a:r>
            <a:endParaRPr lang="en-IN" sz="800" b="0" u="none" strike="noStrike">
              <a:solidFill>
                <a:srgbClr val="000000"/>
              </a:solidFill>
              <a:effectLst/>
              <a:uFillTx/>
              <a:latin typeface="Arial"/>
            </a:endParaRPr>
          </a:p>
        </p:txBody>
      </p:sp>
      <p:sp>
        <p:nvSpPr>
          <p:cNvPr id="175" name="Shape 5"/>
          <p:cNvSpPr/>
          <p:nvPr/>
        </p:nvSpPr>
        <p:spPr>
          <a:xfrm>
            <a:off x="7040880" y="17557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6" name="Shape 6"/>
          <p:cNvSpPr/>
          <p:nvPr/>
        </p:nvSpPr>
        <p:spPr>
          <a:xfrm>
            <a:off x="7315200" y="16459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7" name="Text 7"/>
          <p:cNvSpPr/>
          <p:nvPr/>
        </p:nvSpPr>
        <p:spPr>
          <a:xfrm>
            <a:off x="7315200" y="16459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Dashboard</a:t>
            </a:r>
            <a:endParaRPr lang="en-IN" sz="700" b="0" u="none" strike="noStrike">
              <a:solidFill>
                <a:srgbClr val="000000"/>
              </a:solidFill>
              <a:effectLst/>
              <a:uFillTx/>
              <a:latin typeface="Arial"/>
            </a:endParaRPr>
          </a:p>
        </p:txBody>
      </p:sp>
      <p:sp>
        <p:nvSpPr>
          <p:cNvPr id="178" name="Shape 8"/>
          <p:cNvSpPr/>
          <p:nvPr/>
        </p:nvSpPr>
        <p:spPr>
          <a:xfrm>
            <a:off x="7040880" y="22129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9" name="Shape 9"/>
          <p:cNvSpPr/>
          <p:nvPr/>
        </p:nvSpPr>
        <p:spPr>
          <a:xfrm>
            <a:off x="7315200" y="21031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0" name="Text 10"/>
          <p:cNvSpPr/>
          <p:nvPr/>
        </p:nvSpPr>
        <p:spPr>
          <a:xfrm>
            <a:off x="7315200" y="21031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API</a:t>
            </a:r>
            <a:endParaRPr lang="en-IN" sz="700" b="0" u="none" strike="noStrike">
              <a:solidFill>
                <a:srgbClr val="000000"/>
              </a:solidFill>
              <a:effectLst/>
              <a:uFillTx/>
              <a:latin typeface="Arial"/>
            </a:endParaRPr>
          </a:p>
        </p:txBody>
      </p:sp>
      <p:sp>
        <p:nvSpPr>
          <p:cNvPr id="181" name="Shape 11"/>
          <p:cNvSpPr/>
          <p:nvPr/>
        </p:nvSpPr>
        <p:spPr>
          <a:xfrm>
            <a:off x="7040880" y="26701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2" name="Shape 12"/>
          <p:cNvSpPr/>
          <p:nvPr/>
        </p:nvSpPr>
        <p:spPr>
          <a:xfrm>
            <a:off x="7315200" y="25603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3" name="Text 13"/>
          <p:cNvSpPr/>
          <p:nvPr/>
        </p:nvSpPr>
        <p:spPr>
          <a:xfrm>
            <a:off x="7315200" y="25603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Microservice</a:t>
            </a:r>
            <a:endParaRPr lang="en-IN" sz="700" b="0" u="none" strike="noStrike">
              <a:solidFill>
                <a:srgbClr val="000000"/>
              </a:solidFill>
              <a:effectLst/>
              <a:uFillTx/>
              <a:latin typeface="Arial"/>
            </a:endParaRPr>
          </a:p>
        </p:txBody>
      </p:sp>
      <p:sp>
        <p:nvSpPr>
          <p:cNvPr id="184" name="Shape 14"/>
          <p:cNvSpPr/>
          <p:nvPr/>
        </p:nvSpPr>
        <p:spPr>
          <a:xfrm>
            <a:off x="7040880" y="31273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5" name="Shape 15"/>
          <p:cNvSpPr/>
          <p:nvPr/>
        </p:nvSpPr>
        <p:spPr>
          <a:xfrm>
            <a:off x="7315200" y="30175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6" name="Text 16"/>
          <p:cNvSpPr/>
          <p:nvPr/>
        </p:nvSpPr>
        <p:spPr>
          <a:xfrm>
            <a:off x="7315200" y="30175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ML Model</a:t>
            </a:r>
            <a:endParaRPr lang="en-IN" sz="700" b="0" u="none" strike="noStrike">
              <a:solidFill>
                <a:srgbClr val="000000"/>
              </a:solidFill>
              <a:effectLst/>
              <a:uFillTx/>
              <a:latin typeface="Arial"/>
            </a:endParaRPr>
          </a:p>
        </p:txBody>
      </p:sp>
      <p:sp>
        <p:nvSpPr>
          <p:cNvPr id="187" name="Text 17"/>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8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Event Life Cycle</a:t>
            </a:r>
            <a:endParaRPr lang="en-IN" sz="2000" b="0" u="none" strike="noStrike">
              <a:solidFill>
                <a:srgbClr val="000000"/>
              </a:solidFill>
              <a:effectLst/>
              <a:uFillTx/>
              <a:latin typeface="Arial"/>
            </a:endParaRPr>
          </a:p>
        </p:txBody>
      </p:sp>
      <p:sp>
        <p:nvSpPr>
          <p:cNvPr id="190" name="Shape 2"/>
          <p:cNvSpPr/>
          <p:nvPr/>
        </p:nvSpPr>
        <p:spPr>
          <a:xfrm>
            <a:off x="457200" y="1828800"/>
            <a:ext cx="9140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1" name="Text 3"/>
          <p:cNvSpPr/>
          <p:nvPr/>
        </p:nvSpPr>
        <p:spPr>
          <a:xfrm>
            <a:off x="45720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Capture</a:t>
            </a:r>
            <a:endParaRPr lang="en-IN" sz="800" b="0" u="none" strike="noStrike">
              <a:solidFill>
                <a:srgbClr val="000000"/>
              </a:solidFill>
              <a:effectLst/>
              <a:uFillTx/>
              <a:latin typeface="Arial"/>
            </a:endParaRPr>
          </a:p>
        </p:txBody>
      </p:sp>
      <p:sp>
        <p:nvSpPr>
          <p:cNvPr id="192" name="Shape 4"/>
          <p:cNvSpPr/>
          <p:nvPr/>
        </p:nvSpPr>
        <p:spPr>
          <a:xfrm>
            <a:off x="137160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3" name="Shape 5"/>
          <p:cNvSpPr/>
          <p:nvPr/>
        </p:nvSpPr>
        <p:spPr>
          <a:xfrm>
            <a:off x="1554480" y="1828800"/>
            <a:ext cx="914040" cy="456840"/>
          </a:xfrm>
          <a:prstGeom prst="roundRect">
            <a:avLst>
              <a:gd name="adj" fmla="val 20000"/>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4" name="Text 6"/>
          <p:cNvSpPr/>
          <p:nvPr/>
        </p:nvSpPr>
        <p:spPr>
          <a:xfrm>
            <a:off x="155448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Ingest</a:t>
            </a:r>
            <a:endParaRPr lang="en-IN" sz="800" b="0" u="none" strike="noStrike">
              <a:solidFill>
                <a:srgbClr val="000000"/>
              </a:solidFill>
              <a:effectLst/>
              <a:uFillTx/>
              <a:latin typeface="Arial"/>
            </a:endParaRPr>
          </a:p>
        </p:txBody>
      </p:sp>
      <p:sp>
        <p:nvSpPr>
          <p:cNvPr id="195" name="Shape 7"/>
          <p:cNvSpPr/>
          <p:nvPr/>
        </p:nvSpPr>
        <p:spPr>
          <a:xfrm>
            <a:off x="246888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6" name="Shape 8"/>
          <p:cNvSpPr/>
          <p:nvPr/>
        </p:nvSpPr>
        <p:spPr>
          <a:xfrm>
            <a:off x="2651760" y="1828800"/>
            <a:ext cx="914040" cy="456840"/>
          </a:xfrm>
          <a:prstGeom prst="roundRect">
            <a:avLst>
              <a:gd name="adj" fmla="val 20000"/>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7" name="Text 9"/>
          <p:cNvSpPr/>
          <p:nvPr/>
        </p:nvSpPr>
        <p:spPr>
          <a:xfrm>
            <a:off x="265176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Transform</a:t>
            </a:r>
            <a:endParaRPr lang="en-IN" sz="800" b="0" u="none" strike="noStrike">
              <a:solidFill>
                <a:srgbClr val="000000"/>
              </a:solidFill>
              <a:effectLst/>
              <a:uFillTx/>
              <a:latin typeface="Arial"/>
            </a:endParaRPr>
          </a:p>
        </p:txBody>
      </p:sp>
      <p:sp>
        <p:nvSpPr>
          <p:cNvPr id="198" name="Shape 10"/>
          <p:cNvSpPr/>
          <p:nvPr/>
        </p:nvSpPr>
        <p:spPr>
          <a:xfrm>
            <a:off x="356616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9" name="Shape 11"/>
          <p:cNvSpPr/>
          <p:nvPr/>
        </p:nvSpPr>
        <p:spPr>
          <a:xfrm>
            <a:off x="3749040" y="1828800"/>
            <a:ext cx="9140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0" name="Text 12"/>
          <p:cNvSpPr/>
          <p:nvPr/>
        </p:nvSpPr>
        <p:spPr>
          <a:xfrm>
            <a:off x="374904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Store</a:t>
            </a:r>
            <a:endParaRPr lang="en-IN" sz="800" b="0" u="none" strike="noStrike">
              <a:solidFill>
                <a:srgbClr val="000000"/>
              </a:solidFill>
              <a:effectLst/>
              <a:uFillTx/>
              <a:latin typeface="Arial"/>
            </a:endParaRPr>
          </a:p>
        </p:txBody>
      </p:sp>
      <p:sp>
        <p:nvSpPr>
          <p:cNvPr id="201" name="Shape 13"/>
          <p:cNvSpPr/>
          <p:nvPr/>
        </p:nvSpPr>
        <p:spPr>
          <a:xfrm>
            <a:off x="466344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2" name="Shape 14"/>
          <p:cNvSpPr/>
          <p:nvPr/>
        </p:nvSpPr>
        <p:spPr>
          <a:xfrm>
            <a:off x="4846320" y="1828800"/>
            <a:ext cx="914040" cy="456840"/>
          </a:xfrm>
          <a:prstGeom prst="roundRect">
            <a:avLst>
              <a:gd name="adj" fmla="val 20000"/>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3" name="Text 15"/>
          <p:cNvSpPr/>
          <p:nvPr/>
        </p:nvSpPr>
        <p:spPr>
          <a:xfrm>
            <a:off x="484632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Orchestrate</a:t>
            </a:r>
            <a:endParaRPr lang="en-IN" sz="800" b="0" u="none" strike="noStrike">
              <a:solidFill>
                <a:srgbClr val="000000"/>
              </a:solidFill>
              <a:effectLst/>
              <a:uFillTx/>
              <a:latin typeface="Arial"/>
            </a:endParaRPr>
          </a:p>
        </p:txBody>
      </p:sp>
      <p:sp>
        <p:nvSpPr>
          <p:cNvPr id="204" name="Shape 16"/>
          <p:cNvSpPr/>
          <p:nvPr/>
        </p:nvSpPr>
        <p:spPr>
          <a:xfrm>
            <a:off x="576072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5" name="Shape 17"/>
          <p:cNvSpPr/>
          <p:nvPr/>
        </p:nvSpPr>
        <p:spPr>
          <a:xfrm>
            <a:off x="5943600" y="1828800"/>
            <a:ext cx="914040" cy="456840"/>
          </a:xfrm>
          <a:prstGeom prst="roundRect">
            <a:avLst>
              <a:gd name="adj" fmla="val 20000"/>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6" name="Text 18"/>
          <p:cNvSpPr/>
          <p:nvPr/>
        </p:nvSpPr>
        <p:spPr>
          <a:xfrm>
            <a:off x="594360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Analyse</a:t>
            </a:r>
            <a:endParaRPr lang="en-IN" sz="800" b="0" u="none" strike="noStrike">
              <a:solidFill>
                <a:srgbClr val="000000"/>
              </a:solidFill>
              <a:effectLst/>
              <a:uFillTx/>
              <a:latin typeface="Arial"/>
            </a:endParaRPr>
          </a:p>
        </p:txBody>
      </p:sp>
      <p:sp>
        <p:nvSpPr>
          <p:cNvPr id="207" name="Shape 19"/>
          <p:cNvSpPr/>
          <p:nvPr/>
        </p:nvSpPr>
        <p:spPr>
          <a:xfrm>
            <a:off x="685800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8" name="Shape 20"/>
          <p:cNvSpPr/>
          <p:nvPr/>
        </p:nvSpPr>
        <p:spPr>
          <a:xfrm>
            <a:off x="7040880" y="1828800"/>
            <a:ext cx="9140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9" name="Text 21"/>
          <p:cNvSpPr/>
          <p:nvPr/>
        </p:nvSpPr>
        <p:spPr>
          <a:xfrm>
            <a:off x="704088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Serve</a:t>
            </a:r>
            <a:endParaRPr lang="en-IN" sz="800" b="0" u="none" strike="noStrike">
              <a:solidFill>
                <a:srgbClr val="000000"/>
              </a:solidFill>
              <a:effectLst/>
              <a:uFillTx/>
              <a:latin typeface="Arial"/>
            </a:endParaRPr>
          </a:p>
        </p:txBody>
      </p:sp>
      <p:sp>
        <p:nvSpPr>
          <p:cNvPr id="210" name="Text 22"/>
          <p:cNvSpPr/>
          <p:nvPr/>
        </p:nvSpPr>
        <p:spPr>
          <a:xfrm>
            <a:off x="457200" y="2926080"/>
            <a:ext cx="868644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6a6a6a"/>
                </a:solidFill>
                <a:effectLst/>
                <a:uFillTx/>
                <a:latin typeface="Calibri"/>
              </a:rPr>
              <a:t>Each event flows through the pipeline, being validated, enriched, stored and consumed at each stage.</a:t>
            </a:r>
            <a:endParaRPr lang="en-IN" sz="900" b="0" u="none" strike="noStrike">
              <a:solidFill>
                <a:srgbClr val="000000"/>
              </a:solidFill>
              <a:effectLst/>
              <a:uFillTx/>
              <a:latin typeface="Arial"/>
            </a:endParaRPr>
          </a:p>
        </p:txBody>
      </p:sp>
      <p:sp>
        <p:nvSpPr>
          <p:cNvPr id="211" name="Text 2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1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1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1: Start Environment</a:t>
            </a:r>
            <a:endParaRPr lang="en-IN" sz="2000" b="0" u="none" strike="noStrike">
              <a:solidFill>
                <a:srgbClr val="000000"/>
              </a:solidFill>
              <a:effectLst/>
              <a:uFillTx/>
              <a:latin typeface="Arial"/>
            </a:endParaRPr>
          </a:p>
        </p:txBody>
      </p:sp>
      <p:sp>
        <p:nvSpPr>
          <p:cNvPr id="214" name="Text 2"/>
          <p:cNvSpPr/>
          <p:nvPr/>
        </p:nvSpPr>
        <p:spPr>
          <a:xfrm>
            <a:off x="457200" y="731520"/>
            <a:ext cx="594324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Run the provided docker‑compose stack to start all services (Kafka, Schema Registry, ksqldb, Debezium connectors, Hop, Airflow and Kafka UI). Use a monitoring tool such as Prometheus/Grafana if available.</a:t>
            </a:r>
            <a:endParaRPr lang="en-IN" sz="1000" b="0" u="none" strike="noStrike">
              <a:solidFill>
                <a:srgbClr val="000000"/>
              </a:solidFill>
              <a:effectLst/>
              <a:uFillTx/>
              <a:latin typeface="Arial"/>
            </a:endParaRPr>
          </a:p>
        </p:txBody>
      </p:sp>
      <p:sp>
        <p:nvSpPr>
          <p:cNvPr id="215" name="Shape 3"/>
          <p:cNvSpPr/>
          <p:nvPr/>
        </p:nvSpPr>
        <p:spPr>
          <a:xfrm>
            <a:off x="6583680" y="822960"/>
            <a:ext cx="2468520" cy="914040"/>
          </a:xfrm>
          <a:prstGeom prst="roundRect">
            <a:avLst>
              <a:gd name="adj" fmla="val 5000"/>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16" name="Text 4"/>
          <p:cNvSpPr/>
          <p:nvPr/>
        </p:nvSpPr>
        <p:spPr>
          <a:xfrm>
            <a:off x="6629400" y="841320"/>
            <a:ext cx="237708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6a9955"/>
                </a:solidFill>
                <a:effectLst/>
                <a:uFillTx/>
                <a:latin typeface="Consolas"/>
                <a:ea typeface="Consolas"/>
              </a:rPr>
              <a:t># terminal</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cd day10_final</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/lab-code</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docker compose up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
            </a:r>
            <a:endParaRPr lang="en-IN" sz="800" b="0" u="none" strike="noStrike">
              <a:solidFill>
                <a:srgbClr val="000000"/>
              </a:solidFill>
              <a:effectLst/>
              <a:uFillTx/>
              <a:latin typeface="Arial"/>
            </a:endParaRPr>
          </a:p>
        </p:txBody>
      </p:sp>
      <p:sp>
        <p:nvSpPr>
          <p:cNvPr id="217"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1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1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2: Capture Changes</a:t>
            </a:r>
            <a:endParaRPr lang="en-IN" sz="2000" b="0" u="none" strike="noStrike">
              <a:solidFill>
                <a:srgbClr val="000000"/>
              </a:solidFill>
              <a:effectLst/>
              <a:uFillTx/>
              <a:latin typeface="Arial"/>
            </a:endParaRPr>
          </a:p>
        </p:txBody>
      </p:sp>
      <p:sp>
        <p:nvSpPr>
          <p:cNvPr id="220" name="Text 2"/>
          <p:cNvSpPr/>
          <p:nvPr/>
        </p:nvSpPr>
        <p:spPr>
          <a:xfrm>
            <a:off x="457200" y="731520"/>
            <a:ext cx="5943240" cy="1371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Create PostgreSQL and MySQL source tables with sample data. Register Debezium source connectors via REST API or UI to stream row‑level changes into Kafka topics.</a:t>
            </a:r>
            <a:endParaRPr lang="en-IN" sz="1000" b="0" u="none" strike="noStrike">
              <a:solidFill>
                <a:srgbClr val="000000"/>
              </a:solidFill>
              <a:effectLst/>
              <a:uFillTx/>
              <a:latin typeface="Arial"/>
            </a:endParaRPr>
          </a:p>
        </p:txBody>
      </p:sp>
      <p:sp>
        <p:nvSpPr>
          <p:cNvPr id="221" name="Shape 3"/>
          <p:cNvSpPr/>
          <p:nvPr/>
        </p:nvSpPr>
        <p:spPr>
          <a:xfrm>
            <a:off x="6300000" y="720000"/>
            <a:ext cx="2468520" cy="4140000"/>
          </a:xfrm>
          <a:prstGeom prst="roundRect">
            <a:avLst>
              <a:gd name="adj" fmla="val 3333"/>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22" name="Text 4"/>
          <p:cNvSpPr/>
          <p:nvPr/>
        </p:nvSpPr>
        <p:spPr>
          <a:xfrm>
            <a:off x="6485400" y="2228760"/>
            <a:ext cx="2377080" cy="1325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"orders-connector"</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"config":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"connector.class": </a:t>
            </a:r>
            <a:r>
              <a:rPr lang="en-US" sz="800" b="0" u="none" strike="noStrike">
                <a:solidFill>
                  <a:srgbClr val="a31515"/>
                </a:solidFill>
                <a:effectLst/>
                <a:uFillTx/>
                <a:latin typeface="Consolas"/>
                <a:ea typeface="Consolas"/>
              </a:rPr>
              <a:t>"io.debezium.connector.postgresql.PostgresConnector"</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"database.hostname": </a:t>
            </a:r>
            <a:r>
              <a:rPr lang="en-US" sz="800" b="0" u="none" strike="noStrike">
                <a:solidFill>
                  <a:srgbClr val="a31515"/>
                </a:solidFill>
                <a:effectLst/>
                <a:uFillTx/>
                <a:latin typeface="Consolas"/>
                <a:ea typeface="Consolas"/>
              </a:rPr>
              <a:t>"postgres"</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"database.port": </a:t>
            </a:r>
            <a:r>
              <a:rPr lang="en-US" sz="800" b="0" u="none" strike="noStrike">
                <a:solidFill>
                  <a:srgbClr val="a31515"/>
                </a:solidFill>
                <a:effectLst/>
                <a:uFillTx/>
                <a:latin typeface="Consolas"/>
                <a:ea typeface="Consolas"/>
              </a:rPr>
              <a:t>"5432"</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"database.user": </a:t>
            </a:r>
            <a:r>
              <a:rPr lang="en-US" sz="800" b="0" u="none" strike="noStrike">
                <a:solidFill>
                  <a:srgbClr val="a31515"/>
                </a:solidFill>
                <a:effectLst/>
                <a:uFillTx/>
                <a:latin typeface="Consolas"/>
                <a:ea typeface="Consolas"/>
              </a:rPr>
              <a:t>"debezium"</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"database.password": </a:t>
            </a:r>
            <a:r>
              <a:rPr lang="en-US" sz="800" b="0" u="none" strike="noStrike">
                <a:solidFill>
                  <a:srgbClr val="a31515"/>
                </a:solidFill>
                <a:effectLst/>
                <a:uFillTx/>
                <a:latin typeface="Consolas"/>
                <a:ea typeface="Consolas"/>
              </a:rPr>
              <a:t>"dbz"</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"database.dbname": </a:t>
            </a:r>
            <a:r>
              <a:rPr lang="en-US" sz="800" b="0" u="none" strike="noStrike">
                <a:solidFill>
                  <a:srgbClr val="a31515"/>
                </a:solidFill>
                <a:effectLst/>
                <a:uFillTx/>
                <a:latin typeface="Consolas"/>
                <a:ea typeface="Consolas"/>
              </a:rPr>
              <a:t>"retail"</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"database.server.name": </a:t>
            </a:r>
            <a:r>
              <a:rPr lang="en-US" sz="800" b="0" u="none" strike="noStrike">
                <a:solidFill>
                  <a:srgbClr val="a31515"/>
                </a:solidFill>
                <a:effectLst/>
                <a:uFillTx/>
                <a:latin typeface="Consolas"/>
                <a:ea typeface="Consolas"/>
              </a:rPr>
              <a:t>"retail"</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"table.include.list": </a:t>
            </a:r>
            <a:r>
              <a:rPr lang="en-US" sz="800" b="0" u="none" strike="noStrike">
                <a:solidFill>
                  <a:srgbClr val="a31515"/>
                </a:solidFill>
                <a:effectLst/>
                <a:uFillTx/>
                <a:latin typeface="Consolas"/>
                <a:ea typeface="Consolas"/>
              </a:rPr>
              <a:t>"public.orders"</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"plugin.name": </a:t>
            </a:r>
            <a:r>
              <a:rPr lang="en-US" sz="800" b="0" u="none" strike="noStrike">
                <a:solidFill>
                  <a:srgbClr val="a31515"/>
                </a:solidFill>
                <a:effectLst/>
                <a:uFillTx/>
                <a:latin typeface="Consolas"/>
                <a:ea typeface="Consolas"/>
              </a:rPr>
              <a:t>"pgoutput"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p:txBody>
      </p:sp>
      <p:sp>
        <p:nvSpPr>
          <p:cNvPr id="223"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24"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25"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3: Ingest &amp; Validate</a:t>
            </a:r>
            <a:endParaRPr lang="en-IN" sz="2000" b="0" u="none" strike="noStrike">
              <a:solidFill>
                <a:srgbClr val="000000"/>
              </a:solidFill>
              <a:effectLst/>
              <a:uFillTx/>
              <a:latin typeface="Arial"/>
            </a:endParaRPr>
          </a:p>
        </p:txBody>
      </p:sp>
      <p:sp>
        <p:nvSpPr>
          <p:cNvPr id="226" name="Text 2"/>
          <p:cNvSpPr/>
          <p:nvPr/>
        </p:nvSpPr>
        <p:spPr>
          <a:xfrm>
            <a:off x="457200" y="731520"/>
            <a:ext cx="5943240" cy="1462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Define schemas in Schema Registry and configure producers to validate events. Use single message transforms to extract new record state and route malformed records to a dead letter queue for investigation.</a:t>
            </a:r>
            <a:endParaRPr lang="en-IN" sz="1000" b="0" u="none" strike="noStrike">
              <a:solidFill>
                <a:srgbClr val="000000"/>
              </a:solidFill>
              <a:effectLst/>
              <a:uFillTx/>
              <a:latin typeface="Arial"/>
            </a:endParaRPr>
          </a:p>
        </p:txBody>
      </p:sp>
      <p:sp>
        <p:nvSpPr>
          <p:cNvPr id="227" name="Shape 3"/>
          <p:cNvSpPr/>
          <p:nvPr/>
        </p:nvSpPr>
        <p:spPr>
          <a:xfrm>
            <a:off x="6583680" y="914400"/>
            <a:ext cx="2468520" cy="3405600"/>
          </a:xfrm>
          <a:prstGeom prst="roundRect">
            <a:avLst>
              <a:gd name="adj" fmla="val 3846"/>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28" name="Text 4"/>
          <p:cNvSpPr/>
          <p:nvPr/>
        </p:nvSpPr>
        <p:spPr>
          <a:xfrm>
            <a:off x="6629400" y="2120760"/>
            <a:ext cx="237708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"type": </a:t>
            </a:r>
            <a:r>
              <a:rPr lang="en-US" sz="800" b="0" u="none" strike="noStrike">
                <a:solidFill>
                  <a:srgbClr val="a31515"/>
                </a:solidFill>
                <a:effectLst/>
                <a:uFillTx/>
                <a:latin typeface="Consolas"/>
                <a:ea typeface="Consolas"/>
              </a:rPr>
              <a:t>"record"</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"Order"</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"fields":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"order_id"</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"string"</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"customer_id"</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"string"</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"amount"</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"double"</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"created_at"</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"long"</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p:txBody>
      </p:sp>
      <p:sp>
        <p:nvSpPr>
          <p:cNvPr id="229"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3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4: Transform &amp; Enrich</a:t>
            </a:r>
            <a:endParaRPr lang="en-IN" sz="2000" b="0" u="none" strike="noStrike">
              <a:solidFill>
                <a:srgbClr val="000000"/>
              </a:solidFill>
              <a:effectLst/>
              <a:uFillTx/>
              <a:latin typeface="Arial"/>
            </a:endParaRPr>
          </a:p>
        </p:txBody>
      </p:sp>
      <p:sp>
        <p:nvSpPr>
          <p:cNvPr id="232" name="Text 2"/>
          <p:cNvSpPr/>
          <p:nvPr/>
        </p:nvSpPr>
        <p:spPr>
          <a:xfrm>
            <a:off x="457200" y="731520"/>
            <a:ext cx="612612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Extension boundary: apply the cleansing, validation and enrichment design from Days 6-7 to CDC topics or exported results. Hop/Spark pipeline artifacts are not included in the Day 10 starter files; reuse earlier work or document the mapped design and output evidence.</a:t>
            </a:r>
            <a:endParaRPr lang="en-IN" sz="1000" b="0" u="none" strike="noStrike">
              <a:solidFill>
                <a:srgbClr val="000000"/>
              </a:solidFill>
              <a:effectLst/>
              <a:uFillTx/>
              <a:latin typeface="Arial"/>
            </a:endParaRPr>
          </a:p>
        </p:txBody>
      </p:sp>
      <p:sp>
        <p:nvSpPr>
          <p:cNvPr id="233" name="Shape 3"/>
          <p:cNvSpPr/>
          <p:nvPr/>
        </p:nvSpPr>
        <p:spPr>
          <a:xfrm>
            <a:off x="6400800" y="914400"/>
            <a:ext cx="639720" cy="365400"/>
          </a:xfrm>
          <a:prstGeom prst="rect">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4" name="Text 4"/>
          <p:cNvSpPr/>
          <p:nvPr/>
        </p:nvSpPr>
        <p:spPr>
          <a:xfrm>
            <a:off x="6400800" y="914400"/>
            <a:ext cx="6397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Raw</a:t>
            </a:r>
            <a:endParaRPr lang="en-IN" sz="700" b="0" u="none" strike="noStrike">
              <a:solidFill>
                <a:srgbClr val="000000"/>
              </a:solidFill>
              <a:effectLst/>
              <a:uFillTx/>
              <a:latin typeface="Arial"/>
            </a:endParaRPr>
          </a:p>
        </p:txBody>
      </p:sp>
      <p:sp>
        <p:nvSpPr>
          <p:cNvPr id="235" name="Shape 5"/>
          <p:cNvSpPr/>
          <p:nvPr/>
        </p:nvSpPr>
        <p:spPr>
          <a:xfrm>
            <a:off x="7040880" y="1069920"/>
            <a:ext cx="182520" cy="7272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6" name="Shape 6"/>
          <p:cNvSpPr/>
          <p:nvPr/>
        </p:nvSpPr>
        <p:spPr>
          <a:xfrm>
            <a:off x="7223760" y="914400"/>
            <a:ext cx="639720" cy="365400"/>
          </a:xfrm>
          <a:prstGeom prst="rect">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7" name="Text 7"/>
          <p:cNvSpPr/>
          <p:nvPr/>
        </p:nvSpPr>
        <p:spPr>
          <a:xfrm>
            <a:off x="7223760" y="914400"/>
            <a:ext cx="6397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Clean</a:t>
            </a:r>
            <a:endParaRPr lang="en-IN" sz="700" b="0" u="none" strike="noStrike">
              <a:solidFill>
                <a:srgbClr val="000000"/>
              </a:solidFill>
              <a:effectLst/>
              <a:uFillTx/>
              <a:latin typeface="Arial"/>
            </a:endParaRPr>
          </a:p>
        </p:txBody>
      </p:sp>
      <p:sp>
        <p:nvSpPr>
          <p:cNvPr id="238" name="Shape 8"/>
          <p:cNvSpPr/>
          <p:nvPr/>
        </p:nvSpPr>
        <p:spPr>
          <a:xfrm>
            <a:off x="7863840" y="1069920"/>
            <a:ext cx="182520" cy="7272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9" name="Shape 9"/>
          <p:cNvSpPr/>
          <p:nvPr/>
        </p:nvSpPr>
        <p:spPr>
          <a:xfrm>
            <a:off x="8046720" y="914400"/>
            <a:ext cx="639720" cy="365400"/>
          </a:xfrm>
          <a:prstGeom prst="rect">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0" name="Text 10"/>
          <p:cNvSpPr/>
          <p:nvPr/>
        </p:nvSpPr>
        <p:spPr>
          <a:xfrm>
            <a:off x="8046720" y="914400"/>
            <a:ext cx="6397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Agg</a:t>
            </a:r>
            <a:endParaRPr lang="en-IN" sz="700" b="0" u="none" strike="noStrike">
              <a:solidFill>
                <a:srgbClr val="000000"/>
              </a:solidFill>
              <a:effectLst/>
              <a:uFillTx/>
              <a:latin typeface="Arial"/>
            </a:endParaRPr>
          </a:p>
        </p:txBody>
      </p:sp>
      <p:sp>
        <p:nvSpPr>
          <p:cNvPr id="241"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4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5: Orchestrate &amp; Store</a:t>
            </a:r>
            <a:endParaRPr lang="en-IN" sz="2000" b="0" u="none" strike="noStrike">
              <a:solidFill>
                <a:srgbClr val="000000"/>
              </a:solidFill>
              <a:effectLst/>
              <a:uFillTx/>
              <a:latin typeface="Arial"/>
            </a:endParaRPr>
          </a:p>
        </p:txBody>
      </p:sp>
      <p:sp>
        <p:nvSpPr>
          <p:cNvPr id="244" name="Text 2"/>
          <p:cNvSpPr/>
          <p:nvPr/>
        </p:nvSpPr>
        <p:spPr>
          <a:xfrm>
            <a:off x="457200" y="731520"/>
            <a:ext cx="612612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Extension boundary: describe an Airflow DAG for validation and Gold refresh, including retries and idempotent reruns. The supplied runnable stack creates CDC and ksqlDB outputs; it does not include Airflow or a configured Iceberg/Delta catalog.</a:t>
            </a:r>
            <a:endParaRPr lang="en-IN" sz="1000" b="0" u="none" strike="noStrike">
              <a:solidFill>
                <a:srgbClr val="000000"/>
              </a:solidFill>
              <a:effectLst/>
              <a:uFillTx/>
              <a:latin typeface="Arial"/>
            </a:endParaRPr>
          </a:p>
        </p:txBody>
      </p:sp>
      <p:sp>
        <p:nvSpPr>
          <p:cNvPr id="245" name="Shape 3"/>
          <p:cNvSpPr/>
          <p:nvPr/>
        </p:nvSpPr>
        <p:spPr>
          <a:xfrm>
            <a:off x="6858000" y="914400"/>
            <a:ext cx="1828440" cy="273960"/>
          </a:xfrm>
          <a:prstGeom prst="roundRect">
            <a:avLst>
              <a:gd name="adj" fmla="val 16667"/>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6" name="Text 4"/>
          <p:cNvSpPr/>
          <p:nvPr/>
        </p:nvSpPr>
        <p:spPr>
          <a:xfrm>
            <a:off x="6858000" y="914400"/>
            <a:ext cx="18284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Bronze Loader</a:t>
            </a:r>
            <a:endParaRPr lang="en-IN" sz="700" b="0" u="none" strike="noStrike">
              <a:solidFill>
                <a:srgbClr val="000000"/>
              </a:solidFill>
              <a:effectLst/>
              <a:uFillTx/>
              <a:latin typeface="Arial"/>
            </a:endParaRPr>
          </a:p>
        </p:txBody>
      </p:sp>
      <p:sp>
        <p:nvSpPr>
          <p:cNvPr id="247" name="Shape 5"/>
          <p:cNvSpPr/>
          <p:nvPr/>
        </p:nvSpPr>
        <p:spPr>
          <a:xfrm>
            <a:off x="6858000" y="1280160"/>
            <a:ext cx="1828440" cy="27396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8" name="Text 6"/>
          <p:cNvSpPr/>
          <p:nvPr/>
        </p:nvSpPr>
        <p:spPr>
          <a:xfrm>
            <a:off x="6858000" y="1280160"/>
            <a:ext cx="18284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Silver Cleaner</a:t>
            </a:r>
            <a:endParaRPr lang="en-IN" sz="700" b="0" u="none" strike="noStrike">
              <a:solidFill>
                <a:srgbClr val="000000"/>
              </a:solidFill>
              <a:effectLst/>
              <a:uFillTx/>
              <a:latin typeface="Arial"/>
            </a:endParaRPr>
          </a:p>
        </p:txBody>
      </p:sp>
      <p:sp>
        <p:nvSpPr>
          <p:cNvPr id="249" name="Shape 7"/>
          <p:cNvSpPr/>
          <p:nvPr/>
        </p:nvSpPr>
        <p:spPr>
          <a:xfrm>
            <a:off x="6858000" y="1645920"/>
            <a:ext cx="1828440" cy="273960"/>
          </a:xfrm>
          <a:prstGeom prst="roundRect">
            <a:avLst>
              <a:gd name="adj" fmla="val 16667"/>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0" name="Text 8"/>
          <p:cNvSpPr/>
          <p:nvPr/>
        </p:nvSpPr>
        <p:spPr>
          <a:xfrm>
            <a:off x="6858000" y="1645920"/>
            <a:ext cx="18284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Gold Aggregator</a:t>
            </a:r>
            <a:endParaRPr lang="en-IN" sz="700" b="0" u="none" strike="noStrike">
              <a:solidFill>
                <a:srgbClr val="000000"/>
              </a:solidFill>
              <a:effectLst/>
              <a:uFillTx/>
              <a:latin typeface="Arial"/>
            </a:endParaRPr>
          </a:p>
        </p:txBody>
      </p:sp>
      <p:sp>
        <p:nvSpPr>
          <p:cNvPr id="251" name="Text 9"/>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5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6: Analyse &amp; Serve</a:t>
            </a:r>
            <a:endParaRPr lang="en-IN" sz="2000" b="0" u="none" strike="noStrike">
              <a:solidFill>
                <a:srgbClr val="000000"/>
              </a:solidFill>
              <a:effectLst/>
              <a:uFillTx/>
              <a:latin typeface="Arial"/>
            </a:endParaRPr>
          </a:p>
        </p:txBody>
      </p:sp>
      <p:sp>
        <p:nvSpPr>
          <p:cNvPr id="254" name="Text 2"/>
          <p:cNvSpPr/>
          <p:nvPr/>
        </p:nvSpPr>
        <p:spPr>
          <a:xfrm>
            <a:off x="457200" y="731520"/>
            <a:ext cx="612612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Run the supplied ksqlDB aggregate queries and validate the resulting metric topic. Then expose one Gold-style result to Apache Superset, Metabase, Power BI or Tableau. Submission must include one KPI, two charts, the metric grain and a freshness note.</a:t>
            </a:r>
            <a:endParaRPr lang="en-IN" sz="1000" b="0" u="none" strike="noStrike">
              <a:solidFill>
                <a:srgbClr val="000000"/>
              </a:solidFill>
              <a:effectLst/>
              <a:uFillTx/>
              <a:latin typeface="Arial"/>
            </a:endParaRPr>
          </a:p>
        </p:txBody>
      </p:sp>
      <p:sp>
        <p:nvSpPr>
          <p:cNvPr id="255" name="Shape 3"/>
          <p:cNvSpPr/>
          <p:nvPr/>
        </p:nvSpPr>
        <p:spPr>
          <a:xfrm>
            <a:off x="6583680" y="914400"/>
            <a:ext cx="2468520" cy="1279800"/>
          </a:xfrm>
          <a:prstGeom prst="roundRect">
            <a:avLst>
              <a:gd name="adj" fmla="val 3571"/>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6" name="Text 4"/>
          <p:cNvSpPr/>
          <p:nvPr/>
        </p:nvSpPr>
        <p:spPr>
          <a:xfrm>
            <a:off x="6629400" y="941760"/>
            <a:ext cx="2377080" cy="1234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0077cc"/>
                </a:solidFill>
                <a:effectLst/>
                <a:uFillTx/>
                <a:latin typeface="Consolas"/>
                <a:ea typeface="Consolas"/>
              </a:rPr>
              <a:t>CREATE</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TABLE</a:t>
            </a:r>
            <a:r>
              <a:rPr lang="en-US" sz="800" b="0" u="none" strike="noStrike">
                <a:solidFill>
                  <a:srgbClr val="003c54"/>
                </a:solidFill>
                <a:effectLst/>
                <a:uFillTx/>
                <a:latin typeface="Consolas"/>
                <a:ea typeface="Consolas"/>
              </a:rPr>
              <a:t> top_products </a:t>
            </a:r>
            <a:r>
              <a:rPr lang="en-US" sz="800" b="0" u="none" strike="noStrike">
                <a:solidFill>
                  <a:srgbClr val="0077cc"/>
                </a:solidFill>
                <a:effectLst/>
                <a:uFillTx/>
                <a:latin typeface="Consolas"/>
                <a:ea typeface="Consolas"/>
              </a:rPr>
              <a:t>AS</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77cc"/>
                </a:solidFill>
                <a:effectLst/>
                <a:uFillTx/>
                <a:latin typeface="Consolas"/>
                <a:ea typeface="Consolas"/>
              </a:rPr>
              <a:t>SELECT</a:t>
            </a:r>
            <a:r>
              <a:rPr lang="en-US" sz="800" b="0" u="none" strike="noStrike">
                <a:solidFill>
                  <a:srgbClr val="003c54"/>
                </a:solidFill>
                <a:effectLst/>
                <a:uFillTx/>
                <a:latin typeface="Consolas"/>
                <a:ea typeface="Consolas"/>
              </a:rPr>
              <a:t> product_id,</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795e26"/>
                </a:solidFill>
                <a:effectLst/>
                <a:uFillTx/>
                <a:latin typeface="Consolas"/>
                <a:ea typeface="Consolas"/>
              </a:rPr>
              <a:t>COUNT</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AS</a:t>
            </a:r>
            <a:r>
              <a:rPr lang="en-US" sz="800" b="0" u="none" strike="noStrike">
                <a:solidFill>
                  <a:srgbClr val="003c54"/>
                </a:solidFill>
                <a:effectLst/>
                <a:uFillTx/>
                <a:latin typeface="Consolas"/>
                <a:ea typeface="Consolas"/>
              </a:rPr>
              <a:t> order_count,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795e26"/>
                </a:solidFill>
                <a:effectLst/>
                <a:uFillTx/>
                <a:latin typeface="Consolas"/>
                <a:ea typeface="Consolas"/>
              </a:rPr>
              <a:t>SUM</a:t>
            </a:r>
            <a:r>
              <a:rPr lang="en-US" sz="800" b="0" u="none" strike="noStrike">
                <a:solidFill>
                  <a:srgbClr val="003c54"/>
                </a:solidFill>
                <a:effectLst/>
                <a:uFillTx/>
                <a:latin typeface="Consolas"/>
                <a:ea typeface="Consolas"/>
              </a:rPr>
              <a:t>(amount) </a:t>
            </a:r>
            <a:r>
              <a:rPr lang="en-US" sz="800" b="0" u="none" strike="noStrike">
                <a:solidFill>
                  <a:srgbClr val="0077cc"/>
                </a:solidFill>
                <a:effectLst/>
                <a:uFillTx/>
                <a:latin typeface="Consolas"/>
                <a:ea typeface="Consolas"/>
              </a:rPr>
              <a:t>AS</a:t>
            </a:r>
            <a:r>
              <a:rPr lang="en-US" sz="800" b="0" u="none" strike="noStrike">
                <a:solidFill>
                  <a:srgbClr val="003c54"/>
                </a:solidFill>
                <a:effectLst/>
                <a:uFillTx/>
                <a:latin typeface="Consolas"/>
                <a:ea typeface="Consolas"/>
              </a:rPr>
              <a:t> total_revenue</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77cc"/>
                </a:solidFill>
                <a:effectLst/>
                <a:uFillTx/>
                <a:latin typeface="Consolas"/>
                <a:ea typeface="Consolas"/>
              </a:rPr>
              <a:t>FROM</a:t>
            </a:r>
            <a:r>
              <a:rPr lang="en-US" sz="800" b="0" u="none" strike="noStrike">
                <a:solidFill>
                  <a:srgbClr val="003c54"/>
                </a:solidFill>
                <a:effectLst/>
                <a:uFillTx/>
                <a:latin typeface="Consolas"/>
                <a:ea typeface="Consolas"/>
              </a:rPr>
              <a:t> orders_raw</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WINDOW HOPPING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(SIZE </a:t>
            </a:r>
            <a:r>
              <a:rPr lang="en-US" sz="800" b="0" u="none" strike="noStrike">
                <a:solidFill>
                  <a:srgbClr val="098658"/>
                </a:solidFill>
                <a:effectLst/>
                <a:uFillTx/>
                <a:latin typeface="Consolas"/>
                <a:ea typeface="Consolas"/>
              </a:rPr>
              <a:t>10</a:t>
            </a:r>
            <a:r>
              <a:rPr lang="en-US" sz="800" b="0" u="none" strike="noStrike">
                <a:solidFill>
                  <a:srgbClr val="003c54"/>
                </a:solidFill>
                <a:effectLst/>
                <a:uFillTx/>
                <a:latin typeface="Consolas"/>
                <a:ea typeface="Consolas"/>
              </a:rPr>
              <a:t> MINUTES, ADVANCE </a:t>
            </a:r>
            <a:r>
              <a:rPr lang="en-US" sz="800" b="0" u="none" strike="noStrike">
                <a:solidFill>
                  <a:srgbClr val="0077cc"/>
                </a:solidFill>
                <a:effectLst/>
                <a:uFillTx/>
                <a:latin typeface="Consolas"/>
                <a:ea typeface="Consolas"/>
              </a:rPr>
              <a:t>BY</a:t>
            </a:r>
            <a:r>
              <a:rPr lang="en-US" sz="800" b="0" u="none" strike="noStrike">
                <a:solidFill>
                  <a:srgbClr val="003c54"/>
                </a:solidFill>
                <a:effectLst/>
                <a:uFillTx/>
                <a:latin typeface="Consolas"/>
                <a:ea typeface="Consolas"/>
              </a:rPr>
              <a:t> </a:t>
            </a:r>
            <a:r>
              <a:rPr lang="en-US" sz="800" b="0" u="none" strike="noStrike">
                <a:solidFill>
                  <a:srgbClr val="098658"/>
                </a:solidFill>
                <a:effectLst/>
                <a:uFillTx/>
                <a:latin typeface="Consolas"/>
                <a:ea typeface="Consolas"/>
              </a:rPr>
              <a:t>1</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MINUTE</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77cc"/>
                </a:solidFill>
                <a:effectLst/>
                <a:uFillTx/>
                <a:latin typeface="Consolas"/>
                <a:ea typeface="Consolas"/>
              </a:rPr>
              <a:t>GROUP</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BY</a:t>
            </a:r>
            <a:r>
              <a:rPr lang="en-US" sz="800" b="0" u="none" strike="noStrike">
                <a:solidFill>
                  <a:srgbClr val="003c54"/>
                </a:solidFill>
                <a:effectLst/>
                <a:uFillTx/>
                <a:latin typeface="Consolas"/>
                <a:ea typeface="Consolas"/>
              </a:rPr>
              <a:t> product_id</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EMIT CHANGES</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p:txBody>
      </p:sp>
      <p:sp>
        <p:nvSpPr>
          <p:cNvPr id="257"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5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1: Design a Pipeline</a:t>
            </a:r>
            <a:endParaRPr lang="en-IN" sz="2000" b="0" u="none" strike="noStrike">
              <a:solidFill>
                <a:srgbClr val="000000"/>
              </a:solidFill>
              <a:effectLst/>
              <a:uFillTx/>
              <a:latin typeface="Arial"/>
            </a:endParaRPr>
          </a:p>
        </p:txBody>
      </p:sp>
      <p:sp>
        <p:nvSpPr>
          <p:cNvPr id="260" name="Text 2"/>
          <p:cNvSpPr/>
          <p:nvPr/>
        </p:nvSpPr>
        <p:spPr>
          <a:xfrm>
            <a:off x="457200" y="731520"/>
            <a:ext cx="8229240" cy="2194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Sketch the complete architecture, marking which components run in the supplied Day 10 stack and which are integration extensions. Include sources, CDC, schema handling, cleaned/aggregate output, BI dashboard, operational checks and evidence captured.</a:t>
            </a:r>
            <a:endParaRPr lang="en-IN" sz="900" b="0" u="none" strike="noStrike">
              <a:solidFill>
                <a:srgbClr val="000000"/>
              </a:solidFill>
              <a:effectLst/>
              <a:uFillTx/>
              <a:latin typeface="Arial"/>
            </a:endParaRPr>
          </a:p>
        </p:txBody>
      </p:sp>
      <p:sp>
        <p:nvSpPr>
          <p:cNvPr id="261"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6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6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2: Define Schemas &amp; Topics</a:t>
            </a:r>
            <a:endParaRPr lang="en-IN" sz="2000" b="0" u="none" strike="noStrike">
              <a:solidFill>
                <a:srgbClr val="000000"/>
              </a:solidFill>
              <a:effectLst/>
              <a:uFillTx/>
              <a:latin typeface="Arial"/>
            </a:endParaRPr>
          </a:p>
        </p:txBody>
      </p:sp>
      <p:sp>
        <p:nvSpPr>
          <p:cNvPr id="264" name="Text 2"/>
          <p:cNvSpPr/>
          <p:nvPr/>
        </p:nvSpPr>
        <p:spPr>
          <a:xfrm>
            <a:off x="457200" y="731520"/>
            <a:ext cx="8229240" cy="2194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For the user registration pipeline, propose Avro schemas for events and choose topic names. Describe how you would handle optional fields and schema evolution over time.</a:t>
            </a:r>
            <a:endParaRPr lang="en-IN" sz="900" b="0" u="none" strike="noStrike">
              <a:solidFill>
                <a:srgbClr val="000000"/>
              </a:solidFill>
              <a:effectLst/>
              <a:uFillTx/>
              <a:latin typeface="Arial"/>
            </a:endParaRPr>
          </a:p>
        </p:txBody>
      </p:sp>
      <p:sp>
        <p:nvSpPr>
          <p:cNvPr id="265"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66"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67"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3: Streaming SQL</a:t>
            </a:r>
            <a:endParaRPr lang="en-IN" sz="2000" b="0" u="none" strike="noStrike">
              <a:solidFill>
                <a:srgbClr val="000000"/>
              </a:solidFill>
              <a:effectLst/>
              <a:uFillTx/>
              <a:latin typeface="Arial"/>
            </a:endParaRPr>
          </a:p>
        </p:txBody>
      </p:sp>
      <p:sp>
        <p:nvSpPr>
          <p:cNvPr id="268" name="Text 2"/>
          <p:cNvSpPr/>
          <p:nvPr/>
        </p:nvSpPr>
        <p:spPr>
          <a:xfrm>
            <a:off x="457200" y="731520"/>
            <a:ext cx="8229240" cy="2194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Write a ksqlDB query to compute the number of registrations per region in a 5‑minute tumbling window. How would you handle late events arriving after the window closes?</a:t>
            </a:r>
            <a:endParaRPr lang="en-IN" sz="900" b="0" u="none" strike="noStrike">
              <a:solidFill>
                <a:srgbClr val="000000"/>
              </a:solidFill>
              <a:effectLst/>
              <a:uFillTx/>
              <a:latin typeface="Arial"/>
            </a:endParaRPr>
          </a:p>
        </p:txBody>
      </p:sp>
      <p:sp>
        <p:nvSpPr>
          <p:cNvPr id="269"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7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7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4: Troubleshooting &amp; Optimisation</a:t>
            </a:r>
            <a:endParaRPr lang="en-IN" sz="2000" b="0" u="none" strike="noStrike">
              <a:solidFill>
                <a:srgbClr val="000000"/>
              </a:solidFill>
              <a:effectLst/>
              <a:uFillTx/>
              <a:latin typeface="Arial"/>
            </a:endParaRPr>
          </a:p>
        </p:txBody>
      </p:sp>
      <p:sp>
        <p:nvSpPr>
          <p:cNvPr id="272" name="Text 2"/>
          <p:cNvSpPr/>
          <p:nvPr/>
        </p:nvSpPr>
        <p:spPr>
          <a:xfrm>
            <a:off x="457200" y="731520"/>
            <a:ext cx="8229240" cy="2285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Your dashboard is stale. Trace the path from source change to CDC topic, ksqlDB aggregate and BI refresh. Identify three evidence checks, one likely cause, one recovery action and one prevention control. State whether the issue is in the runnable stack or an extension component.</a:t>
            </a:r>
            <a:endParaRPr lang="en-IN" sz="900" b="0" u="none" strike="noStrike">
              <a:solidFill>
                <a:srgbClr val="000000"/>
              </a:solidFill>
              <a:effectLst/>
              <a:uFillTx/>
              <a:latin typeface="Arial"/>
            </a:endParaRPr>
          </a:p>
        </p:txBody>
      </p:sp>
      <p:sp>
        <p:nvSpPr>
          <p:cNvPr id="273"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74"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75"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Knowledge Check</a:t>
            </a:r>
            <a:endParaRPr lang="en-IN" sz="2000" b="0" u="none" strike="noStrike">
              <a:solidFill>
                <a:srgbClr val="000000"/>
              </a:solidFill>
              <a:effectLst/>
              <a:uFillTx/>
              <a:latin typeface="Arial"/>
            </a:endParaRPr>
          </a:p>
        </p:txBody>
      </p:sp>
      <p:sp>
        <p:nvSpPr>
          <p:cNvPr id="276" name="Text 2"/>
          <p:cNvSpPr/>
          <p:nvPr/>
        </p:nvSpPr>
        <p:spPr>
          <a:xfrm>
            <a:off x="457200" y="7315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1. Which layer should contain cleansed &amp; conformed data ready for analytics?</a:t>
            </a:r>
            <a:endParaRPr lang="en-IN" sz="900" b="0" u="none" strike="noStrike">
              <a:solidFill>
                <a:srgbClr val="000000"/>
              </a:solidFill>
              <a:effectLst/>
              <a:uFillTx/>
              <a:latin typeface="Arial"/>
            </a:endParaRPr>
          </a:p>
        </p:txBody>
      </p:sp>
      <p:sp>
        <p:nvSpPr>
          <p:cNvPr id="277" name="Text 3"/>
          <p:cNvSpPr/>
          <p:nvPr/>
        </p:nvSpPr>
        <p:spPr>
          <a:xfrm>
            <a:off x="640080" y="8960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Bronze</a:t>
            </a:r>
            <a:endParaRPr lang="en-IN" sz="800" b="0" u="none" strike="noStrike">
              <a:solidFill>
                <a:srgbClr val="000000"/>
              </a:solidFill>
              <a:effectLst/>
              <a:uFillTx/>
              <a:latin typeface="Arial"/>
            </a:endParaRPr>
          </a:p>
        </p:txBody>
      </p:sp>
      <p:sp>
        <p:nvSpPr>
          <p:cNvPr id="278" name="Text 4"/>
          <p:cNvSpPr/>
          <p:nvPr/>
        </p:nvSpPr>
        <p:spPr>
          <a:xfrm>
            <a:off x="640080" y="10605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Silver</a:t>
            </a:r>
            <a:endParaRPr lang="en-IN" sz="800" b="0" u="none" strike="noStrike">
              <a:solidFill>
                <a:srgbClr val="000000"/>
              </a:solidFill>
              <a:effectLst/>
              <a:uFillTx/>
              <a:latin typeface="Arial"/>
            </a:endParaRPr>
          </a:p>
        </p:txBody>
      </p:sp>
      <p:sp>
        <p:nvSpPr>
          <p:cNvPr id="279" name="Text 5"/>
          <p:cNvSpPr/>
          <p:nvPr/>
        </p:nvSpPr>
        <p:spPr>
          <a:xfrm>
            <a:off x="640080" y="1225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Gold</a:t>
            </a:r>
            <a:endParaRPr lang="en-IN" sz="800" b="0" u="none" strike="noStrike">
              <a:solidFill>
                <a:srgbClr val="000000"/>
              </a:solidFill>
              <a:effectLst/>
              <a:uFillTx/>
              <a:latin typeface="Arial"/>
            </a:endParaRPr>
          </a:p>
        </p:txBody>
      </p:sp>
      <p:sp>
        <p:nvSpPr>
          <p:cNvPr id="280" name="Text 6"/>
          <p:cNvSpPr/>
          <p:nvPr/>
        </p:nvSpPr>
        <p:spPr>
          <a:xfrm>
            <a:off x="640080" y="1389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None</a:t>
            </a:r>
            <a:endParaRPr lang="en-IN" sz="800" b="0" u="none" strike="noStrike">
              <a:solidFill>
                <a:srgbClr val="000000"/>
              </a:solidFill>
              <a:effectLst/>
              <a:uFillTx/>
              <a:latin typeface="Arial"/>
            </a:endParaRPr>
          </a:p>
        </p:txBody>
      </p:sp>
      <p:sp>
        <p:nvSpPr>
          <p:cNvPr id="281" name="Text 7"/>
          <p:cNvSpPr/>
          <p:nvPr/>
        </p:nvSpPr>
        <p:spPr>
          <a:xfrm>
            <a:off x="457200" y="16459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2. In a DLQ pattern, malformed messages are:</a:t>
            </a:r>
            <a:endParaRPr lang="en-IN" sz="900" b="0" u="none" strike="noStrike">
              <a:solidFill>
                <a:srgbClr val="000000"/>
              </a:solidFill>
              <a:effectLst/>
              <a:uFillTx/>
              <a:latin typeface="Arial"/>
            </a:endParaRPr>
          </a:p>
        </p:txBody>
      </p:sp>
      <p:sp>
        <p:nvSpPr>
          <p:cNvPr id="282" name="Text 8"/>
          <p:cNvSpPr/>
          <p:nvPr/>
        </p:nvSpPr>
        <p:spPr>
          <a:xfrm>
            <a:off x="640080" y="1810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Sent back to the producer</a:t>
            </a:r>
            <a:endParaRPr lang="en-IN" sz="800" b="0" u="none" strike="noStrike">
              <a:solidFill>
                <a:srgbClr val="000000"/>
              </a:solidFill>
              <a:effectLst/>
              <a:uFillTx/>
              <a:latin typeface="Arial"/>
            </a:endParaRPr>
          </a:p>
        </p:txBody>
      </p:sp>
      <p:sp>
        <p:nvSpPr>
          <p:cNvPr id="283" name="Text 9"/>
          <p:cNvSpPr/>
          <p:nvPr/>
        </p:nvSpPr>
        <p:spPr>
          <a:xfrm>
            <a:off x="640080" y="1974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Stored in a dedicated topic for later inspection</a:t>
            </a:r>
            <a:endParaRPr lang="en-IN" sz="800" b="0" u="none" strike="noStrike">
              <a:solidFill>
                <a:srgbClr val="000000"/>
              </a:solidFill>
              <a:effectLst/>
              <a:uFillTx/>
              <a:latin typeface="Arial"/>
            </a:endParaRPr>
          </a:p>
        </p:txBody>
      </p:sp>
      <p:sp>
        <p:nvSpPr>
          <p:cNvPr id="284" name="Text 10"/>
          <p:cNvSpPr/>
          <p:nvPr/>
        </p:nvSpPr>
        <p:spPr>
          <a:xfrm>
            <a:off x="640080" y="2139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Discarded completely</a:t>
            </a:r>
            <a:endParaRPr lang="en-IN" sz="800" b="0" u="none" strike="noStrike">
              <a:solidFill>
                <a:srgbClr val="000000"/>
              </a:solidFill>
              <a:effectLst/>
              <a:uFillTx/>
              <a:latin typeface="Arial"/>
            </a:endParaRPr>
          </a:p>
        </p:txBody>
      </p:sp>
      <p:sp>
        <p:nvSpPr>
          <p:cNvPr id="285" name="Text 11"/>
          <p:cNvSpPr/>
          <p:nvPr/>
        </p:nvSpPr>
        <p:spPr>
          <a:xfrm>
            <a:off x="640080" y="2304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Ignored by consumers</a:t>
            </a:r>
            <a:endParaRPr lang="en-IN" sz="800" b="0" u="none" strike="noStrike">
              <a:solidFill>
                <a:srgbClr val="000000"/>
              </a:solidFill>
              <a:effectLst/>
              <a:uFillTx/>
              <a:latin typeface="Arial"/>
            </a:endParaRPr>
          </a:p>
        </p:txBody>
      </p:sp>
      <p:sp>
        <p:nvSpPr>
          <p:cNvPr id="286" name="Text 12"/>
          <p:cNvSpPr/>
          <p:nvPr/>
        </p:nvSpPr>
        <p:spPr>
          <a:xfrm>
            <a:off x="457200" y="25603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3. ksqlDB pull queries are used to:</a:t>
            </a:r>
            <a:endParaRPr lang="en-IN" sz="900" b="0" u="none" strike="noStrike">
              <a:solidFill>
                <a:srgbClr val="000000"/>
              </a:solidFill>
              <a:effectLst/>
              <a:uFillTx/>
              <a:latin typeface="Arial"/>
            </a:endParaRPr>
          </a:p>
        </p:txBody>
      </p:sp>
      <p:sp>
        <p:nvSpPr>
          <p:cNvPr id="287" name="Text 13"/>
          <p:cNvSpPr/>
          <p:nvPr/>
        </p:nvSpPr>
        <p:spPr>
          <a:xfrm>
            <a:off x="640080" y="2724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Continuously process streaming events</a:t>
            </a:r>
            <a:endParaRPr lang="en-IN" sz="800" b="0" u="none" strike="noStrike">
              <a:solidFill>
                <a:srgbClr val="000000"/>
              </a:solidFill>
              <a:effectLst/>
              <a:uFillTx/>
              <a:latin typeface="Arial"/>
            </a:endParaRPr>
          </a:p>
        </p:txBody>
      </p:sp>
      <p:sp>
        <p:nvSpPr>
          <p:cNvPr id="288" name="Text 14"/>
          <p:cNvSpPr/>
          <p:nvPr/>
        </p:nvSpPr>
        <p:spPr>
          <a:xfrm>
            <a:off x="640080" y="2889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Create new Kafka topics</a:t>
            </a:r>
            <a:endParaRPr lang="en-IN" sz="800" b="0" u="none" strike="noStrike">
              <a:solidFill>
                <a:srgbClr val="000000"/>
              </a:solidFill>
              <a:effectLst/>
              <a:uFillTx/>
              <a:latin typeface="Arial"/>
            </a:endParaRPr>
          </a:p>
        </p:txBody>
      </p:sp>
      <p:sp>
        <p:nvSpPr>
          <p:cNvPr id="289" name="Text 15"/>
          <p:cNvSpPr/>
          <p:nvPr/>
        </p:nvSpPr>
        <p:spPr>
          <a:xfrm>
            <a:off x="640080" y="30542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Retrieve the current state of a materialized view on demand</a:t>
            </a:r>
            <a:endParaRPr lang="en-IN" sz="800" b="0" u="none" strike="noStrike">
              <a:solidFill>
                <a:srgbClr val="000000"/>
              </a:solidFill>
              <a:effectLst/>
              <a:uFillTx/>
              <a:latin typeface="Arial"/>
            </a:endParaRPr>
          </a:p>
        </p:txBody>
      </p:sp>
      <p:sp>
        <p:nvSpPr>
          <p:cNvPr id="290" name="Text 16"/>
          <p:cNvSpPr/>
          <p:nvPr/>
        </p:nvSpPr>
        <p:spPr>
          <a:xfrm>
            <a:off x="640080" y="32187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Persist aggregated results to another stream</a:t>
            </a:r>
            <a:endParaRPr lang="en-IN" sz="800" b="0" u="none" strike="noStrike">
              <a:solidFill>
                <a:srgbClr val="000000"/>
              </a:solidFill>
              <a:effectLst/>
              <a:uFillTx/>
              <a:latin typeface="Arial"/>
            </a:endParaRPr>
          </a:p>
        </p:txBody>
      </p:sp>
      <p:sp>
        <p:nvSpPr>
          <p:cNvPr id="291" name="Text 17"/>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9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9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Knowledge Check (cont.)</a:t>
            </a:r>
            <a:endParaRPr lang="en-IN" sz="2000" b="0" u="none" strike="noStrike">
              <a:solidFill>
                <a:srgbClr val="000000"/>
              </a:solidFill>
              <a:effectLst/>
              <a:uFillTx/>
              <a:latin typeface="Arial"/>
            </a:endParaRPr>
          </a:p>
        </p:txBody>
      </p:sp>
      <p:sp>
        <p:nvSpPr>
          <p:cNvPr id="294" name="Text 2"/>
          <p:cNvSpPr/>
          <p:nvPr/>
        </p:nvSpPr>
        <p:spPr>
          <a:xfrm>
            <a:off x="457200" y="7315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4. Which component manages task scheduling and execution in Airflow?</a:t>
            </a:r>
            <a:endParaRPr lang="en-IN" sz="900" b="0" u="none" strike="noStrike">
              <a:solidFill>
                <a:srgbClr val="000000"/>
              </a:solidFill>
              <a:effectLst/>
              <a:uFillTx/>
              <a:latin typeface="Arial"/>
            </a:endParaRPr>
          </a:p>
        </p:txBody>
      </p:sp>
      <p:sp>
        <p:nvSpPr>
          <p:cNvPr id="295" name="Text 3"/>
          <p:cNvSpPr/>
          <p:nvPr/>
        </p:nvSpPr>
        <p:spPr>
          <a:xfrm>
            <a:off x="640080" y="8960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Worker</a:t>
            </a:r>
            <a:endParaRPr lang="en-IN" sz="800" b="0" u="none" strike="noStrike">
              <a:solidFill>
                <a:srgbClr val="000000"/>
              </a:solidFill>
              <a:effectLst/>
              <a:uFillTx/>
              <a:latin typeface="Arial"/>
            </a:endParaRPr>
          </a:p>
        </p:txBody>
      </p:sp>
      <p:sp>
        <p:nvSpPr>
          <p:cNvPr id="296" name="Text 4"/>
          <p:cNvSpPr/>
          <p:nvPr/>
        </p:nvSpPr>
        <p:spPr>
          <a:xfrm>
            <a:off x="640080" y="10605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Scheduler</a:t>
            </a:r>
            <a:endParaRPr lang="en-IN" sz="800" b="0" u="none" strike="noStrike">
              <a:solidFill>
                <a:srgbClr val="000000"/>
              </a:solidFill>
              <a:effectLst/>
              <a:uFillTx/>
              <a:latin typeface="Arial"/>
            </a:endParaRPr>
          </a:p>
        </p:txBody>
      </p:sp>
      <p:sp>
        <p:nvSpPr>
          <p:cNvPr id="297" name="Text 5"/>
          <p:cNvSpPr/>
          <p:nvPr/>
        </p:nvSpPr>
        <p:spPr>
          <a:xfrm>
            <a:off x="640080" y="1225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Triggerer</a:t>
            </a:r>
            <a:endParaRPr lang="en-IN" sz="800" b="0" u="none" strike="noStrike">
              <a:solidFill>
                <a:srgbClr val="000000"/>
              </a:solidFill>
              <a:effectLst/>
              <a:uFillTx/>
              <a:latin typeface="Arial"/>
            </a:endParaRPr>
          </a:p>
        </p:txBody>
      </p:sp>
      <p:sp>
        <p:nvSpPr>
          <p:cNvPr id="298" name="Text 6"/>
          <p:cNvSpPr/>
          <p:nvPr/>
        </p:nvSpPr>
        <p:spPr>
          <a:xfrm>
            <a:off x="640080" y="1389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Webserver</a:t>
            </a:r>
            <a:endParaRPr lang="en-IN" sz="800" b="0" u="none" strike="noStrike">
              <a:solidFill>
                <a:srgbClr val="000000"/>
              </a:solidFill>
              <a:effectLst/>
              <a:uFillTx/>
              <a:latin typeface="Arial"/>
            </a:endParaRPr>
          </a:p>
        </p:txBody>
      </p:sp>
      <p:sp>
        <p:nvSpPr>
          <p:cNvPr id="299" name="Text 7"/>
          <p:cNvSpPr/>
          <p:nvPr/>
        </p:nvSpPr>
        <p:spPr>
          <a:xfrm>
            <a:off x="457200" y="16459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5. What ensures exactly‑once semantics in Kafka Streams?</a:t>
            </a:r>
            <a:endParaRPr lang="en-IN" sz="900" b="0" u="none" strike="noStrike">
              <a:solidFill>
                <a:srgbClr val="000000"/>
              </a:solidFill>
              <a:effectLst/>
              <a:uFillTx/>
              <a:latin typeface="Arial"/>
            </a:endParaRPr>
          </a:p>
        </p:txBody>
      </p:sp>
      <p:sp>
        <p:nvSpPr>
          <p:cNvPr id="300" name="Text 8"/>
          <p:cNvSpPr/>
          <p:nvPr/>
        </p:nvSpPr>
        <p:spPr>
          <a:xfrm>
            <a:off x="640080" y="1810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Idempotent producers &amp; transactions</a:t>
            </a:r>
            <a:endParaRPr lang="en-IN" sz="800" b="0" u="none" strike="noStrike">
              <a:solidFill>
                <a:srgbClr val="000000"/>
              </a:solidFill>
              <a:effectLst/>
              <a:uFillTx/>
              <a:latin typeface="Arial"/>
            </a:endParaRPr>
          </a:p>
        </p:txBody>
      </p:sp>
      <p:sp>
        <p:nvSpPr>
          <p:cNvPr id="301" name="Text 9"/>
          <p:cNvSpPr/>
          <p:nvPr/>
        </p:nvSpPr>
        <p:spPr>
          <a:xfrm>
            <a:off x="640080" y="1974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Setting acks=0</a:t>
            </a:r>
            <a:endParaRPr lang="en-IN" sz="800" b="0" u="none" strike="noStrike">
              <a:solidFill>
                <a:srgbClr val="000000"/>
              </a:solidFill>
              <a:effectLst/>
              <a:uFillTx/>
              <a:latin typeface="Arial"/>
            </a:endParaRPr>
          </a:p>
        </p:txBody>
      </p:sp>
      <p:sp>
        <p:nvSpPr>
          <p:cNvPr id="302" name="Text 10"/>
          <p:cNvSpPr/>
          <p:nvPr/>
        </p:nvSpPr>
        <p:spPr>
          <a:xfrm>
            <a:off x="640080" y="2139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Using at‑most‑once consumers</a:t>
            </a:r>
            <a:endParaRPr lang="en-IN" sz="800" b="0" u="none" strike="noStrike">
              <a:solidFill>
                <a:srgbClr val="000000"/>
              </a:solidFill>
              <a:effectLst/>
              <a:uFillTx/>
              <a:latin typeface="Arial"/>
            </a:endParaRPr>
          </a:p>
        </p:txBody>
      </p:sp>
      <p:sp>
        <p:nvSpPr>
          <p:cNvPr id="303" name="Text 11"/>
          <p:cNvSpPr/>
          <p:nvPr/>
        </p:nvSpPr>
        <p:spPr>
          <a:xfrm>
            <a:off x="640080" y="2304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Disabling retries</a:t>
            </a:r>
            <a:endParaRPr lang="en-IN" sz="800" b="0" u="none" strike="noStrike">
              <a:solidFill>
                <a:srgbClr val="000000"/>
              </a:solidFill>
              <a:effectLst/>
              <a:uFillTx/>
              <a:latin typeface="Arial"/>
            </a:endParaRPr>
          </a:p>
        </p:txBody>
      </p:sp>
      <p:sp>
        <p:nvSpPr>
          <p:cNvPr id="304" name="Text 12"/>
          <p:cNvSpPr/>
          <p:nvPr/>
        </p:nvSpPr>
        <p:spPr>
          <a:xfrm>
            <a:off x="457200" y="25603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6. When would you choose Kafka Streams over ksqlDB?</a:t>
            </a:r>
            <a:endParaRPr lang="en-IN" sz="900" b="0" u="none" strike="noStrike">
              <a:solidFill>
                <a:srgbClr val="000000"/>
              </a:solidFill>
              <a:effectLst/>
              <a:uFillTx/>
              <a:latin typeface="Arial"/>
            </a:endParaRPr>
          </a:p>
        </p:txBody>
      </p:sp>
      <p:sp>
        <p:nvSpPr>
          <p:cNvPr id="305" name="Text 13"/>
          <p:cNvSpPr/>
          <p:nvPr/>
        </p:nvSpPr>
        <p:spPr>
          <a:xfrm>
            <a:off x="640080" y="2724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When you need a no‑code solution for streaming SQL</a:t>
            </a:r>
            <a:endParaRPr lang="en-IN" sz="800" b="0" u="none" strike="noStrike">
              <a:solidFill>
                <a:srgbClr val="000000"/>
              </a:solidFill>
              <a:effectLst/>
              <a:uFillTx/>
              <a:latin typeface="Arial"/>
            </a:endParaRPr>
          </a:p>
        </p:txBody>
      </p:sp>
      <p:sp>
        <p:nvSpPr>
          <p:cNvPr id="306" name="Text 14"/>
          <p:cNvSpPr/>
          <p:nvPr/>
        </p:nvSpPr>
        <p:spPr>
          <a:xfrm>
            <a:off x="640080" y="2889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When you want to embed stream processing in a custom microservice</a:t>
            </a:r>
            <a:endParaRPr lang="en-IN" sz="800" b="0" u="none" strike="noStrike">
              <a:solidFill>
                <a:srgbClr val="000000"/>
              </a:solidFill>
              <a:effectLst/>
              <a:uFillTx/>
              <a:latin typeface="Arial"/>
            </a:endParaRPr>
          </a:p>
        </p:txBody>
      </p:sp>
      <p:sp>
        <p:nvSpPr>
          <p:cNvPr id="307" name="Text 15"/>
          <p:cNvSpPr/>
          <p:nvPr/>
        </p:nvSpPr>
        <p:spPr>
          <a:xfrm>
            <a:off x="640080" y="30542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When your use case requires interactive queries via REST</a:t>
            </a:r>
            <a:endParaRPr lang="en-IN" sz="800" b="0" u="none" strike="noStrike">
              <a:solidFill>
                <a:srgbClr val="000000"/>
              </a:solidFill>
              <a:effectLst/>
              <a:uFillTx/>
              <a:latin typeface="Arial"/>
            </a:endParaRPr>
          </a:p>
        </p:txBody>
      </p:sp>
      <p:sp>
        <p:nvSpPr>
          <p:cNvPr id="308" name="Text 16"/>
          <p:cNvSpPr/>
          <p:nvPr/>
        </p:nvSpPr>
        <p:spPr>
          <a:xfrm>
            <a:off x="640080" y="32187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When you need to ingest batch files</a:t>
            </a:r>
            <a:endParaRPr lang="en-IN" sz="800" b="0" u="none" strike="noStrike">
              <a:solidFill>
                <a:srgbClr val="000000"/>
              </a:solidFill>
              <a:effectLst/>
              <a:uFillTx/>
              <a:latin typeface="Arial"/>
            </a:endParaRPr>
          </a:p>
        </p:txBody>
      </p:sp>
      <p:sp>
        <p:nvSpPr>
          <p:cNvPr id="309" name="Text 17"/>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31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31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Answer Key</a:t>
            </a:r>
            <a:endParaRPr lang="en-IN" sz="2000" b="0" u="none" strike="noStrike">
              <a:solidFill>
                <a:srgbClr val="000000"/>
              </a:solidFill>
              <a:effectLst/>
              <a:uFillTx/>
              <a:latin typeface="Arial"/>
            </a:endParaRPr>
          </a:p>
        </p:txBody>
      </p:sp>
      <p:pic>
        <p:nvPicPr>
          <p:cNvPr id="312" name="Image 0"/>
          <p:cNvPicPr/>
          <p:nvPr/>
        </p:nvPicPr>
        <p:blipFill>
          <a:blip r:embed="rId1"/>
          <a:stretch/>
        </p:blipFill>
        <p:spPr>
          <a:xfrm>
            <a:off x="457200" y="731520"/>
            <a:ext cx="182520" cy="182520"/>
          </a:xfrm>
          <a:prstGeom prst="rect">
            <a:avLst/>
          </a:prstGeom>
          <a:noFill/>
          <a:ln w="0">
            <a:noFill/>
          </a:ln>
        </p:spPr>
      </p:pic>
      <p:sp>
        <p:nvSpPr>
          <p:cNvPr id="313" name="Text 2"/>
          <p:cNvSpPr/>
          <p:nvPr/>
        </p:nvSpPr>
        <p:spPr>
          <a:xfrm>
            <a:off x="685800" y="7315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1. Answer: B – Silver layer stores cleansed, conformed data ready for analytics.</a:t>
            </a:r>
            <a:endParaRPr lang="en-IN" sz="900" b="0" u="none" strike="noStrike">
              <a:solidFill>
                <a:srgbClr val="000000"/>
              </a:solidFill>
              <a:effectLst/>
              <a:uFillTx/>
              <a:latin typeface="Arial"/>
            </a:endParaRPr>
          </a:p>
        </p:txBody>
      </p:sp>
      <p:pic>
        <p:nvPicPr>
          <p:cNvPr id="314" name="Image 1"/>
          <p:cNvPicPr/>
          <p:nvPr/>
        </p:nvPicPr>
        <p:blipFill>
          <a:blip r:embed="rId2"/>
          <a:stretch/>
        </p:blipFill>
        <p:spPr>
          <a:xfrm>
            <a:off x="457200" y="987480"/>
            <a:ext cx="182520" cy="182520"/>
          </a:xfrm>
          <a:prstGeom prst="rect">
            <a:avLst/>
          </a:prstGeom>
          <a:noFill/>
          <a:ln w="0">
            <a:noFill/>
          </a:ln>
        </p:spPr>
      </p:pic>
      <p:sp>
        <p:nvSpPr>
          <p:cNvPr id="315" name="Text 3"/>
          <p:cNvSpPr/>
          <p:nvPr/>
        </p:nvSpPr>
        <p:spPr>
          <a:xfrm>
            <a:off x="685800" y="98748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2. Answer: B – Dead letter queues capture failed records for later inspection.</a:t>
            </a:r>
            <a:endParaRPr lang="en-IN" sz="900" b="0" u="none" strike="noStrike">
              <a:solidFill>
                <a:srgbClr val="000000"/>
              </a:solidFill>
              <a:effectLst/>
              <a:uFillTx/>
              <a:latin typeface="Arial"/>
            </a:endParaRPr>
          </a:p>
        </p:txBody>
      </p:sp>
      <p:pic>
        <p:nvPicPr>
          <p:cNvPr id="316" name="Image 2"/>
          <p:cNvPicPr/>
          <p:nvPr/>
        </p:nvPicPr>
        <p:blipFill>
          <a:blip r:embed="rId3"/>
          <a:stretch/>
        </p:blipFill>
        <p:spPr>
          <a:xfrm>
            <a:off x="457200" y="1243440"/>
            <a:ext cx="182520" cy="182520"/>
          </a:xfrm>
          <a:prstGeom prst="rect">
            <a:avLst/>
          </a:prstGeom>
          <a:noFill/>
          <a:ln w="0">
            <a:noFill/>
          </a:ln>
        </p:spPr>
      </p:pic>
      <p:sp>
        <p:nvSpPr>
          <p:cNvPr id="317" name="Text 4"/>
          <p:cNvSpPr/>
          <p:nvPr/>
        </p:nvSpPr>
        <p:spPr>
          <a:xfrm>
            <a:off x="685800" y="124344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3. Answer: C – Pull queries read from materialized views on demand.</a:t>
            </a:r>
            <a:endParaRPr lang="en-IN" sz="900" b="0" u="none" strike="noStrike">
              <a:solidFill>
                <a:srgbClr val="000000"/>
              </a:solidFill>
              <a:effectLst/>
              <a:uFillTx/>
              <a:latin typeface="Arial"/>
            </a:endParaRPr>
          </a:p>
        </p:txBody>
      </p:sp>
      <p:pic>
        <p:nvPicPr>
          <p:cNvPr id="318" name="Image 3"/>
          <p:cNvPicPr/>
          <p:nvPr/>
        </p:nvPicPr>
        <p:blipFill>
          <a:blip r:embed="rId4"/>
          <a:stretch/>
        </p:blipFill>
        <p:spPr>
          <a:xfrm>
            <a:off x="457200" y="1499760"/>
            <a:ext cx="182520" cy="182520"/>
          </a:xfrm>
          <a:prstGeom prst="rect">
            <a:avLst/>
          </a:prstGeom>
          <a:noFill/>
          <a:ln w="0">
            <a:noFill/>
          </a:ln>
        </p:spPr>
      </p:pic>
      <p:sp>
        <p:nvSpPr>
          <p:cNvPr id="319" name="Text 5"/>
          <p:cNvSpPr/>
          <p:nvPr/>
        </p:nvSpPr>
        <p:spPr>
          <a:xfrm>
            <a:off x="685800" y="149976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4. Answer: B – The scheduler monitors DAG schedules and triggers task execution.</a:t>
            </a:r>
            <a:endParaRPr lang="en-IN" sz="900" b="0" u="none" strike="noStrike">
              <a:solidFill>
                <a:srgbClr val="000000"/>
              </a:solidFill>
              <a:effectLst/>
              <a:uFillTx/>
              <a:latin typeface="Arial"/>
            </a:endParaRPr>
          </a:p>
        </p:txBody>
      </p:sp>
      <p:pic>
        <p:nvPicPr>
          <p:cNvPr id="320" name="Image 4"/>
          <p:cNvPicPr/>
          <p:nvPr/>
        </p:nvPicPr>
        <p:blipFill>
          <a:blip r:embed="rId5"/>
          <a:stretch/>
        </p:blipFill>
        <p:spPr>
          <a:xfrm>
            <a:off x="457200" y="1755720"/>
            <a:ext cx="182520" cy="182520"/>
          </a:xfrm>
          <a:prstGeom prst="rect">
            <a:avLst/>
          </a:prstGeom>
          <a:noFill/>
          <a:ln w="0">
            <a:noFill/>
          </a:ln>
        </p:spPr>
      </p:pic>
      <p:sp>
        <p:nvSpPr>
          <p:cNvPr id="321" name="Text 6"/>
          <p:cNvSpPr/>
          <p:nvPr/>
        </p:nvSpPr>
        <p:spPr>
          <a:xfrm>
            <a:off x="685800" y="17557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5. Answer: A – Idempotent producers and transactions enable exactly‑once semantics.</a:t>
            </a:r>
            <a:endParaRPr lang="en-IN" sz="900" b="0" u="none" strike="noStrike">
              <a:solidFill>
                <a:srgbClr val="000000"/>
              </a:solidFill>
              <a:effectLst/>
              <a:uFillTx/>
              <a:latin typeface="Arial"/>
            </a:endParaRPr>
          </a:p>
        </p:txBody>
      </p:sp>
      <p:pic>
        <p:nvPicPr>
          <p:cNvPr id="322" name="Image 5"/>
          <p:cNvPicPr/>
          <p:nvPr/>
        </p:nvPicPr>
        <p:blipFill>
          <a:blip r:embed="rId6"/>
          <a:stretch/>
        </p:blipFill>
        <p:spPr>
          <a:xfrm>
            <a:off x="457200" y="2011680"/>
            <a:ext cx="182520" cy="182520"/>
          </a:xfrm>
          <a:prstGeom prst="rect">
            <a:avLst/>
          </a:prstGeom>
          <a:noFill/>
          <a:ln w="0">
            <a:noFill/>
          </a:ln>
        </p:spPr>
      </p:pic>
      <p:sp>
        <p:nvSpPr>
          <p:cNvPr id="323" name="Text 7"/>
          <p:cNvSpPr/>
          <p:nvPr/>
        </p:nvSpPr>
        <p:spPr>
          <a:xfrm>
            <a:off x="685800" y="201168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6. Answer: B – Kafka Streams is used when embedding stream logic inside your own application.</a:t>
            </a:r>
            <a:endParaRPr lang="en-IN" sz="900" b="0" u="none" strike="noStrike">
              <a:solidFill>
                <a:srgbClr val="000000"/>
              </a:solidFill>
              <a:effectLst/>
              <a:uFillTx/>
              <a:latin typeface="Arial"/>
            </a:endParaRPr>
          </a:p>
        </p:txBody>
      </p:sp>
      <p:sp>
        <p:nvSpPr>
          <p:cNvPr id="324" name="Text 8"/>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325"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326"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Recap &amp; Closing</a:t>
            </a:r>
            <a:endParaRPr lang="en-IN" sz="2000" b="0" u="none" strike="noStrike">
              <a:solidFill>
                <a:srgbClr val="000000"/>
              </a:solidFill>
              <a:effectLst/>
              <a:uFillTx/>
              <a:latin typeface="Arial"/>
            </a:endParaRPr>
          </a:p>
        </p:txBody>
      </p:sp>
      <p:sp>
        <p:nvSpPr>
          <p:cNvPr id="327" name="Text 2"/>
          <p:cNvSpPr/>
          <p:nvPr/>
        </p:nvSpPr>
        <p:spPr>
          <a:xfrm>
            <a:off x="457200" y="731520"/>
            <a:ext cx="8686440" cy="2742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400" b="1" u="none" strike="noStrike">
                <a:solidFill>
                  <a:srgbClr val="003c54"/>
                </a:solidFill>
                <a:effectLst/>
                <a:uFillTx/>
                <a:latin typeface="Calibri"/>
              </a:rPr>
              <a:t>Today you:</a:t>
            </a:r>
            <a:endParaRPr lang="en-IN" sz="14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Ran or designed the final CDC-to-serving pipeline using the supplied capstone stack.</a:t>
            </a: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Distinguished implemented components from Hop, Airflow, lakehouse and BI extensions.</a:t>
            </a: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Validated an aggregate output and created a Gold-layer dashboard proof.</a:t>
            </a: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Captured operational evidence and a production-readiness review.</a:t>
            </a:r>
            <a:endParaRPr lang="en-IN" sz="1000" b="0" u="none" strike="noStrike">
              <a:solidFill>
                <a:srgbClr val="000000"/>
              </a:solidFill>
              <a:effectLst/>
              <a:uFillTx/>
              <a:latin typeface="Arial"/>
            </a:endParaRPr>
          </a:p>
          <a:p>
            <a:pPr defTabSz="914400">
              <a:lnSpc>
                <a:spcPct val="100000"/>
              </a:lnSpc>
              <a:tabLst>
                <a:tab algn="l" pos="0"/>
              </a:tabLst>
            </a:pP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Final submission: architecture, commands/screenshots, metric query/output, dashboard artifact and troubleshooting note.</a:t>
            </a:r>
            <a:endParaRPr lang="en-IN" sz="1000" b="0" u="none" strike="noStrike">
              <a:solidFill>
                <a:srgbClr val="000000"/>
              </a:solidFill>
              <a:effectLst/>
              <a:uFillTx/>
              <a:latin typeface="Arial"/>
            </a:endParaRPr>
          </a:p>
        </p:txBody>
      </p:sp>
      <p:sp>
        <p:nvSpPr>
          <p:cNvPr id="328"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solidFill>
          <a:schemeClr val="dk1"/>
        </a:solidFill>
        <a:solidFill>
          <a:schemeClr val="accent1"/>
        </a:soli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LibreOffice/25.8.6.2$Windows_X86_64 LibreOffice_project/b4b39682cd9868fa725bc664aff94278d315bd04</Application>
  <AppVersion>15.0000</AppVersion>
  <Words>2110</Words>
  <Paragraphs>267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2026-05-26T10:20:04Z</dcterms:created>
  <dc:creator>Walnut Exporter</dc:creator>
  <dc:description/>
  <dc:language>en-IN</dc:language>
  <cp:lastModifiedBy/>
  <dcterms:modified xsi:type="dcterms:W3CDTF">2026-05-29T16:45:14Z</dcterms:modified>
  <cp:revision>3</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27</vt:i4>
  </property>
  <property fmtid="{D5CDD505-2E9C-101B-9397-08002B2CF9AE}" pid="3" name="PresentationFormat">
    <vt:lpwstr>On-screen Show (16:9)</vt:lpwstr>
  </property>
  <property fmtid="{D5CDD505-2E9C-101B-9397-08002B2CF9AE}" pid="4" name="Slides">
    <vt:i4>27</vt:i4>
  </property>
</Properties>
</file>