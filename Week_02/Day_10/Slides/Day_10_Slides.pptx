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5.png"/><Relationship Id="rId9" Type="http://schemas.openxmlformats.org/officeDocument/2006/relationships/image" Target="../media/image11.png"/><Relationship Id="rId10" Type="http://schemas.openxmlformats.org/officeDocument/2006/relationships/image" Target="../media/image6.png"/><Relationship Id="rId11" Type="http://schemas.openxmlformats.org/officeDocument/2006/relationships/image" Target="../media/image12.png"/><Relationship Id="rId12" Type="http://schemas.openxmlformats.org/officeDocument/2006/relationships/image" Target="../media/image7.png"/><Relationship Id="rId1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8229600" cy="457200"/>
          </a:xfrm>
          <a:prstGeom prst="rect">
            <a:avLst/>
          </a:prstGeom>
          <a:noFill/>
        </p:spPr>
        <p:txBody>
          <a:bodyPr wrap="square" lIns="45720" rIns="45720" tIns="18288" bIns="18288">
            <a:spAutoFit/>
          </a:bodyPr>
          <a:lstStyle/>
          <a:p>
            <a:pPr algn="l"/>
            <a:r>
              <a:rPr sz="1400" b="1">
                <a:solidFill>
                  <a:srgbClr val="CCDDEE"/>
                </a:solidFill>
              </a:rPr>
              <a:t>DAY 10  ·  CAPSTONE</a:t>
            </a:r>
          </a:p>
        </p:txBody>
      </p:sp>
      <p:sp>
        <p:nvSpPr>
          <p:cNvPr id="5" name="TextBox 4"/>
          <p:cNvSpPr txBox="1"/>
          <p:nvPr/>
        </p:nvSpPr>
        <p:spPr>
          <a:xfrm>
            <a:off x="457200" y="960120"/>
            <a:ext cx="8229600" cy="1280160"/>
          </a:xfrm>
          <a:prstGeom prst="rect">
            <a:avLst/>
          </a:prstGeom>
          <a:noFill/>
        </p:spPr>
        <p:txBody>
          <a:bodyPr wrap="square" lIns="45720" rIns="45720" tIns="18288" bIns="18288">
            <a:spAutoFit/>
          </a:bodyPr>
          <a:lstStyle/>
          <a:p>
            <a:pPr algn="l"/>
            <a:r>
              <a:rPr sz="3400" b="1">
                <a:solidFill>
                  <a:srgbClr val="FFFFFF"/>
                </a:solidFill>
              </a:rPr>
              <a:t>Unified Streaming Data Platform</a:t>
            </a:r>
          </a:p>
        </p:txBody>
      </p:sp>
      <p:sp>
        <p:nvSpPr>
          <p:cNvPr id="6" name="TextBox 5"/>
          <p:cNvSpPr txBox="1"/>
          <p:nvPr/>
        </p:nvSpPr>
        <p:spPr>
          <a:xfrm>
            <a:off x="457200" y="2194560"/>
            <a:ext cx="8229600" cy="822960"/>
          </a:xfrm>
          <a:prstGeom prst="rect">
            <a:avLst/>
          </a:prstGeom>
          <a:noFill/>
        </p:spPr>
        <p:txBody>
          <a:bodyPr wrap="square" lIns="45720" rIns="45720" tIns="18288" bIns="18288">
            <a:spAutoFit/>
          </a:bodyPr>
          <a:lstStyle/>
          <a:p>
            <a:pPr algn="l"/>
            <a:r>
              <a:rPr sz="1600" b="0">
                <a:solidFill>
                  <a:srgbClr val="CCDDEE"/>
                </a:solidFill>
              </a:rPr>
              <a:t>Real public feeds  →  Kafka  →  Medallion on MinIO  →  Dashboards</a:t>
            </a:r>
          </a:p>
        </p:txBody>
      </p:sp>
      <p:sp>
        <p:nvSpPr>
          <p:cNvPr id="7" name="Rectangle 6"/>
          <p:cNvSpPr/>
          <p:nvPr/>
        </p:nvSpPr>
        <p:spPr>
          <a:xfrm>
            <a:off x="41148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bezium.png"/>
          <p:cNvPicPr>
            <a:picLocks noChangeAspect="1"/>
          </p:cNvPicPr>
          <p:nvPr/>
        </p:nvPicPr>
        <p:blipFill>
          <a:blip r:embed="rId2"/>
          <a:stretch>
            <a:fillRect/>
          </a:stretch>
        </p:blipFill>
        <p:spPr>
          <a:xfrm>
            <a:off x="534924" y="4311259"/>
            <a:ext cx="713232" cy="155722"/>
          </a:xfrm>
          <a:prstGeom prst="rect">
            <a:avLst/>
          </a:prstGeom>
        </p:spPr>
      </p:pic>
      <p:sp>
        <p:nvSpPr>
          <p:cNvPr id="10" name="Rectangle 9"/>
          <p:cNvSpPr/>
          <p:nvPr/>
        </p:nvSpPr>
        <p:spPr>
          <a:xfrm>
            <a:off x="146304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51790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afka.png"/>
          <p:cNvPicPr>
            <a:picLocks noChangeAspect="1"/>
          </p:cNvPicPr>
          <p:nvPr/>
        </p:nvPicPr>
        <p:blipFill>
          <a:blip r:embed="rId3"/>
          <a:stretch>
            <a:fillRect/>
          </a:stretch>
        </p:blipFill>
        <p:spPr>
          <a:xfrm>
            <a:off x="1737585" y="4055364"/>
            <a:ext cx="411029" cy="667512"/>
          </a:xfrm>
          <a:prstGeom prst="rect">
            <a:avLst/>
          </a:prstGeom>
        </p:spPr>
      </p:pic>
      <p:sp>
        <p:nvSpPr>
          <p:cNvPr id="13" name="Rectangle 12"/>
          <p:cNvSpPr/>
          <p:nvPr/>
        </p:nvSpPr>
        <p:spPr>
          <a:xfrm>
            <a:off x="251460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946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hop.png"/>
          <p:cNvPicPr>
            <a:picLocks noChangeAspect="1"/>
          </p:cNvPicPr>
          <p:nvPr/>
        </p:nvPicPr>
        <p:blipFill>
          <a:blip r:embed="rId4"/>
          <a:stretch>
            <a:fillRect/>
          </a:stretch>
        </p:blipFill>
        <p:spPr>
          <a:xfrm>
            <a:off x="2679796" y="4055364"/>
            <a:ext cx="629728" cy="667512"/>
          </a:xfrm>
          <a:prstGeom prst="rect">
            <a:avLst/>
          </a:prstGeom>
        </p:spPr>
      </p:pic>
      <p:sp>
        <p:nvSpPr>
          <p:cNvPr id="16" name="Rectangle 15"/>
          <p:cNvSpPr/>
          <p:nvPr/>
        </p:nvSpPr>
        <p:spPr>
          <a:xfrm>
            <a:off x="356616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2102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irflow.png"/>
          <p:cNvPicPr>
            <a:picLocks noChangeAspect="1"/>
          </p:cNvPicPr>
          <p:nvPr/>
        </p:nvPicPr>
        <p:blipFill>
          <a:blip r:embed="rId5"/>
          <a:stretch>
            <a:fillRect/>
          </a:stretch>
        </p:blipFill>
        <p:spPr>
          <a:xfrm>
            <a:off x="3689604" y="4251466"/>
            <a:ext cx="713232" cy="275307"/>
          </a:xfrm>
          <a:prstGeom prst="rect">
            <a:avLst/>
          </a:prstGeom>
        </p:spPr>
      </p:pic>
      <p:sp>
        <p:nvSpPr>
          <p:cNvPr id="19" name="Rectangle 18"/>
          <p:cNvSpPr/>
          <p:nvPr/>
        </p:nvSpPr>
        <p:spPr>
          <a:xfrm>
            <a:off x="461772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7258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inio.png"/>
          <p:cNvPicPr>
            <a:picLocks noChangeAspect="1"/>
          </p:cNvPicPr>
          <p:nvPr/>
        </p:nvPicPr>
        <p:blipFill>
          <a:blip r:embed="rId6"/>
          <a:stretch>
            <a:fillRect/>
          </a:stretch>
        </p:blipFill>
        <p:spPr>
          <a:xfrm>
            <a:off x="4764024" y="4055364"/>
            <a:ext cx="667512" cy="667512"/>
          </a:xfrm>
          <a:prstGeom prst="rect">
            <a:avLst/>
          </a:prstGeom>
        </p:spPr>
      </p:pic>
      <p:sp>
        <p:nvSpPr>
          <p:cNvPr id="22" name="Rectangle 21"/>
          <p:cNvSpPr/>
          <p:nvPr/>
        </p:nvSpPr>
        <p:spPr>
          <a:xfrm>
            <a:off x="566928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2414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uckdb.png"/>
          <p:cNvPicPr>
            <a:picLocks noChangeAspect="1"/>
          </p:cNvPicPr>
          <p:nvPr/>
        </p:nvPicPr>
        <p:blipFill>
          <a:blip r:embed="rId7"/>
          <a:stretch>
            <a:fillRect/>
          </a:stretch>
        </p:blipFill>
        <p:spPr>
          <a:xfrm>
            <a:off x="5792724" y="4114526"/>
            <a:ext cx="713232" cy="549188"/>
          </a:xfrm>
          <a:prstGeom prst="rect">
            <a:avLst/>
          </a:prstGeom>
        </p:spPr>
      </p:pic>
      <p:sp>
        <p:nvSpPr>
          <p:cNvPr id="25" name="Rectangle 24"/>
          <p:cNvSpPr/>
          <p:nvPr/>
        </p:nvSpPr>
        <p:spPr>
          <a:xfrm>
            <a:off x="672084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7570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rometheus.png"/>
          <p:cNvPicPr>
            <a:picLocks noChangeAspect="1"/>
          </p:cNvPicPr>
          <p:nvPr/>
        </p:nvPicPr>
        <p:blipFill>
          <a:blip r:embed="rId8"/>
          <a:stretch>
            <a:fillRect/>
          </a:stretch>
        </p:blipFill>
        <p:spPr>
          <a:xfrm>
            <a:off x="6864082" y="4055364"/>
            <a:ext cx="673635" cy="667512"/>
          </a:xfrm>
          <a:prstGeom prst="rect">
            <a:avLst/>
          </a:prstGeom>
        </p:spPr>
      </p:pic>
      <p:sp>
        <p:nvSpPr>
          <p:cNvPr id="28" name="Rectangle 27"/>
          <p:cNvSpPr/>
          <p:nvPr/>
        </p:nvSpPr>
        <p:spPr>
          <a:xfrm>
            <a:off x="7772400" y="3931920"/>
            <a:ext cx="960120" cy="9144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27264" y="3986784"/>
            <a:ext cx="850392" cy="804672"/>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rafana.png"/>
          <p:cNvPicPr>
            <a:picLocks noChangeAspect="1"/>
          </p:cNvPicPr>
          <p:nvPr/>
        </p:nvPicPr>
        <p:blipFill>
          <a:blip r:embed="rId9"/>
          <a:stretch>
            <a:fillRect/>
          </a:stretch>
        </p:blipFill>
        <p:spPr>
          <a:xfrm>
            <a:off x="7932287" y="4055364"/>
            <a:ext cx="640345" cy="667512"/>
          </a:xfrm>
          <a:prstGeom prst="rect">
            <a:avLst/>
          </a:prstGeom>
        </p:spPr>
      </p:pic>
      <p:sp>
        <p:nvSpPr>
          <p:cNvPr id="31" name="Rectangle 30"/>
          <p:cNvSpPr/>
          <p:nvPr/>
        </p:nvSpPr>
        <p:spPr>
          <a:xfrm>
            <a:off x="0" y="5577840"/>
            <a:ext cx="9144000" cy="1280160"/>
          </a:xfrm>
          <a:prstGeom prst="rect">
            <a:avLst/>
          </a:prstGeom>
          <a:solidFill>
            <a:srgbClr val="07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760720"/>
            <a:ext cx="8229600" cy="365760"/>
          </a:xfrm>
          <a:prstGeom prst="rect">
            <a:avLst/>
          </a:prstGeom>
          <a:noFill/>
        </p:spPr>
        <p:txBody>
          <a:bodyPr wrap="square" lIns="45720" rIns="45720" tIns="18288" bIns="18288">
            <a:spAutoFit/>
          </a:bodyPr>
          <a:lstStyle/>
          <a:p>
            <a:pPr algn="ctr"/>
            <a:r>
              <a:rPr sz="1400" b="1">
                <a:solidFill>
                  <a:srgbClr val="FFFFFF"/>
                </a:solidFill>
              </a:rPr>
              <a:t>4 modules  ·  40 lessons  ·  20 knowledge-check questions  ·  one runnable stack</a:t>
            </a:r>
          </a:p>
        </p:txBody>
      </p:sp>
      <p:sp>
        <p:nvSpPr>
          <p:cNvPr id="33" name="TextBox 32"/>
          <p:cNvSpPr txBox="1"/>
          <p:nvPr/>
        </p:nvSpPr>
        <p:spPr>
          <a:xfrm>
            <a:off x="457200" y="6172200"/>
            <a:ext cx="8229600" cy="365760"/>
          </a:xfrm>
          <a:prstGeom prst="rect">
            <a:avLst/>
          </a:prstGeom>
          <a:noFill/>
        </p:spPr>
        <p:txBody>
          <a:bodyPr wrap="square" lIns="45720" rIns="45720" tIns="18288" bIns="18288">
            <a:spAutoFit/>
          </a:bodyPr>
          <a:lstStyle/>
          <a:p>
            <a:pPr algn="ctr"/>
            <a:r>
              <a:rPr sz="1200" b="0">
                <a:solidFill>
                  <a:srgbClr val="CCDDEE"/>
                </a:solidFill>
              </a:rPr>
              <a:t>OGN aircraft   ·   NOAA weather   ·   EMSC seismic   ·   Postgres config CDC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What you will learn today</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Five outcomes, one stack — by the end of Day 10 you can…</a:t>
            </a:r>
          </a:p>
        </p:txBody>
      </p:sp>
      <p:sp>
        <p:nvSpPr>
          <p:cNvPr id="6" name="Rectangle 5"/>
          <p:cNvSpPr/>
          <p:nvPr/>
        </p:nvSpPr>
        <p:spPr>
          <a:xfrm>
            <a:off x="274320" y="960120"/>
            <a:ext cx="50292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78992"/>
            <a:ext cx="502920" cy="274320"/>
          </a:xfrm>
          <a:prstGeom prst="rect">
            <a:avLst/>
          </a:prstGeom>
          <a:noFill/>
        </p:spPr>
        <p:txBody>
          <a:bodyPr wrap="square" lIns="45720" rIns="45720" tIns="18288" bIns="18288">
            <a:spAutoFit/>
          </a:bodyPr>
          <a:lstStyle/>
          <a:p>
            <a:pPr algn="ctr"/>
            <a:r>
              <a:rPr sz="1800" b="1">
                <a:solidFill>
                  <a:srgbClr val="FFFFFF"/>
                </a:solidFill>
              </a:rPr>
              <a:t>1</a:t>
            </a:r>
          </a:p>
        </p:txBody>
      </p:sp>
      <p:sp>
        <p:nvSpPr>
          <p:cNvPr id="8" name="TextBox 7"/>
          <p:cNvSpPr txBox="1"/>
          <p:nvPr/>
        </p:nvSpPr>
        <p:spPr>
          <a:xfrm>
            <a:off x="914400" y="960120"/>
            <a:ext cx="7955280" cy="292608"/>
          </a:xfrm>
          <a:prstGeom prst="rect">
            <a:avLst/>
          </a:prstGeom>
          <a:noFill/>
        </p:spPr>
        <p:txBody>
          <a:bodyPr wrap="square" lIns="45720" rIns="45720" tIns="18288" bIns="18288">
            <a:spAutoFit/>
          </a:bodyPr>
          <a:lstStyle/>
          <a:p>
            <a:pPr algn="l"/>
            <a:r>
              <a:rPr sz="1400" b="1">
                <a:solidFill>
                  <a:srgbClr val="0B2A4A"/>
                </a:solidFill>
              </a:rPr>
              <a:t>Architect a streaming + medallion data platform</a:t>
            </a:r>
          </a:p>
        </p:txBody>
      </p:sp>
      <p:sp>
        <p:nvSpPr>
          <p:cNvPr id="9" name="TextBox 8"/>
          <p:cNvSpPr txBox="1"/>
          <p:nvPr/>
        </p:nvSpPr>
        <p:spPr>
          <a:xfrm>
            <a:off x="914400" y="1252728"/>
            <a:ext cx="7955280" cy="548640"/>
          </a:xfrm>
          <a:prstGeom prst="rect">
            <a:avLst/>
          </a:prstGeom>
          <a:noFill/>
        </p:spPr>
        <p:txBody>
          <a:bodyPr wrap="square" lIns="45720" rIns="45720" tIns="18288" bIns="18288">
            <a:spAutoFit/>
          </a:bodyPr>
          <a:lstStyle/>
          <a:p>
            <a:pPr algn="l"/>
            <a:r>
              <a:rPr sz="1100" b="0">
                <a:solidFill>
                  <a:srgbClr val="555555"/>
                </a:solidFill>
              </a:rPr>
              <a:t>Pick the right tool at each layer (CDC vs polling, Avro vs Parquet, stream vs batch) and defend the choice.</a:t>
            </a:r>
          </a:p>
        </p:txBody>
      </p:sp>
      <p:sp>
        <p:nvSpPr>
          <p:cNvPr id="10" name="Rectangle 9"/>
          <p:cNvSpPr/>
          <p:nvPr/>
        </p:nvSpPr>
        <p:spPr>
          <a:xfrm>
            <a:off x="274320" y="1828800"/>
            <a:ext cx="50292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947672"/>
            <a:ext cx="502920" cy="274320"/>
          </a:xfrm>
          <a:prstGeom prst="rect">
            <a:avLst/>
          </a:prstGeom>
          <a:noFill/>
        </p:spPr>
        <p:txBody>
          <a:bodyPr wrap="square" lIns="45720" rIns="45720" tIns="18288" bIns="18288">
            <a:spAutoFit/>
          </a:bodyPr>
          <a:lstStyle/>
          <a:p>
            <a:pPr algn="ctr"/>
            <a:r>
              <a:rPr sz="1800" b="1">
                <a:solidFill>
                  <a:srgbClr val="FFFFFF"/>
                </a:solidFill>
              </a:rPr>
              <a:t>2</a:t>
            </a:r>
          </a:p>
        </p:txBody>
      </p:sp>
      <p:sp>
        <p:nvSpPr>
          <p:cNvPr id="12" name="TextBox 11"/>
          <p:cNvSpPr txBox="1"/>
          <p:nvPr/>
        </p:nvSpPr>
        <p:spPr>
          <a:xfrm>
            <a:off x="914400" y="1828800"/>
            <a:ext cx="7955280" cy="292608"/>
          </a:xfrm>
          <a:prstGeom prst="rect">
            <a:avLst/>
          </a:prstGeom>
          <a:noFill/>
        </p:spPr>
        <p:txBody>
          <a:bodyPr wrap="square" lIns="45720" rIns="45720" tIns="18288" bIns="18288">
            <a:spAutoFit/>
          </a:bodyPr>
          <a:lstStyle/>
          <a:p>
            <a:pPr algn="l"/>
            <a:r>
              <a:rPr sz="1400" b="1">
                <a:solidFill>
                  <a:srgbClr val="0B2A4A"/>
                </a:solidFill>
              </a:rPr>
              <a:t>Integrate Debezium, Kafka, Hop and Airflow</a:t>
            </a:r>
          </a:p>
        </p:txBody>
      </p:sp>
      <p:sp>
        <p:nvSpPr>
          <p:cNvPr id="13" name="TextBox 12"/>
          <p:cNvSpPr txBox="1"/>
          <p:nvPr/>
        </p:nvSpPr>
        <p:spPr>
          <a:xfrm>
            <a:off x="914400" y="2121408"/>
            <a:ext cx="7955280" cy="548640"/>
          </a:xfrm>
          <a:prstGeom prst="rect">
            <a:avLst/>
          </a:prstGeom>
          <a:noFill/>
        </p:spPr>
        <p:txBody>
          <a:bodyPr wrap="square" lIns="45720" rIns="45720" tIns="18288" bIns="18288">
            <a:spAutoFit/>
          </a:bodyPr>
          <a:lstStyle/>
          <a:p>
            <a:pPr algn="l"/>
            <a:r>
              <a:rPr sz="1100" b="0">
                <a:solidFill>
                  <a:srgbClr val="555555"/>
                </a:solidFill>
              </a:rPr>
              <a:t>Wire CDC into a broker, push to object storage, refine through bronze → silver → gold, schedule everything from Airflow.</a:t>
            </a:r>
          </a:p>
        </p:txBody>
      </p:sp>
      <p:sp>
        <p:nvSpPr>
          <p:cNvPr id="14" name="Rectangle 13"/>
          <p:cNvSpPr/>
          <p:nvPr/>
        </p:nvSpPr>
        <p:spPr>
          <a:xfrm>
            <a:off x="274320" y="2697480"/>
            <a:ext cx="50292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816352"/>
            <a:ext cx="502920" cy="274320"/>
          </a:xfrm>
          <a:prstGeom prst="rect">
            <a:avLst/>
          </a:prstGeom>
          <a:noFill/>
        </p:spPr>
        <p:txBody>
          <a:bodyPr wrap="square" lIns="45720" rIns="45720" tIns="18288" bIns="18288">
            <a:spAutoFit/>
          </a:bodyPr>
          <a:lstStyle/>
          <a:p>
            <a:pPr algn="ctr"/>
            <a:r>
              <a:rPr sz="1800" b="1">
                <a:solidFill>
                  <a:srgbClr val="FFFFFF"/>
                </a:solidFill>
              </a:rPr>
              <a:t>3</a:t>
            </a:r>
          </a:p>
        </p:txBody>
      </p:sp>
      <p:sp>
        <p:nvSpPr>
          <p:cNvPr id="16" name="TextBox 15"/>
          <p:cNvSpPr txBox="1"/>
          <p:nvPr/>
        </p:nvSpPr>
        <p:spPr>
          <a:xfrm>
            <a:off x="914400" y="2697480"/>
            <a:ext cx="7955280" cy="292608"/>
          </a:xfrm>
          <a:prstGeom prst="rect">
            <a:avLst/>
          </a:prstGeom>
          <a:noFill/>
        </p:spPr>
        <p:txBody>
          <a:bodyPr wrap="square" lIns="45720" rIns="45720" tIns="18288" bIns="18288">
            <a:spAutoFit/>
          </a:bodyPr>
          <a:lstStyle/>
          <a:p>
            <a:pPr algn="l"/>
            <a:r>
              <a:rPr sz="1400" b="1">
                <a:solidFill>
                  <a:srgbClr val="0B2A4A"/>
                </a:solidFill>
              </a:rPr>
              <a:t>Build a real-time pipeline against live public feeds</a:t>
            </a:r>
          </a:p>
        </p:txBody>
      </p:sp>
      <p:sp>
        <p:nvSpPr>
          <p:cNvPr id="17" name="TextBox 16"/>
          <p:cNvSpPr txBox="1"/>
          <p:nvPr/>
        </p:nvSpPr>
        <p:spPr>
          <a:xfrm>
            <a:off x="914400" y="2990088"/>
            <a:ext cx="7955280" cy="548640"/>
          </a:xfrm>
          <a:prstGeom prst="rect">
            <a:avLst/>
          </a:prstGeom>
          <a:noFill/>
        </p:spPr>
        <p:txBody>
          <a:bodyPr wrap="square" lIns="45720" rIns="45720" tIns="18288" bIns="18288">
            <a:spAutoFit/>
          </a:bodyPr>
          <a:lstStyle/>
          <a:p>
            <a:pPr algn="l"/>
            <a:r>
              <a:rPr sz="1100" b="0">
                <a:solidFill>
                  <a:srgbClr val="555555"/>
                </a:solidFill>
              </a:rPr>
              <a:t>OGN APRS, NOAA, EMSC — three different ingestion patterns (TCP, REST, WebSocket) running side-by-side.</a:t>
            </a:r>
          </a:p>
        </p:txBody>
      </p:sp>
      <p:sp>
        <p:nvSpPr>
          <p:cNvPr id="18" name="Rectangle 17"/>
          <p:cNvSpPr/>
          <p:nvPr/>
        </p:nvSpPr>
        <p:spPr>
          <a:xfrm>
            <a:off x="274320" y="3566160"/>
            <a:ext cx="50292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685032"/>
            <a:ext cx="502920" cy="274320"/>
          </a:xfrm>
          <a:prstGeom prst="rect">
            <a:avLst/>
          </a:prstGeom>
          <a:noFill/>
        </p:spPr>
        <p:txBody>
          <a:bodyPr wrap="square" lIns="45720" rIns="45720" tIns="18288" bIns="18288">
            <a:spAutoFit/>
          </a:bodyPr>
          <a:lstStyle/>
          <a:p>
            <a:pPr algn="ctr"/>
            <a:r>
              <a:rPr sz="1800" b="1">
                <a:solidFill>
                  <a:srgbClr val="FFFFFF"/>
                </a:solidFill>
              </a:rPr>
              <a:t>4</a:t>
            </a:r>
          </a:p>
        </p:txBody>
      </p:sp>
      <p:sp>
        <p:nvSpPr>
          <p:cNvPr id="20" name="TextBox 19"/>
          <p:cNvSpPr txBox="1"/>
          <p:nvPr/>
        </p:nvSpPr>
        <p:spPr>
          <a:xfrm>
            <a:off x="914400" y="3566160"/>
            <a:ext cx="7955280" cy="292608"/>
          </a:xfrm>
          <a:prstGeom prst="rect">
            <a:avLst/>
          </a:prstGeom>
          <a:noFill/>
        </p:spPr>
        <p:txBody>
          <a:bodyPr wrap="square" lIns="45720" rIns="45720" tIns="18288" bIns="18288">
            <a:spAutoFit/>
          </a:bodyPr>
          <a:lstStyle/>
          <a:p>
            <a:pPr algn="l"/>
            <a:r>
              <a:rPr sz="1400" b="1">
                <a:solidFill>
                  <a:srgbClr val="0B2A4A"/>
                </a:solidFill>
              </a:rPr>
              <a:t>Deploy reproducibly with Docker Compose</a:t>
            </a:r>
          </a:p>
        </p:txBody>
      </p:sp>
      <p:sp>
        <p:nvSpPr>
          <p:cNvPr id="21" name="TextBox 20"/>
          <p:cNvSpPr txBox="1"/>
          <p:nvPr/>
        </p:nvSpPr>
        <p:spPr>
          <a:xfrm>
            <a:off x="914400" y="3858768"/>
            <a:ext cx="7955280" cy="548640"/>
          </a:xfrm>
          <a:prstGeom prst="rect">
            <a:avLst/>
          </a:prstGeom>
          <a:noFill/>
        </p:spPr>
        <p:txBody>
          <a:bodyPr wrap="square" lIns="45720" rIns="45720" tIns="18288" bIns="18288">
            <a:spAutoFit/>
          </a:bodyPr>
          <a:lstStyle/>
          <a:p>
            <a:pPr algn="l"/>
            <a:r>
              <a:rPr sz="1100" b="0">
                <a:solidFill>
                  <a:srgbClr val="555555"/>
                </a:solidFill>
              </a:rPr>
              <a:t>One bootstrap script that pins versions, builds local images, pulls remote ones, waits for health, and seeds metadata.</a:t>
            </a:r>
          </a:p>
        </p:txBody>
      </p:sp>
      <p:sp>
        <p:nvSpPr>
          <p:cNvPr id="22" name="Rectangle 21"/>
          <p:cNvSpPr/>
          <p:nvPr/>
        </p:nvSpPr>
        <p:spPr>
          <a:xfrm>
            <a:off x="274320" y="4434840"/>
            <a:ext cx="50292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553712"/>
            <a:ext cx="502920" cy="274320"/>
          </a:xfrm>
          <a:prstGeom prst="rect">
            <a:avLst/>
          </a:prstGeom>
          <a:noFill/>
        </p:spPr>
        <p:txBody>
          <a:bodyPr wrap="square" lIns="45720" rIns="45720" tIns="18288" bIns="18288">
            <a:spAutoFit/>
          </a:bodyPr>
          <a:lstStyle/>
          <a:p>
            <a:pPr algn="ctr"/>
            <a:r>
              <a:rPr sz="1800" b="1">
                <a:solidFill>
                  <a:srgbClr val="FFFFFF"/>
                </a:solidFill>
              </a:rPr>
              <a:t>5</a:t>
            </a:r>
          </a:p>
        </p:txBody>
      </p:sp>
      <p:sp>
        <p:nvSpPr>
          <p:cNvPr id="24" name="TextBox 23"/>
          <p:cNvSpPr txBox="1"/>
          <p:nvPr/>
        </p:nvSpPr>
        <p:spPr>
          <a:xfrm>
            <a:off x="914400" y="4434840"/>
            <a:ext cx="7955280" cy="292608"/>
          </a:xfrm>
          <a:prstGeom prst="rect">
            <a:avLst/>
          </a:prstGeom>
          <a:noFill/>
        </p:spPr>
        <p:txBody>
          <a:bodyPr wrap="square" lIns="45720" rIns="45720" tIns="18288" bIns="18288">
            <a:spAutoFit/>
          </a:bodyPr>
          <a:lstStyle/>
          <a:p>
            <a:pPr algn="l"/>
            <a:r>
              <a:rPr sz="1400" b="1">
                <a:solidFill>
                  <a:srgbClr val="0B2A4A"/>
                </a:solidFill>
              </a:rPr>
              <a:t>Operate with Prometheus / Grafana / Alertmanager</a:t>
            </a:r>
          </a:p>
        </p:txBody>
      </p:sp>
      <p:sp>
        <p:nvSpPr>
          <p:cNvPr id="25" name="TextBox 24"/>
          <p:cNvSpPr txBox="1"/>
          <p:nvPr/>
        </p:nvSpPr>
        <p:spPr>
          <a:xfrm>
            <a:off x="914400" y="4727448"/>
            <a:ext cx="7955280" cy="548640"/>
          </a:xfrm>
          <a:prstGeom prst="rect">
            <a:avLst/>
          </a:prstGeom>
          <a:noFill/>
        </p:spPr>
        <p:txBody>
          <a:bodyPr wrap="square" lIns="45720" rIns="45720" tIns="18288" bIns="18288">
            <a:spAutoFit/>
          </a:bodyPr>
          <a:lstStyle/>
          <a:p>
            <a:pPr algn="l"/>
            <a:r>
              <a:rPr sz="1100" b="0">
                <a:solidFill>
                  <a:srgbClr val="555555"/>
                </a:solidFill>
              </a:rPr>
              <a:t>Metrics, alerts, dashboards and DLQs — observability baked in, not bolted on.</a:t>
            </a:r>
          </a:p>
        </p:txBody>
      </p:sp>
      <p:sp>
        <p:nvSpPr>
          <p:cNvPr id="26" name="Rectangle 25"/>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2 / 52  ·  Opening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Why this stack — three real feeds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Real data is the syllabus; the tools just react to it</a:t>
            </a:r>
          </a:p>
        </p:txBody>
      </p:sp>
      <p:sp>
        <p:nvSpPr>
          <p:cNvPr id="6" name="Rectangle 5"/>
          <p:cNvSpPr/>
          <p:nvPr/>
        </p:nvSpPr>
        <p:spPr>
          <a:xfrm>
            <a:off x="274320" y="960120"/>
            <a:ext cx="164592" cy="9601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960120"/>
            <a:ext cx="5029200" cy="96012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33272"/>
            <a:ext cx="4846320" cy="274320"/>
          </a:xfrm>
          <a:prstGeom prst="rect">
            <a:avLst/>
          </a:prstGeom>
          <a:noFill/>
        </p:spPr>
        <p:txBody>
          <a:bodyPr wrap="square" lIns="45720" rIns="45720" tIns="18288" bIns="18288">
            <a:spAutoFit/>
          </a:bodyPr>
          <a:lstStyle/>
          <a:p>
            <a:pPr algn="l"/>
            <a:r>
              <a:rPr sz="1400" b="1">
                <a:solidFill>
                  <a:srgbClr val="0B2A4A"/>
                </a:solidFill>
              </a:rPr>
              <a:t>OGN APRS</a:t>
            </a:r>
          </a:p>
        </p:txBody>
      </p:sp>
      <p:sp>
        <p:nvSpPr>
          <p:cNvPr id="9" name="TextBox 8"/>
          <p:cNvSpPr txBox="1"/>
          <p:nvPr/>
        </p:nvSpPr>
        <p:spPr>
          <a:xfrm>
            <a:off x="548640" y="1280160"/>
            <a:ext cx="4846320" cy="256032"/>
          </a:xfrm>
          <a:prstGeom prst="rect">
            <a:avLst/>
          </a:prstGeom>
          <a:noFill/>
        </p:spPr>
        <p:txBody>
          <a:bodyPr wrap="square" lIns="45720" rIns="45720" tIns="18288" bIns="18288">
            <a:spAutoFit/>
          </a:bodyPr>
          <a:lstStyle/>
          <a:p>
            <a:pPr algn="l"/>
            <a:r>
              <a:rPr sz="1000" b="0">
                <a:solidFill>
                  <a:srgbClr val="1F77B4"/>
                </a:solidFill>
                <a:latin typeface="Consolas"/>
              </a:rPr>
              <a:t>ogn.aircraft.positions</a:t>
            </a:r>
          </a:p>
        </p:txBody>
      </p:sp>
      <p:sp>
        <p:nvSpPr>
          <p:cNvPr id="10" name="TextBox 9"/>
          <p:cNvSpPr txBox="1"/>
          <p:nvPr/>
        </p:nvSpPr>
        <p:spPr>
          <a:xfrm>
            <a:off x="548640" y="1508760"/>
            <a:ext cx="4846320" cy="411480"/>
          </a:xfrm>
          <a:prstGeom prst="rect">
            <a:avLst/>
          </a:prstGeom>
          <a:noFill/>
        </p:spPr>
        <p:txBody>
          <a:bodyPr wrap="square" lIns="45720" rIns="45720" tIns="18288" bIns="18288">
            <a:spAutoFit/>
          </a:bodyPr>
          <a:lstStyle/>
          <a:p>
            <a:pPr algn="l"/>
            <a:r>
              <a:rPr sz="1000" b="0">
                <a:solidFill>
                  <a:srgbClr val="555555"/>
                </a:solidFill>
              </a:rPr>
              <a:t>Bursty TCP stream of glider beacons. Forces us to handle out-of-order events, partial packets, idle gaps.</a:t>
            </a:r>
          </a:p>
        </p:txBody>
      </p:sp>
      <p:sp>
        <p:nvSpPr>
          <p:cNvPr id="11" name="Rectangle 10"/>
          <p:cNvSpPr/>
          <p:nvPr/>
        </p:nvSpPr>
        <p:spPr>
          <a:xfrm>
            <a:off x="274320" y="2011680"/>
            <a:ext cx="164592" cy="96012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2011680"/>
            <a:ext cx="5029200" cy="960120"/>
          </a:xfrm>
          <a:prstGeom prst="rect">
            <a:avLst/>
          </a:prstGeom>
          <a:solidFill>
            <a:srgbClr val="F1F5F9"/>
          </a:solidFill>
          <a:ln w="9525">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84832"/>
            <a:ext cx="4846320" cy="274320"/>
          </a:xfrm>
          <a:prstGeom prst="rect">
            <a:avLst/>
          </a:prstGeom>
          <a:noFill/>
        </p:spPr>
        <p:txBody>
          <a:bodyPr wrap="square" lIns="45720" rIns="45720" tIns="18288" bIns="18288">
            <a:spAutoFit/>
          </a:bodyPr>
          <a:lstStyle/>
          <a:p>
            <a:pPr algn="l"/>
            <a:r>
              <a:rPr sz="1400" b="1">
                <a:solidFill>
                  <a:srgbClr val="0B2A4A"/>
                </a:solidFill>
              </a:rPr>
              <a:t>NOAA</a:t>
            </a:r>
          </a:p>
        </p:txBody>
      </p:sp>
      <p:sp>
        <p:nvSpPr>
          <p:cNvPr id="14" name="TextBox 13"/>
          <p:cNvSpPr txBox="1"/>
          <p:nvPr/>
        </p:nvSpPr>
        <p:spPr>
          <a:xfrm>
            <a:off x="548640" y="2331720"/>
            <a:ext cx="4846320" cy="256032"/>
          </a:xfrm>
          <a:prstGeom prst="rect">
            <a:avLst/>
          </a:prstGeom>
          <a:noFill/>
        </p:spPr>
        <p:txBody>
          <a:bodyPr wrap="square" lIns="45720" rIns="45720" tIns="18288" bIns="18288">
            <a:spAutoFit/>
          </a:bodyPr>
          <a:lstStyle/>
          <a:p>
            <a:pPr algn="l"/>
            <a:r>
              <a:rPr sz="1000" b="0">
                <a:solidFill>
                  <a:srgbClr val="1F77B4"/>
                </a:solidFill>
                <a:latin typeface="Consolas"/>
              </a:rPr>
              <a:t>noaa.observations / noaa.alerts</a:t>
            </a:r>
          </a:p>
        </p:txBody>
      </p:sp>
      <p:sp>
        <p:nvSpPr>
          <p:cNvPr id="15" name="TextBox 14"/>
          <p:cNvSpPr txBox="1"/>
          <p:nvPr/>
        </p:nvSpPr>
        <p:spPr>
          <a:xfrm>
            <a:off x="548640" y="2560320"/>
            <a:ext cx="4846320" cy="411480"/>
          </a:xfrm>
          <a:prstGeom prst="rect">
            <a:avLst/>
          </a:prstGeom>
          <a:noFill/>
        </p:spPr>
        <p:txBody>
          <a:bodyPr wrap="square" lIns="45720" rIns="45720" tIns="18288" bIns="18288">
            <a:spAutoFit/>
          </a:bodyPr>
          <a:lstStyle/>
          <a:p>
            <a:pPr algn="l"/>
            <a:r>
              <a:rPr sz="1000" b="0">
                <a:solidFill>
                  <a:srgbClr val="555555"/>
                </a:solidFill>
              </a:rPr>
              <a:t>REST poll every 60 s for station obs + active warnings. Classic pull-with-cursor pattern.</a:t>
            </a:r>
          </a:p>
        </p:txBody>
      </p:sp>
      <p:sp>
        <p:nvSpPr>
          <p:cNvPr id="16" name="Rectangle 15"/>
          <p:cNvSpPr/>
          <p:nvPr/>
        </p:nvSpPr>
        <p:spPr>
          <a:xfrm>
            <a:off x="274320" y="3063240"/>
            <a:ext cx="164592" cy="96012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 y="3063240"/>
            <a:ext cx="5029200" cy="960120"/>
          </a:xfrm>
          <a:prstGeom prst="rect">
            <a:avLst/>
          </a:prstGeom>
          <a:solidFill>
            <a:srgbClr val="F1F5F9"/>
          </a:solidFill>
          <a:ln w="9525">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136392"/>
            <a:ext cx="4846320" cy="274320"/>
          </a:xfrm>
          <a:prstGeom prst="rect">
            <a:avLst/>
          </a:prstGeom>
          <a:noFill/>
        </p:spPr>
        <p:txBody>
          <a:bodyPr wrap="square" lIns="45720" rIns="45720" tIns="18288" bIns="18288">
            <a:spAutoFit/>
          </a:bodyPr>
          <a:lstStyle/>
          <a:p>
            <a:pPr algn="l"/>
            <a:r>
              <a:rPr sz="1400" b="1">
                <a:solidFill>
                  <a:srgbClr val="0B2A4A"/>
                </a:solidFill>
              </a:rPr>
              <a:t>EMSC</a:t>
            </a:r>
          </a:p>
        </p:txBody>
      </p:sp>
      <p:sp>
        <p:nvSpPr>
          <p:cNvPr id="19" name="TextBox 18"/>
          <p:cNvSpPr txBox="1"/>
          <p:nvPr/>
        </p:nvSpPr>
        <p:spPr>
          <a:xfrm>
            <a:off x="548640" y="3383280"/>
            <a:ext cx="4846320" cy="256032"/>
          </a:xfrm>
          <a:prstGeom prst="rect">
            <a:avLst/>
          </a:prstGeom>
          <a:noFill/>
        </p:spPr>
        <p:txBody>
          <a:bodyPr wrap="square" lIns="45720" rIns="45720" tIns="18288" bIns="18288">
            <a:spAutoFit/>
          </a:bodyPr>
          <a:lstStyle/>
          <a:p>
            <a:pPr algn="l"/>
            <a:r>
              <a:rPr sz="1000" b="0">
                <a:solidFill>
                  <a:srgbClr val="1F77B4"/>
                </a:solidFill>
                <a:latin typeface="Consolas"/>
              </a:rPr>
              <a:t>seismic.events</a:t>
            </a:r>
          </a:p>
        </p:txBody>
      </p:sp>
      <p:sp>
        <p:nvSpPr>
          <p:cNvPr id="20" name="TextBox 19"/>
          <p:cNvSpPr txBox="1"/>
          <p:nvPr/>
        </p:nvSpPr>
        <p:spPr>
          <a:xfrm>
            <a:off x="548640" y="3611880"/>
            <a:ext cx="4846320" cy="411480"/>
          </a:xfrm>
          <a:prstGeom prst="rect">
            <a:avLst/>
          </a:prstGeom>
          <a:noFill/>
        </p:spPr>
        <p:txBody>
          <a:bodyPr wrap="square" lIns="45720" rIns="45720" tIns="18288" bIns="18288">
            <a:spAutoFit/>
          </a:bodyPr>
          <a:lstStyle/>
          <a:p>
            <a:pPr algn="l"/>
            <a:r>
              <a:rPr sz="1000" b="0">
                <a:solidFill>
                  <a:srgbClr val="555555"/>
                </a:solidFill>
              </a:rPr>
              <a:t>Long-lived WebSocket pushing earthquakes worldwide. Forces reconnect-with-backoff + de-duplication.</a:t>
            </a:r>
          </a:p>
        </p:txBody>
      </p:sp>
      <p:sp>
        <p:nvSpPr>
          <p:cNvPr id="21" name="Rectangle 20"/>
          <p:cNvSpPr/>
          <p:nvPr/>
        </p:nvSpPr>
        <p:spPr>
          <a:xfrm>
            <a:off x="5577840" y="960120"/>
            <a:ext cx="3291840" cy="3977639"/>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103327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3" name="TextBox 22"/>
          <p:cNvSpPr txBox="1"/>
          <p:nvPr/>
        </p:nvSpPr>
        <p:spPr>
          <a:xfrm>
            <a:off x="5669280" y="1289304"/>
            <a:ext cx="3108960" cy="292608"/>
          </a:xfrm>
          <a:prstGeom prst="rect">
            <a:avLst/>
          </a:prstGeom>
          <a:noFill/>
        </p:spPr>
        <p:txBody>
          <a:bodyPr wrap="square" lIns="45720" rIns="45720" tIns="18288" bIns="18288">
            <a:spAutoFit/>
          </a:bodyPr>
          <a:lstStyle/>
          <a:p>
            <a:pPr algn="l"/>
            <a:r>
              <a:rPr sz="1200" b="1">
                <a:solidFill>
                  <a:srgbClr val="0B2A4A"/>
                </a:solidFill>
              </a:rPr>
              <a:t>Why three feeds, not one</a:t>
            </a:r>
          </a:p>
        </p:txBody>
      </p:sp>
      <p:sp>
        <p:nvSpPr>
          <p:cNvPr id="24" name="TextBox 23"/>
          <p:cNvSpPr txBox="1"/>
          <p:nvPr/>
        </p:nvSpPr>
        <p:spPr>
          <a:xfrm>
            <a:off x="5669280" y="1600200"/>
            <a:ext cx="3108960" cy="3200399"/>
          </a:xfrm>
          <a:prstGeom prst="rect">
            <a:avLst/>
          </a:prstGeom>
          <a:noFill/>
        </p:spPr>
        <p:txBody>
          <a:bodyPr wrap="square" lIns="45720" rIns="45720" tIns="18288" bIns="18288">
            <a:spAutoFit/>
          </a:bodyPr>
          <a:lstStyle/>
          <a:p>
            <a:pPr algn="l"/>
            <a:r>
              <a:rPr sz="1000" b="0">
                <a:solidFill>
                  <a:srgbClr val="0B2A4A"/>
                </a:solidFill>
              </a:rPr>
              <a:t>Three feeds force three different ingestion patterns into the same pipeline. A platform that handles TCP, REST AND WebSocket won't break when feed #4 arrives. Building for one source is easy; building for variety is the lesson.</a:t>
            </a:r>
          </a:p>
        </p:txBody>
      </p:sp>
      <p:sp>
        <p:nvSpPr>
          <p:cNvPr id="25" name="Rectangle 24"/>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3 / 52  ·  Opening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technology stack at a glance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12 tools, each doing one job well</a:t>
            </a:r>
          </a:p>
        </p:txBody>
      </p:sp>
      <p:sp>
        <p:nvSpPr>
          <p:cNvPr id="6" name="Rectangle 5"/>
          <p:cNvSpPr/>
          <p:nvPr/>
        </p:nvSpPr>
        <p:spPr>
          <a:xfrm>
            <a:off x="251460" y="10515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2900" y="11430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bezium.png"/>
          <p:cNvPicPr>
            <a:picLocks noChangeAspect="1"/>
          </p:cNvPicPr>
          <p:nvPr/>
        </p:nvPicPr>
        <p:blipFill>
          <a:blip r:embed="rId2"/>
          <a:stretch>
            <a:fillRect/>
          </a:stretch>
        </p:blipFill>
        <p:spPr>
          <a:xfrm>
            <a:off x="411480" y="1296238"/>
            <a:ext cx="1737360" cy="379323"/>
          </a:xfrm>
          <a:prstGeom prst="rect">
            <a:avLst/>
          </a:prstGeom>
        </p:spPr>
      </p:pic>
      <p:sp>
        <p:nvSpPr>
          <p:cNvPr id="9" name="TextBox 8"/>
          <p:cNvSpPr txBox="1"/>
          <p:nvPr/>
        </p:nvSpPr>
        <p:spPr>
          <a:xfrm>
            <a:off x="251460" y="1874520"/>
            <a:ext cx="2057400" cy="228600"/>
          </a:xfrm>
          <a:prstGeom prst="rect">
            <a:avLst/>
          </a:prstGeom>
          <a:noFill/>
        </p:spPr>
        <p:txBody>
          <a:bodyPr wrap="square" lIns="45720" rIns="45720" tIns="18288" bIns="18288">
            <a:spAutoFit/>
          </a:bodyPr>
          <a:lstStyle/>
          <a:p>
            <a:pPr algn="ctr"/>
            <a:r>
              <a:rPr sz="1100" b="1">
                <a:solidFill>
                  <a:srgbClr val="0B2A4A"/>
                </a:solidFill>
              </a:rPr>
              <a:t>Debezium</a:t>
            </a:r>
          </a:p>
        </p:txBody>
      </p:sp>
      <p:sp>
        <p:nvSpPr>
          <p:cNvPr id="10" name="TextBox 9"/>
          <p:cNvSpPr txBox="1"/>
          <p:nvPr/>
        </p:nvSpPr>
        <p:spPr>
          <a:xfrm>
            <a:off x="251460" y="2057400"/>
            <a:ext cx="2057400" cy="201168"/>
          </a:xfrm>
          <a:prstGeom prst="rect">
            <a:avLst/>
          </a:prstGeom>
          <a:noFill/>
        </p:spPr>
        <p:txBody>
          <a:bodyPr wrap="square" lIns="45720" rIns="45720" tIns="18288" bIns="18288">
            <a:spAutoFit/>
          </a:bodyPr>
          <a:lstStyle/>
          <a:p>
            <a:pPr algn="ctr"/>
            <a:r>
              <a:rPr sz="900" b="0">
                <a:solidFill>
                  <a:srgbClr val="555555"/>
                </a:solidFill>
              </a:rPr>
              <a:t>CDC source</a:t>
            </a:r>
          </a:p>
        </p:txBody>
      </p:sp>
      <p:sp>
        <p:nvSpPr>
          <p:cNvPr id="11" name="Rectangle 10"/>
          <p:cNvSpPr/>
          <p:nvPr/>
        </p:nvSpPr>
        <p:spPr>
          <a:xfrm>
            <a:off x="2446020" y="10515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37460" y="11430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kafka.png"/>
          <p:cNvPicPr>
            <a:picLocks noChangeAspect="1"/>
          </p:cNvPicPr>
          <p:nvPr/>
        </p:nvPicPr>
        <p:blipFill>
          <a:blip r:embed="rId3"/>
          <a:stretch>
            <a:fillRect/>
          </a:stretch>
        </p:blipFill>
        <p:spPr>
          <a:xfrm>
            <a:off x="3305804" y="1211580"/>
            <a:ext cx="337832" cy="548640"/>
          </a:xfrm>
          <a:prstGeom prst="rect">
            <a:avLst/>
          </a:prstGeom>
        </p:spPr>
      </p:pic>
      <p:sp>
        <p:nvSpPr>
          <p:cNvPr id="14" name="TextBox 13"/>
          <p:cNvSpPr txBox="1"/>
          <p:nvPr/>
        </p:nvSpPr>
        <p:spPr>
          <a:xfrm>
            <a:off x="2446020" y="1874520"/>
            <a:ext cx="2057400" cy="228600"/>
          </a:xfrm>
          <a:prstGeom prst="rect">
            <a:avLst/>
          </a:prstGeom>
          <a:noFill/>
        </p:spPr>
        <p:txBody>
          <a:bodyPr wrap="square" lIns="45720" rIns="45720" tIns="18288" bIns="18288">
            <a:spAutoFit/>
          </a:bodyPr>
          <a:lstStyle/>
          <a:p>
            <a:pPr algn="ctr"/>
            <a:r>
              <a:rPr sz="1100" b="1">
                <a:solidFill>
                  <a:srgbClr val="0B2A4A"/>
                </a:solidFill>
              </a:rPr>
              <a:t>Kafka</a:t>
            </a:r>
          </a:p>
        </p:txBody>
      </p:sp>
      <p:sp>
        <p:nvSpPr>
          <p:cNvPr id="15" name="TextBox 14"/>
          <p:cNvSpPr txBox="1"/>
          <p:nvPr/>
        </p:nvSpPr>
        <p:spPr>
          <a:xfrm>
            <a:off x="2446020" y="2057400"/>
            <a:ext cx="2057400" cy="201168"/>
          </a:xfrm>
          <a:prstGeom prst="rect">
            <a:avLst/>
          </a:prstGeom>
          <a:noFill/>
        </p:spPr>
        <p:txBody>
          <a:bodyPr wrap="square" lIns="45720" rIns="45720" tIns="18288" bIns="18288">
            <a:spAutoFit/>
          </a:bodyPr>
          <a:lstStyle/>
          <a:p>
            <a:pPr algn="ctr"/>
            <a:r>
              <a:rPr sz="900" b="0">
                <a:solidFill>
                  <a:srgbClr val="555555"/>
                </a:solidFill>
              </a:rPr>
              <a:t>event broker</a:t>
            </a:r>
          </a:p>
        </p:txBody>
      </p:sp>
      <p:sp>
        <p:nvSpPr>
          <p:cNvPr id="16" name="Rectangle 15"/>
          <p:cNvSpPr/>
          <p:nvPr/>
        </p:nvSpPr>
        <p:spPr>
          <a:xfrm>
            <a:off x="4640580" y="10515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32020" y="11430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vro.png"/>
          <p:cNvPicPr>
            <a:picLocks noChangeAspect="1"/>
          </p:cNvPicPr>
          <p:nvPr/>
        </p:nvPicPr>
        <p:blipFill>
          <a:blip r:embed="rId4"/>
          <a:stretch>
            <a:fillRect/>
          </a:stretch>
        </p:blipFill>
        <p:spPr>
          <a:xfrm>
            <a:off x="4868168" y="1211580"/>
            <a:ext cx="1602223" cy="548640"/>
          </a:xfrm>
          <a:prstGeom prst="rect">
            <a:avLst/>
          </a:prstGeom>
        </p:spPr>
      </p:pic>
      <p:sp>
        <p:nvSpPr>
          <p:cNvPr id="19" name="TextBox 18"/>
          <p:cNvSpPr txBox="1"/>
          <p:nvPr/>
        </p:nvSpPr>
        <p:spPr>
          <a:xfrm>
            <a:off x="4640580" y="1874520"/>
            <a:ext cx="2057400" cy="228600"/>
          </a:xfrm>
          <a:prstGeom prst="rect">
            <a:avLst/>
          </a:prstGeom>
          <a:noFill/>
        </p:spPr>
        <p:txBody>
          <a:bodyPr wrap="square" lIns="45720" rIns="45720" tIns="18288" bIns="18288">
            <a:spAutoFit/>
          </a:bodyPr>
          <a:lstStyle/>
          <a:p>
            <a:pPr algn="ctr"/>
            <a:r>
              <a:rPr sz="1100" b="1">
                <a:solidFill>
                  <a:srgbClr val="0B2A4A"/>
                </a:solidFill>
              </a:rPr>
              <a:t>Avro</a:t>
            </a:r>
          </a:p>
        </p:txBody>
      </p:sp>
      <p:sp>
        <p:nvSpPr>
          <p:cNvPr id="20" name="TextBox 19"/>
          <p:cNvSpPr txBox="1"/>
          <p:nvPr/>
        </p:nvSpPr>
        <p:spPr>
          <a:xfrm>
            <a:off x="4640580" y="2057400"/>
            <a:ext cx="2057400" cy="201168"/>
          </a:xfrm>
          <a:prstGeom prst="rect">
            <a:avLst/>
          </a:prstGeom>
          <a:noFill/>
        </p:spPr>
        <p:txBody>
          <a:bodyPr wrap="square" lIns="45720" rIns="45720" tIns="18288" bIns="18288">
            <a:spAutoFit/>
          </a:bodyPr>
          <a:lstStyle/>
          <a:p>
            <a:pPr algn="ctr"/>
            <a:r>
              <a:rPr sz="900" b="0">
                <a:solidFill>
                  <a:srgbClr val="555555"/>
                </a:solidFill>
              </a:rPr>
              <a:t>wire schema</a:t>
            </a:r>
          </a:p>
        </p:txBody>
      </p:sp>
      <p:sp>
        <p:nvSpPr>
          <p:cNvPr id="21" name="Rectangle 20"/>
          <p:cNvSpPr/>
          <p:nvPr/>
        </p:nvSpPr>
        <p:spPr>
          <a:xfrm>
            <a:off x="6835140" y="10515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26580" y="11430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op.png"/>
          <p:cNvPicPr>
            <a:picLocks noChangeAspect="1"/>
          </p:cNvPicPr>
          <p:nvPr/>
        </p:nvPicPr>
        <p:blipFill>
          <a:blip r:embed="rId5"/>
          <a:stretch>
            <a:fillRect/>
          </a:stretch>
        </p:blipFill>
        <p:spPr>
          <a:xfrm>
            <a:off x="7605048" y="1211580"/>
            <a:ext cx="517584" cy="548640"/>
          </a:xfrm>
          <a:prstGeom prst="rect">
            <a:avLst/>
          </a:prstGeom>
        </p:spPr>
      </p:pic>
      <p:sp>
        <p:nvSpPr>
          <p:cNvPr id="24" name="TextBox 23"/>
          <p:cNvSpPr txBox="1"/>
          <p:nvPr/>
        </p:nvSpPr>
        <p:spPr>
          <a:xfrm>
            <a:off x="6835140" y="1874520"/>
            <a:ext cx="2057400" cy="228600"/>
          </a:xfrm>
          <a:prstGeom prst="rect">
            <a:avLst/>
          </a:prstGeom>
          <a:noFill/>
        </p:spPr>
        <p:txBody>
          <a:bodyPr wrap="square" lIns="45720" rIns="45720" tIns="18288" bIns="18288">
            <a:spAutoFit/>
          </a:bodyPr>
          <a:lstStyle/>
          <a:p>
            <a:pPr algn="ctr"/>
            <a:r>
              <a:rPr sz="1100" b="1">
                <a:solidFill>
                  <a:srgbClr val="0B2A4A"/>
                </a:solidFill>
              </a:rPr>
              <a:t>Apache Hop</a:t>
            </a:r>
          </a:p>
        </p:txBody>
      </p:sp>
      <p:sp>
        <p:nvSpPr>
          <p:cNvPr id="25" name="TextBox 24"/>
          <p:cNvSpPr txBox="1"/>
          <p:nvPr/>
        </p:nvSpPr>
        <p:spPr>
          <a:xfrm>
            <a:off x="6835140" y="2057400"/>
            <a:ext cx="2057400" cy="201168"/>
          </a:xfrm>
          <a:prstGeom prst="rect">
            <a:avLst/>
          </a:prstGeom>
          <a:noFill/>
        </p:spPr>
        <p:txBody>
          <a:bodyPr wrap="square" lIns="45720" rIns="45720" tIns="18288" bIns="18288">
            <a:spAutoFit/>
          </a:bodyPr>
          <a:lstStyle/>
          <a:p>
            <a:pPr algn="ctr"/>
            <a:r>
              <a:rPr sz="900" b="0">
                <a:solidFill>
                  <a:srgbClr val="555555"/>
                </a:solidFill>
              </a:rPr>
              <a:t>ETL pipelines</a:t>
            </a:r>
          </a:p>
        </p:txBody>
      </p:sp>
      <p:sp>
        <p:nvSpPr>
          <p:cNvPr id="26" name="Rectangle 25"/>
          <p:cNvSpPr/>
          <p:nvPr/>
        </p:nvSpPr>
        <p:spPr>
          <a:xfrm>
            <a:off x="251460" y="24231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2900" y="25146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irflow.png"/>
          <p:cNvPicPr>
            <a:picLocks noChangeAspect="1"/>
          </p:cNvPicPr>
          <p:nvPr/>
        </p:nvPicPr>
        <p:blipFill>
          <a:blip r:embed="rId6"/>
          <a:stretch>
            <a:fillRect/>
          </a:stretch>
        </p:blipFill>
        <p:spPr>
          <a:xfrm>
            <a:off x="569486" y="2583180"/>
            <a:ext cx="1421347" cy="548640"/>
          </a:xfrm>
          <a:prstGeom prst="rect">
            <a:avLst/>
          </a:prstGeom>
        </p:spPr>
      </p:pic>
      <p:sp>
        <p:nvSpPr>
          <p:cNvPr id="29" name="TextBox 28"/>
          <p:cNvSpPr txBox="1"/>
          <p:nvPr/>
        </p:nvSpPr>
        <p:spPr>
          <a:xfrm>
            <a:off x="251460" y="3246120"/>
            <a:ext cx="2057400" cy="228600"/>
          </a:xfrm>
          <a:prstGeom prst="rect">
            <a:avLst/>
          </a:prstGeom>
          <a:noFill/>
        </p:spPr>
        <p:txBody>
          <a:bodyPr wrap="square" lIns="45720" rIns="45720" tIns="18288" bIns="18288">
            <a:spAutoFit/>
          </a:bodyPr>
          <a:lstStyle/>
          <a:p>
            <a:pPr algn="ctr"/>
            <a:r>
              <a:rPr sz="1100" b="1">
                <a:solidFill>
                  <a:srgbClr val="0B2A4A"/>
                </a:solidFill>
              </a:rPr>
              <a:t>Airflow</a:t>
            </a:r>
          </a:p>
        </p:txBody>
      </p:sp>
      <p:sp>
        <p:nvSpPr>
          <p:cNvPr id="30" name="TextBox 29"/>
          <p:cNvSpPr txBox="1"/>
          <p:nvPr/>
        </p:nvSpPr>
        <p:spPr>
          <a:xfrm>
            <a:off x="251460" y="3429000"/>
            <a:ext cx="2057400" cy="201168"/>
          </a:xfrm>
          <a:prstGeom prst="rect">
            <a:avLst/>
          </a:prstGeom>
          <a:noFill/>
        </p:spPr>
        <p:txBody>
          <a:bodyPr wrap="square" lIns="45720" rIns="45720" tIns="18288" bIns="18288">
            <a:spAutoFit/>
          </a:bodyPr>
          <a:lstStyle/>
          <a:p>
            <a:pPr algn="ctr"/>
            <a:r>
              <a:rPr sz="900" b="0">
                <a:solidFill>
                  <a:srgbClr val="555555"/>
                </a:solidFill>
              </a:rPr>
              <a:t>orchestration</a:t>
            </a:r>
          </a:p>
        </p:txBody>
      </p:sp>
      <p:sp>
        <p:nvSpPr>
          <p:cNvPr id="31" name="Rectangle 30"/>
          <p:cNvSpPr/>
          <p:nvPr/>
        </p:nvSpPr>
        <p:spPr>
          <a:xfrm>
            <a:off x="2446020" y="24231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37460" y="25146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ostgres.png"/>
          <p:cNvPicPr>
            <a:picLocks noChangeAspect="1"/>
          </p:cNvPicPr>
          <p:nvPr/>
        </p:nvPicPr>
        <p:blipFill>
          <a:blip r:embed="rId7"/>
          <a:stretch>
            <a:fillRect/>
          </a:stretch>
        </p:blipFill>
        <p:spPr>
          <a:xfrm>
            <a:off x="3209249" y="2583180"/>
            <a:ext cx="530941" cy="548640"/>
          </a:xfrm>
          <a:prstGeom prst="rect">
            <a:avLst/>
          </a:prstGeom>
        </p:spPr>
      </p:pic>
      <p:sp>
        <p:nvSpPr>
          <p:cNvPr id="34" name="TextBox 33"/>
          <p:cNvSpPr txBox="1"/>
          <p:nvPr/>
        </p:nvSpPr>
        <p:spPr>
          <a:xfrm>
            <a:off x="2446020" y="3246120"/>
            <a:ext cx="2057400" cy="228600"/>
          </a:xfrm>
          <a:prstGeom prst="rect">
            <a:avLst/>
          </a:prstGeom>
          <a:noFill/>
        </p:spPr>
        <p:txBody>
          <a:bodyPr wrap="square" lIns="45720" rIns="45720" tIns="18288" bIns="18288">
            <a:spAutoFit/>
          </a:bodyPr>
          <a:lstStyle/>
          <a:p>
            <a:pPr algn="ctr"/>
            <a:r>
              <a:rPr sz="1100" b="1">
                <a:solidFill>
                  <a:srgbClr val="0B2A4A"/>
                </a:solidFill>
              </a:rPr>
              <a:t>Postgres</a:t>
            </a:r>
          </a:p>
        </p:txBody>
      </p:sp>
      <p:sp>
        <p:nvSpPr>
          <p:cNvPr id="35" name="TextBox 34"/>
          <p:cNvSpPr txBox="1"/>
          <p:nvPr/>
        </p:nvSpPr>
        <p:spPr>
          <a:xfrm>
            <a:off x="2446020" y="3429000"/>
            <a:ext cx="2057400" cy="201168"/>
          </a:xfrm>
          <a:prstGeom prst="rect">
            <a:avLst/>
          </a:prstGeom>
          <a:noFill/>
        </p:spPr>
        <p:txBody>
          <a:bodyPr wrap="square" lIns="45720" rIns="45720" tIns="18288" bIns="18288">
            <a:spAutoFit/>
          </a:bodyPr>
          <a:lstStyle/>
          <a:p>
            <a:pPr algn="ctr"/>
            <a:r>
              <a:rPr sz="900" b="0">
                <a:solidFill>
                  <a:srgbClr val="555555"/>
                </a:solidFill>
              </a:rPr>
              <a:t>config + WAL</a:t>
            </a:r>
          </a:p>
        </p:txBody>
      </p:sp>
      <p:sp>
        <p:nvSpPr>
          <p:cNvPr id="36" name="Rectangle 35"/>
          <p:cNvSpPr/>
          <p:nvPr/>
        </p:nvSpPr>
        <p:spPr>
          <a:xfrm>
            <a:off x="4640580" y="24231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32020" y="25146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minio.png"/>
          <p:cNvPicPr>
            <a:picLocks noChangeAspect="1"/>
          </p:cNvPicPr>
          <p:nvPr/>
        </p:nvPicPr>
        <p:blipFill>
          <a:blip r:embed="rId8"/>
          <a:stretch>
            <a:fillRect/>
          </a:stretch>
        </p:blipFill>
        <p:spPr>
          <a:xfrm>
            <a:off x="5394960" y="2583180"/>
            <a:ext cx="548640" cy="548640"/>
          </a:xfrm>
          <a:prstGeom prst="rect">
            <a:avLst/>
          </a:prstGeom>
        </p:spPr>
      </p:pic>
      <p:sp>
        <p:nvSpPr>
          <p:cNvPr id="39" name="TextBox 38"/>
          <p:cNvSpPr txBox="1"/>
          <p:nvPr/>
        </p:nvSpPr>
        <p:spPr>
          <a:xfrm>
            <a:off x="4640580" y="3246120"/>
            <a:ext cx="2057400" cy="228600"/>
          </a:xfrm>
          <a:prstGeom prst="rect">
            <a:avLst/>
          </a:prstGeom>
          <a:noFill/>
        </p:spPr>
        <p:txBody>
          <a:bodyPr wrap="square" lIns="45720" rIns="45720" tIns="18288" bIns="18288">
            <a:spAutoFit/>
          </a:bodyPr>
          <a:lstStyle/>
          <a:p>
            <a:pPr algn="ctr"/>
            <a:r>
              <a:rPr sz="1100" b="1">
                <a:solidFill>
                  <a:srgbClr val="0B2A4A"/>
                </a:solidFill>
              </a:rPr>
              <a:t>MinIO</a:t>
            </a:r>
          </a:p>
        </p:txBody>
      </p:sp>
      <p:sp>
        <p:nvSpPr>
          <p:cNvPr id="40" name="TextBox 39"/>
          <p:cNvSpPr txBox="1"/>
          <p:nvPr/>
        </p:nvSpPr>
        <p:spPr>
          <a:xfrm>
            <a:off x="4640580" y="3429000"/>
            <a:ext cx="2057400" cy="201168"/>
          </a:xfrm>
          <a:prstGeom prst="rect">
            <a:avLst/>
          </a:prstGeom>
          <a:noFill/>
        </p:spPr>
        <p:txBody>
          <a:bodyPr wrap="square" lIns="45720" rIns="45720" tIns="18288" bIns="18288">
            <a:spAutoFit/>
          </a:bodyPr>
          <a:lstStyle/>
          <a:p>
            <a:pPr algn="ctr"/>
            <a:r>
              <a:rPr sz="900" b="0">
                <a:solidFill>
                  <a:srgbClr val="555555"/>
                </a:solidFill>
              </a:rPr>
              <a:t>S3 object store</a:t>
            </a:r>
          </a:p>
        </p:txBody>
      </p:sp>
      <p:sp>
        <p:nvSpPr>
          <p:cNvPr id="41" name="Rectangle 40"/>
          <p:cNvSpPr/>
          <p:nvPr/>
        </p:nvSpPr>
        <p:spPr>
          <a:xfrm>
            <a:off x="6835140" y="24231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26580" y="25146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parquet.png"/>
          <p:cNvPicPr>
            <a:picLocks noChangeAspect="1"/>
          </p:cNvPicPr>
          <p:nvPr/>
        </p:nvPicPr>
        <p:blipFill>
          <a:blip r:embed="rId9"/>
          <a:stretch>
            <a:fillRect/>
          </a:stretch>
        </p:blipFill>
        <p:spPr>
          <a:xfrm>
            <a:off x="6995160" y="2678552"/>
            <a:ext cx="1737360" cy="357896"/>
          </a:xfrm>
          <a:prstGeom prst="rect">
            <a:avLst/>
          </a:prstGeom>
        </p:spPr>
      </p:pic>
      <p:sp>
        <p:nvSpPr>
          <p:cNvPr id="44" name="TextBox 43"/>
          <p:cNvSpPr txBox="1"/>
          <p:nvPr/>
        </p:nvSpPr>
        <p:spPr>
          <a:xfrm>
            <a:off x="6835140" y="3246120"/>
            <a:ext cx="2057400" cy="228600"/>
          </a:xfrm>
          <a:prstGeom prst="rect">
            <a:avLst/>
          </a:prstGeom>
          <a:noFill/>
        </p:spPr>
        <p:txBody>
          <a:bodyPr wrap="square" lIns="45720" rIns="45720" tIns="18288" bIns="18288">
            <a:spAutoFit/>
          </a:bodyPr>
          <a:lstStyle/>
          <a:p>
            <a:pPr algn="ctr"/>
            <a:r>
              <a:rPr sz="1100" b="1">
                <a:solidFill>
                  <a:srgbClr val="0B2A4A"/>
                </a:solidFill>
              </a:rPr>
              <a:t>Parquet</a:t>
            </a:r>
          </a:p>
        </p:txBody>
      </p:sp>
      <p:sp>
        <p:nvSpPr>
          <p:cNvPr id="45" name="TextBox 44"/>
          <p:cNvSpPr txBox="1"/>
          <p:nvPr/>
        </p:nvSpPr>
        <p:spPr>
          <a:xfrm>
            <a:off x="6835140" y="3429000"/>
            <a:ext cx="2057400" cy="201168"/>
          </a:xfrm>
          <a:prstGeom prst="rect">
            <a:avLst/>
          </a:prstGeom>
          <a:noFill/>
        </p:spPr>
        <p:txBody>
          <a:bodyPr wrap="square" lIns="45720" rIns="45720" tIns="18288" bIns="18288">
            <a:spAutoFit/>
          </a:bodyPr>
          <a:lstStyle/>
          <a:p>
            <a:pPr algn="ctr"/>
            <a:r>
              <a:rPr sz="900" b="0">
                <a:solidFill>
                  <a:srgbClr val="555555"/>
                </a:solidFill>
              </a:rPr>
              <a:t>gold-mart format</a:t>
            </a:r>
          </a:p>
        </p:txBody>
      </p:sp>
      <p:sp>
        <p:nvSpPr>
          <p:cNvPr id="46" name="Rectangle 45"/>
          <p:cNvSpPr/>
          <p:nvPr/>
        </p:nvSpPr>
        <p:spPr>
          <a:xfrm>
            <a:off x="251460" y="37947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2900" y="38862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duckdb.png"/>
          <p:cNvPicPr>
            <a:picLocks noChangeAspect="1"/>
          </p:cNvPicPr>
          <p:nvPr/>
        </p:nvPicPr>
        <p:blipFill>
          <a:blip r:embed="rId10"/>
          <a:stretch>
            <a:fillRect/>
          </a:stretch>
        </p:blipFill>
        <p:spPr>
          <a:xfrm>
            <a:off x="923900" y="3954780"/>
            <a:ext cx="712519" cy="548640"/>
          </a:xfrm>
          <a:prstGeom prst="rect">
            <a:avLst/>
          </a:prstGeom>
        </p:spPr>
      </p:pic>
      <p:sp>
        <p:nvSpPr>
          <p:cNvPr id="49" name="TextBox 48"/>
          <p:cNvSpPr txBox="1"/>
          <p:nvPr/>
        </p:nvSpPr>
        <p:spPr>
          <a:xfrm>
            <a:off x="251460" y="4617720"/>
            <a:ext cx="2057400" cy="228600"/>
          </a:xfrm>
          <a:prstGeom prst="rect">
            <a:avLst/>
          </a:prstGeom>
          <a:noFill/>
        </p:spPr>
        <p:txBody>
          <a:bodyPr wrap="square" lIns="45720" rIns="45720" tIns="18288" bIns="18288">
            <a:spAutoFit/>
          </a:bodyPr>
          <a:lstStyle/>
          <a:p>
            <a:pPr algn="ctr"/>
            <a:r>
              <a:rPr sz="1100" b="1">
                <a:solidFill>
                  <a:srgbClr val="0B2A4A"/>
                </a:solidFill>
              </a:rPr>
              <a:t>DuckDB</a:t>
            </a:r>
          </a:p>
        </p:txBody>
      </p:sp>
      <p:sp>
        <p:nvSpPr>
          <p:cNvPr id="50" name="TextBox 49"/>
          <p:cNvSpPr txBox="1"/>
          <p:nvPr/>
        </p:nvSpPr>
        <p:spPr>
          <a:xfrm>
            <a:off x="251460" y="4800600"/>
            <a:ext cx="2057400" cy="201168"/>
          </a:xfrm>
          <a:prstGeom prst="rect">
            <a:avLst/>
          </a:prstGeom>
          <a:noFill/>
        </p:spPr>
        <p:txBody>
          <a:bodyPr wrap="square" lIns="45720" rIns="45720" tIns="18288" bIns="18288">
            <a:spAutoFit/>
          </a:bodyPr>
          <a:lstStyle/>
          <a:p>
            <a:pPr algn="ctr"/>
            <a:r>
              <a:rPr sz="900" b="0">
                <a:solidFill>
                  <a:srgbClr val="555555"/>
                </a:solidFill>
              </a:rPr>
              <a:t>in-process SQL</a:t>
            </a:r>
          </a:p>
        </p:txBody>
      </p:sp>
      <p:sp>
        <p:nvSpPr>
          <p:cNvPr id="51" name="Rectangle 50"/>
          <p:cNvSpPr/>
          <p:nvPr/>
        </p:nvSpPr>
        <p:spPr>
          <a:xfrm>
            <a:off x="2446020" y="37947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537460" y="38862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docker.png"/>
          <p:cNvPicPr>
            <a:picLocks noChangeAspect="1"/>
          </p:cNvPicPr>
          <p:nvPr/>
        </p:nvPicPr>
        <p:blipFill>
          <a:blip r:embed="rId11"/>
          <a:stretch>
            <a:fillRect/>
          </a:stretch>
        </p:blipFill>
        <p:spPr>
          <a:xfrm>
            <a:off x="2606040" y="4022354"/>
            <a:ext cx="1737360" cy="413491"/>
          </a:xfrm>
          <a:prstGeom prst="rect">
            <a:avLst/>
          </a:prstGeom>
        </p:spPr>
      </p:pic>
      <p:sp>
        <p:nvSpPr>
          <p:cNvPr id="54" name="TextBox 53"/>
          <p:cNvSpPr txBox="1"/>
          <p:nvPr/>
        </p:nvSpPr>
        <p:spPr>
          <a:xfrm>
            <a:off x="2446020" y="4617720"/>
            <a:ext cx="2057400" cy="228600"/>
          </a:xfrm>
          <a:prstGeom prst="rect">
            <a:avLst/>
          </a:prstGeom>
          <a:noFill/>
        </p:spPr>
        <p:txBody>
          <a:bodyPr wrap="square" lIns="45720" rIns="45720" tIns="18288" bIns="18288">
            <a:spAutoFit/>
          </a:bodyPr>
          <a:lstStyle/>
          <a:p>
            <a:pPr algn="ctr"/>
            <a:r>
              <a:rPr sz="1100" b="1">
                <a:solidFill>
                  <a:srgbClr val="0B2A4A"/>
                </a:solidFill>
              </a:rPr>
              <a:t>Docker</a:t>
            </a:r>
          </a:p>
        </p:txBody>
      </p:sp>
      <p:sp>
        <p:nvSpPr>
          <p:cNvPr id="55" name="TextBox 54"/>
          <p:cNvSpPr txBox="1"/>
          <p:nvPr/>
        </p:nvSpPr>
        <p:spPr>
          <a:xfrm>
            <a:off x="2446020" y="4800600"/>
            <a:ext cx="2057400" cy="201168"/>
          </a:xfrm>
          <a:prstGeom prst="rect">
            <a:avLst/>
          </a:prstGeom>
          <a:noFill/>
        </p:spPr>
        <p:txBody>
          <a:bodyPr wrap="square" lIns="45720" rIns="45720" tIns="18288" bIns="18288">
            <a:spAutoFit/>
          </a:bodyPr>
          <a:lstStyle/>
          <a:p>
            <a:pPr algn="ctr"/>
            <a:r>
              <a:rPr sz="900" b="0">
                <a:solidFill>
                  <a:srgbClr val="555555"/>
                </a:solidFill>
              </a:rPr>
              <a:t>runtime</a:t>
            </a:r>
          </a:p>
        </p:txBody>
      </p:sp>
      <p:sp>
        <p:nvSpPr>
          <p:cNvPr id="56" name="Rectangle 55"/>
          <p:cNvSpPr/>
          <p:nvPr/>
        </p:nvSpPr>
        <p:spPr>
          <a:xfrm>
            <a:off x="4640580" y="37947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32020" y="38862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prometheus.png"/>
          <p:cNvPicPr>
            <a:picLocks noChangeAspect="1"/>
          </p:cNvPicPr>
          <p:nvPr/>
        </p:nvPicPr>
        <p:blipFill>
          <a:blip r:embed="rId12"/>
          <a:stretch>
            <a:fillRect/>
          </a:stretch>
        </p:blipFill>
        <p:spPr>
          <a:xfrm>
            <a:off x="5392443" y="3954780"/>
            <a:ext cx="553673" cy="548640"/>
          </a:xfrm>
          <a:prstGeom prst="rect">
            <a:avLst/>
          </a:prstGeom>
        </p:spPr>
      </p:pic>
      <p:sp>
        <p:nvSpPr>
          <p:cNvPr id="59" name="TextBox 58"/>
          <p:cNvSpPr txBox="1"/>
          <p:nvPr/>
        </p:nvSpPr>
        <p:spPr>
          <a:xfrm>
            <a:off x="4640580" y="4617720"/>
            <a:ext cx="2057400" cy="228600"/>
          </a:xfrm>
          <a:prstGeom prst="rect">
            <a:avLst/>
          </a:prstGeom>
          <a:noFill/>
        </p:spPr>
        <p:txBody>
          <a:bodyPr wrap="square" lIns="45720" rIns="45720" tIns="18288" bIns="18288">
            <a:spAutoFit/>
          </a:bodyPr>
          <a:lstStyle/>
          <a:p>
            <a:pPr algn="ctr"/>
            <a:r>
              <a:rPr sz="1100" b="1">
                <a:solidFill>
                  <a:srgbClr val="0B2A4A"/>
                </a:solidFill>
              </a:rPr>
              <a:t>Prometheus</a:t>
            </a:r>
          </a:p>
        </p:txBody>
      </p:sp>
      <p:sp>
        <p:nvSpPr>
          <p:cNvPr id="60" name="TextBox 59"/>
          <p:cNvSpPr txBox="1"/>
          <p:nvPr/>
        </p:nvSpPr>
        <p:spPr>
          <a:xfrm>
            <a:off x="4640580" y="4800600"/>
            <a:ext cx="2057400" cy="201168"/>
          </a:xfrm>
          <a:prstGeom prst="rect">
            <a:avLst/>
          </a:prstGeom>
          <a:noFill/>
        </p:spPr>
        <p:txBody>
          <a:bodyPr wrap="square" lIns="45720" rIns="45720" tIns="18288" bIns="18288">
            <a:spAutoFit/>
          </a:bodyPr>
          <a:lstStyle/>
          <a:p>
            <a:pPr algn="ctr"/>
            <a:r>
              <a:rPr sz="900" b="0">
                <a:solidFill>
                  <a:srgbClr val="555555"/>
                </a:solidFill>
              </a:rPr>
              <a:t>metrics</a:t>
            </a:r>
          </a:p>
        </p:txBody>
      </p:sp>
      <p:sp>
        <p:nvSpPr>
          <p:cNvPr id="61" name="Rectangle 60"/>
          <p:cNvSpPr/>
          <p:nvPr/>
        </p:nvSpPr>
        <p:spPr>
          <a:xfrm>
            <a:off x="6835140" y="3794760"/>
            <a:ext cx="2057400" cy="123444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26580" y="3886200"/>
            <a:ext cx="1874520" cy="6858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grafana.png"/>
          <p:cNvPicPr>
            <a:picLocks noChangeAspect="1"/>
          </p:cNvPicPr>
          <p:nvPr/>
        </p:nvPicPr>
        <p:blipFill>
          <a:blip r:embed="rId13"/>
          <a:stretch>
            <a:fillRect/>
          </a:stretch>
        </p:blipFill>
        <p:spPr>
          <a:xfrm>
            <a:off x="7600684" y="3954780"/>
            <a:ext cx="526311" cy="548640"/>
          </a:xfrm>
          <a:prstGeom prst="rect">
            <a:avLst/>
          </a:prstGeom>
        </p:spPr>
      </p:pic>
      <p:sp>
        <p:nvSpPr>
          <p:cNvPr id="64" name="TextBox 63"/>
          <p:cNvSpPr txBox="1"/>
          <p:nvPr/>
        </p:nvSpPr>
        <p:spPr>
          <a:xfrm>
            <a:off x="6835140" y="4617720"/>
            <a:ext cx="2057400" cy="228600"/>
          </a:xfrm>
          <a:prstGeom prst="rect">
            <a:avLst/>
          </a:prstGeom>
          <a:noFill/>
        </p:spPr>
        <p:txBody>
          <a:bodyPr wrap="square" lIns="45720" rIns="45720" tIns="18288" bIns="18288">
            <a:spAutoFit/>
          </a:bodyPr>
          <a:lstStyle/>
          <a:p>
            <a:pPr algn="ctr"/>
            <a:r>
              <a:rPr sz="1100" b="1">
                <a:solidFill>
                  <a:srgbClr val="0B2A4A"/>
                </a:solidFill>
              </a:rPr>
              <a:t>Grafana</a:t>
            </a:r>
          </a:p>
        </p:txBody>
      </p:sp>
      <p:sp>
        <p:nvSpPr>
          <p:cNvPr id="65" name="TextBox 64"/>
          <p:cNvSpPr txBox="1"/>
          <p:nvPr/>
        </p:nvSpPr>
        <p:spPr>
          <a:xfrm>
            <a:off x="6835140" y="4800600"/>
            <a:ext cx="2057400" cy="201168"/>
          </a:xfrm>
          <a:prstGeom prst="rect">
            <a:avLst/>
          </a:prstGeom>
          <a:noFill/>
        </p:spPr>
        <p:txBody>
          <a:bodyPr wrap="square" lIns="45720" rIns="45720" tIns="18288" bIns="18288">
            <a:spAutoFit/>
          </a:bodyPr>
          <a:lstStyle/>
          <a:p>
            <a:pPr algn="ctr"/>
            <a:r>
              <a:rPr sz="900" b="0">
                <a:solidFill>
                  <a:srgbClr val="555555"/>
                </a:solidFill>
              </a:rPr>
              <a:t>dashboards</a:t>
            </a:r>
          </a:p>
        </p:txBody>
      </p:sp>
      <p:sp>
        <p:nvSpPr>
          <p:cNvPr id="66" name="Rectangle 65"/>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 / 52  ·  Opening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four modules — your roadmap</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Each module = 10 slides = one slice of the platform</a:t>
            </a:r>
          </a:p>
        </p:txBody>
      </p:sp>
      <p:sp>
        <p:nvSpPr>
          <p:cNvPr id="6" name="Rectangle 5"/>
          <p:cNvSpPr/>
          <p:nvPr/>
        </p:nvSpPr>
        <p:spPr>
          <a:xfrm>
            <a:off x="251460" y="1097280"/>
            <a:ext cx="2057400" cy="5029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460" y="1207008"/>
            <a:ext cx="2057400" cy="365760"/>
          </a:xfrm>
          <a:prstGeom prst="rect">
            <a:avLst/>
          </a:prstGeom>
          <a:noFill/>
        </p:spPr>
        <p:txBody>
          <a:bodyPr wrap="square" lIns="45720" rIns="45720" tIns="18288" bIns="18288">
            <a:spAutoFit/>
          </a:bodyPr>
          <a:lstStyle/>
          <a:p>
            <a:pPr algn="ctr"/>
            <a:r>
              <a:rPr sz="1200" b="1">
                <a:solidFill>
                  <a:srgbClr val="FFFFFF"/>
                </a:solidFill>
              </a:rPr>
              <a:t>MODULE 1</a:t>
            </a:r>
          </a:p>
        </p:txBody>
      </p:sp>
      <p:sp>
        <p:nvSpPr>
          <p:cNvPr id="8" name="Rectangle 7"/>
          <p:cNvSpPr/>
          <p:nvPr/>
        </p:nvSpPr>
        <p:spPr>
          <a:xfrm>
            <a:off x="251460" y="1600200"/>
            <a:ext cx="2057400" cy="251460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 y="1737360"/>
            <a:ext cx="1783080" cy="411480"/>
          </a:xfrm>
          <a:prstGeom prst="rect">
            <a:avLst/>
          </a:prstGeom>
          <a:noFill/>
        </p:spPr>
        <p:txBody>
          <a:bodyPr wrap="square" lIns="45720" rIns="45720" tIns="18288" bIns="18288">
            <a:spAutoFit/>
          </a:bodyPr>
          <a:lstStyle/>
          <a:p>
            <a:pPr algn="ctr"/>
            <a:r>
              <a:rPr sz="1400" b="1">
                <a:solidFill>
                  <a:srgbClr val="0B2A4A"/>
                </a:solidFill>
              </a:rPr>
              <a:t>Architecture</a:t>
            </a:r>
          </a:p>
        </p:txBody>
      </p:sp>
      <p:sp>
        <p:nvSpPr>
          <p:cNvPr id="10" name="TextBox 9"/>
          <p:cNvSpPr txBox="1"/>
          <p:nvPr/>
        </p:nvSpPr>
        <p:spPr>
          <a:xfrm>
            <a:off x="388620" y="2194560"/>
            <a:ext cx="1783080" cy="1783080"/>
          </a:xfrm>
          <a:prstGeom prst="rect">
            <a:avLst/>
          </a:prstGeom>
          <a:noFill/>
        </p:spPr>
        <p:txBody>
          <a:bodyPr wrap="square" lIns="45720" rIns="45720" tIns="18288" bIns="18288">
            <a:spAutoFit/>
          </a:bodyPr>
          <a:lstStyle/>
          <a:p>
            <a:pPr algn="ctr"/>
            <a:r>
              <a:rPr sz="1000" b="0">
                <a:solidFill>
                  <a:srgbClr val="555555"/>
                </a:solidFill>
              </a:rPr>
              <a:t>Patterns: medallion, CDC, Kappa.</a:t>
            </a:r>
          </a:p>
          <a:p>
            <a:pPr algn="ctr"/>
            <a:r>
              <a:rPr sz="1000" b="0">
                <a:solidFill>
                  <a:srgbClr val="555555"/>
                </a:solidFill>
              </a:rPr>
              <a:t>Why real streams, not simulators.</a:t>
            </a:r>
          </a:p>
        </p:txBody>
      </p:sp>
      <p:sp>
        <p:nvSpPr>
          <p:cNvPr id="11" name="TextBox 10"/>
          <p:cNvSpPr txBox="1"/>
          <p:nvPr/>
        </p:nvSpPr>
        <p:spPr>
          <a:xfrm>
            <a:off x="251460" y="3657600"/>
            <a:ext cx="2057400" cy="274320"/>
          </a:xfrm>
          <a:prstGeom prst="rect">
            <a:avLst/>
          </a:prstGeom>
          <a:noFill/>
        </p:spPr>
        <p:txBody>
          <a:bodyPr wrap="square" lIns="45720" rIns="45720" tIns="18288" bIns="18288">
            <a:spAutoFit/>
          </a:bodyPr>
          <a:lstStyle/>
          <a:p>
            <a:pPr algn="ctr"/>
            <a:r>
              <a:rPr sz="1000" b="1">
                <a:solidFill>
                  <a:srgbClr val="1F77B4"/>
                </a:solidFill>
              </a:rPr>
              <a:t>10 lessons + quiz</a:t>
            </a:r>
          </a:p>
        </p:txBody>
      </p:sp>
      <p:sp>
        <p:nvSpPr>
          <p:cNvPr id="12" name="Rectangle 11"/>
          <p:cNvSpPr/>
          <p:nvPr/>
        </p:nvSpPr>
        <p:spPr>
          <a:xfrm>
            <a:off x="2446020" y="1097280"/>
            <a:ext cx="2057400" cy="50292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1207008"/>
            <a:ext cx="2057400" cy="365760"/>
          </a:xfrm>
          <a:prstGeom prst="rect">
            <a:avLst/>
          </a:prstGeom>
          <a:noFill/>
        </p:spPr>
        <p:txBody>
          <a:bodyPr wrap="square" lIns="45720" rIns="45720" tIns="18288" bIns="18288">
            <a:spAutoFit/>
          </a:bodyPr>
          <a:lstStyle/>
          <a:p>
            <a:pPr algn="ctr"/>
            <a:r>
              <a:rPr sz="1200" b="1">
                <a:solidFill>
                  <a:srgbClr val="FFFFFF"/>
                </a:solidFill>
              </a:rPr>
              <a:t>MODULE 2</a:t>
            </a:r>
          </a:p>
        </p:txBody>
      </p:sp>
      <p:sp>
        <p:nvSpPr>
          <p:cNvPr id="14" name="Rectangle 13"/>
          <p:cNvSpPr/>
          <p:nvPr/>
        </p:nvSpPr>
        <p:spPr>
          <a:xfrm>
            <a:off x="2446020" y="1600200"/>
            <a:ext cx="2057400" cy="2514600"/>
          </a:xfrm>
          <a:prstGeom prst="rect">
            <a:avLst/>
          </a:prstGeom>
          <a:solidFill>
            <a:srgbClr val="F1F5F9"/>
          </a:solidFill>
          <a:ln w="9525">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3180" y="1737360"/>
            <a:ext cx="1783080" cy="411480"/>
          </a:xfrm>
          <a:prstGeom prst="rect">
            <a:avLst/>
          </a:prstGeom>
          <a:noFill/>
        </p:spPr>
        <p:txBody>
          <a:bodyPr wrap="square" lIns="45720" rIns="45720" tIns="18288" bIns="18288">
            <a:spAutoFit/>
          </a:bodyPr>
          <a:lstStyle/>
          <a:p>
            <a:pPr algn="ctr"/>
            <a:r>
              <a:rPr sz="1400" b="1">
                <a:solidFill>
                  <a:srgbClr val="0B2A4A"/>
                </a:solidFill>
              </a:rPr>
              <a:t>Integration</a:t>
            </a:r>
          </a:p>
        </p:txBody>
      </p:sp>
      <p:sp>
        <p:nvSpPr>
          <p:cNvPr id="16" name="TextBox 15"/>
          <p:cNvSpPr txBox="1"/>
          <p:nvPr/>
        </p:nvSpPr>
        <p:spPr>
          <a:xfrm>
            <a:off x="2583180" y="2194560"/>
            <a:ext cx="1783080" cy="1783080"/>
          </a:xfrm>
          <a:prstGeom prst="rect">
            <a:avLst/>
          </a:prstGeom>
          <a:noFill/>
        </p:spPr>
        <p:txBody>
          <a:bodyPr wrap="square" lIns="45720" rIns="45720" tIns="18288" bIns="18288">
            <a:spAutoFit/>
          </a:bodyPr>
          <a:lstStyle/>
          <a:p>
            <a:pPr algn="ctr"/>
            <a:r>
              <a:rPr sz="1000" b="0">
                <a:solidFill>
                  <a:srgbClr val="555555"/>
                </a:solidFill>
              </a:rPr>
              <a:t>Debezium · Kafka · Hop · Airflow.</a:t>
            </a:r>
          </a:p>
          <a:p>
            <a:pPr algn="ctr"/>
            <a:r>
              <a:rPr sz="1000" b="0">
                <a:solidFill>
                  <a:srgbClr val="555555"/>
                </a:solidFill>
              </a:rPr>
              <a:t>Contracts: Avro + topic names + DAG ids.</a:t>
            </a:r>
          </a:p>
        </p:txBody>
      </p:sp>
      <p:sp>
        <p:nvSpPr>
          <p:cNvPr id="17" name="TextBox 16"/>
          <p:cNvSpPr txBox="1"/>
          <p:nvPr/>
        </p:nvSpPr>
        <p:spPr>
          <a:xfrm>
            <a:off x="2446020" y="3657600"/>
            <a:ext cx="2057400" cy="274320"/>
          </a:xfrm>
          <a:prstGeom prst="rect">
            <a:avLst/>
          </a:prstGeom>
          <a:noFill/>
        </p:spPr>
        <p:txBody>
          <a:bodyPr wrap="square" lIns="45720" rIns="45720" tIns="18288" bIns="18288">
            <a:spAutoFit/>
          </a:bodyPr>
          <a:lstStyle/>
          <a:p>
            <a:pPr algn="ctr"/>
            <a:r>
              <a:rPr sz="1000" b="1">
                <a:solidFill>
                  <a:srgbClr val="2CA02C"/>
                </a:solidFill>
              </a:rPr>
              <a:t>10 lessons + quiz</a:t>
            </a:r>
          </a:p>
        </p:txBody>
      </p:sp>
      <p:sp>
        <p:nvSpPr>
          <p:cNvPr id="18" name="Rectangle 17"/>
          <p:cNvSpPr/>
          <p:nvPr/>
        </p:nvSpPr>
        <p:spPr>
          <a:xfrm>
            <a:off x="4640580" y="1097280"/>
            <a:ext cx="2057400" cy="50292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0580" y="1207008"/>
            <a:ext cx="2057400" cy="365760"/>
          </a:xfrm>
          <a:prstGeom prst="rect">
            <a:avLst/>
          </a:prstGeom>
          <a:noFill/>
        </p:spPr>
        <p:txBody>
          <a:bodyPr wrap="square" lIns="45720" rIns="45720" tIns="18288" bIns="18288">
            <a:spAutoFit/>
          </a:bodyPr>
          <a:lstStyle/>
          <a:p>
            <a:pPr algn="ctr"/>
            <a:r>
              <a:rPr sz="1200" b="1">
                <a:solidFill>
                  <a:srgbClr val="FFFFFF"/>
                </a:solidFill>
              </a:rPr>
              <a:t>MODULE 3</a:t>
            </a:r>
          </a:p>
        </p:txBody>
      </p:sp>
      <p:sp>
        <p:nvSpPr>
          <p:cNvPr id="20" name="Rectangle 19"/>
          <p:cNvSpPr/>
          <p:nvPr/>
        </p:nvSpPr>
        <p:spPr>
          <a:xfrm>
            <a:off x="4640580" y="1600200"/>
            <a:ext cx="2057400" cy="2514600"/>
          </a:xfrm>
          <a:prstGeom prst="rect">
            <a:avLst/>
          </a:prstGeom>
          <a:solidFill>
            <a:srgbClr val="F1F5F9"/>
          </a:solidFill>
          <a:ln w="9525">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740" y="1737360"/>
            <a:ext cx="1783080" cy="411480"/>
          </a:xfrm>
          <a:prstGeom prst="rect">
            <a:avLst/>
          </a:prstGeom>
          <a:noFill/>
        </p:spPr>
        <p:txBody>
          <a:bodyPr wrap="square" lIns="45720" rIns="45720" tIns="18288" bIns="18288">
            <a:spAutoFit/>
          </a:bodyPr>
          <a:lstStyle/>
          <a:p>
            <a:pPr algn="ctr"/>
            <a:r>
              <a:rPr sz="1400" b="1">
                <a:solidFill>
                  <a:srgbClr val="0B2A4A"/>
                </a:solidFill>
              </a:rPr>
              <a:t>Pipeline build</a:t>
            </a:r>
          </a:p>
        </p:txBody>
      </p:sp>
      <p:sp>
        <p:nvSpPr>
          <p:cNvPr id="22" name="TextBox 21"/>
          <p:cNvSpPr txBox="1"/>
          <p:nvPr/>
        </p:nvSpPr>
        <p:spPr>
          <a:xfrm>
            <a:off x="4777740" y="2194560"/>
            <a:ext cx="1783080" cy="1783080"/>
          </a:xfrm>
          <a:prstGeom prst="rect">
            <a:avLst/>
          </a:prstGeom>
          <a:noFill/>
        </p:spPr>
        <p:txBody>
          <a:bodyPr wrap="square" lIns="45720" rIns="45720" tIns="18288" bIns="18288">
            <a:spAutoFit/>
          </a:bodyPr>
          <a:lstStyle/>
          <a:p>
            <a:pPr algn="ctr"/>
            <a:r>
              <a:rPr sz="1000" b="0">
                <a:solidFill>
                  <a:srgbClr val="555555"/>
                </a:solidFill>
              </a:rPr>
              <a:t>Bronze → Silver → Gold.</a:t>
            </a:r>
          </a:p>
          <a:p>
            <a:pPr algn="ctr"/>
            <a:r>
              <a:rPr sz="1000" b="0">
                <a:solidFill>
                  <a:srgbClr val="555555"/>
                </a:solidFill>
              </a:rPr>
              <a:t>Dedupe, late-events, DuckDB marts.</a:t>
            </a:r>
          </a:p>
        </p:txBody>
      </p:sp>
      <p:sp>
        <p:nvSpPr>
          <p:cNvPr id="23" name="TextBox 22"/>
          <p:cNvSpPr txBox="1"/>
          <p:nvPr/>
        </p:nvSpPr>
        <p:spPr>
          <a:xfrm>
            <a:off x="4640580" y="3657600"/>
            <a:ext cx="2057400" cy="274320"/>
          </a:xfrm>
          <a:prstGeom prst="rect">
            <a:avLst/>
          </a:prstGeom>
          <a:noFill/>
        </p:spPr>
        <p:txBody>
          <a:bodyPr wrap="square" lIns="45720" rIns="45720" tIns="18288" bIns="18288">
            <a:spAutoFit/>
          </a:bodyPr>
          <a:lstStyle/>
          <a:p>
            <a:pPr algn="ctr"/>
            <a:r>
              <a:rPr sz="1000" b="1">
                <a:solidFill>
                  <a:srgbClr val="E88B1E"/>
                </a:solidFill>
              </a:rPr>
              <a:t>10 lessons + quiz</a:t>
            </a:r>
          </a:p>
        </p:txBody>
      </p:sp>
      <p:sp>
        <p:nvSpPr>
          <p:cNvPr id="24" name="Rectangle 23"/>
          <p:cNvSpPr/>
          <p:nvPr/>
        </p:nvSpPr>
        <p:spPr>
          <a:xfrm>
            <a:off x="6835140" y="1097280"/>
            <a:ext cx="205740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5140" y="1207008"/>
            <a:ext cx="2057400" cy="365760"/>
          </a:xfrm>
          <a:prstGeom prst="rect">
            <a:avLst/>
          </a:prstGeom>
          <a:noFill/>
        </p:spPr>
        <p:txBody>
          <a:bodyPr wrap="square" lIns="45720" rIns="45720" tIns="18288" bIns="18288">
            <a:spAutoFit/>
          </a:bodyPr>
          <a:lstStyle/>
          <a:p>
            <a:pPr algn="ctr"/>
            <a:r>
              <a:rPr sz="1200" b="1">
                <a:solidFill>
                  <a:srgbClr val="FFFFFF"/>
                </a:solidFill>
              </a:rPr>
              <a:t>MODULE 4</a:t>
            </a:r>
          </a:p>
        </p:txBody>
      </p:sp>
      <p:sp>
        <p:nvSpPr>
          <p:cNvPr id="26" name="Rectangle 25"/>
          <p:cNvSpPr/>
          <p:nvPr/>
        </p:nvSpPr>
        <p:spPr>
          <a:xfrm>
            <a:off x="6835140" y="1600200"/>
            <a:ext cx="2057400" cy="2514600"/>
          </a:xfrm>
          <a:prstGeom prst="rect">
            <a:avLst/>
          </a:prstGeom>
          <a:solidFill>
            <a:srgbClr val="F1F5F9"/>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72300" y="1737360"/>
            <a:ext cx="1783080" cy="411480"/>
          </a:xfrm>
          <a:prstGeom prst="rect">
            <a:avLst/>
          </a:prstGeom>
          <a:noFill/>
        </p:spPr>
        <p:txBody>
          <a:bodyPr wrap="square" lIns="45720" rIns="45720" tIns="18288" bIns="18288">
            <a:spAutoFit/>
          </a:bodyPr>
          <a:lstStyle/>
          <a:p>
            <a:pPr algn="ctr"/>
            <a:r>
              <a:rPr sz="1400" b="1">
                <a:solidFill>
                  <a:srgbClr val="0B2A4A"/>
                </a:solidFill>
              </a:rPr>
              <a:t>Deployment &amp; Ops</a:t>
            </a:r>
          </a:p>
        </p:txBody>
      </p:sp>
      <p:sp>
        <p:nvSpPr>
          <p:cNvPr id="28" name="TextBox 27"/>
          <p:cNvSpPr txBox="1"/>
          <p:nvPr/>
        </p:nvSpPr>
        <p:spPr>
          <a:xfrm>
            <a:off x="6972300" y="2194560"/>
            <a:ext cx="1783080" cy="1783080"/>
          </a:xfrm>
          <a:prstGeom prst="rect">
            <a:avLst/>
          </a:prstGeom>
          <a:noFill/>
        </p:spPr>
        <p:txBody>
          <a:bodyPr wrap="square" lIns="45720" rIns="45720" tIns="18288" bIns="18288">
            <a:spAutoFit/>
          </a:bodyPr>
          <a:lstStyle/>
          <a:p>
            <a:pPr algn="ctr"/>
            <a:r>
              <a:rPr sz="1000" b="0">
                <a:solidFill>
                  <a:srgbClr val="555555"/>
                </a:solidFill>
              </a:rPr>
              <a:t>Compose, Prometheus, Alertmanager.</a:t>
            </a:r>
          </a:p>
          <a:p>
            <a:pPr algn="ctr"/>
            <a:r>
              <a:rPr sz="1000" b="0">
                <a:solidFill>
                  <a:srgbClr val="555555"/>
                </a:solidFill>
              </a:rPr>
              <a:t>Gotchas, DLQs, capacity rules.</a:t>
            </a:r>
          </a:p>
        </p:txBody>
      </p:sp>
      <p:sp>
        <p:nvSpPr>
          <p:cNvPr id="29" name="TextBox 28"/>
          <p:cNvSpPr txBox="1"/>
          <p:nvPr/>
        </p:nvSpPr>
        <p:spPr>
          <a:xfrm>
            <a:off x="6835140" y="3657600"/>
            <a:ext cx="2057400" cy="274320"/>
          </a:xfrm>
          <a:prstGeom prst="rect">
            <a:avLst/>
          </a:prstGeom>
          <a:noFill/>
        </p:spPr>
        <p:txBody>
          <a:bodyPr wrap="square" lIns="45720" rIns="45720" tIns="18288" bIns="18288">
            <a:spAutoFit/>
          </a:bodyPr>
          <a:lstStyle/>
          <a:p>
            <a:pPr algn="ctr"/>
            <a:r>
              <a:rPr sz="1000" b="1">
                <a:solidFill>
                  <a:srgbClr val="C0392B"/>
                </a:solidFill>
              </a:rPr>
              <a:t>10 lessons + quiz</a:t>
            </a:r>
          </a:p>
        </p:txBody>
      </p:sp>
      <p:cxnSp>
        <p:nvCxnSpPr>
          <p:cNvPr id="30" name="Connector 29"/>
          <p:cNvCxnSpPr/>
          <p:nvPr/>
        </p:nvCxnSpPr>
        <p:spPr>
          <a:xfrm>
            <a:off x="548640" y="5394960"/>
            <a:ext cx="8046720" cy="0"/>
          </a:xfrm>
          <a:prstGeom prst="line">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57200" y="5303520"/>
            <a:ext cx="182880" cy="1828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 y="5532120"/>
            <a:ext cx="914400" cy="274320"/>
          </a:xfrm>
          <a:prstGeom prst="rect">
            <a:avLst/>
          </a:prstGeom>
          <a:noFill/>
        </p:spPr>
        <p:txBody>
          <a:bodyPr wrap="square" lIns="45720" rIns="45720" tIns="18288" bIns="18288">
            <a:spAutoFit/>
          </a:bodyPr>
          <a:lstStyle/>
          <a:p>
            <a:pPr algn="ctr"/>
            <a:r>
              <a:rPr sz="1000" b="1">
                <a:solidFill>
                  <a:srgbClr val="0B2A4A"/>
                </a:solidFill>
              </a:rPr>
              <a:t>Start</a:t>
            </a:r>
          </a:p>
        </p:txBody>
      </p:sp>
      <p:sp>
        <p:nvSpPr>
          <p:cNvPr id="33" name="Rectangle 32"/>
          <p:cNvSpPr/>
          <p:nvPr/>
        </p:nvSpPr>
        <p:spPr>
          <a:xfrm>
            <a:off x="2468880" y="5303520"/>
            <a:ext cx="182880" cy="1828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03120" y="5532120"/>
            <a:ext cx="914400" cy="274320"/>
          </a:xfrm>
          <a:prstGeom prst="rect">
            <a:avLst/>
          </a:prstGeom>
          <a:noFill/>
        </p:spPr>
        <p:txBody>
          <a:bodyPr wrap="square" lIns="45720" rIns="45720" tIns="18288" bIns="18288">
            <a:spAutoFit/>
          </a:bodyPr>
          <a:lstStyle/>
          <a:p>
            <a:pPr algn="ctr"/>
            <a:r>
              <a:rPr sz="1000" b="1">
                <a:solidFill>
                  <a:srgbClr val="0B2A4A"/>
                </a:solidFill>
              </a:rPr>
              <a:t>M1</a:t>
            </a:r>
          </a:p>
        </p:txBody>
      </p:sp>
      <p:sp>
        <p:nvSpPr>
          <p:cNvPr id="35" name="Rectangle 34"/>
          <p:cNvSpPr/>
          <p:nvPr/>
        </p:nvSpPr>
        <p:spPr>
          <a:xfrm>
            <a:off x="4480560" y="5303520"/>
            <a:ext cx="182880" cy="1828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0" y="5532120"/>
            <a:ext cx="914400" cy="274320"/>
          </a:xfrm>
          <a:prstGeom prst="rect">
            <a:avLst/>
          </a:prstGeom>
          <a:noFill/>
        </p:spPr>
        <p:txBody>
          <a:bodyPr wrap="square" lIns="45720" rIns="45720" tIns="18288" bIns="18288">
            <a:spAutoFit/>
          </a:bodyPr>
          <a:lstStyle/>
          <a:p>
            <a:pPr algn="ctr"/>
            <a:r>
              <a:rPr sz="1000" b="1">
                <a:solidFill>
                  <a:srgbClr val="0B2A4A"/>
                </a:solidFill>
              </a:rPr>
              <a:t>M2</a:t>
            </a:r>
          </a:p>
        </p:txBody>
      </p:sp>
      <p:sp>
        <p:nvSpPr>
          <p:cNvPr id="37" name="Rectangle 36"/>
          <p:cNvSpPr/>
          <p:nvPr/>
        </p:nvSpPr>
        <p:spPr>
          <a:xfrm>
            <a:off x="6492240" y="5303520"/>
            <a:ext cx="182880" cy="1828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5532120"/>
            <a:ext cx="914400" cy="274320"/>
          </a:xfrm>
          <a:prstGeom prst="rect">
            <a:avLst/>
          </a:prstGeom>
          <a:noFill/>
        </p:spPr>
        <p:txBody>
          <a:bodyPr wrap="square" lIns="45720" rIns="45720" tIns="18288" bIns="18288">
            <a:spAutoFit/>
          </a:bodyPr>
          <a:lstStyle/>
          <a:p>
            <a:pPr algn="ctr"/>
            <a:r>
              <a:rPr sz="1000" b="1">
                <a:solidFill>
                  <a:srgbClr val="0B2A4A"/>
                </a:solidFill>
              </a:rPr>
              <a:t>M3</a:t>
            </a:r>
          </a:p>
        </p:txBody>
      </p:sp>
      <p:sp>
        <p:nvSpPr>
          <p:cNvPr id="39" name="Rectangle 38"/>
          <p:cNvSpPr/>
          <p:nvPr/>
        </p:nvSpPr>
        <p:spPr>
          <a:xfrm>
            <a:off x="8503920" y="5303520"/>
            <a:ext cx="182880" cy="1828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38160" y="5532120"/>
            <a:ext cx="914400" cy="274320"/>
          </a:xfrm>
          <a:prstGeom prst="rect">
            <a:avLst/>
          </a:prstGeom>
          <a:noFill/>
        </p:spPr>
        <p:txBody>
          <a:bodyPr wrap="square" lIns="45720" rIns="45720" tIns="18288" bIns="18288">
            <a:spAutoFit/>
          </a:bodyPr>
          <a:lstStyle/>
          <a:p>
            <a:pPr algn="ctr"/>
            <a:r>
              <a:rPr sz="1000" b="1">
                <a:solidFill>
                  <a:srgbClr val="0B2A4A"/>
                </a:solidFill>
              </a:rPr>
              <a:t>M4</a:t>
            </a:r>
          </a:p>
        </p:txBody>
      </p:sp>
      <p:sp>
        <p:nvSpPr>
          <p:cNvPr id="41" name="Rectangle 40"/>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 / 52  ·  Opening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Medallion in 30 seconds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Three bands of trust — the mental model you carry into every module</a:t>
            </a:r>
          </a:p>
        </p:txBody>
      </p:sp>
      <p:sp>
        <p:nvSpPr>
          <p:cNvPr id="6" name="TextBox 5"/>
          <p:cNvSpPr txBox="1"/>
          <p:nvPr/>
        </p:nvSpPr>
        <p:spPr>
          <a:xfrm>
            <a:off x="274320" y="960120"/>
            <a:ext cx="5212080" cy="274320"/>
          </a:xfrm>
          <a:prstGeom prst="rect">
            <a:avLst/>
          </a:prstGeom>
          <a:noFill/>
        </p:spPr>
        <p:txBody>
          <a:bodyPr wrap="square" lIns="45720" rIns="45720" tIns="18288" bIns="18288">
            <a:spAutoFit/>
          </a:bodyPr>
          <a:lstStyle/>
          <a:p>
            <a:pPr algn="ctr"/>
            <a:r>
              <a:rPr sz="1200" b="1">
                <a:solidFill>
                  <a:srgbClr val="1F77B4"/>
                </a:solidFill>
              </a:rPr>
              <a:t>Medallion in MinIO</a:t>
            </a:r>
          </a:p>
        </p:txBody>
      </p:sp>
      <p:sp>
        <p:nvSpPr>
          <p:cNvPr id="7" name="Rectangle 6"/>
          <p:cNvSpPr/>
          <p:nvPr/>
        </p:nvSpPr>
        <p:spPr>
          <a:xfrm>
            <a:off x="411480" y="1371600"/>
            <a:ext cx="1554480" cy="640080"/>
          </a:xfrm>
          <a:prstGeom prst="rect">
            <a:avLst/>
          </a:prstGeom>
          <a:solidFill>
            <a:srgbClr val="CD7F32"/>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44752"/>
            <a:ext cx="1554480" cy="640080"/>
          </a:xfrm>
          <a:prstGeom prst="rect">
            <a:avLst/>
          </a:prstGeom>
          <a:noFill/>
        </p:spPr>
        <p:txBody>
          <a:bodyPr wrap="square" lIns="45720" rIns="45720" tIns="18288" bIns="18288">
            <a:spAutoFit/>
          </a:bodyPr>
          <a:lstStyle/>
          <a:p>
            <a:pPr algn="ctr"/>
            <a:r>
              <a:rPr sz="1100" b="1">
                <a:solidFill>
                  <a:srgbClr val="FFFFFF"/>
                </a:solidFill>
              </a:rPr>
              <a:t>BRONZE</a:t>
            </a:r>
          </a:p>
          <a:p>
            <a:pPr algn="ctr"/>
            <a:r>
              <a:rPr sz="1100" b="1">
                <a:solidFill>
                  <a:srgbClr val="FFFFFF"/>
                </a:solidFill>
              </a:rPr>
              <a:t>raw Avro</a:t>
            </a:r>
          </a:p>
        </p:txBody>
      </p:sp>
      <p:cxnSp>
        <p:nvCxnSpPr>
          <p:cNvPr id="9" name="Connector 8"/>
          <p:cNvCxnSpPr/>
          <p:nvPr/>
        </p:nvCxnSpPr>
        <p:spPr>
          <a:xfrm>
            <a:off x="1965960" y="169164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103120" y="1371600"/>
            <a:ext cx="1554480" cy="640080"/>
          </a:xfrm>
          <a:prstGeom prst="rect">
            <a:avLst/>
          </a:prstGeom>
          <a:solidFill>
            <a:srgbClr val="C0C0C0"/>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1444752"/>
            <a:ext cx="1554480" cy="640080"/>
          </a:xfrm>
          <a:prstGeom prst="rect">
            <a:avLst/>
          </a:prstGeom>
          <a:noFill/>
        </p:spPr>
        <p:txBody>
          <a:bodyPr wrap="square" lIns="45720" rIns="45720" tIns="18288" bIns="18288">
            <a:spAutoFit/>
          </a:bodyPr>
          <a:lstStyle/>
          <a:p>
            <a:pPr algn="ctr"/>
            <a:r>
              <a:rPr sz="1100" b="1">
                <a:solidFill>
                  <a:srgbClr val="FFFFFF"/>
                </a:solidFill>
              </a:rPr>
              <a:t>SILVER</a:t>
            </a:r>
          </a:p>
          <a:p>
            <a:pPr algn="ctr"/>
            <a:r>
              <a:rPr sz="1100" b="1">
                <a:solidFill>
                  <a:srgbClr val="FFFFFF"/>
                </a:solidFill>
              </a:rPr>
              <a:t>dedup Avro</a:t>
            </a:r>
          </a:p>
        </p:txBody>
      </p:sp>
      <p:cxnSp>
        <p:nvCxnSpPr>
          <p:cNvPr id="12" name="Connector 11"/>
          <p:cNvCxnSpPr/>
          <p:nvPr/>
        </p:nvCxnSpPr>
        <p:spPr>
          <a:xfrm>
            <a:off x="3657600" y="169164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794760" y="1371600"/>
            <a:ext cx="1554480" cy="640080"/>
          </a:xfrm>
          <a:prstGeom prst="rect">
            <a:avLst/>
          </a:prstGeom>
          <a:solidFill>
            <a:srgbClr val="D4AF37"/>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4760" y="1444752"/>
            <a:ext cx="1554480" cy="640080"/>
          </a:xfrm>
          <a:prstGeom prst="rect">
            <a:avLst/>
          </a:prstGeom>
          <a:noFill/>
        </p:spPr>
        <p:txBody>
          <a:bodyPr wrap="square" lIns="45720" rIns="45720" tIns="18288" bIns="18288">
            <a:spAutoFit/>
          </a:bodyPr>
          <a:lstStyle/>
          <a:p>
            <a:pPr algn="ctr"/>
            <a:r>
              <a:rPr sz="1100" b="1">
                <a:solidFill>
                  <a:srgbClr val="FFFFFF"/>
                </a:solidFill>
              </a:rPr>
              <a:t>GOLD</a:t>
            </a:r>
          </a:p>
          <a:p>
            <a:pPr algn="ctr"/>
            <a:r>
              <a:rPr sz="1100" b="1">
                <a:solidFill>
                  <a:srgbClr val="FFFFFF"/>
                </a:solidFill>
              </a:rPr>
              <a:t>Parquet marts</a:t>
            </a:r>
          </a:p>
        </p:txBody>
      </p:sp>
      <p:sp>
        <p:nvSpPr>
          <p:cNvPr id="15" name="TextBox 14"/>
          <p:cNvSpPr txBox="1"/>
          <p:nvPr/>
        </p:nvSpPr>
        <p:spPr>
          <a:xfrm>
            <a:off x="274320" y="2240280"/>
            <a:ext cx="5212080" cy="274320"/>
          </a:xfrm>
          <a:prstGeom prst="rect">
            <a:avLst/>
          </a:prstGeom>
          <a:noFill/>
        </p:spPr>
        <p:txBody>
          <a:bodyPr wrap="square" lIns="45720" rIns="45720" tIns="18288" bIns="18288">
            <a:spAutoFit/>
          </a:bodyPr>
          <a:lstStyle/>
          <a:p>
            <a:pPr algn="ctr"/>
            <a:r>
              <a:rPr sz="1000" b="0">
                <a:solidFill>
                  <a:srgbClr val="555555"/>
                </a:solidFill>
              </a:rPr>
              <a:t>Promotion: dedup on PK → drop late &gt;24h → DuckDB query → Parquet snapshot + latest</a:t>
            </a:r>
          </a:p>
        </p:txBody>
      </p:sp>
      <p:sp>
        <p:nvSpPr>
          <p:cNvPr id="16" name="TextBox 15"/>
          <p:cNvSpPr txBox="1"/>
          <p:nvPr/>
        </p:nvSpPr>
        <p:spPr>
          <a:xfrm>
            <a:off x="274320" y="265176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s3://bronze/&lt;topic&gt;/year=…/hour=…/&lt;part&gt;+&lt;off&gt;.avro</a:t>
            </a:r>
          </a:p>
        </p:txBody>
      </p:sp>
      <p:sp>
        <p:nvSpPr>
          <p:cNvPr id="17" name="TextBox 16"/>
          <p:cNvSpPr txBox="1"/>
          <p:nvPr/>
        </p:nvSpPr>
        <p:spPr>
          <a:xfrm>
            <a:off x="274320" y="292608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s3://silver/&lt;entity&gt;/year=…/day=…/part-&lt;hash&gt;.avro</a:t>
            </a:r>
          </a:p>
        </p:txBody>
      </p:sp>
      <p:sp>
        <p:nvSpPr>
          <p:cNvPr id="18" name="TextBox 17"/>
          <p:cNvSpPr txBox="1"/>
          <p:nvPr/>
        </p:nvSpPr>
        <p:spPr>
          <a:xfrm>
            <a:off x="274320" y="320040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s3://gold/&lt;mart&gt;/snapshot=…Z/part-0.parquet  +  latest.parquet</a:t>
            </a:r>
          </a:p>
        </p:txBody>
      </p:sp>
      <p:sp>
        <p:nvSpPr>
          <p:cNvPr id="19" name="TextBox 18"/>
          <p:cNvSpPr txBox="1"/>
          <p:nvPr/>
        </p:nvSpPr>
        <p:spPr>
          <a:xfrm>
            <a:off x="274320" y="3657600"/>
            <a:ext cx="5212080" cy="914400"/>
          </a:xfrm>
          <a:prstGeom prst="rect">
            <a:avLst/>
          </a:prstGeom>
          <a:noFill/>
        </p:spPr>
        <p:txBody>
          <a:bodyPr wrap="square" lIns="45720" rIns="45720" tIns="18288" bIns="18288">
            <a:spAutoFit/>
          </a:bodyPr>
          <a:lstStyle/>
          <a:p>
            <a:pPr algn="ctr"/>
            <a:r>
              <a:rPr sz="1000" b="0">
                <a:solidFill>
                  <a:srgbClr val="0B2A4A"/>
                </a:solidFill>
              </a:rPr>
              <a:t>Why three layers?</a:t>
            </a:r>
          </a:p>
          <a:p>
            <a:pPr algn="ctr"/>
            <a:r>
              <a:rPr sz="1000" b="0">
                <a:solidFill>
                  <a:srgbClr val="0B2A4A"/>
                </a:solidFill>
              </a:rPr>
              <a:t>Bronze = source-of-truth replay buffer; Silver = clean entity </a:t>
            </a:r>
          </a:p>
          <a:p>
            <a:pPr algn="ctr"/>
            <a:r>
              <a:rPr sz="1000" b="0">
                <a:solidFill>
                  <a:srgbClr val="0B2A4A"/>
                </a:solidFill>
              </a:rPr>
              <a:t>tables (dedup, late-filter, audited); Gold = small, fast marts </a:t>
            </a:r>
          </a:p>
          <a:p>
            <a:pPr algn="ctr"/>
            <a:r>
              <a:rPr sz="1000" b="0">
                <a:solidFill>
                  <a:srgbClr val="0B2A4A"/>
                </a:solidFill>
              </a:rPr>
              <a:t>that dashboards/ML can query directly.</a:t>
            </a:r>
          </a:p>
        </p:txBody>
      </p:sp>
      <p:sp>
        <p:nvSpPr>
          <p:cNvPr id="20" name="Rectangle 19"/>
          <p:cNvSpPr/>
          <p:nvPr/>
        </p:nvSpPr>
        <p:spPr>
          <a:xfrm>
            <a:off x="5577840" y="96012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103327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2" name="TextBox 21"/>
          <p:cNvSpPr txBox="1"/>
          <p:nvPr/>
        </p:nvSpPr>
        <p:spPr>
          <a:xfrm>
            <a:off x="5669280" y="1289304"/>
            <a:ext cx="3108960" cy="292608"/>
          </a:xfrm>
          <a:prstGeom prst="rect">
            <a:avLst/>
          </a:prstGeom>
          <a:noFill/>
        </p:spPr>
        <p:txBody>
          <a:bodyPr wrap="square" lIns="45720" rIns="45720" tIns="18288" bIns="18288">
            <a:spAutoFit/>
          </a:bodyPr>
          <a:lstStyle/>
          <a:p>
            <a:pPr algn="l"/>
            <a:r>
              <a:rPr sz="1200" b="1">
                <a:solidFill>
                  <a:srgbClr val="0B2A4A"/>
                </a:solidFill>
              </a:rPr>
              <a:t>Restaurant kitchen</a:t>
            </a:r>
          </a:p>
        </p:txBody>
      </p:sp>
      <p:sp>
        <p:nvSpPr>
          <p:cNvPr id="23" name="TextBox 22"/>
          <p:cNvSpPr txBox="1"/>
          <p:nvPr/>
        </p:nvSpPr>
        <p:spPr>
          <a:xfrm>
            <a:off x="5669280" y="1600200"/>
            <a:ext cx="3108960" cy="3246120"/>
          </a:xfrm>
          <a:prstGeom prst="rect">
            <a:avLst/>
          </a:prstGeom>
          <a:noFill/>
        </p:spPr>
        <p:txBody>
          <a:bodyPr wrap="square" lIns="45720" rIns="45720" tIns="18288" bIns="18288">
            <a:spAutoFit/>
          </a:bodyPr>
          <a:lstStyle/>
          <a:p>
            <a:pPr algn="l"/>
            <a:r>
              <a:rPr sz="1000" b="0">
                <a:solidFill>
                  <a:srgbClr val="0B2A4A"/>
                </a:solidFill>
              </a:rPr>
              <a:t>Bronze = raw ingredients off the truck. Silver = washed, chopped, mise-en-place. Gold = the plated dish you serve. Each layer is owned by a different role and is cheap to redo from the layer below.</a:t>
            </a:r>
          </a:p>
        </p:txBody>
      </p:sp>
      <p:sp>
        <p:nvSpPr>
          <p:cNvPr id="24" name="Rectangle 23"/>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6 / 52  ·  Opening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How to read every slide in this deck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Same template across all 40 lesson slides — learn it once</a:t>
            </a:r>
          </a:p>
        </p:txBody>
      </p:sp>
      <p:sp>
        <p:nvSpPr>
          <p:cNvPr id="6" name="Rectangle 5"/>
          <p:cNvSpPr/>
          <p:nvPr/>
        </p:nvSpPr>
        <p:spPr>
          <a:xfrm>
            <a:off x="274320" y="960120"/>
            <a:ext cx="5212080" cy="402336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960120"/>
            <a:ext cx="5212080" cy="5029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078992"/>
            <a:ext cx="4937760" cy="365760"/>
          </a:xfrm>
          <a:prstGeom prst="rect">
            <a:avLst/>
          </a:prstGeom>
          <a:noFill/>
        </p:spPr>
        <p:txBody>
          <a:bodyPr wrap="square" lIns="45720" rIns="45720" tIns="18288" bIns="18288">
            <a:spAutoFit/>
          </a:bodyPr>
          <a:lstStyle/>
          <a:p>
            <a:pPr algn="l"/>
            <a:r>
              <a:rPr sz="1400" b="1">
                <a:solidFill>
                  <a:srgbClr val="FFFFFF"/>
                </a:solidFill>
              </a:rPr>
              <a:t>Lesson title goes here</a:t>
            </a:r>
          </a:p>
        </p:txBody>
      </p:sp>
      <p:sp>
        <p:nvSpPr>
          <p:cNvPr id="9" name="Rectangle 8"/>
          <p:cNvSpPr/>
          <p:nvPr/>
        </p:nvSpPr>
        <p:spPr>
          <a:xfrm>
            <a:off x="457200" y="1691640"/>
            <a:ext cx="4846320" cy="1828800"/>
          </a:xfrm>
          <a:prstGeom prst="rect">
            <a:avLst/>
          </a:prstGeom>
          <a:solidFill>
            <a:srgbClr val="FFFFFF"/>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514600"/>
            <a:ext cx="4846320" cy="274320"/>
          </a:xfrm>
          <a:prstGeom prst="rect">
            <a:avLst/>
          </a:prstGeom>
          <a:noFill/>
        </p:spPr>
        <p:txBody>
          <a:bodyPr wrap="square" lIns="45720" rIns="45720" tIns="18288" bIns="18288">
            <a:spAutoFit/>
          </a:bodyPr>
          <a:lstStyle/>
          <a:p>
            <a:pPr algn="ctr"/>
            <a:r>
              <a:rPr sz="1200" b="1">
                <a:solidFill>
                  <a:srgbClr val="555555"/>
                </a:solidFill>
              </a:rPr>
              <a:t>[ niche tool logo ]</a:t>
            </a:r>
          </a:p>
        </p:txBody>
      </p:sp>
      <p:sp>
        <p:nvSpPr>
          <p:cNvPr id="11" name="TextBox 10"/>
          <p:cNvSpPr txBox="1"/>
          <p:nvPr/>
        </p:nvSpPr>
        <p:spPr>
          <a:xfrm>
            <a:off x="457200" y="3657600"/>
            <a:ext cx="4846320" cy="1188720"/>
          </a:xfrm>
          <a:prstGeom prst="rect">
            <a:avLst/>
          </a:prstGeom>
          <a:noFill/>
        </p:spPr>
        <p:txBody>
          <a:bodyPr wrap="square" lIns="45720" rIns="45720" tIns="18288" bIns="18288">
            <a:spAutoFit/>
          </a:bodyPr>
          <a:lstStyle/>
          <a:p>
            <a:pPr algn="l"/>
            <a:r>
              <a:rPr sz="1100" b="0">
                <a:solidFill>
                  <a:srgbClr val="0B2A4A"/>
                </a:solidFill>
              </a:rPr>
              <a:t>• Bullet sourced from the actual capstone code</a:t>
            </a:r>
          </a:p>
          <a:p>
            <a:pPr algn="l"/>
            <a:r>
              <a:rPr sz="1100" b="0">
                <a:solidFill>
                  <a:srgbClr val="0B2A4A"/>
                </a:solidFill>
              </a:rPr>
              <a:t>• Real path, real config, real version</a:t>
            </a:r>
          </a:p>
          <a:p>
            <a:pPr algn="l"/>
            <a:r>
              <a:rPr sz="1100" b="0">
                <a:solidFill>
                  <a:srgbClr val="0B2A4A"/>
                </a:solidFill>
              </a:rPr>
              <a:t>• Plus the WHY, not just the WHAT</a:t>
            </a:r>
          </a:p>
          <a:p>
            <a:pPr algn="l"/>
            <a:r>
              <a:rPr sz="1100" b="0">
                <a:solidFill>
                  <a:srgbClr val="0B2A4A"/>
                </a:solidFill>
              </a:rPr>
              <a:t>• Module-coloured footer = you-are-here</a:t>
            </a:r>
          </a:p>
        </p:txBody>
      </p:sp>
      <p:sp>
        <p:nvSpPr>
          <p:cNvPr id="12" name="Rectangle 11"/>
          <p:cNvSpPr/>
          <p:nvPr/>
        </p:nvSpPr>
        <p:spPr>
          <a:xfrm>
            <a:off x="5577840" y="96012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0" y="103327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4" name="TextBox 13"/>
          <p:cNvSpPr txBox="1"/>
          <p:nvPr/>
        </p:nvSpPr>
        <p:spPr>
          <a:xfrm>
            <a:off x="5669280" y="1289304"/>
            <a:ext cx="3108960" cy="292608"/>
          </a:xfrm>
          <a:prstGeom prst="rect">
            <a:avLst/>
          </a:prstGeom>
          <a:noFill/>
        </p:spPr>
        <p:txBody>
          <a:bodyPr wrap="square" lIns="45720" rIns="45720" tIns="18288" bIns="18288">
            <a:spAutoFit/>
          </a:bodyPr>
          <a:lstStyle/>
          <a:p>
            <a:pPr algn="l"/>
            <a:r>
              <a:rPr sz="1200" b="1">
                <a:solidFill>
                  <a:srgbClr val="0B2A4A"/>
                </a:solidFill>
              </a:rPr>
              <a:t>The Analogy box</a:t>
            </a:r>
          </a:p>
        </p:txBody>
      </p:sp>
      <p:sp>
        <p:nvSpPr>
          <p:cNvPr id="15" name="TextBox 14"/>
          <p:cNvSpPr txBox="1"/>
          <p:nvPr/>
        </p:nvSpPr>
        <p:spPr>
          <a:xfrm>
            <a:off x="5669280" y="1600200"/>
            <a:ext cx="3108960" cy="3246120"/>
          </a:xfrm>
          <a:prstGeom prst="rect">
            <a:avLst/>
          </a:prstGeom>
          <a:noFill/>
        </p:spPr>
        <p:txBody>
          <a:bodyPr wrap="square" lIns="45720" rIns="45720" tIns="18288" bIns="18288">
            <a:spAutoFit/>
          </a:bodyPr>
          <a:lstStyle/>
          <a:p>
            <a:pPr algn="l"/>
            <a:r>
              <a:rPr sz="1000" b="0">
                <a:solidFill>
                  <a:srgbClr val="0B2A4A"/>
                </a:solidFill>
              </a:rPr>
              <a:t>Every lesson has one — a real-world parallel that locks the tech idea into memory. Read it FIRST when a topic feels abstract; come back to it when teaching someone else.</a:t>
            </a:r>
          </a:p>
        </p:txBody>
      </p:sp>
      <p:sp>
        <p:nvSpPr>
          <p:cNvPr id="16" name="Rectangle 15"/>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7 / 52  ·  Opening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OPENING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whole capstone in one picture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Bookmark this slide — every later lesson is a zoom into one box</a:t>
            </a:r>
          </a:p>
        </p:txBody>
      </p:sp>
      <p:sp>
        <p:nvSpPr>
          <p:cNvPr id="6" name="TextBox 5"/>
          <p:cNvSpPr txBox="1"/>
          <p:nvPr/>
        </p:nvSpPr>
        <p:spPr>
          <a:xfrm>
            <a:off x="274320" y="960120"/>
            <a:ext cx="8595360" cy="274320"/>
          </a:xfrm>
          <a:prstGeom prst="rect">
            <a:avLst/>
          </a:prstGeom>
          <a:noFill/>
        </p:spPr>
        <p:txBody>
          <a:bodyPr wrap="square" lIns="45720" rIns="45720" tIns="18288" bIns="18288">
            <a:spAutoFit/>
          </a:bodyPr>
          <a:lstStyle/>
          <a:p>
            <a:pPr algn="ctr"/>
            <a:r>
              <a:rPr sz="1200" b="1">
                <a:solidFill>
                  <a:srgbClr val="1F77B4"/>
                </a:solidFill>
              </a:rPr>
              <a:t>End-to-end: APRS packet → dashboard tile</a:t>
            </a:r>
          </a:p>
        </p:txBody>
      </p:sp>
      <p:sp>
        <p:nvSpPr>
          <p:cNvPr id="7" name="Rectangle 6"/>
          <p:cNvSpPr/>
          <p:nvPr/>
        </p:nvSpPr>
        <p:spPr>
          <a:xfrm>
            <a:off x="2057400" y="150876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7400" y="1595628"/>
            <a:ext cx="1188720" cy="237744"/>
          </a:xfrm>
          <a:prstGeom prst="rect">
            <a:avLst/>
          </a:prstGeom>
          <a:noFill/>
        </p:spPr>
        <p:txBody>
          <a:bodyPr wrap="square" lIns="45720" rIns="45720" tIns="18288" bIns="18288">
            <a:spAutoFit/>
          </a:bodyPr>
          <a:lstStyle/>
          <a:p>
            <a:pPr algn="ctr"/>
            <a:r>
              <a:rPr sz="1000" b="1">
                <a:solidFill>
                  <a:srgbClr val="FFFFFF"/>
                </a:solidFill>
              </a:rPr>
              <a:t>OGN APRS</a:t>
            </a:r>
          </a:p>
        </p:txBody>
      </p:sp>
      <p:cxnSp>
        <p:nvCxnSpPr>
          <p:cNvPr id="9" name="Connector 8"/>
          <p:cNvCxnSpPr/>
          <p:nvPr/>
        </p:nvCxnSpPr>
        <p:spPr>
          <a:xfrm>
            <a:off x="3246120" y="171450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337560" y="150876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595628"/>
            <a:ext cx="1188720" cy="237744"/>
          </a:xfrm>
          <a:prstGeom prst="rect">
            <a:avLst/>
          </a:prstGeom>
          <a:noFill/>
        </p:spPr>
        <p:txBody>
          <a:bodyPr wrap="square" lIns="45720" rIns="45720" tIns="18288" bIns="18288">
            <a:spAutoFit/>
          </a:bodyPr>
          <a:lstStyle/>
          <a:p>
            <a:pPr algn="ctr"/>
            <a:r>
              <a:rPr sz="1000" b="1">
                <a:solidFill>
                  <a:srgbClr val="FFFFFF"/>
                </a:solidFill>
              </a:rPr>
              <a:t>ingestor</a:t>
            </a:r>
          </a:p>
        </p:txBody>
      </p:sp>
      <p:cxnSp>
        <p:nvCxnSpPr>
          <p:cNvPr id="12" name="Connector 11"/>
          <p:cNvCxnSpPr/>
          <p:nvPr/>
        </p:nvCxnSpPr>
        <p:spPr>
          <a:xfrm>
            <a:off x="4526280" y="171450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17720" y="150876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595628"/>
            <a:ext cx="1188720" cy="237744"/>
          </a:xfrm>
          <a:prstGeom prst="rect">
            <a:avLst/>
          </a:prstGeom>
          <a:noFill/>
        </p:spPr>
        <p:txBody>
          <a:bodyPr wrap="square" lIns="45720" rIns="45720" tIns="18288" bIns="18288">
            <a:spAutoFit/>
          </a:bodyPr>
          <a:lstStyle/>
          <a:p>
            <a:pPr algn="ctr"/>
            <a:r>
              <a:rPr sz="1000" b="1">
                <a:solidFill>
                  <a:srgbClr val="FFFFFF"/>
                </a:solidFill>
              </a:rPr>
              <a:t>Kafka</a:t>
            </a:r>
          </a:p>
        </p:txBody>
      </p:sp>
      <p:cxnSp>
        <p:nvCxnSpPr>
          <p:cNvPr id="15" name="Connector 14"/>
          <p:cNvCxnSpPr/>
          <p:nvPr/>
        </p:nvCxnSpPr>
        <p:spPr>
          <a:xfrm>
            <a:off x="5806440" y="171450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897880" y="150876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80" y="1595628"/>
            <a:ext cx="1188720" cy="237744"/>
          </a:xfrm>
          <a:prstGeom prst="rect">
            <a:avLst/>
          </a:prstGeom>
          <a:noFill/>
        </p:spPr>
        <p:txBody>
          <a:bodyPr wrap="square" lIns="45720" rIns="45720" tIns="18288" bIns="18288">
            <a:spAutoFit/>
          </a:bodyPr>
          <a:lstStyle/>
          <a:p>
            <a:pPr algn="ctr"/>
            <a:r>
              <a:rPr sz="1000" b="1">
                <a:solidFill>
                  <a:srgbClr val="FFFFFF"/>
                </a:solidFill>
              </a:rPr>
              <a:t>S3 sink</a:t>
            </a:r>
          </a:p>
        </p:txBody>
      </p:sp>
      <p:sp>
        <p:nvSpPr>
          <p:cNvPr id="18" name="Rectangle 17"/>
          <p:cNvSpPr/>
          <p:nvPr/>
        </p:nvSpPr>
        <p:spPr>
          <a:xfrm>
            <a:off x="2057400" y="233172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57400" y="2418588"/>
            <a:ext cx="1188720" cy="237744"/>
          </a:xfrm>
          <a:prstGeom prst="rect">
            <a:avLst/>
          </a:prstGeom>
          <a:noFill/>
        </p:spPr>
        <p:txBody>
          <a:bodyPr wrap="square" lIns="45720" rIns="45720" tIns="18288" bIns="18288">
            <a:spAutoFit/>
          </a:bodyPr>
          <a:lstStyle/>
          <a:p>
            <a:pPr algn="ctr"/>
            <a:r>
              <a:rPr sz="1000" b="1">
                <a:solidFill>
                  <a:srgbClr val="FFFFFF"/>
                </a:solidFill>
              </a:rPr>
              <a:t>MinIO bronze</a:t>
            </a:r>
          </a:p>
        </p:txBody>
      </p:sp>
      <p:cxnSp>
        <p:nvCxnSpPr>
          <p:cNvPr id="20" name="Connector 19"/>
          <p:cNvCxnSpPr/>
          <p:nvPr/>
        </p:nvCxnSpPr>
        <p:spPr>
          <a:xfrm>
            <a:off x="3246120" y="253746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337560" y="233172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37560" y="2418588"/>
            <a:ext cx="1188720" cy="237744"/>
          </a:xfrm>
          <a:prstGeom prst="rect">
            <a:avLst/>
          </a:prstGeom>
          <a:noFill/>
        </p:spPr>
        <p:txBody>
          <a:bodyPr wrap="square" lIns="45720" rIns="45720" tIns="18288" bIns="18288">
            <a:spAutoFit/>
          </a:bodyPr>
          <a:lstStyle/>
          <a:p>
            <a:pPr algn="ctr"/>
            <a:r>
              <a:rPr sz="1000" b="1">
                <a:solidFill>
                  <a:srgbClr val="FFFFFF"/>
                </a:solidFill>
              </a:rPr>
              <a:t>Hop silver</a:t>
            </a:r>
          </a:p>
        </p:txBody>
      </p:sp>
      <p:cxnSp>
        <p:nvCxnSpPr>
          <p:cNvPr id="23" name="Connector 22"/>
          <p:cNvCxnSpPr/>
          <p:nvPr/>
        </p:nvCxnSpPr>
        <p:spPr>
          <a:xfrm>
            <a:off x="4526280" y="253746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617720" y="233172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2418588"/>
            <a:ext cx="1188720" cy="237744"/>
          </a:xfrm>
          <a:prstGeom prst="rect">
            <a:avLst/>
          </a:prstGeom>
          <a:noFill/>
        </p:spPr>
        <p:txBody>
          <a:bodyPr wrap="square" lIns="45720" rIns="45720" tIns="18288" bIns="18288">
            <a:spAutoFit/>
          </a:bodyPr>
          <a:lstStyle/>
          <a:p>
            <a:pPr algn="ctr"/>
            <a:r>
              <a:rPr sz="1000" b="1">
                <a:solidFill>
                  <a:srgbClr val="FFFFFF"/>
                </a:solidFill>
              </a:rPr>
              <a:t>DuckDB gold</a:t>
            </a:r>
          </a:p>
        </p:txBody>
      </p:sp>
      <p:cxnSp>
        <p:nvCxnSpPr>
          <p:cNvPr id="26" name="Connector 25"/>
          <p:cNvCxnSpPr/>
          <p:nvPr/>
        </p:nvCxnSpPr>
        <p:spPr>
          <a:xfrm>
            <a:off x="5806440" y="253746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897880" y="233172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97880" y="2418588"/>
            <a:ext cx="1188720" cy="237744"/>
          </a:xfrm>
          <a:prstGeom prst="rect">
            <a:avLst/>
          </a:prstGeom>
          <a:noFill/>
        </p:spPr>
        <p:txBody>
          <a:bodyPr wrap="square" lIns="45720" rIns="45720" tIns="18288" bIns="18288">
            <a:spAutoFit/>
          </a:bodyPr>
          <a:lstStyle/>
          <a:p>
            <a:pPr algn="ctr"/>
            <a:r>
              <a:rPr sz="1000" b="1">
                <a:solidFill>
                  <a:srgbClr val="FFFFFF"/>
                </a:solidFill>
              </a:rPr>
              <a:t>dashboard</a:t>
            </a:r>
          </a:p>
        </p:txBody>
      </p:sp>
      <p:cxnSp>
        <p:nvCxnSpPr>
          <p:cNvPr id="29" name="Connector 28"/>
          <p:cNvCxnSpPr/>
          <p:nvPr/>
        </p:nvCxnSpPr>
        <p:spPr>
          <a:xfrm flipH="1">
            <a:off x="2651760" y="1920240"/>
            <a:ext cx="3840480" cy="41148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063240"/>
            <a:ext cx="8595360" cy="274320"/>
          </a:xfrm>
          <a:prstGeom prst="rect">
            <a:avLst/>
          </a:prstGeom>
          <a:noFill/>
        </p:spPr>
        <p:txBody>
          <a:bodyPr wrap="square" lIns="45720" rIns="45720" tIns="18288" bIns="18288">
            <a:spAutoFit/>
          </a:bodyPr>
          <a:lstStyle/>
          <a:p>
            <a:pPr algn="ctr"/>
            <a:r>
              <a:rPr sz="1100" b="1">
                <a:solidFill>
                  <a:srgbClr val="1F77B4"/>
                </a:solidFill>
              </a:rPr>
              <a:t>Latency budget</a:t>
            </a:r>
          </a:p>
        </p:txBody>
      </p:sp>
      <p:sp>
        <p:nvSpPr>
          <p:cNvPr id="31" name="TextBox 30"/>
          <p:cNvSpPr txBox="1"/>
          <p:nvPr/>
        </p:nvSpPr>
        <p:spPr>
          <a:xfrm>
            <a:off x="274320" y="3337560"/>
            <a:ext cx="8595360" cy="1645920"/>
          </a:xfrm>
          <a:prstGeom prst="rect">
            <a:avLst/>
          </a:prstGeom>
          <a:noFill/>
        </p:spPr>
        <p:txBody>
          <a:bodyPr wrap="square" lIns="45720" rIns="45720" tIns="18288" bIns="18288">
            <a:spAutoFit/>
          </a:bodyPr>
          <a:lstStyle/>
          <a:p>
            <a:pPr algn="ctr"/>
            <a:r>
              <a:rPr sz="1000" b="0">
                <a:solidFill>
                  <a:srgbClr val="0B2A4A"/>
                </a:solidFill>
                <a:latin typeface="Consolas"/>
              </a:rPr>
              <a:t>Source → Kafka topic        ~ seconds</a:t>
            </a:r>
          </a:p>
          <a:p>
            <a:pPr algn="ctr"/>
            <a:r>
              <a:rPr sz="1000" b="0">
                <a:solidFill>
                  <a:srgbClr val="0B2A4A"/>
                </a:solidFill>
                <a:latin typeface="Consolas"/>
              </a:rPr>
              <a:t>Topic → bronze object       ≤ S3 sink flush interval</a:t>
            </a:r>
          </a:p>
          <a:p>
            <a:pPr algn="ctr"/>
            <a:r>
              <a:rPr sz="1000" b="0">
                <a:solidFill>
                  <a:srgbClr val="0B2A4A"/>
                </a:solidFill>
                <a:latin typeface="Consolas"/>
              </a:rPr>
              <a:t>Bronze → silver → gold      ~ 5 min   (30_hop_medallion)</a:t>
            </a:r>
          </a:p>
          <a:p>
            <a:pPr algn="ctr"/>
            <a:r>
              <a:rPr sz="1000" b="0">
                <a:solidFill>
                  <a:srgbClr val="0B2A4A"/>
                </a:solidFill>
                <a:latin typeface="Consolas"/>
              </a:rPr>
              <a:t>Gold → dashboard tile       ~ 5 min   (40 + 50 push DAGs)</a:t>
            </a:r>
          </a:p>
          <a:p>
            <a:pPr algn="ctr"/>
            <a:r>
              <a:rPr sz="1000" b="0">
                <a:solidFill>
                  <a:srgbClr val="0B2A4A"/>
                </a:solidFill>
                <a:latin typeface="Consolas"/>
              </a:rPr>
              <a:t/>
            </a:r>
          </a:p>
          <a:p>
            <a:pPr algn="ctr"/>
            <a:r>
              <a:rPr sz="1000" b="0">
                <a:solidFill>
                  <a:srgbClr val="0B2A4A"/>
                </a:solidFill>
                <a:latin typeface="Consolas"/>
              </a:rPr>
              <a:t>End-to-end p95: about 10 minutes from packet to KPI.</a:t>
            </a:r>
          </a:p>
        </p:txBody>
      </p:sp>
      <p:sp>
        <p:nvSpPr>
          <p:cNvPr id="32" name="Rectangle 31"/>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8 / 52  ·  Opening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1</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Designing End-to-End Architecture</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Real streams → Kafka → Medallion on MinIO → Dashboards</a:t>
            </a:r>
          </a:p>
        </p:txBody>
      </p:sp>
      <p:sp>
        <p:nvSpPr>
          <p:cNvPr id="7" name="Rectangle 6"/>
          <p:cNvSpPr/>
          <p:nvPr/>
        </p:nvSpPr>
        <p:spPr>
          <a:xfrm>
            <a:off x="137160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afka.png"/>
          <p:cNvPicPr>
            <a:picLocks noChangeAspect="1"/>
          </p:cNvPicPr>
          <p:nvPr/>
        </p:nvPicPr>
        <p:blipFill>
          <a:blip r:embed="rId2"/>
          <a:stretch>
            <a:fillRect/>
          </a:stretch>
        </p:blipFill>
        <p:spPr>
          <a:xfrm>
            <a:off x="1863822" y="3909059"/>
            <a:ext cx="478596" cy="777240"/>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ebezium.png"/>
          <p:cNvPicPr>
            <a:picLocks noChangeAspect="1"/>
          </p:cNvPicPr>
          <p:nvPr/>
        </p:nvPicPr>
        <p:blipFill>
          <a:blip r:embed="rId3"/>
          <a:stretch>
            <a:fillRect/>
          </a:stretch>
        </p:blipFill>
        <p:spPr>
          <a:xfrm>
            <a:off x="3177540" y="4172901"/>
            <a:ext cx="1143000" cy="249555"/>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irflow.png"/>
          <p:cNvPicPr>
            <a:picLocks noChangeAspect="1"/>
          </p:cNvPicPr>
          <p:nvPr/>
        </p:nvPicPr>
        <p:blipFill>
          <a:blip r:embed="rId4"/>
          <a:stretch>
            <a:fillRect/>
          </a:stretch>
        </p:blipFill>
        <p:spPr>
          <a:xfrm>
            <a:off x="4823460" y="4077080"/>
            <a:ext cx="1143000" cy="441198"/>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inio.png"/>
          <p:cNvPicPr>
            <a:picLocks noChangeAspect="1"/>
          </p:cNvPicPr>
          <p:nvPr/>
        </p:nvPicPr>
        <p:blipFill>
          <a:blip r:embed="rId5"/>
          <a:stretch>
            <a:fillRect/>
          </a:stretch>
        </p:blipFill>
        <p:spPr>
          <a:xfrm>
            <a:off x="6652260" y="3909059"/>
            <a:ext cx="777240" cy="777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Why real streams, not simulators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OGN aircraft, NOAA weather, EMSC seismic — three live public feeds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OGN APRS over TCP → ogn.aircraft.positions  (bursty, lossy)</a:t>
            </a:r>
          </a:p>
          <a:p>
            <a:pPr>
              <a:spcAft>
                <a:spcPts val="400"/>
              </a:spcAft>
            </a:pPr>
            <a:r>
              <a:rPr sz="1100">
                <a:solidFill>
                  <a:srgbClr val="0B2A4A"/>
                </a:solidFill>
              </a:rPr>
              <a:t>•  NOAA api.weather.gov REST poll → noaa.observations / noaa.alerts</a:t>
            </a:r>
          </a:p>
          <a:p>
            <a:pPr>
              <a:spcAft>
                <a:spcPts val="400"/>
              </a:spcAft>
            </a:pPr>
            <a:r>
              <a:rPr sz="1100">
                <a:solidFill>
                  <a:srgbClr val="0B2A4A"/>
                </a:solidFill>
              </a:rPr>
              <a:t>•  EMSC seismic WebSocket → seismic.events  (long-lived socket)</a:t>
            </a:r>
          </a:p>
          <a:p>
            <a:pPr>
              <a:spcAft>
                <a:spcPts val="400"/>
              </a:spcAft>
            </a:pPr>
            <a:r>
              <a:rPr sz="1100">
                <a:solidFill>
                  <a:srgbClr val="0B2A4A"/>
                </a:solidFill>
              </a:rPr>
              <a:t>•  Each ingestor exercises a different ingestion pattern — TCP / REST / WS.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Stethoscope vs simulator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medical student learns more from one real heartbeat than from a thousand perfectly-shaped synthetic ones. Real feeds bring real surprises — gaps, out-of-order events, schema wiggles — that simulators never do.</a:t>
            </a:r>
          </a:p>
        </p:txBody>
      </p:sp>
      <p:sp>
        <p:nvSpPr>
          <p:cNvPr id="13" name="Rectangle 12"/>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2 / 10  ·  Module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medallion pattern</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Bronze / Silver / Gold — bands of trust, not folders</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Medallion in MinIO</a:t>
            </a:r>
          </a:p>
        </p:txBody>
      </p:sp>
      <p:sp>
        <p:nvSpPr>
          <p:cNvPr id="7" name="Rectangle 6"/>
          <p:cNvSpPr/>
          <p:nvPr/>
        </p:nvSpPr>
        <p:spPr>
          <a:xfrm>
            <a:off x="411480" y="1325880"/>
            <a:ext cx="1554480" cy="640080"/>
          </a:xfrm>
          <a:prstGeom prst="rect">
            <a:avLst/>
          </a:prstGeom>
          <a:solidFill>
            <a:srgbClr val="CD7F32"/>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99032"/>
            <a:ext cx="1554480" cy="640080"/>
          </a:xfrm>
          <a:prstGeom prst="rect">
            <a:avLst/>
          </a:prstGeom>
          <a:noFill/>
        </p:spPr>
        <p:txBody>
          <a:bodyPr wrap="square" lIns="45720" rIns="45720" tIns="18288" bIns="18288">
            <a:spAutoFit/>
          </a:bodyPr>
          <a:lstStyle/>
          <a:p>
            <a:pPr algn="ctr"/>
            <a:r>
              <a:rPr sz="1100" b="1">
                <a:solidFill>
                  <a:srgbClr val="FFFFFF"/>
                </a:solidFill>
              </a:rPr>
              <a:t>BRONZE</a:t>
            </a:r>
          </a:p>
          <a:p>
            <a:pPr algn="ctr"/>
            <a:r>
              <a:rPr sz="1100" b="1">
                <a:solidFill>
                  <a:srgbClr val="FFFFFF"/>
                </a:solidFill>
              </a:rPr>
              <a:t>raw Avro</a:t>
            </a:r>
          </a:p>
        </p:txBody>
      </p:sp>
      <p:cxnSp>
        <p:nvCxnSpPr>
          <p:cNvPr id="9" name="Connector 8"/>
          <p:cNvCxnSpPr/>
          <p:nvPr/>
        </p:nvCxnSpPr>
        <p:spPr>
          <a:xfrm>
            <a:off x="1965960" y="164592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103120" y="1325880"/>
            <a:ext cx="1554480" cy="640080"/>
          </a:xfrm>
          <a:prstGeom prst="rect">
            <a:avLst/>
          </a:prstGeom>
          <a:solidFill>
            <a:srgbClr val="C0C0C0"/>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1399032"/>
            <a:ext cx="1554480" cy="640080"/>
          </a:xfrm>
          <a:prstGeom prst="rect">
            <a:avLst/>
          </a:prstGeom>
          <a:noFill/>
        </p:spPr>
        <p:txBody>
          <a:bodyPr wrap="square" lIns="45720" rIns="45720" tIns="18288" bIns="18288">
            <a:spAutoFit/>
          </a:bodyPr>
          <a:lstStyle/>
          <a:p>
            <a:pPr algn="ctr"/>
            <a:r>
              <a:rPr sz="1100" b="1">
                <a:solidFill>
                  <a:srgbClr val="FFFFFF"/>
                </a:solidFill>
              </a:rPr>
              <a:t>SILVER</a:t>
            </a:r>
          </a:p>
          <a:p>
            <a:pPr algn="ctr"/>
            <a:r>
              <a:rPr sz="1100" b="1">
                <a:solidFill>
                  <a:srgbClr val="FFFFFF"/>
                </a:solidFill>
              </a:rPr>
              <a:t>dedup Avro</a:t>
            </a:r>
          </a:p>
        </p:txBody>
      </p:sp>
      <p:cxnSp>
        <p:nvCxnSpPr>
          <p:cNvPr id="12" name="Connector 11"/>
          <p:cNvCxnSpPr/>
          <p:nvPr/>
        </p:nvCxnSpPr>
        <p:spPr>
          <a:xfrm>
            <a:off x="3657600" y="164592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794760" y="1325880"/>
            <a:ext cx="1554480" cy="640080"/>
          </a:xfrm>
          <a:prstGeom prst="rect">
            <a:avLst/>
          </a:prstGeom>
          <a:solidFill>
            <a:srgbClr val="D4AF37"/>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4760" y="1399032"/>
            <a:ext cx="1554480" cy="640080"/>
          </a:xfrm>
          <a:prstGeom prst="rect">
            <a:avLst/>
          </a:prstGeom>
          <a:noFill/>
        </p:spPr>
        <p:txBody>
          <a:bodyPr wrap="square" lIns="45720" rIns="45720" tIns="18288" bIns="18288">
            <a:spAutoFit/>
          </a:bodyPr>
          <a:lstStyle/>
          <a:p>
            <a:pPr algn="ctr"/>
            <a:r>
              <a:rPr sz="1100" b="1">
                <a:solidFill>
                  <a:srgbClr val="FFFFFF"/>
                </a:solidFill>
              </a:rPr>
              <a:t>GOLD</a:t>
            </a:r>
          </a:p>
          <a:p>
            <a:pPr algn="ctr"/>
            <a:r>
              <a:rPr sz="1100" b="1">
                <a:solidFill>
                  <a:srgbClr val="FFFFFF"/>
                </a:solidFill>
              </a:rPr>
              <a:t>Parquet marts</a:t>
            </a:r>
          </a:p>
        </p:txBody>
      </p:sp>
      <p:sp>
        <p:nvSpPr>
          <p:cNvPr id="15" name="TextBox 14"/>
          <p:cNvSpPr txBox="1"/>
          <p:nvPr/>
        </p:nvSpPr>
        <p:spPr>
          <a:xfrm>
            <a:off x="274320" y="2194560"/>
            <a:ext cx="5212080" cy="274320"/>
          </a:xfrm>
          <a:prstGeom prst="rect">
            <a:avLst/>
          </a:prstGeom>
          <a:noFill/>
        </p:spPr>
        <p:txBody>
          <a:bodyPr wrap="square" lIns="45720" rIns="45720" tIns="18288" bIns="18288">
            <a:spAutoFit/>
          </a:bodyPr>
          <a:lstStyle/>
          <a:p>
            <a:pPr algn="ctr"/>
            <a:r>
              <a:rPr sz="1000" b="0">
                <a:solidFill>
                  <a:srgbClr val="555555"/>
                </a:solidFill>
              </a:rPr>
              <a:t>Promotion: dedup on PK → drop late &gt;24h → DuckDB query → Parquet snapshot + latest</a:t>
            </a:r>
          </a:p>
        </p:txBody>
      </p:sp>
      <p:sp>
        <p:nvSpPr>
          <p:cNvPr id="16" name="TextBox 15"/>
          <p:cNvSpPr txBox="1"/>
          <p:nvPr/>
        </p:nvSpPr>
        <p:spPr>
          <a:xfrm>
            <a:off x="274320" y="260604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s3://bronze/&lt;topic&gt;/year=…/hour=…/&lt;part&gt;+&lt;off&gt;.avro</a:t>
            </a:r>
          </a:p>
        </p:txBody>
      </p:sp>
      <p:sp>
        <p:nvSpPr>
          <p:cNvPr id="17" name="TextBox 16"/>
          <p:cNvSpPr txBox="1"/>
          <p:nvPr/>
        </p:nvSpPr>
        <p:spPr>
          <a:xfrm>
            <a:off x="274320" y="288036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s3://silver/&lt;entity&gt;/year=…/day=…/part-&lt;hash&gt;.avro</a:t>
            </a:r>
          </a:p>
        </p:txBody>
      </p:sp>
      <p:sp>
        <p:nvSpPr>
          <p:cNvPr id="18" name="TextBox 17"/>
          <p:cNvSpPr txBox="1"/>
          <p:nvPr/>
        </p:nvSpPr>
        <p:spPr>
          <a:xfrm>
            <a:off x="274320" y="315468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s3://gold/&lt;mart&gt;/snapshot=…Z/part-0.parquet  +  latest.parquet</a:t>
            </a:r>
          </a:p>
        </p:txBody>
      </p:sp>
      <p:sp>
        <p:nvSpPr>
          <p:cNvPr id="19" name="TextBox 18"/>
          <p:cNvSpPr txBox="1"/>
          <p:nvPr/>
        </p:nvSpPr>
        <p:spPr>
          <a:xfrm>
            <a:off x="274320" y="3611880"/>
            <a:ext cx="5212080" cy="914400"/>
          </a:xfrm>
          <a:prstGeom prst="rect">
            <a:avLst/>
          </a:prstGeom>
          <a:noFill/>
        </p:spPr>
        <p:txBody>
          <a:bodyPr wrap="square" lIns="45720" rIns="45720" tIns="18288" bIns="18288">
            <a:spAutoFit/>
          </a:bodyPr>
          <a:lstStyle/>
          <a:p>
            <a:pPr algn="ctr"/>
            <a:r>
              <a:rPr sz="1000" b="0">
                <a:solidFill>
                  <a:srgbClr val="0B2A4A"/>
                </a:solidFill>
              </a:rPr>
              <a:t>Why three layers?</a:t>
            </a:r>
          </a:p>
          <a:p>
            <a:pPr algn="ctr"/>
            <a:r>
              <a:rPr sz="1000" b="0">
                <a:solidFill>
                  <a:srgbClr val="0B2A4A"/>
                </a:solidFill>
              </a:rPr>
              <a:t>Bronze = source-of-truth replay buffer; Silver = clean entity </a:t>
            </a:r>
          </a:p>
          <a:p>
            <a:pPr algn="ctr"/>
            <a:r>
              <a:rPr sz="1000" b="0">
                <a:solidFill>
                  <a:srgbClr val="0B2A4A"/>
                </a:solidFill>
              </a:rPr>
              <a:t>tables (dedup, late-filter, audited); Gold = small, fast marts </a:t>
            </a:r>
          </a:p>
          <a:p>
            <a:pPr algn="ctr"/>
            <a:r>
              <a:rPr sz="1000" b="0">
                <a:solidFill>
                  <a:srgbClr val="0B2A4A"/>
                </a:solidFill>
              </a:rPr>
              <a:t>that dashboards/ML can query directly.</a:t>
            </a:r>
          </a:p>
        </p:txBody>
      </p:sp>
      <p:sp>
        <p:nvSpPr>
          <p:cNvPr id="20" name="Rectangle 19"/>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2" name="TextBox 21"/>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Restaurant kitchen</a:t>
            </a:r>
          </a:p>
        </p:txBody>
      </p:sp>
      <p:sp>
        <p:nvSpPr>
          <p:cNvPr id="23" name="TextBox 22"/>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Bronze = raw ingredients off the truck. Silver = washed, chopped, prepped (mise en place). Gold = the plated dish the customer sees. Each layer is owned by a different role and is cheap to redo from the layer below.</a:t>
            </a:r>
          </a:p>
        </p:txBody>
      </p:sp>
      <p:sp>
        <p:nvSpPr>
          <p:cNvPr id="24" name="Rectangle 23"/>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3 / 10  ·  Module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CDC vs polling for reference data</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Debezium beats SELECT * every minute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stgres.png"/>
          <p:cNvPicPr>
            <a:picLocks noChangeAspect="1"/>
          </p:cNvPicPr>
          <p:nvPr/>
        </p:nvPicPr>
        <p:blipFill>
          <a:blip r:embed="rId2"/>
          <a:stretch>
            <a:fillRect/>
          </a:stretch>
        </p:blipFill>
        <p:spPr>
          <a:xfrm>
            <a:off x="1573653" y="982980"/>
            <a:ext cx="252197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Postgres holds config tables only (regions, thresholds, watchlist).</a:t>
            </a:r>
          </a:p>
          <a:p>
            <a:pPr>
              <a:spcAft>
                <a:spcPts val="400"/>
              </a:spcAft>
            </a:pPr>
            <a:r>
              <a:rPr sz="1100">
                <a:solidFill>
                  <a:srgbClr val="0B2A4A"/>
                </a:solidFill>
              </a:rPr>
              <a:t>•  wal_level=logical + Debezium pgoutput → row-level change events.</a:t>
            </a:r>
          </a:p>
          <a:p>
            <a:pPr>
              <a:spcAft>
                <a:spcPts val="400"/>
              </a:spcAft>
            </a:pPr>
            <a:r>
              <a:rPr sz="1100">
                <a:solidFill>
                  <a:srgbClr val="0B2A4A"/>
                </a:solidFill>
              </a:rPr>
              <a:t>•  Topics: config.public.regions, .alert_thresholds, .subscriber_watchlist</a:t>
            </a:r>
          </a:p>
          <a:p>
            <a:pPr>
              <a:spcAft>
                <a:spcPts val="400"/>
              </a:spcAft>
            </a:pPr>
            <a:r>
              <a:rPr sz="1100">
                <a:solidFill>
                  <a:srgbClr val="0B2A4A"/>
                </a:solidFill>
              </a:rPr>
              <a:t>•  Consumers reload thresholds without restart — drift DAG (every 2 min) mutates rows to keep CDC busy in the demo.</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Doorbell vs door check</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Polling is walking to the door every minute to see if anyone is there. CDC is the doorbell — the database tells you the moment something happens, and you sleep through the silence.</a:t>
            </a:r>
          </a:p>
        </p:txBody>
      </p:sp>
      <p:sp>
        <p:nvSpPr>
          <p:cNvPr id="13" name="Rectangle 12"/>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 / 10  ·  Module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Schema Registry as the contract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Avro subjects + BACKWARD compatibility = no 3am surprises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ro.png"/>
          <p:cNvPicPr>
            <a:picLocks noChangeAspect="1"/>
          </p:cNvPicPr>
          <p:nvPr/>
        </p:nvPicPr>
        <p:blipFill>
          <a:blip r:embed="rId2"/>
          <a:stretch>
            <a:fillRect/>
          </a:stretch>
        </p:blipFill>
        <p:spPr>
          <a:xfrm>
            <a:off x="342900" y="1432768"/>
            <a:ext cx="4983480" cy="1706464"/>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Each topic value has a subject:  &lt;topic&gt;-value</a:t>
            </a:r>
          </a:p>
          <a:p>
            <a:pPr>
              <a:spcAft>
                <a:spcPts val="400"/>
              </a:spcAft>
            </a:pPr>
            <a:r>
              <a:rPr sz="1100">
                <a:solidFill>
                  <a:srgbClr val="0B2A4A"/>
                </a:solidFill>
              </a:rPr>
              <a:t>•  BACKWARD compatibility = new schema can read old data.</a:t>
            </a:r>
          </a:p>
          <a:p>
            <a:pPr>
              <a:spcAft>
                <a:spcPts val="400"/>
              </a:spcAft>
            </a:pPr>
            <a:r>
              <a:rPr sz="1100">
                <a:solidFill>
                  <a:srgbClr val="0B2A4A"/>
                </a:solidFill>
              </a:rPr>
              <a:t>•  Producers serialize against the registered schema or fail loudly.</a:t>
            </a:r>
          </a:p>
          <a:p>
            <a:pPr>
              <a:spcAft>
                <a:spcPts val="400"/>
              </a:spcAft>
            </a:pPr>
            <a:r>
              <a:rPr sz="1100">
                <a:solidFill>
                  <a:srgbClr val="0B2A4A"/>
                </a:solidFill>
              </a:rPr>
              <a:t>•  Bronze keeps Avro (small + schema-bound); Gold flips to Parquet (column-pruning friendly for dashboards).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Building blueprints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Architects don't ship a new building plan without comparing it to the old one — you can add windows, but you can't move load-bearing walls. Schema Registry enforces that, automatically, on every produce.</a:t>
            </a:r>
          </a:p>
        </p:txBody>
      </p:sp>
      <p:sp>
        <p:nvSpPr>
          <p:cNvPr id="13" name="Rectangle 12"/>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 / 10  ·  Module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Topic + partition inventory</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Naming convention: &lt;source&gt;.&lt;entity&gt;(.action)?</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303020"/>
                <a:gridCol w="1303020"/>
                <a:gridCol w="1303020"/>
                <a:gridCol w="1303020"/>
              </a:tblGrid>
              <a:tr h="447040">
                <a:tc>
                  <a:txBody>
                    <a:bodyPr/>
                    <a:lstStyle/>
                    <a:p>
                      <a:r>
                        <a:rPr sz="1100" b="1">
                          <a:solidFill>
                            <a:srgbClr val="FFFFFF"/>
                          </a:solidFill>
                        </a:rPr>
                        <a:t>Topic</a:t>
                      </a:r>
                    </a:p>
                  </a:txBody>
                  <a:tcPr>
                    <a:solidFill>
                      <a:srgbClr val="0B2A4A"/>
                    </a:solidFill>
                  </a:tcPr>
                </a:tc>
                <a:tc>
                  <a:txBody>
                    <a:bodyPr/>
                    <a:lstStyle/>
                    <a:p>
                      <a:r>
                        <a:rPr sz="1100" b="1">
                          <a:solidFill>
                            <a:srgbClr val="FFFFFF"/>
                          </a:solidFill>
                        </a:rPr>
                        <a:t>Parts</a:t>
                      </a:r>
                    </a:p>
                  </a:txBody>
                  <a:tcPr>
                    <a:solidFill>
                      <a:srgbClr val="0B2A4A"/>
                    </a:solidFill>
                  </a:tcPr>
                </a:tc>
                <a:tc>
                  <a:txBody>
                    <a:bodyPr/>
                    <a:lstStyle/>
                    <a:p>
                      <a:r>
                        <a:rPr sz="1100" b="1">
                          <a:solidFill>
                            <a:srgbClr val="FFFFFF"/>
                          </a:solidFill>
                        </a:rPr>
                        <a:t>Source</a:t>
                      </a:r>
                    </a:p>
                  </a:txBody>
                  <a:tcPr>
                    <a:solidFill>
                      <a:srgbClr val="0B2A4A"/>
                    </a:solidFill>
                  </a:tcPr>
                </a:tc>
                <a:tc>
                  <a:txBody>
                    <a:bodyPr/>
                    <a:lstStyle/>
                    <a:p>
                      <a:r>
                        <a:rPr sz="1100" b="1">
                          <a:solidFill>
                            <a:srgbClr val="FFFFFF"/>
                          </a:solidFill>
                        </a:rPr>
                        <a:t>DLQ</a:t>
                      </a:r>
                    </a:p>
                  </a:txBody>
                  <a:tcPr>
                    <a:solidFill>
                      <a:srgbClr val="0B2A4A"/>
                    </a:solidFill>
                  </a:tcPr>
                </a:tc>
              </a:tr>
              <a:tr h="447040">
                <a:tc>
                  <a:txBody>
                    <a:bodyPr/>
                    <a:lstStyle/>
                    <a:p>
                      <a:r>
                        <a:rPr sz="1000">
                          <a:solidFill>
                            <a:srgbClr val="0B2A4A"/>
                          </a:solidFill>
                        </a:rPr>
                        <a:t>ogn.aircraft.positions</a:t>
                      </a:r>
                    </a:p>
                  </a:txBody>
                  <a:tcPr/>
                </a:tc>
                <a:tc>
                  <a:txBody>
                    <a:bodyPr/>
                    <a:lstStyle/>
                    <a:p>
                      <a:r>
                        <a:rPr sz="1000">
                          <a:solidFill>
                            <a:srgbClr val="0B2A4A"/>
                          </a:solidFill>
                        </a:rPr>
                        <a:t>6</a:t>
                      </a:r>
                    </a:p>
                  </a:txBody>
                  <a:tcPr/>
                </a:tc>
                <a:tc>
                  <a:txBody>
                    <a:bodyPr/>
                    <a:lstStyle/>
                    <a:p>
                      <a:r>
                        <a:rPr sz="1000">
                          <a:solidFill>
                            <a:srgbClr val="0B2A4A"/>
                          </a:solidFill>
                        </a:rPr>
                        <a:t>OGN ingestor</a:t>
                      </a:r>
                    </a:p>
                  </a:txBody>
                  <a:tcPr/>
                </a:tc>
                <a:tc>
                  <a:txBody>
                    <a:bodyPr/>
                    <a:lstStyle/>
                    <a:p>
                      <a:r>
                        <a:rPr sz="1000">
                          <a:solidFill>
                            <a:srgbClr val="0B2A4A"/>
                          </a:solidFill>
                        </a:rPr>
                        <a:t>—</a:t>
                      </a:r>
                    </a:p>
                  </a:txBody>
                  <a:tcPr/>
                </a:tc>
              </a:tr>
              <a:tr h="447040">
                <a:tc>
                  <a:txBody>
                    <a:bodyPr/>
                    <a:lstStyle/>
                    <a:p>
                      <a:r>
                        <a:rPr sz="1000">
                          <a:solidFill>
                            <a:srgbClr val="0B2A4A"/>
                          </a:solidFill>
                        </a:rPr>
                        <a:t>noaa.observations</a:t>
                      </a:r>
                    </a:p>
                  </a:txBody>
                  <a:tcPr>
                    <a:solidFill>
                      <a:srgbClr val="F1F5F9"/>
                    </a:solidFill>
                  </a:tcPr>
                </a:tc>
                <a:tc>
                  <a:txBody>
                    <a:bodyPr/>
                    <a:lstStyle/>
                    <a:p>
                      <a:r>
                        <a:rPr sz="1000">
                          <a:solidFill>
                            <a:srgbClr val="0B2A4A"/>
                          </a:solidFill>
                        </a:rPr>
                        <a:t>3</a:t>
                      </a:r>
                    </a:p>
                  </a:txBody>
                  <a:tcPr>
                    <a:solidFill>
                      <a:srgbClr val="F1F5F9"/>
                    </a:solidFill>
                  </a:tcPr>
                </a:tc>
                <a:tc>
                  <a:txBody>
                    <a:bodyPr/>
                    <a:lstStyle/>
                    <a:p>
                      <a:r>
                        <a:rPr sz="1000">
                          <a:solidFill>
                            <a:srgbClr val="0B2A4A"/>
                          </a:solidFill>
                        </a:rPr>
                        <a:t>NOAA ingestor</a:t>
                      </a:r>
                    </a:p>
                  </a:txBody>
                  <a:tcPr>
                    <a:solidFill>
                      <a:srgbClr val="F1F5F9"/>
                    </a:solidFill>
                  </a:tcPr>
                </a:tc>
                <a:tc>
                  <a:txBody>
                    <a:bodyPr/>
                    <a:lstStyle/>
                    <a:p>
                      <a:r>
                        <a:rPr sz="1000">
                          <a:solidFill>
                            <a:srgbClr val="0B2A4A"/>
                          </a:solidFill>
                        </a:rPr>
                        <a:t>—</a:t>
                      </a:r>
                    </a:p>
                  </a:txBody>
                  <a:tcPr>
                    <a:solidFill>
                      <a:srgbClr val="F1F5F9"/>
                    </a:solidFill>
                  </a:tcPr>
                </a:tc>
              </a:tr>
              <a:tr h="447040">
                <a:tc>
                  <a:txBody>
                    <a:bodyPr/>
                    <a:lstStyle/>
                    <a:p>
                      <a:r>
                        <a:rPr sz="1000">
                          <a:solidFill>
                            <a:srgbClr val="0B2A4A"/>
                          </a:solidFill>
                        </a:rPr>
                        <a:t>noaa.alerts</a:t>
                      </a:r>
                    </a:p>
                  </a:txBody>
                  <a:tcPr/>
                </a:tc>
                <a:tc>
                  <a:txBody>
                    <a:bodyPr/>
                    <a:lstStyle/>
                    <a:p>
                      <a:r>
                        <a:rPr sz="1000">
                          <a:solidFill>
                            <a:srgbClr val="0B2A4A"/>
                          </a:solidFill>
                        </a:rPr>
                        <a:t>3</a:t>
                      </a:r>
                    </a:p>
                  </a:txBody>
                  <a:tcPr/>
                </a:tc>
                <a:tc>
                  <a:txBody>
                    <a:bodyPr/>
                    <a:lstStyle/>
                    <a:p>
                      <a:r>
                        <a:rPr sz="1000">
                          <a:solidFill>
                            <a:srgbClr val="0B2A4A"/>
                          </a:solidFill>
                        </a:rPr>
                        <a:t>NOAA ingestor</a:t>
                      </a:r>
                    </a:p>
                  </a:txBody>
                  <a:tcPr/>
                </a:tc>
                <a:tc>
                  <a:txBody>
                    <a:bodyPr/>
                    <a:lstStyle/>
                    <a:p>
                      <a:r>
                        <a:rPr sz="1000">
                          <a:solidFill>
                            <a:srgbClr val="0B2A4A"/>
                          </a:solidFill>
                        </a:rPr>
                        <a:t>—</a:t>
                      </a:r>
                    </a:p>
                  </a:txBody>
                  <a:tcPr/>
                </a:tc>
              </a:tr>
              <a:tr h="447040">
                <a:tc>
                  <a:txBody>
                    <a:bodyPr/>
                    <a:lstStyle/>
                    <a:p>
                      <a:r>
                        <a:rPr sz="1000">
                          <a:solidFill>
                            <a:srgbClr val="0B2A4A"/>
                          </a:solidFill>
                        </a:rPr>
                        <a:t>seismic.events</a:t>
                      </a:r>
                    </a:p>
                  </a:txBody>
                  <a:tcPr>
                    <a:solidFill>
                      <a:srgbClr val="F1F5F9"/>
                    </a:solidFill>
                  </a:tcPr>
                </a:tc>
                <a:tc>
                  <a:txBody>
                    <a:bodyPr/>
                    <a:lstStyle/>
                    <a:p>
                      <a:r>
                        <a:rPr sz="1000">
                          <a:solidFill>
                            <a:srgbClr val="0B2A4A"/>
                          </a:solidFill>
                        </a:rPr>
                        <a:t>3</a:t>
                      </a:r>
                    </a:p>
                  </a:txBody>
                  <a:tcPr>
                    <a:solidFill>
                      <a:srgbClr val="F1F5F9"/>
                    </a:solidFill>
                  </a:tcPr>
                </a:tc>
                <a:tc>
                  <a:txBody>
                    <a:bodyPr/>
                    <a:lstStyle/>
                    <a:p>
                      <a:r>
                        <a:rPr sz="1000">
                          <a:solidFill>
                            <a:srgbClr val="0B2A4A"/>
                          </a:solidFill>
                        </a:rPr>
                        <a:t>EMSC ingestor</a:t>
                      </a:r>
                    </a:p>
                  </a:txBody>
                  <a:tcPr>
                    <a:solidFill>
                      <a:srgbClr val="F1F5F9"/>
                    </a:solidFill>
                  </a:tcPr>
                </a:tc>
                <a:tc>
                  <a:txBody>
                    <a:bodyPr/>
                    <a:lstStyle/>
                    <a:p>
                      <a:r>
                        <a:rPr sz="1000">
                          <a:solidFill>
                            <a:srgbClr val="0B2A4A"/>
                          </a:solidFill>
                        </a:rPr>
                        <a:t>—</a:t>
                      </a:r>
                    </a:p>
                  </a:txBody>
                  <a:tcPr>
                    <a:solidFill>
                      <a:srgbClr val="F1F5F9"/>
                    </a:solidFill>
                  </a:tcPr>
                </a:tc>
              </a:tr>
              <a:tr h="447040">
                <a:tc>
                  <a:txBody>
                    <a:bodyPr/>
                    <a:lstStyle/>
                    <a:p>
                      <a:r>
                        <a:rPr sz="1000">
                          <a:solidFill>
                            <a:srgbClr val="0B2A4A"/>
                          </a:solidFill>
                        </a:rPr>
                        <a:t>config.public.regions</a:t>
                      </a:r>
                    </a:p>
                  </a:txBody>
                  <a:tcPr/>
                </a:tc>
                <a:tc>
                  <a:txBody>
                    <a:bodyPr/>
                    <a:lstStyle/>
                    <a:p>
                      <a:r>
                        <a:rPr sz="1000">
                          <a:solidFill>
                            <a:srgbClr val="0B2A4A"/>
                          </a:solidFill>
                        </a:rPr>
                        <a:t>1</a:t>
                      </a:r>
                    </a:p>
                  </a:txBody>
                  <a:tcPr/>
                </a:tc>
                <a:tc>
                  <a:txBody>
                    <a:bodyPr/>
                    <a:lstStyle/>
                    <a:p>
                      <a:r>
                        <a:rPr sz="1000">
                          <a:solidFill>
                            <a:srgbClr val="0B2A4A"/>
                          </a:solidFill>
                        </a:rPr>
                        <a:t>Debezium CDC</a:t>
                      </a:r>
                    </a:p>
                  </a:txBody>
                  <a:tcPr/>
                </a:tc>
                <a:tc>
                  <a:txBody>
                    <a:bodyPr/>
                    <a:lstStyle/>
                    <a:p>
                      <a:r>
                        <a:rPr sz="1000">
                          <a:solidFill>
                            <a:srgbClr val="0B2A4A"/>
                          </a:solidFill>
                        </a:rPr>
                        <a:t>dlq.config-source</a:t>
                      </a:r>
                    </a:p>
                  </a:txBody>
                  <a:tcPr/>
                </a:tc>
              </a:tr>
              <a:tr h="447040">
                <a:tc>
                  <a:txBody>
                    <a:bodyPr/>
                    <a:lstStyle/>
                    <a:p>
                      <a:r>
                        <a:rPr sz="1000">
                          <a:solidFill>
                            <a:srgbClr val="0B2A4A"/>
                          </a:solidFill>
                        </a:rPr>
                        <a:t>config.public.alert_thresholds</a:t>
                      </a:r>
                    </a:p>
                  </a:txBody>
                  <a:tcPr>
                    <a:solidFill>
                      <a:srgbClr val="F1F5F9"/>
                    </a:solidFill>
                  </a:tcPr>
                </a:tc>
                <a:tc>
                  <a:txBody>
                    <a:bodyPr/>
                    <a:lstStyle/>
                    <a:p>
                      <a:r>
                        <a:rPr sz="1000">
                          <a:solidFill>
                            <a:srgbClr val="0B2A4A"/>
                          </a:solidFill>
                        </a:rPr>
                        <a:t>1</a:t>
                      </a:r>
                    </a:p>
                  </a:txBody>
                  <a:tcPr>
                    <a:solidFill>
                      <a:srgbClr val="F1F5F9"/>
                    </a:solidFill>
                  </a:tcPr>
                </a:tc>
                <a:tc>
                  <a:txBody>
                    <a:bodyPr/>
                    <a:lstStyle/>
                    <a:p>
                      <a:r>
                        <a:rPr sz="1000">
                          <a:solidFill>
                            <a:srgbClr val="0B2A4A"/>
                          </a:solidFill>
                        </a:rPr>
                        <a:t>Debezium CDC</a:t>
                      </a:r>
                    </a:p>
                  </a:txBody>
                  <a:tcPr>
                    <a:solidFill>
                      <a:srgbClr val="F1F5F9"/>
                    </a:solidFill>
                  </a:tcPr>
                </a:tc>
                <a:tc>
                  <a:txBody>
                    <a:bodyPr/>
                    <a:lstStyle/>
                    <a:p>
                      <a:r>
                        <a:rPr sz="1000">
                          <a:solidFill>
                            <a:srgbClr val="0B2A4A"/>
                          </a:solidFill>
                        </a:rPr>
                        <a:t>dlq.config-source</a:t>
                      </a:r>
                    </a:p>
                  </a:txBody>
                  <a:tcPr>
                    <a:solidFill>
                      <a:srgbClr val="F1F5F9"/>
                    </a:solidFill>
                  </a:tcPr>
                </a:tc>
              </a:tr>
              <a:tr h="447040">
                <a:tc>
                  <a:txBody>
                    <a:bodyPr/>
                    <a:lstStyle/>
                    <a:p>
                      <a:r>
                        <a:rPr sz="1000">
                          <a:solidFill>
                            <a:srgbClr val="0B2A4A"/>
                          </a:solidFill>
                        </a:rPr>
                        <a:t>config.public.subscriber_watchlist</a:t>
                      </a:r>
                    </a:p>
                  </a:txBody>
                  <a:tcPr/>
                </a:tc>
                <a:tc>
                  <a:txBody>
                    <a:bodyPr/>
                    <a:lstStyle/>
                    <a:p>
                      <a:r>
                        <a:rPr sz="1000">
                          <a:solidFill>
                            <a:srgbClr val="0B2A4A"/>
                          </a:solidFill>
                        </a:rPr>
                        <a:t>1</a:t>
                      </a:r>
                    </a:p>
                  </a:txBody>
                  <a:tcPr/>
                </a:tc>
                <a:tc>
                  <a:txBody>
                    <a:bodyPr/>
                    <a:lstStyle/>
                    <a:p>
                      <a:r>
                        <a:rPr sz="1000">
                          <a:solidFill>
                            <a:srgbClr val="0B2A4A"/>
                          </a:solidFill>
                        </a:rPr>
                        <a:t>Debezium CDC</a:t>
                      </a:r>
                    </a:p>
                  </a:txBody>
                  <a:tcPr/>
                </a:tc>
                <a:tc>
                  <a:txBody>
                    <a:bodyPr/>
                    <a:lstStyle/>
                    <a:p>
                      <a:r>
                        <a:rPr sz="1000">
                          <a:solidFill>
                            <a:srgbClr val="0B2A4A"/>
                          </a:solidFill>
                        </a:rPr>
                        <a:t>dlq.config-source</a:t>
                      </a:r>
                    </a:p>
                  </a:txBody>
                  <a:tcPr/>
                </a:tc>
              </a:tr>
              <a:tr h="447040">
                <a:tc>
                  <a:txBody>
                    <a:bodyPr/>
                    <a:lstStyle/>
                    <a:p>
                      <a:r>
                        <a:rPr sz="1000">
                          <a:solidFill>
                            <a:srgbClr val="0B2A4A"/>
                          </a:solidFill>
                        </a:rPr>
                        <a:t>config.heartbeat</a:t>
                      </a:r>
                    </a:p>
                  </a:txBody>
                  <a:tcPr>
                    <a:solidFill>
                      <a:srgbClr val="F1F5F9"/>
                    </a:solidFill>
                  </a:tcPr>
                </a:tc>
                <a:tc>
                  <a:txBody>
                    <a:bodyPr/>
                    <a:lstStyle/>
                    <a:p>
                      <a:r>
                        <a:rPr sz="1000">
                          <a:solidFill>
                            <a:srgbClr val="0B2A4A"/>
                          </a:solidFill>
                        </a:rPr>
                        <a:t>1</a:t>
                      </a:r>
                    </a:p>
                  </a:txBody>
                  <a:tcPr>
                    <a:solidFill>
                      <a:srgbClr val="F1F5F9"/>
                    </a:solidFill>
                  </a:tcPr>
                </a:tc>
                <a:tc>
                  <a:txBody>
                    <a:bodyPr/>
                    <a:lstStyle/>
                    <a:p>
                      <a:r>
                        <a:rPr sz="1000">
                          <a:solidFill>
                            <a:srgbClr val="0B2A4A"/>
                          </a:solidFill>
                        </a:rPr>
                        <a:t>Debezium</a:t>
                      </a:r>
                    </a:p>
                  </a:txBody>
                  <a:tcPr>
                    <a:solidFill>
                      <a:srgbClr val="F1F5F9"/>
                    </a:solidFill>
                  </a:tcPr>
                </a:tc>
                <a:tc>
                  <a:txBody>
                    <a:bodyPr/>
                    <a:lstStyle/>
                    <a:p>
                      <a:r>
                        <a:rPr sz="1000">
                          <a:solidFill>
                            <a:srgbClr val="0B2A4A"/>
                          </a:solidFill>
                        </a:rPr>
                        <a:t>—</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Highway lanes</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Partitions are lanes on a highway. More lanes = more cars in parallel, but order is only guaranteed within one lane. Pick the partition key (entity id) so things that must stay in order share a lane.</a:t>
            </a:r>
          </a:p>
        </p:txBody>
      </p:sp>
      <p:sp>
        <p:nvSpPr>
          <p:cNvPr id="11" name="Rectangle 10"/>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6 / 10  ·  Module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Storage layout in MinIO</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Hourly partitioned Avro at bronze, snapshot+latest Parquet at gold</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inio.png"/>
          <p:cNvPicPr>
            <a:picLocks noChangeAspect="1"/>
          </p:cNvPicPr>
          <p:nvPr/>
        </p:nvPicPr>
        <p:blipFill>
          <a:blip r:embed="rId2"/>
          <a:stretch>
            <a:fillRect/>
          </a:stretch>
        </p:blipFill>
        <p:spPr>
          <a:xfrm>
            <a:off x="1531620" y="982980"/>
            <a:ext cx="2606040"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s3://bronze/&lt;topic&gt;/year=YYYY/month=MM/day=DD/hour=HH/...avro</a:t>
            </a:r>
          </a:p>
          <a:p>
            <a:pPr>
              <a:spcAft>
                <a:spcPts val="400"/>
              </a:spcAft>
            </a:pPr>
            <a:r>
              <a:rPr sz="1100">
                <a:solidFill>
                  <a:srgbClr val="0B2A4A"/>
                </a:solidFill>
              </a:rPr>
              <a:t>•  s3://silver/&lt;entity&gt;/year=YYYY/month=MM/day=DD/part-&lt;hash&gt;.avro</a:t>
            </a:r>
          </a:p>
          <a:p>
            <a:pPr>
              <a:spcAft>
                <a:spcPts val="400"/>
              </a:spcAft>
            </a:pPr>
            <a:r>
              <a:rPr sz="1100">
                <a:solidFill>
                  <a:srgbClr val="0B2A4A"/>
                </a:solidFill>
              </a:rPr>
              <a:t>•  s3://silver/_quality/&lt;entity&gt;/&lt;utc-iso&gt;.avro  (audit trail)</a:t>
            </a:r>
          </a:p>
          <a:p>
            <a:pPr>
              <a:spcAft>
                <a:spcPts val="400"/>
              </a:spcAft>
            </a:pPr>
            <a:r>
              <a:rPr sz="1100">
                <a:solidFill>
                  <a:srgbClr val="0B2A4A"/>
                </a:solidFill>
              </a:rPr>
              <a:t>•  s3://gold/&lt;mart&gt;/snapshot=…Z/part-0.parquet  +  latest.parquet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Library shelves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Bronze is the returns cart — books dumped in arrival order. Silver is the Dewey-decimal shelf — one copy per ISBN. Gold is the librarian's pick-of-the-week display — small, curated, swap-out-the-poster fast.</a:t>
            </a:r>
          </a:p>
        </p:txBody>
      </p:sp>
      <p:sp>
        <p:nvSpPr>
          <p:cNvPr id="13" name="Rectangle 12"/>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7 / 10  ·  Module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Four gold marts, four questions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Each mart is one decision the business wants to make in &lt;1 sec</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804672">
                <a:tc>
                  <a:txBody>
                    <a:bodyPr/>
                    <a:lstStyle/>
                    <a:p>
                      <a:r>
                        <a:rPr sz="1100" b="1">
                          <a:solidFill>
                            <a:srgbClr val="FFFFFF"/>
                          </a:solidFill>
                        </a:rPr>
                        <a:t>Mart</a:t>
                      </a:r>
                    </a:p>
                  </a:txBody>
                  <a:tcPr>
                    <a:solidFill>
                      <a:srgbClr val="0B2A4A"/>
                    </a:solidFill>
                  </a:tcPr>
                </a:tc>
                <a:tc>
                  <a:txBody>
                    <a:bodyPr/>
                    <a:lstStyle/>
                    <a:p>
                      <a:r>
                        <a:rPr sz="1100" b="1">
                          <a:solidFill>
                            <a:srgbClr val="FFFFFF"/>
                          </a:solidFill>
                        </a:rPr>
                        <a:t>Inputs</a:t>
                      </a:r>
                    </a:p>
                  </a:txBody>
                  <a:tcPr>
                    <a:solidFill>
                      <a:srgbClr val="0B2A4A"/>
                    </a:solidFill>
                  </a:tcPr>
                </a:tc>
                <a:tc>
                  <a:txBody>
                    <a:bodyPr/>
                    <a:lstStyle/>
                    <a:p>
                      <a:r>
                        <a:rPr sz="1100" b="1">
                          <a:solidFill>
                            <a:srgbClr val="FFFFFF"/>
                          </a:solidFill>
                        </a:rPr>
                        <a:t>Grain</a:t>
                      </a:r>
                    </a:p>
                  </a:txBody>
                  <a:tcPr>
                    <a:solidFill>
                      <a:srgbClr val="0B2A4A"/>
                    </a:solidFill>
                  </a:tcPr>
                </a:tc>
              </a:tr>
              <a:tr h="804672">
                <a:tc>
                  <a:txBody>
                    <a:bodyPr/>
                    <a:lstStyle/>
                    <a:p>
                      <a:r>
                        <a:rPr sz="1000">
                          <a:solidFill>
                            <a:srgbClr val="0B2A4A"/>
                          </a:solidFill>
                        </a:rPr>
                        <a:t>aircraft_density_by_region</a:t>
                      </a:r>
                    </a:p>
                  </a:txBody>
                  <a:tcPr/>
                </a:tc>
                <a:tc>
                  <a:txBody>
                    <a:bodyPr/>
                    <a:lstStyle/>
                    <a:p>
                      <a:r>
                        <a:rPr sz="1000">
                          <a:solidFill>
                            <a:srgbClr val="0B2A4A"/>
                          </a:solidFill>
                        </a:rPr>
                        <a:t>ogn + regions</a:t>
                      </a:r>
                    </a:p>
                  </a:txBody>
                  <a:tcPr/>
                </a:tc>
                <a:tc>
                  <a:txBody>
                    <a:bodyPr/>
                    <a:lstStyle/>
                    <a:p>
                      <a:r>
                        <a:rPr sz="1000">
                          <a:solidFill>
                            <a:srgbClr val="0B2A4A"/>
                          </a:solidFill>
                        </a:rPr>
                        <a:t>region · last 1h</a:t>
                      </a:r>
                    </a:p>
                  </a:txBody>
                  <a:tcPr/>
                </a:tc>
              </a:tr>
              <a:tr h="804672">
                <a:tc>
                  <a:txBody>
                    <a:bodyPr/>
                    <a:lstStyle/>
                    <a:p>
                      <a:r>
                        <a:rPr sz="1000">
                          <a:solidFill>
                            <a:srgbClr val="0B2A4A"/>
                          </a:solidFill>
                        </a:rPr>
                        <a:t>weather_snapshot</a:t>
                      </a:r>
                    </a:p>
                  </a:txBody>
                  <a:tcPr>
                    <a:solidFill>
                      <a:srgbClr val="F1F5F9"/>
                    </a:solidFill>
                  </a:tcPr>
                </a:tc>
                <a:tc>
                  <a:txBody>
                    <a:bodyPr/>
                    <a:lstStyle/>
                    <a:p>
                      <a:r>
                        <a:rPr sz="1000">
                          <a:solidFill>
                            <a:srgbClr val="0B2A4A"/>
                          </a:solidFill>
                        </a:rPr>
                        <a:t>noaa_obs + regions</a:t>
                      </a:r>
                    </a:p>
                  </a:txBody>
                  <a:tcPr>
                    <a:solidFill>
                      <a:srgbClr val="F1F5F9"/>
                    </a:solidFill>
                  </a:tcPr>
                </a:tc>
                <a:tc>
                  <a:txBody>
                    <a:bodyPr/>
                    <a:lstStyle/>
                    <a:p>
                      <a:r>
                        <a:rPr sz="1000">
                          <a:solidFill>
                            <a:srgbClr val="0B2A4A"/>
                          </a:solidFill>
                        </a:rPr>
                        <a:t>station_code · latest</a:t>
                      </a:r>
                    </a:p>
                  </a:txBody>
                  <a:tcPr>
                    <a:solidFill>
                      <a:srgbClr val="F1F5F9"/>
                    </a:solidFill>
                  </a:tcPr>
                </a:tc>
              </a:tr>
              <a:tr h="804672">
                <a:tc>
                  <a:txBody>
                    <a:bodyPr/>
                    <a:lstStyle/>
                    <a:p>
                      <a:r>
                        <a:rPr sz="1000">
                          <a:solidFill>
                            <a:srgbClr val="0B2A4A"/>
                          </a:solidFill>
                        </a:rPr>
                        <a:t>seismic_24h_summary</a:t>
                      </a:r>
                    </a:p>
                  </a:txBody>
                  <a:tcPr/>
                </a:tc>
                <a:tc>
                  <a:txBody>
                    <a:bodyPr/>
                    <a:lstStyle/>
                    <a:p>
                      <a:r>
                        <a:rPr sz="1000">
                          <a:solidFill>
                            <a:srgbClr val="0B2A4A"/>
                          </a:solidFill>
                        </a:rPr>
                        <a:t>seismic_events</a:t>
                      </a:r>
                    </a:p>
                  </a:txBody>
                  <a:tcPr/>
                </a:tc>
                <a:tc>
                  <a:txBody>
                    <a:bodyPr/>
                    <a:lstStyle/>
                    <a:p>
                      <a:r>
                        <a:rPr sz="1000">
                          <a:solidFill>
                            <a:srgbClr val="0B2A4A"/>
                          </a:solidFill>
                        </a:rPr>
                        <a:t>mag-bucket × region · 24h</a:t>
                      </a:r>
                    </a:p>
                  </a:txBody>
                  <a:tcPr/>
                </a:tc>
              </a:tr>
              <a:tr h="804672">
                <a:tc>
                  <a:txBody>
                    <a:bodyPr/>
                    <a:lstStyle/>
                    <a:p>
                      <a:r>
                        <a:rPr sz="1000">
                          <a:solidFill>
                            <a:srgbClr val="0B2A4A"/>
                          </a:solidFill>
                        </a:rPr>
                        <a:t>region_alert_correlation</a:t>
                      </a:r>
                    </a:p>
                  </a:txBody>
                  <a:tcPr>
                    <a:solidFill>
                      <a:srgbClr val="F1F5F9"/>
                    </a:solidFill>
                  </a:tcPr>
                </a:tc>
                <a:tc>
                  <a:txBody>
                    <a:bodyPr/>
                    <a:lstStyle/>
                    <a:p>
                      <a:r>
                        <a:rPr sz="1000">
                          <a:solidFill>
                            <a:srgbClr val="0B2A4A"/>
                          </a:solidFill>
                        </a:rPr>
                        <a:t>seismic + regions + thresholds + watchlist</a:t>
                      </a:r>
                    </a:p>
                  </a:txBody>
                  <a:tcPr>
                    <a:solidFill>
                      <a:srgbClr val="F1F5F9"/>
                    </a:solidFill>
                  </a:tcPr>
                </a:tc>
                <a:tc>
                  <a:txBody>
                    <a:bodyPr/>
                    <a:lstStyle/>
                    <a:p>
                      <a:r>
                        <a:rPr sz="1000">
                          <a:solidFill>
                            <a:srgbClr val="0B2A4A"/>
                          </a:solidFill>
                        </a:rPr>
                        <a:t>alert event</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Newsroom front page</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mart is a front-page headline: one number, one chart, ready to print. The investigative reporting (Avro joins, dedupe) happens upstream so the editor (dashboard) doesn't think.</a:t>
            </a:r>
          </a:p>
        </p:txBody>
      </p:sp>
      <p:sp>
        <p:nvSpPr>
          <p:cNvPr id="11" name="Rectangle 10"/>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8 / 10  ·  Module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Trade-off: kappa over lambda</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One pipeline for batch and stream — replay from bronze when needed</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Kappa: re-process from the log</a:t>
            </a:r>
          </a:p>
        </p:txBody>
      </p:sp>
      <p:sp>
        <p:nvSpPr>
          <p:cNvPr id="7" name="Rectangle 6"/>
          <p:cNvSpPr/>
          <p:nvPr/>
        </p:nvSpPr>
        <p:spPr>
          <a:xfrm>
            <a:off x="731520" y="1463040"/>
            <a:ext cx="1463040" cy="45720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1463040" cy="237744"/>
          </a:xfrm>
          <a:prstGeom prst="rect">
            <a:avLst/>
          </a:prstGeom>
          <a:noFill/>
        </p:spPr>
        <p:txBody>
          <a:bodyPr wrap="square" lIns="45720" rIns="45720" tIns="18288" bIns="18288">
            <a:spAutoFit/>
          </a:bodyPr>
          <a:lstStyle/>
          <a:p>
            <a:pPr algn="ctr"/>
            <a:r>
              <a:rPr sz="1000" b="1">
                <a:solidFill>
                  <a:srgbClr val="FFFFFF"/>
                </a:solidFill>
              </a:rPr>
              <a:t>Kafka log</a:t>
            </a:r>
          </a:p>
        </p:txBody>
      </p:sp>
      <p:sp>
        <p:nvSpPr>
          <p:cNvPr id="9" name="Rectangle 8"/>
          <p:cNvSpPr/>
          <p:nvPr/>
        </p:nvSpPr>
        <p:spPr>
          <a:xfrm>
            <a:off x="2743200" y="1463040"/>
            <a:ext cx="146304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572768"/>
            <a:ext cx="1463040" cy="237744"/>
          </a:xfrm>
          <a:prstGeom prst="rect">
            <a:avLst/>
          </a:prstGeom>
          <a:noFill/>
        </p:spPr>
        <p:txBody>
          <a:bodyPr wrap="square" lIns="45720" rIns="45720" tIns="18288" bIns="18288">
            <a:spAutoFit/>
          </a:bodyPr>
          <a:lstStyle/>
          <a:p>
            <a:pPr algn="ctr"/>
            <a:r>
              <a:rPr sz="1000" b="1">
                <a:solidFill>
                  <a:srgbClr val="FFFFFF"/>
                </a:solidFill>
              </a:rPr>
              <a:t>Stream job v1</a:t>
            </a:r>
          </a:p>
        </p:txBody>
      </p:sp>
      <p:sp>
        <p:nvSpPr>
          <p:cNvPr id="11" name="Rectangle 10"/>
          <p:cNvSpPr/>
          <p:nvPr/>
        </p:nvSpPr>
        <p:spPr>
          <a:xfrm>
            <a:off x="4572000" y="1463040"/>
            <a:ext cx="822960" cy="45720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72768"/>
            <a:ext cx="822960" cy="237744"/>
          </a:xfrm>
          <a:prstGeom prst="rect">
            <a:avLst/>
          </a:prstGeom>
          <a:noFill/>
        </p:spPr>
        <p:txBody>
          <a:bodyPr wrap="square" lIns="45720" rIns="45720" tIns="18288" bIns="18288">
            <a:spAutoFit/>
          </a:bodyPr>
          <a:lstStyle/>
          <a:p>
            <a:pPr algn="ctr"/>
            <a:r>
              <a:rPr sz="1000" b="1">
                <a:solidFill>
                  <a:srgbClr val="FFFFFF"/>
                </a:solidFill>
              </a:rPr>
              <a:t>Gold v1</a:t>
            </a:r>
          </a:p>
        </p:txBody>
      </p:sp>
      <p:cxnSp>
        <p:nvCxnSpPr>
          <p:cNvPr id="13" name="Connector 12"/>
          <p:cNvCxnSpPr/>
          <p:nvPr/>
        </p:nvCxnSpPr>
        <p:spPr>
          <a:xfrm>
            <a:off x="2194560" y="1691640"/>
            <a:ext cx="5486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06240" y="169164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743200" y="2194560"/>
            <a:ext cx="146304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304288"/>
            <a:ext cx="1463040" cy="237744"/>
          </a:xfrm>
          <a:prstGeom prst="rect">
            <a:avLst/>
          </a:prstGeom>
          <a:noFill/>
        </p:spPr>
        <p:txBody>
          <a:bodyPr wrap="square" lIns="45720" rIns="45720" tIns="18288" bIns="18288">
            <a:spAutoFit/>
          </a:bodyPr>
          <a:lstStyle/>
          <a:p>
            <a:pPr algn="ctr"/>
            <a:r>
              <a:rPr sz="1000" b="1">
                <a:solidFill>
                  <a:srgbClr val="FFFFFF"/>
                </a:solidFill>
              </a:rPr>
              <a:t>Stream job v2</a:t>
            </a:r>
          </a:p>
        </p:txBody>
      </p:sp>
      <p:sp>
        <p:nvSpPr>
          <p:cNvPr id="17" name="Rectangle 16"/>
          <p:cNvSpPr/>
          <p:nvPr/>
        </p:nvSpPr>
        <p:spPr>
          <a:xfrm>
            <a:off x="4572000" y="2194560"/>
            <a:ext cx="822960" cy="45720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304288"/>
            <a:ext cx="822960" cy="237744"/>
          </a:xfrm>
          <a:prstGeom prst="rect">
            <a:avLst/>
          </a:prstGeom>
          <a:noFill/>
        </p:spPr>
        <p:txBody>
          <a:bodyPr wrap="square" lIns="45720" rIns="45720" tIns="18288" bIns="18288">
            <a:spAutoFit/>
          </a:bodyPr>
          <a:lstStyle/>
          <a:p>
            <a:pPr algn="ctr"/>
            <a:r>
              <a:rPr sz="1000" b="1">
                <a:solidFill>
                  <a:srgbClr val="FFFFFF"/>
                </a:solidFill>
              </a:rPr>
              <a:t>Gold v2</a:t>
            </a:r>
          </a:p>
        </p:txBody>
      </p:sp>
      <p:cxnSp>
        <p:nvCxnSpPr>
          <p:cNvPr id="19" name="Connector 18"/>
          <p:cNvCxnSpPr/>
          <p:nvPr/>
        </p:nvCxnSpPr>
        <p:spPr>
          <a:xfrm>
            <a:off x="2194560" y="1691640"/>
            <a:ext cx="548640" cy="73152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06240" y="242316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74320" y="2926080"/>
            <a:ext cx="5212080" cy="2011680"/>
          </a:xfrm>
          <a:prstGeom prst="rect">
            <a:avLst/>
          </a:prstGeom>
          <a:noFill/>
        </p:spPr>
        <p:txBody>
          <a:bodyPr wrap="square" lIns="45720" rIns="45720" tIns="18288" bIns="18288">
            <a:spAutoFit/>
          </a:bodyPr>
          <a:lstStyle/>
          <a:p>
            <a:pPr algn="ctr"/>
            <a:r>
              <a:rPr sz="1100" b="0">
                <a:solidFill>
                  <a:srgbClr val="0B2A4A"/>
                </a:solidFill>
                <a:latin typeface="Consolas"/>
              </a:rPr>
              <a:t>Lambda needs two code paths (batch + stream) that must agree.</a:t>
            </a:r>
          </a:p>
          <a:p>
            <a:pPr algn="ctr"/>
            <a:r>
              <a:rPr sz="1100" b="0">
                <a:solidFill>
                  <a:srgbClr val="0B2A4A"/>
                </a:solidFill>
                <a:latin typeface="Consolas"/>
              </a:rPr>
              <a:t>Kappa keeps one path; rewrites = a new consumer that re-reads</a:t>
            </a:r>
          </a:p>
          <a:p>
            <a:pPr algn="ctr"/>
            <a:r>
              <a:rPr sz="1100" b="0">
                <a:solidFill>
                  <a:srgbClr val="0B2A4A"/>
                </a:solidFill>
                <a:latin typeface="Consolas"/>
              </a:rPr>
              <a:t>bronze. Cheaper to test, easier to reason about.</a:t>
            </a:r>
          </a:p>
          <a:p>
            <a:pPr algn="ctr"/>
            <a:r>
              <a:rPr sz="1100" b="0">
                <a:solidFill>
                  <a:srgbClr val="0B2A4A"/>
                </a:solidFill>
                <a:latin typeface="Consolas"/>
              </a:rPr>
              <a:t/>
            </a:r>
          </a:p>
          <a:p>
            <a:pPr algn="ctr"/>
            <a:r>
              <a:rPr sz="1100" b="0">
                <a:solidFill>
                  <a:srgbClr val="0B2A4A"/>
                </a:solidFill>
                <a:latin typeface="Consolas"/>
              </a:rPr>
              <a:t>In this stack:  the Hop/Python jobs read bronze each run, so a</a:t>
            </a:r>
          </a:p>
          <a:p>
            <a:pPr algn="ctr"/>
            <a:r>
              <a:rPr sz="1100" b="0">
                <a:solidFill>
                  <a:srgbClr val="0B2A4A"/>
                </a:solidFill>
                <a:latin typeface="Consolas"/>
              </a:rPr>
              <a:t>logic fix is just  ‘delete silver+gold, re-run’.</a:t>
            </a:r>
          </a:p>
        </p:txBody>
      </p:sp>
      <p:sp>
        <p:nvSpPr>
          <p:cNvPr id="22" name="Rectangle 2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4" name="TextBox 2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Tape vs notebook</a:t>
            </a:r>
          </a:p>
        </p:txBody>
      </p:sp>
      <p:sp>
        <p:nvSpPr>
          <p:cNvPr id="25" name="TextBox 2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tape recorder lets you rewind and re-listen. A notebook only has what you wrote down. Kappa says: keep the tape (Kafka log) and you can always re-create the notes.</a:t>
            </a:r>
          </a:p>
        </p:txBody>
      </p:sp>
      <p:sp>
        <p:nvSpPr>
          <p:cNvPr id="26" name="Rectangle 25"/>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9 / 10  ·  Module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In this stack, why does Postgres only hold config tables and not facts?</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Facts are high-volume and append-only — they belong in Kafka. Postgres is for small reference data that CDC streams cheaply.</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Which Avro compatibility mode lets new schemas read old data?</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BACKWARD — the default we configure on Schema Registry.</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pick Avro for bronze/silver and Parquet for gold?</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Avro is row-oriented + schema-bound (good for streaming writes). Parquet is column-oriented (good for dashboard reads).</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 does the partition key control?</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Which partition an event lands in — and therefore the unit of ordering. Same key → same partition → guaranteed order.</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If a Gold mart logic bug is found, what's the recovery path?</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Delete that mart, re-run silver_to_gold — bronze is the source of truth and re-derivation is cheap (Kappa).</a:t>
            </a:r>
          </a:p>
        </p:txBody>
      </p:sp>
      <p:sp>
        <p:nvSpPr>
          <p:cNvPr id="16" name="Rectangle 15"/>
          <p:cNvSpPr/>
          <p:nvPr/>
        </p:nvSpPr>
        <p:spPr>
          <a:xfrm>
            <a:off x="0" y="66294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10 / 10  ·  Module 1 — Knowledge Check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2</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Integrating Debezium, Kafka, Hop, Airflow</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Four tools, four jobs, one contract (Avro + topic names + DAG ids)</a:t>
            </a:r>
          </a:p>
        </p:txBody>
      </p:sp>
      <p:sp>
        <p:nvSpPr>
          <p:cNvPr id="7" name="Rectangle 6"/>
          <p:cNvSpPr/>
          <p:nvPr/>
        </p:nvSpPr>
        <p:spPr>
          <a:xfrm>
            <a:off x="137160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bezium.png"/>
          <p:cNvPicPr>
            <a:picLocks noChangeAspect="1"/>
          </p:cNvPicPr>
          <p:nvPr/>
        </p:nvPicPr>
        <p:blipFill>
          <a:blip r:embed="rId2"/>
          <a:stretch>
            <a:fillRect/>
          </a:stretch>
        </p:blipFill>
        <p:spPr>
          <a:xfrm>
            <a:off x="1531620" y="4172901"/>
            <a:ext cx="1143000" cy="249555"/>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afka.png"/>
          <p:cNvPicPr>
            <a:picLocks noChangeAspect="1"/>
          </p:cNvPicPr>
          <p:nvPr/>
        </p:nvPicPr>
        <p:blipFill>
          <a:blip r:embed="rId3"/>
          <a:stretch>
            <a:fillRect/>
          </a:stretch>
        </p:blipFill>
        <p:spPr>
          <a:xfrm>
            <a:off x="3509742" y="3909059"/>
            <a:ext cx="478596"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hop.png"/>
          <p:cNvPicPr>
            <a:picLocks noChangeAspect="1"/>
          </p:cNvPicPr>
          <p:nvPr/>
        </p:nvPicPr>
        <p:blipFill>
          <a:blip r:embed="rId4"/>
          <a:stretch>
            <a:fillRect/>
          </a:stretch>
        </p:blipFill>
        <p:spPr>
          <a:xfrm>
            <a:off x="5028337" y="3909059"/>
            <a:ext cx="733245"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irflow.png"/>
          <p:cNvPicPr>
            <a:picLocks noChangeAspect="1"/>
          </p:cNvPicPr>
          <p:nvPr/>
        </p:nvPicPr>
        <p:blipFill>
          <a:blip r:embed="rId5"/>
          <a:stretch>
            <a:fillRect/>
          </a:stretch>
        </p:blipFill>
        <p:spPr>
          <a:xfrm>
            <a:off x="6469380" y="4077080"/>
            <a:ext cx="1143000" cy="44119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Debezium deep dive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Tailing the WAL, not querying the table</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CDC: how Debezium tails Postgres</a:t>
            </a:r>
          </a:p>
        </p:txBody>
      </p:sp>
      <p:sp>
        <p:nvSpPr>
          <p:cNvPr id="7" name="Rectangle 6"/>
          <p:cNvSpPr/>
          <p:nvPr/>
        </p:nvSpPr>
        <p:spPr>
          <a:xfrm>
            <a:off x="365760" y="1371600"/>
            <a:ext cx="1463040" cy="640080"/>
          </a:xfrm>
          <a:prstGeom prst="rect">
            <a:avLst/>
          </a:prstGeom>
          <a:solidFill>
            <a:srgbClr val="336791"/>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72768"/>
            <a:ext cx="1463040" cy="237744"/>
          </a:xfrm>
          <a:prstGeom prst="rect">
            <a:avLst/>
          </a:prstGeom>
          <a:noFill/>
        </p:spPr>
        <p:txBody>
          <a:bodyPr wrap="square" lIns="45720" rIns="45720" tIns="18288" bIns="18288">
            <a:spAutoFit/>
          </a:bodyPr>
          <a:lstStyle/>
          <a:p>
            <a:pPr algn="ctr"/>
            <a:r>
              <a:rPr sz="1000" b="1">
                <a:solidFill>
                  <a:srgbClr val="FFFFFF"/>
                </a:solidFill>
              </a:rPr>
              <a:t>Postgres</a:t>
            </a:r>
          </a:p>
          <a:p>
            <a:pPr algn="ctr"/>
            <a:r>
              <a:rPr sz="1000" b="1">
                <a:solidFill>
                  <a:srgbClr val="FFFFFF"/>
                </a:solidFill>
              </a:rPr>
              <a:t>(WAL)</a:t>
            </a:r>
          </a:p>
        </p:txBody>
      </p:sp>
      <p:sp>
        <p:nvSpPr>
          <p:cNvPr id="9" name="Rectangle 8"/>
          <p:cNvSpPr/>
          <p:nvPr/>
        </p:nvSpPr>
        <p:spPr>
          <a:xfrm>
            <a:off x="2194560" y="1371600"/>
            <a:ext cx="1463040" cy="6400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1572768"/>
            <a:ext cx="1463040" cy="237744"/>
          </a:xfrm>
          <a:prstGeom prst="rect">
            <a:avLst/>
          </a:prstGeom>
          <a:noFill/>
        </p:spPr>
        <p:txBody>
          <a:bodyPr wrap="square" lIns="45720" rIns="45720" tIns="18288" bIns="18288">
            <a:spAutoFit/>
          </a:bodyPr>
          <a:lstStyle/>
          <a:p>
            <a:pPr algn="ctr"/>
            <a:r>
              <a:rPr sz="1000" b="1">
                <a:solidFill>
                  <a:srgbClr val="FFFFFF"/>
                </a:solidFill>
              </a:rPr>
              <a:t>Debezium</a:t>
            </a:r>
          </a:p>
          <a:p>
            <a:pPr algn="ctr"/>
            <a:r>
              <a:rPr sz="1000" b="1">
                <a:solidFill>
                  <a:srgbClr val="FFFFFF"/>
                </a:solidFill>
              </a:rPr>
              <a:t>pgoutput</a:t>
            </a:r>
          </a:p>
        </p:txBody>
      </p:sp>
      <p:sp>
        <p:nvSpPr>
          <p:cNvPr id="11" name="Rectangle 10"/>
          <p:cNvSpPr/>
          <p:nvPr/>
        </p:nvSpPr>
        <p:spPr>
          <a:xfrm>
            <a:off x="3931920" y="1371600"/>
            <a:ext cx="1463040" cy="6400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572768"/>
            <a:ext cx="1463040" cy="237744"/>
          </a:xfrm>
          <a:prstGeom prst="rect">
            <a:avLst/>
          </a:prstGeom>
          <a:noFill/>
        </p:spPr>
        <p:txBody>
          <a:bodyPr wrap="square" lIns="45720" rIns="45720" tIns="18288" bIns="18288">
            <a:spAutoFit/>
          </a:bodyPr>
          <a:lstStyle/>
          <a:p>
            <a:pPr algn="ctr"/>
            <a:r>
              <a:rPr sz="1000" b="1">
                <a:solidFill>
                  <a:srgbClr val="FFFFFF"/>
                </a:solidFill>
              </a:rPr>
              <a:t>Kafka topic</a:t>
            </a:r>
          </a:p>
          <a:p>
            <a:pPr algn="ctr"/>
            <a:r>
              <a:rPr sz="1000" b="1">
                <a:solidFill>
                  <a:srgbClr val="FFFFFF"/>
                </a:solidFill>
              </a:rPr>
              <a:t>config.public.*</a:t>
            </a:r>
          </a:p>
        </p:txBody>
      </p:sp>
      <p:cxnSp>
        <p:nvCxnSpPr>
          <p:cNvPr id="13" name="Connector 12"/>
          <p:cNvCxnSpPr/>
          <p:nvPr/>
        </p:nvCxnSpPr>
        <p:spPr>
          <a:xfrm>
            <a:off x="1828800" y="169164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1554480"/>
            <a:ext cx="1097280" cy="274320"/>
          </a:xfrm>
          <a:prstGeom prst="rect">
            <a:avLst/>
          </a:prstGeom>
          <a:noFill/>
        </p:spPr>
        <p:txBody>
          <a:bodyPr wrap="square" lIns="45720" rIns="45720" tIns="18288" bIns="18288">
            <a:spAutoFit/>
          </a:bodyPr>
          <a:lstStyle/>
          <a:p>
            <a:pPr algn="ctr"/>
            <a:r>
              <a:rPr sz="800" b="0">
                <a:solidFill>
                  <a:srgbClr val="555555"/>
                </a:solidFill>
              </a:rPr>
              <a:t>logical</a:t>
            </a:r>
          </a:p>
        </p:txBody>
      </p:sp>
      <p:cxnSp>
        <p:nvCxnSpPr>
          <p:cNvPr id="15" name="Connector 14"/>
          <p:cNvCxnSpPr/>
          <p:nvPr/>
        </p:nvCxnSpPr>
        <p:spPr>
          <a:xfrm>
            <a:off x="3657600" y="1691640"/>
            <a:ext cx="27432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6120" y="1554480"/>
            <a:ext cx="1097280" cy="274320"/>
          </a:xfrm>
          <a:prstGeom prst="rect">
            <a:avLst/>
          </a:prstGeom>
          <a:noFill/>
        </p:spPr>
        <p:txBody>
          <a:bodyPr wrap="square" lIns="45720" rIns="45720" tIns="18288" bIns="18288">
            <a:spAutoFit/>
          </a:bodyPr>
          <a:lstStyle/>
          <a:p>
            <a:pPr algn="ctr"/>
            <a:r>
              <a:rPr sz="800" b="0">
                <a:solidFill>
                  <a:srgbClr val="555555"/>
                </a:solidFill>
              </a:rPr>
              <a:t>Avro</a:t>
            </a:r>
          </a:p>
        </p:txBody>
      </p:sp>
      <p:sp>
        <p:nvSpPr>
          <p:cNvPr id="17" name="TextBox 16"/>
          <p:cNvSpPr txBox="1"/>
          <p:nvPr/>
        </p:nvSpPr>
        <p:spPr>
          <a:xfrm>
            <a:off x="274320" y="2286000"/>
            <a:ext cx="5212080" cy="274320"/>
          </a:xfrm>
          <a:prstGeom prst="rect">
            <a:avLst/>
          </a:prstGeom>
          <a:noFill/>
        </p:spPr>
        <p:txBody>
          <a:bodyPr wrap="square" lIns="45720" rIns="45720" tIns="18288" bIns="18288">
            <a:spAutoFit/>
          </a:bodyPr>
          <a:lstStyle/>
          <a:p>
            <a:pPr algn="l"/>
            <a:r>
              <a:rPr sz="1100" b="1">
                <a:solidFill>
                  <a:srgbClr val="0B2A4A"/>
                </a:solidFill>
              </a:rPr>
              <a:t>Per-row event:</a:t>
            </a:r>
          </a:p>
        </p:txBody>
      </p:sp>
      <p:sp>
        <p:nvSpPr>
          <p:cNvPr id="18" name="TextBox 17"/>
          <p:cNvSpPr txBox="1"/>
          <p:nvPr/>
        </p:nvSpPr>
        <p:spPr>
          <a:xfrm>
            <a:off x="274320" y="2560320"/>
            <a:ext cx="5212080" cy="2194560"/>
          </a:xfrm>
          <a:prstGeom prst="rect">
            <a:avLst/>
          </a:prstGeom>
          <a:noFill/>
        </p:spPr>
        <p:txBody>
          <a:bodyPr wrap="square" lIns="45720" rIns="45720" tIns="18288" bIns="18288">
            <a:spAutoFit/>
          </a:bodyPr>
          <a:lstStyle/>
          <a:p>
            <a:pPr algn="l"/>
            <a:r>
              <a:rPr sz="1000" b="0">
                <a:solidFill>
                  <a:srgbClr val="0B2A4A"/>
                </a:solidFill>
                <a:latin typeface="Consolas"/>
              </a:rPr>
              <a:t>{ "op": "u",</a:t>
            </a:r>
          </a:p>
          <a:p>
            <a:pPr algn="l"/>
            <a:r>
              <a:rPr sz="1000" b="0">
                <a:solidFill>
                  <a:srgbClr val="0B2A4A"/>
                </a:solidFill>
                <a:latin typeface="Consolas"/>
              </a:rPr>
              <a:t>  "before": { "id": 7, "threshold_mag": 4.5 },</a:t>
            </a:r>
          </a:p>
          <a:p>
            <a:pPr algn="l"/>
            <a:r>
              <a:rPr sz="1000" b="0">
                <a:solidFill>
                  <a:srgbClr val="0B2A4A"/>
                </a:solidFill>
                <a:latin typeface="Consolas"/>
              </a:rPr>
              <a:t>  "after":  { "id": 7, "threshold_mag": 5.0 },</a:t>
            </a:r>
          </a:p>
          <a:p>
            <a:pPr algn="l"/>
            <a:r>
              <a:rPr sz="1000" b="0">
                <a:solidFill>
                  <a:srgbClr val="0B2A4A"/>
                </a:solidFill>
                <a:latin typeface="Consolas"/>
              </a:rPr>
              <a:t>  "source": { "lsn": 0/16D34A8, "ts_ms": 1717... },</a:t>
            </a:r>
          </a:p>
          <a:p>
            <a:pPr algn="l"/>
            <a:r>
              <a:rPr sz="1000" b="0">
                <a:solidFill>
                  <a:srgbClr val="0B2A4A"/>
                </a:solidFill>
                <a:latin typeface="Consolas"/>
              </a:rPr>
              <a:t>  "ts_ms":  1717... }</a:t>
            </a:r>
          </a:p>
          <a:p>
            <a:pPr algn="l"/>
            <a:r>
              <a:rPr sz="1000" b="0">
                <a:solidFill>
                  <a:srgbClr val="0B2A4A"/>
                </a:solidFill>
                <a:latin typeface="Consolas"/>
              </a:rPr>
              <a:t/>
            </a:r>
          </a:p>
          <a:p>
            <a:pPr algn="l"/>
            <a:r>
              <a:rPr sz="1000" b="0">
                <a:solidFill>
                  <a:srgbClr val="0B2A4A"/>
                </a:solidFill>
                <a:latin typeface="Consolas"/>
              </a:rPr>
              <a:t>Order is preserved per-row; resume from last LSN on crash.</a:t>
            </a:r>
          </a:p>
          <a:p>
            <a:pPr algn="l"/>
            <a:r>
              <a:rPr sz="1000" b="0">
                <a:solidFill>
                  <a:srgbClr val="0B2A4A"/>
                </a:solidFill>
                <a:latin typeface="Consolas"/>
              </a:rPr>
              <a:t>Snapshot mode bootstraps a new consumer with a full table read.</a:t>
            </a:r>
          </a:p>
        </p:txBody>
      </p:sp>
      <p:sp>
        <p:nvSpPr>
          <p:cNvPr id="19" name="Rectangle 1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1" name="TextBox 2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Train conductor's logbook</a:t>
            </a:r>
          </a:p>
        </p:txBody>
      </p:sp>
      <p:sp>
        <p:nvSpPr>
          <p:cNvPr id="22" name="TextBox 2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conductor doesn't ask each passenger who they are — they read the boarding manifest. The WAL is the manifest of every database change, in order, and Debezium just reads it.</a:t>
            </a:r>
          </a:p>
        </p:txBody>
      </p:sp>
      <p:sp>
        <p:nvSpPr>
          <p:cNvPr id="23" name="Rectangle 22"/>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2 / 10  ·  Module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Kafka topics, partitions, consumer groups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Append-only logs split for parallelism</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Topics, partitions, consumers</a:t>
            </a:r>
          </a:p>
        </p:txBody>
      </p:sp>
      <p:sp>
        <p:nvSpPr>
          <p:cNvPr id="7" name="Rectangle 6"/>
          <p:cNvSpPr/>
          <p:nvPr/>
        </p:nvSpPr>
        <p:spPr>
          <a:xfrm>
            <a:off x="36576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90472"/>
            <a:ext cx="1554480" cy="274320"/>
          </a:xfrm>
          <a:prstGeom prst="rect">
            <a:avLst/>
          </a:prstGeom>
          <a:noFill/>
        </p:spPr>
        <p:txBody>
          <a:bodyPr wrap="square" lIns="45720" rIns="45720" tIns="18288" bIns="18288">
            <a:spAutoFit/>
          </a:bodyPr>
          <a:lstStyle/>
          <a:p>
            <a:pPr algn="ctr"/>
            <a:r>
              <a:rPr sz="1000" b="1">
                <a:solidFill>
                  <a:srgbClr val="FFFFFF"/>
                </a:solidFill>
              </a:rPr>
              <a:t>partition 0</a:t>
            </a:r>
          </a:p>
        </p:txBody>
      </p:sp>
      <p:sp>
        <p:nvSpPr>
          <p:cNvPr id="9" name="Rectangle 8"/>
          <p:cNvSpPr/>
          <p:nvPr/>
        </p:nvSpPr>
        <p:spPr>
          <a:xfrm>
            <a:off x="45720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11" name="Rectangle 10"/>
          <p:cNvSpPr/>
          <p:nvPr/>
        </p:nvSpPr>
        <p:spPr>
          <a:xfrm>
            <a:off x="80467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13" name="Rectangle 12"/>
          <p:cNvSpPr/>
          <p:nvPr/>
        </p:nvSpPr>
        <p:spPr>
          <a:xfrm>
            <a:off x="115214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15" name="Rectangle 14"/>
          <p:cNvSpPr/>
          <p:nvPr/>
        </p:nvSpPr>
        <p:spPr>
          <a:xfrm>
            <a:off x="149961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961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17" name="Rectangle 16"/>
          <p:cNvSpPr/>
          <p:nvPr/>
        </p:nvSpPr>
        <p:spPr>
          <a:xfrm>
            <a:off x="205740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7400" y="1490472"/>
            <a:ext cx="1554480" cy="274320"/>
          </a:xfrm>
          <a:prstGeom prst="rect">
            <a:avLst/>
          </a:prstGeom>
          <a:noFill/>
        </p:spPr>
        <p:txBody>
          <a:bodyPr wrap="square" lIns="45720" rIns="45720" tIns="18288" bIns="18288">
            <a:spAutoFit/>
          </a:bodyPr>
          <a:lstStyle/>
          <a:p>
            <a:pPr algn="ctr"/>
            <a:r>
              <a:rPr sz="1000" b="1">
                <a:solidFill>
                  <a:srgbClr val="FFFFFF"/>
                </a:solidFill>
              </a:rPr>
              <a:t>partition 1</a:t>
            </a:r>
          </a:p>
        </p:txBody>
      </p:sp>
      <p:sp>
        <p:nvSpPr>
          <p:cNvPr id="19" name="Rectangle 18"/>
          <p:cNvSpPr/>
          <p:nvPr/>
        </p:nvSpPr>
        <p:spPr>
          <a:xfrm>
            <a:off x="214884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4884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21" name="Rectangle 20"/>
          <p:cNvSpPr/>
          <p:nvPr/>
        </p:nvSpPr>
        <p:spPr>
          <a:xfrm>
            <a:off x="249631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9631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23" name="Rectangle 22"/>
          <p:cNvSpPr/>
          <p:nvPr/>
        </p:nvSpPr>
        <p:spPr>
          <a:xfrm>
            <a:off x="284378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4378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25" name="Rectangle 24"/>
          <p:cNvSpPr/>
          <p:nvPr/>
        </p:nvSpPr>
        <p:spPr>
          <a:xfrm>
            <a:off x="319125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9125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27" name="Rectangle 26"/>
          <p:cNvSpPr/>
          <p:nvPr/>
        </p:nvSpPr>
        <p:spPr>
          <a:xfrm>
            <a:off x="374904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49040" y="1490472"/>
            <a:ext cx="1554480" cy="274320"/>
          </a:xfrm>
          <a:prstGeom prst="rect">
            <a:avLst/>
          </a:prstGeom>
          <a:noFill/>
        </p:spPr>
        <p:txBody>
          <a:bodyPr wrap="square" lIns="45720" rIns="45720" tIns="18288" bIns="18288">
            <a:spAutoFit/>
          </a:bodyPr>
          <a:lstStyle/>
          <a:p>
            <a:pPr algn="ctr"/>
            <a:r>
              <a:rPr sz="1000" b="1">
                <a:solidFill>
                  <a:srgbClr val="FFFFFF"/>
                </a:solidFill>
              </a:rPr>
              <a:t>partition 2</a:t>
            </a:r>
          </a:p>
        </p:txBody>
      </p:sp>
      <p:sp>
        <p:nvSpPr>
          <p:cNvPr id="29" name="Rectangle 28"/>
          <p:cNvSpPr/>
          <p:nvPr/>
        </p:nvSpPr>
        <p:spPr>
          <a:xfrm>
            <a:off x="384048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31" name="Rectangle 30"/>
          <p:cNvSpPr/>
          <p:nvPr/>
        </p:nvSpPr>
        <p:spPr>
          <a:xfrm>
            <a:off x="418795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8795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33" name="Rectangle 32"/>
          <p:cNvSpPr/>
          <p:nvPr/>
        </p:nvSpPr>
        <p:spPr>
          <a:xfrm>
            <a:off x="453542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3542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35" name="Rectangle 34"/>
          <p:cNvSpPr/>
          <p:nvPr/>
        </p:nvSpPr>
        <p:spPr>
          <a:xfrm>
            <a:off x="488289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8289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37" name="TextBox 36"/>
          <p:cNvSpPr txBox="1"/>
          <p:nvPr/>
        </p:nvSpPr>
        <p:spPr>
          <a:xfrm>
            <a:off x="274320" y="2560320"/>
            <a:ext cx="5212080" cy="274320"/>
          </a:xfrm>
          <a:prstGeom prst="rect">
            <a:avLst/>
          </a:prstGeom>
          <a:noFill/>
        </p:spPr>
        <p:txBody>
          <a:bodyPr wrap="square" lIns="45720" rIns="45720" tIns="18288" bIns="18288">
            <a:spAutoFit/>
          </a:bodyPr>
          <a:lstStyle/>
          <a:p>
            <a:pPr algn="ctr"/>
            <a:r>
              <a:rPr sz="1100" b="1">
                <a:solidFill>
                  <a:srgbClr val="2CA02C"/>
                </a:solidFill>
              </a:rPr>
              <a:t>Consumer group  s3-sink-streams  (3 workers)</a:t>
            </a:r>
          </a:p>
        </p:txBody>
      </p:sp>
      <p:sp>
        <p:nvSpPr>
          <p:cNvPr id="38" name="Rectangle 37"/>
          <p:cNvSpPr/>
          <p:nvPr/>
        </p:nvSpPr>
        <p:spPr>
          <a:xfrm>
            <a:off x="36576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2967228"/>
            <a:ext cx="1554480" cy="237744"/>
          </a:xfrm>
          <a:prstGeom prst="rect">
            <a:avLst/>
          </a:prstGeom>
          <a:noFill/>
        </p:spPr>
        <p:txBody>
          <a:bodyPr wrap="square" lIns="45720" rIns="45720" tIns="18288" bIns="18288">
            <a:spAutoFit/>
          </a:bodyPr>
          <a:lstStyle/>
          <a:p>
            <a:pPr algn="ctr"/>
            <a:r>
              <a:rPr sz="1000" b="1">
                <a:solidFill>
                  <a:srgbClr val="FFFFFF"/>
                </a:solidFill>
              </a:rPr>
              <a:t>worker 0</a:t>
            </a:r>
          </a:p>
        </p:txBody>
      </p:sp>
      <p:sp>
        <p:nvSpPr>
          <p:cNvPr id="40" name="Rectangle 39"/>
          <p:cNvSpPr/>
          <p:nvPr/>
        </p:nvSpPr>
        <p:spPr>
          <a:xfrm>
            <a:off x="205740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57400" y="2967228"/>
            <a:ext cx="1554480" cy="237744"/>
          </a:xfrm>
          <a:prstGeom prst="rect">
            <a:avLst/>
          </a:prstGeom>
          <a:noFill/>
        </p:spPr>
        <p:txBody>
          <a:bodyPr wrap="square" lIns="45720" rIns="45720" tIns="18288" bIns="18288">
            <a:spAutoFit/>
          </a:bodyPr>
          <a:lstStyle/>
          <a:p>
            <a:pPr algn="ctr"/>
            <a:r>
              <a:rPr sz="1000" b="1">
                <a:solidFill>
                  <a:srgbClr val="FFFFFF"/>
                </a:solidFill>
              </a:rPr>
              <a:t>worker 1</a:t>
            </a:r>
          </a:p>
        </p:txBody>
      </p:sp>
      <p:sp>
        <p:nvSpPr>
          <p:cNvPr id="42" name="Rectangle 41"/>
          <p:cNvSpPr/>
          <p:nvPr/>
        </p:nvSpPr>
        <p:spPr>
          <a:xfrm>
            <a:off x="374904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49040" y="2967228"/>
            <a:ext cx="1554480" cy="237744"/>
          </a:xfrm>
          <a:prstGeom prst="rect">
            <a:avLst/>
          </a:prstGeom>
          <a:noFill/>
        </p:spPr>
        <p:txBody>
          <a:bodyPr wrap="square" lIns="45720" rIns="45720" tIns="18288" bIns="18288">
            <a:spAutoFit/>
          </a:bodyPr>
          <a:lstStyle/>
          <a:p>
            <a:pPr algn="ctr"/>
            <a:r>
              <a:rPr sz="1000" b="1">
                <a:solidFill>
                  <a:srgbClr val="FFFFFF"/>
                </a:solidFill>
              </a:rPr>
              <a:t>worker 2</a:t>
            </a:r>
          </a:p>
        </p:txBody>
      </p:sp>
      <p:sp>
        <p:nvSpPr>
          <p:cNvPr id="44" name="TextBox 43"/>
          <p:cNvSpPr txBox="1"/>
          <p:nvPr/>
        </p:nvSpPr>
        <p:spPr>
          <a:xfrm>
            <a:off x="274320" y="3520440"/>
            <a:ext cx="5212080" cy="1371600"/>
          </a:xfrm>
          <a:prstGeom prst="rect">
            <a:avLst/>
          </a:prstGeom>
          <a:noFill/>
        </p:spPr>
        <p:txBody>
          <a:bodyPr wrap="square" lIns="45720" rIns="45720" tIns="18288" bIns="18288">
            <a:spAutoFit/>
          </a:bodyPr>
          <a:lstStyle/>
          <a:p>
            <a:pPr algn="l"/>
            <a:r>
              <a:rPr sz="1000" b="0">
                <a:solidFill>
                  <a:srgbClr val="0B2A4A"/>
                </a:solidFill>
              </a:rPr>
              <a:t>• A topic is an append-only log split across partitions for parallelism.</a:t>
            </a:r>
          </a:p>
          <a:p>
            <a:pPr algn="l"/>
            <a:r>
              <a:rPr sz="1000" b="0">
                <a:solidFill>
                  <a:srgbClr val="0B2A4A"/>
                </a:solidFill>
              </a:rPr>
              <a:t>• A consumer group divides the partitions among its workers; rebalance happens automatically when a worker joins or dies.</a:t>
            </a:r>
          </a:p>
          <a:p>
            <a:pPr algn="l"/>
            <a:r>
              <a:rPr sz="1000" b="0">
                <a:solidFill>
                  <a:srgbClr val="0B2A4A"/>
                </a:solidFill>
              </a:rPr>
              <a:t>• Order is guaranteed inside a partition, never across the whole topic — pick the partition key carefully (we key by entity id).</a:t>
            </a:r>
          </a:p>
        </p:txBody>
      </p:sp>
      <p:sp>
        <p:nvSpPr>
          <p:cNvPr id="45" name="Rectangle 4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47" name="TextBox 4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Supermarket checkouts</a:t>
            </a:r>
          </a:p>
        </p:txBody>
      </p:sp>
      <p:sp>
        <p:nvSpPr>
          <p:cNvPr id="48" name="TextBox 4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One topic = one queue. Partitions = open lanes. Consumer group = cashiers who agree to split the lanes between them. Add a cashier → automatic re-balance, no customer left waiting.</a:t>
            </a:r>
          </a:p>
        </p:txBody>
      </p:sp>
      <p:sp>
        <p:nvSpPr>
          <p:cNvPr id="49" name="Rectangle 48"/>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3 / 10  ·  Module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Schema Registry compatibility modes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Pick once per subject — drives what producers can change</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303020"/>
                <a:gridCol w="1303020"/>
                <a:gridCol w="1303020"/>
                <a:gridCol w="1303020"/>
              </a:tblGrid>
              <a:tr h="804672">
                <a:tc>
                  <a:txBody>
                    <a:bodyPr/>
                    <a:lstStyle/>
                    <a:p>
                      <a:r>
                        <a:rPr sz="1100" b="1">
                          <a:solidFill>
                            <a:srgbClr val="FFFFFF"/>
                          </a:solidFill>
                        </a:rPr>
                        <a:t>Mode</a:t>
                      </a:r>
                    </a:p>
                  </a:txBody>
                  <a:tcPr>
                    <a:solidFill>
                      <a:srgbClr val="0B2A4A"/>
                    </a:solidFill>
                  </a:tcPr>
                </a:tc>
                <a:tc>
                  <a:txBody>
                    <a:bodyPr/>
                    <a:lstStyle/>
                    <a:p>
                      <a:r>
                        <a:rPr sz="1100" b="1">
                          <a:solidFill>
                            <a:srgbClr val="FFFFFF"/>
                          </a:solidFill>
                        </a:rPr>
                        <a:t>New reader sees old?</a:t>
                      </a:r>
                    </a:p>
                  </a:txBody>
                  <a:tcPr>
                    <a:solidFill>
                      <a:srgbClr val="0B2A4A"/>
                    </a:solidFill>
                  </a:tcPr>
                </a:tc>
                <a:tc>
                  <a:txBody>
                    <a:bodyPr/>
                    <a:lstStyle/>
                    <a:p>
                      <a:r>
                        <a:rPr sz="1100" b="1">
                          <a:solidFill>
                            <a:srgbClr val="FFFFFF"/>
                          </a:solidFill>
                        </a:rPr>
                        <a:t>Old reader sees new?</a:t>
                      </a:r>
                    </a:p>
                  </a:txBody>
                  <a:tcPr>
                    <a:solidFill>
                      <a:srgbClr val="0B2A4A"/>
                    </a:solidFill>
                  </a:tcPr>
                </a:tc>
                <a:tc>
                  <a:txBody>
                    <a:bodyPr/>
                    <a:lstStyle/>
                    <a:p>
                      <a:r>
                        <a:rPr sz="1100" b="1">
                          <a:solidFill>
                            <a:srgbClr val="FFFFFF"/>
                          </a:solidFill>
                        </a:rPr>
                        <a:t>Use when</a:t>
                      </a:r>
                    </a:p>
                  </a:txBody>
                  <a:tcPr>
                    <a:solidFill>
                      <a:srgbClr val="0B2A4A"/>
                    </a:solidFill>
                  </a:tcPr>
                </a:tc>
              </a:tr>
              <a:tr h="804672">
                <a:tc>
                  <a:txBody>
                    <a:bodyPr/>
                    <a:lstStyle/>
                    <a:p>
                      <a:r>
                        <a:rPr sz="1000">
                          <a:solidFill>
                            <a:srgbClr val="0B2A4A"/>
                          </a:solidFill>
                        </a:rPr>
                        <a:t>BACKWARD</a:t>
                      </a:r>
                    </a:p>
                  </a:txBody>
                  <a:tcPr/>
                </a:tc>
                <a:tc>
                  <a:txBody>
                    <a:bodyPr/>
                    <a:lstStyle/>
                    <a:p>
                      <a:r>
                        <a:rPr sz="1000">
                          <a:solidFill>
                            <a:srgbClr val="0B2A4A"/>
                          </a:solidFill>
                        </a:rPr>
                        <a:t>yes (default)</a:t>
                      </a:r>
                    </a:p>
                  </a:txBody>
                  <a:tcPr/>
                </a:tc>
                <a:tc>
                  <a:txBody>
                    <a:bodyPr/>
                    <a:lstStyle/>
                    <a:p>
                      <a:r>
                        <a:rPr sz="1000">
                          <a:solidFill>
                            <a:srgbClr val="0B2A4A"/>
                          </a:solidFill>
                        </a:rPr>
                        <a:t>no</a:t>
                      </a:r>
                    </a:p>
                  </a:txBody>
                  <a:tcPr/>
                </a:tc>
                <a:tc>
                  <a:txBody>
                    <a:bodyPr/>
                    <a:lstStyle/>
                    <a:p>
                      <a:r>
                        <a:rPr sz="1000">
                          <a:solidFill>
                            <a:srgbClr val="0B2A4A"/>
                          </a:solidFill>
                        </a:rPr>
                        <a:t>consumers upgrade after producers</a:t>
                      </a:r>
                    </a:p>
                  </a:txBody>
                  <a:tcPr/>
                </a:tc>
              </a:tr>
              <a:tr h="804672">
                <a:tc>
                  <a:txBody>
                    <a:bodyPr/>
                    <a:lstStyle/>
                    <a:p>
                      <a:r>
                        <a:rPr sz="1000">
                          <a:solidFill>
                            <a:srgbClr val="0B2A4A"/>
                          </a:solidFill>
                        </a:rPr>
                        <a:t>FORWARD</a:t>
                      </a:r>
                    </a:p>
                  </a:txBody>
                  <a:tcPr>
                    <a:solidFill>
                      <a:srgbClr val="F1F5F9"/>
                    </a:solidFill>
                  </a:tcPr>
                </a:tc>
                <a:tc>
                  <a:txBody>
                    <a:bodyPr/>
                    <a:lstStyle/>
                    <a:p>
                      <a:r>
                        <a:rPr sz="1000">
                          <a:solidFill>
                            <a:srgbClr val="0B2A4A"/>
                          </a:solidFill>
                        </a:rPr>
                        <a:t>no</a:t>
                      </a:r>
                    </a:p>
                  </a:txBody>
                  <a:tcPr>
                    <a:solidFill>
                      <a:srgbClr val="F1F5F9"/>
                    </a:solidFill>
                  </a:tcPr>
                </a:tc>
                <a:tc>
                  <a:txBody>
                    <a:bodyPr/>
                    <a:lstStyle/>
                    <a:p>
                      <a:r>
                        <a:rPr sz="1000">
                          <a:solidFill>
                            <a:srgbClr val="0B2A4A"/>
                          </a:solidFill>
                        </a:rPr>
                        <a:t>yes</a:t>
                      </a:r>
                    </a:p>
                  </a:txBody>
                  <a:tcPr>
                    <a:solidFill>
                      <a:srgbClr val="F1F5F9"/>
                    </a:solidFill>
                  </a:tcPr>
                </a:tc>
                <a:tc>
                  <a:txBody>
                    <a:bodyPr/>
                    <a:lstStyle/>
                    <a:p>
                      <a:r>
                        <a:rPr sz="1000">
                          <a:solidFill>
                            <a:srgbClr val="0B2A4A"/>
                          </a:solidFill>
                        </a:rPr>
                        <a:t>producers upgrade after consumers</a:t>
                      </a:r>
                    </a:p>
                  </a:txBody>
                  <a:tcPr>
                    <a:solidFill>
                      <a:srgbClr val="F1F5F9"/>
                    </a:solidFill>
                  </a:tcPr>
                </a:tc>
              </a:tr>
              <a:tr h="804672">
                <a:tc>
                  <a:txBody>
                    <a:bodyPr/>
                    <a:lstStyle/>
                    <a:p>
                      <a:r>
                        <a:rPr sz="1000">
                          <a:solidFill>
                            <a:srgbClr val="0B2A4A"/>
                          </a:solidFill>
                        </a:rPr>
                        <a:t>FULL</a:t>
                      </a:r>
                    </a:p>
                  </a:txBody>
                  <a:tcPr/>
                </a:tc>
                <a:tc>
                  <a:txBody>
                    <a:bodyPr/>
                    <a:lstStyle/>
                    <a:p>
                      <a:r>
                        <a:rPr sz="1000">
                          <a:solidFill>
                            <a:srgbClr val="0B2A4A"/>
                          </a:solidFill>
                        </a:rPr>
                        <a:t>yes</a:t>
                      </a:r>
                    </a:p>
                  </a:txBody>
                  <a:tcPr/>
                </a:tc>
                <a:tc>
                  <a:txBody>
                    <a:bodyPr/>
                    <a:lstStyle/>
                    <a:p>
                      <a:r>
                        <a:rPr sz="1000">
                          <a:solidFill>
                            <a:srgbClr val="0B2A4A"/>
                          </a:solidFill>
                        </a:rPr>
                        <a:t>yes</a:t>
                      </a:r>
                    </a:p>
                  </a:txBody>
                  <a:tcPr/>
                </a:tc>
                <a:tc>
                  <a:txBody>
                    <a:bodyPr/>
                    <a:lstStyle/>
                    <a:p>
                      <a:r>
                        <a:rPr sz="1000">
                          <a:solidFill>
                            <a:srgbClr val="0B2A4A"/>
                          </a:solidFill>
                        </a:rPr>
                        <a:t>both must work, tightest</a:t>
                      </a:r>
                    </a:p>
                  </a:txBody>
                  <a:tcPr/>
                </a:tc>
              </a:tr>
              <a:tr h="804672">
                <a:tc>
                  <a:txBody>
                    <a:bodyPr/>
                    <a:lstStyle/>
                    <a:p>
                      <a:r>
                        <a:rPr sz="1000">
                          <a:solidFill>
                            <a:srgbClr val="0B2A4A"/>
                          </a:solidFill>
                        </a:rPr>
                        <a:t>NONE</a:t>
                      </a:r>
                    </a:p>
                  </a:txBody>
                  <a:tcPr>
                    <a:solidFill>
                      <a:srgbClr val="F1F5F9"/>
                    </a:solidFill>
                  </a:tcPr>
                </a:tc>
                <a:tc>
                  <a:txBody>
                    <a:bodyPr/>
                    <a:lstStyle/>
                    <a:p>
                      <a:r>
                        <a:rPr sz="1000">
                          <a:solidFill>
                            <a:srgbClr val="0B2A4A"/>
                          </a:solidFill>
                        </a:rPr>
                        <a:t>n/a</a:t>
                      </a:r>
                    </a:p>
                  </a:txBody>
                  <a:tcPr>
                    <a:solidFill>
                      <a:srgbClr val="F1F5F9"/>
                    </a:solidFill>
                  </a:tcPr>
                </a:tc>
                <a:tc>
                  <a:txBody>
                    <a:bodyPr/>
                    <a:lstStyle/>
                    <a:p>
                      <a:r>
                        <a:rPr sz="1000">
                          <a:solidFill>
                            <a:srgbClr val="0B2A4A"/>
                          </a:solidFill>
                        </a:rPr>
                        <a:t>n/a</a:t>
                      </a:r>
                    </a:p>
                  </a:txBody>
                  <a:tcPr>
                    <a:solidFill>
                      <a:srgbClr val="F1F5F9"/>
                    </a:solidFill>
                  </a:tcPr>
                </a:tc>
                <a:tc>
                  <a:txBody>
                    <a:bodyPr/>
                    <a:lstStyle/>
                    <a:p>
                      <a:r>
                        <a:rPr sz="1000">
                          <a:solidFill>
                            <a:srgbClr val="0B2A4A"/>
                          </a:solidFill>
                        </a:rPr>
                        <a:t>dev only — break-glass</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Phone-charger USB-C</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BACKWARD compatibility is like a new charger that still fits old phones — the upgrade path nobody has to think about.</a:t>
            </a:r>
          </a:p>
        </p:txBody>
      </p:sp>
      <p:sp>
        <p:nvSpPr>
          <p:cNvPr id="11" name="Rectangle 10"/>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 / 10  ·  Module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Kafka Connect — source and sink plugins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The bridge between the broker and everything that is not Kafka</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debezium-connector-postgres  — source: WAL → Kafka</a:t>
            </a:r>
          </a:p>
          <a:p>
            <a:pPr>
              <a:spcAft>
                <a:spcPts val="400"/>
              </a:spcAft>
            </a:pPr>
            <a:r>
              <a:rPr sz="1100">
                <a:solidFill>
                  <a:srgbClr val="0B2A4A"/>
                </a:solidFill>
              </a:rPr>
              <a:t>•  kafka-connect-s3 (×2)        — sink: Kafka → MinIO bronze</a:t>
            </a:r>
          </a:p>
          <a:p>
            <a:pPr>
              <a:spcAft>
                <a:spcPts val="400"/>
              </a:spcAft>
            </a:pPr>
            <a:r>
              <a:rPr sz="1100">
                <a:solidFill>
                  <a:srgbClr val="0B2A4A"/>
                </a:solidFill>
              </a:rPr>
              <a:t>•  Plugins drop into  debezium/plugins/  → mounted at /etc/kafka-connect/plugins.</a:t>
            </a:r>
          </a:p>
          <a:p>
            <a:pPr>
              <a:spcAft>
                <a:spcPts val="400"/>
              </a:spcAft>
            </a:pPr>
            <a:r>
              <a:rPr sz="1100">
                <a:solidFill>
                  <a:srgbClr val="0B2A4A"/>
                </a:solidFill>
              </a:rPr>
              <a:t>•  JSON config posted to REST :8083; restart-safe (offsets in internal topics).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Power adapters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Connectors are travel adapters — same Kafka 'plug', different shapes on the other side: Postgres, S3, ElasticSearch, Snowflake. You don't write the adapter; you configure it with JSON.</a:t>
            </a:r>
          </a:p>
        </p:txBody>
      </p:sp>
      <p:sp>
        <p:nvSpPr>
          <p:cNvPr id="13" name="Rectangle 12"/>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 / 10  ·  Module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Apache Hop — pipelines and workflows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Visual ETL with .hpl / .hwf files that are also git-friendly XML</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p.png"/>
          <p:cNvPicPr>
            <a:picLocks noChangeAspect="1"/>
          </p:cNvPicPr>
          <p:nvPr/>
        </p:nvPicPr>
        <p:blipFill>
          <a:blip r:embed="rId2"/>
          <a:stretch>
            <a:fillRect/>
          </a:stretch>
        </p:blipFill>
        <p:spPr>
          <a:xfrm>
            <a:off x="1605376" y="982980"/>
            <a:ext cx="2458528"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bronze_to_silver.hpl  — per entity dedupe + late-filter + write audit.</a:t>
            </a:r>
          </a:p>
          <a:p>
            <a:pPr>
              <a:spcAft>
                <a:spcPts val="400"/>
              </a:spcAft>
            </a:pPr>
            <a:r>
              <a:rPr sz="1100">
                <a:solidFill>
                  <a:srgbClr val="0B2A4A"/>
                </a:solidFill>
              </a:rPr>
              <a:t>•  silver_to_gold.hpl    — DuckDB query over silver Avro → Parquet.</a:t>
            </a:r>
          </a:p>
          <a:p>
            <a:pPr>
              <a:spcAft>
                <a:spcPts val="400"/>
              </a:spcAft>
            </a:pPr>
            <a:r>
              <a:rPr sz="1100">
                <a:solidFill>
                  <a:srgbClr val="0B2A4A"/>
                </a:solidFill>
              </a:rPr>
              <a:t>•  Workflows (.hwf) chain pipelines: wf_bronze_to_silver, wf_full_medallion.</a:t>
            </a:r>
          </a:p>
          <a:p>
            <a:pPr>
              <a:spcAft>
                <a:spcPts val="400"/>
              </a:spcAft>
            </a:pPr>
            <a:r>
              <a:rPr sz="1100">
                <a:solidFill>
                  <a:srgbClr val="0B2A4A"/>
                </a:solidFill>
              </a:rPr>
              <a:t>•  Python equivalents (hop/transforms/*.py) run headless inside Airflow.</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LEGO instruction booklet</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Hop pipeline (.hpl) is the LEGO instruction sheet — every step is a named brick, ordered, with inputs and outputs you can see. The Python twin runs the same recipe from Airflow when there's no GUI.</a:t>
            </a:r>
          </a:p>
        </p:txBody>
      </p:sp>
      <p:sp>
        <p:nvSpPr>
          <p:cNvPr id="13" name="Rectangle 12"/>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6 / 10  ·  Module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Airflow DAGs in this stack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DAGs — 1 manual bootstrap, 1 drift generator, 3 every-5-minute jobs</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670560">
                <a:tc>
                  <a:txBody>
                    <a:bodyPr/>
                    <a:lstStyle/>
                    <a:p>
                      <a:r>
                        <a:rPr sz="1100" b="1">
                          <a:solidFill>
                            <a:srgbClr val="FFFFFF"/>
                          </a:solidFill>
                        </a:rPr>
                        <a:t>DAG</a:t>
                      </a:r>
                    </a:p>
                  </a:txBody>
                  <a:tcPr>
                    <a:solidFill>
                      <a:srgbClr val="0B2A4A"/>
                    </a:solidFill>
                  </a:tcPr>
                </a:tc>
                <a:tc>
                  <a:txBody>
                    <a:bodyPr/>
                    <a:lstStyle/>
                    <a:p>
                      <a:r>
                        <a:rPr sz="1100" b="1">
                          <a:solidFill>
                            <a:srgbClr val="FFFFFF"/>
                          </a:solidFill>
                        </a:rPr>
                        <a:t>Schedule</a:t>
                      </a:r>
                    </a:p>
                  </a:txBody>
                  <a:tcPr>
                    <a:solidFill>
                      <a:srgbClr val="0B2A4A"/>
                    </a:solidFill>
                  </a:tcPr>
                </a:tc>
                <a:tc>
                  <a:txBody>
                    <a:bodyPr/>
                    <a:lstStyle/>
                    <a:p>
                      <a:r>
                        <a:rPr sz="1100" b="1">
                          <a:solidFill>
                            <a:srgbClr val="FFFFFF"/>
                          </a:solidFill>
                        </a:rPr>
                        <a:t>What it does</a:t>
                      </a:r>
                    </a:p>
                  </a:txBody>
                  <a:tcPr>
                    <a:solidFill>
                      <a:srgbClr val="0B2A4A"/>
                    </a:solidFill>
                  </a:tcPr>
                </a:tc>
              </a:tr>
              <a:tr h="670560">
                <a:tc>
                  <a:txBody>
                    <a:bodyPr/>
                    <a:lstStyle/>
                    <a:p>
                      <a:r>
                        <a:rPr sz="1000">
                          <a:solidFill>
                            <a:srgbClr val="0B2A4A"/>
                          </a:solidFill>
                        </a:rPr>
                        <a:t>00_bootstrap</a:t>
                      </a:r>
                    </a:p>
                  </a:txBody>
                  <a:tcPr/>
                </a:tc>
                <a:tc>
                  <a:txBody>
                    <a:bodyPr/>
                    <a:lstStyle/>
                    <a:p>
                      <a:r>
                        <a:rPr sz="1000">
                          <a:solidFill>
                            <a:srgbClr val="0B2A4A"/>
                          </a:solidFill>
                        </a:rPr>
                        <a:t>manual</a:t>
                      </a:r>
                    </a:p>
                  </a:txBody>
                  <a:tcPr/>
                </a:tc>
                <a:tc>
                  <a:txBody>
                    <a:bodyPr/>
                    <a:lstStyle/>
                    <a:p>
                      <a:r>
                        <a:rPr sz="1000">
                          <a:solidFill>
                            <a:srgbClr val="0B2A4A"/>
                          </a:solidFill>
                        </a:rPr>
                        <a:t>create topics, buckets, schemas, connectors</a:t>
                      </a:r>
                    </a:p>
                  </a:txBody>
                  <a:tcPr/>
                </a:tc>
              </a:tr>
              <a:tr h="670560">
                <a:tc>
                  <a:txBody>
                    <a:bodyPr/>
                    <a:lstStyle/>
                    <a:p>
                      <a:r>
                        <a:rPr sz="1000">
                          <a:solidFill>
                            <a:srgbClr val="0B2A4A"/>
                          </a:solidFill>
                        </a:rPr>
                        <a:t>15_config_drift</a:t>
                      </a:r>
                    </a:p>
                  </a:txBody>
                  <a:tcPr>
                    <a:solidFill>
                      <a:srgbClr val="F1F5F9"/>
                    </a:solidFill>
                  </a:tcPr>
                </a:tc>
                <a:tc>
                  <a:txBody>
                    <a:bodyPr/>
                    <a:lstStyle/>
                    <a:p>
                      <a:r>
                        <a:rPr sz="1000">
                          <a:solidFill>
                            <a:srgbClr val="0B2A4A"/>
                          </a:solidFill>
                        </a:rPr>
                        <a:t>every 2 m</a:t>
                      </a:r>
                    </a:p>
                  </a:txBody>
                  <a:tcPr>
                    <a:solidFill>
                      <a:srgbClr val="F1F5F9"/>
                    </a:solidFill>
                  </a:tcPr>
                </a:tc>
                <a:tc>
                  <a:txBody>
                    <a:bodyPr/>
                    <a:lstStyle/>
                    <a:p>
                      <a:r>
                        <a:rPr sz="1000">
                          <a:solidFill>
                            <a:srgbClr val="0B2A4A"/>
                          </a:solidFill>
                        </a:rPr>
                        <a:t>mutate Postgres rows to keep CDC busy</a:t>
                      </a:r>
                    </a:p>
                  </a:txBody>
                  <a:tcPr>
                    <a:solidFill>
                      <a:srgbClr val="F1F5F9"/>
                    </a:solidFill>
                  </a:tcPr>
                </a:tc>
              </a:tr>
              <a:tr h="670560">
                <a:tc>
                  <a:txBody>
                    <a:bodyPr/>
                    <a:lstStyle/>
                    <a:p>
                      <a:r>
                        <a:rPr sz="1000">
                          <a:solidFill>
                            <a:srgbClr val="0B2A4A"/>
                          </a:solidFill>
                        </a:rPr>
                        <a:t>30_hop_medallion</a:t>
                      </a:r>
                    </a:p>
                  </a:txBody>
                  <a:tcPr/>
                </a:tc>
                <a:tc>
                  <a:txBody>
                    <a:bodyPr/>
                    <a:lstStyle/>
                    <a:p>
                      <a:r>
                        <a:rPr sz="1000">
                          <a:solidFill>
                            <a:srgbClr val="0B2A4A"/>
                          </a:solidFill>
                        </a:rPr>
                        <a:t>every 5 m</a:t>
                      </a:r>
                    </a:p>
                  </a:txBody>
                  <a:tcPr/>
                </a:tc>
                <a:tc>
                  <a:txBody>
                    <a:bodyPr/>
                    <a:lstStyle/>
                    <a:p>
                      <a:r>
                        <a:rPr sz="1000">
                          <a:solidFill>
                            <a:srgbClr val="0B2A4A"/>
                          </a:solidFill>
                        </a:rPr>
                        <a:t>silver streams ∥ silver CDC → 4 gold marts</a:t>
                      </a:r>
                    </a:p>
                  </a:txBody>
                  <a:tcPr/>
                </a:tc>
              </a:tr>
              <a:tr h="670560">
                <a:tc>
                  <a:txBody>
                    <a:bodyPr/>
                    <a:lstStyle/>
                    <a:p>
                      <a:r>
                        <a:rPr sz="1000">
                          <a:solidFill>
                            <a:srgbClr val="0B2A4A"/>
                          </a:solidFill>
                        </a:rPr>
                        <a:t>40_data_quality</a:t>
                      </a:r>
                    </a:p>
                  </a:txBody>
                  <a:tcPr>
                    <a:solidFill>
                      <a:srgbClr val="F1F5F9"/>
                    </a:solidFill>
                  </a:tcPr>
                </a:tc>
                <a:tc>
                  <a:txBody>
                    <a:bodyPr/>
                    <a:lstStyle/>
                    <a:p>
                      <a:r>
                        <a:rPr sz="1000">
                          <a:solidFill>
                            <a:srgbClr val="0B2A4A"/>
                          </a:solidFill>
                        </a:rPr>
                        <a:t>every 5 m</a:t>
                      </a:r>
                    </a:p>
                  </a:txBody>
                  <a:tcPr>
                    <a:solidFill>
                      <a:srgbClr val="F1F5F9"/>
                    </a:solidFill>
                  </a:tcPr>
                </a:tc>
                <a:tc>
                  <a:txBody>
                    <a:bodyPr/>
                    <a:lstStyle/>
                    <a:p>
                      <a:r>
                        <a:rPr sz="1000">
                          <a:solidFill>
                            <a:srgbClr val="0B2A4A"/>
                          </a:solidFill>
                        </a:rPr>
                        <a:t>rule pack → POST quality-dashboard</a:t>
                      </a:r>
                    </a:p>
                  </a:txBody>
                  <a:tcPr>
                    <a:solidFill>
                      <a:srgbClr val="F1F5F9"/>
                    </a:solidFill>
                  </a:tcPr>
                </a:tc>
              </a:tr>
              <a:tr h="670560">
                <a:tc>
                  <a:txBody>
                    <a:bodyPr/>
                    <a:lstStyle/>
                    <a:p>
                      <a:r>
                        <a:rPr sz="1000">
                          <a:solidFill>
                            <a:srgbClr val="0B2A4A"/>
                          </a:solidFill>
                        </a:rPr>
                        <a:t>50_business_kpis</a:t>
                      </a:r>
                    </a:p>
                  </a:txBody>
                  <a:tcPr/>
                </a:tc>
                <a:tc>
                  <a:txBody>
                    <a:bodyPr/>
                    <a:lstStyle/>
                    <a:p>
                      <a:r>
                        <a:rPr sz="1000">
                          <a:solidFill>
                            <a:srgbClr val="0B2A4A"/>
                          </a:solidFill>
                        </a:rPr>
                        <a:t>every 5 m</a:t>
                      </a:r>
                    </a:p>
                  </a:txBody>
                  <a:tcPr/>
                </a:tc>
                <a:tc>
                  <a:txBody>
                    <a:bodyPr/>
                    <a:lstStyle/>
                    <a:p>
                      <a:r>
                        <a:rPr sz="1000">
                          <a:solidFill>
                            <a:srgbClr val="0B2A4A"/>
                          </a:solidFill>
                        </a:rPr>
                        <a:t>POST business-dashboard /api/refresh</a:t>
                      </a:r>
                    </a:p>
                  </a:txBody>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Symphony conductor</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Airflow doesn't play any instrument — it tells each section when to come in and how loud. The streams are still playing all the time on their own.</a:t>
            </a:r>
          </a:p>
        </p:txBody>
      </p:sp>
      <p:sp>
        <p:nvSpPr>
          <p:cNvPr id="11" name="Rectangle 10"/>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7 / 10  ·  Module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How they wire together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One picture: every box you saw in the previous slides, in place</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End-to-end: APRS packet → dashboard tile</a:t>
            </a:r>
          </a:p>
        </p:txBody>
      </p:sp>
      <p:sp>
        <p:nvSpPr>
          <p:cNvPr id="7" name="Rectangle 6"/>
          <p:cNvSpPr/>
          <p:nvPr/>
        </p:nvSpPr>
        <p:spPr>
          <a:xfrm>
            <a:off x="36576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49908"/>
            <a:ext cx="1188720" cy="237744"/>
          </a:xfrm>
          <a:prstGeom prst="rect">
            <a:avLst/>
          </a:prstGeom>
          <a:noFill/>
        </p:spPr>
        <p:txBody>
          <a:bodyPr wrap="square" lIns="45720" rIns="45720" tIns="18288" bIns="18288">
            <a:spAutoFit/>
          </a:bodyPr>
          <a:lstStyle/>
          <a:p>
            <a:pPr algn="ctr"/>
            <a:r>
              <a:rPr sz="1000" b="1">
                <a:solidFill>
                  <a:srgbClr val="FFFFFF"/>
                </a:solidFill>
              </a:rPr>
              <a:t>OGN APRS</a:t>
            </a:r>
          </a:p>
        </p:txBody>
      </p:sp>
      <p:cxnSp>
        <p:nvCxnSpPr>
          <p:cNvPr id="9" name="Connector 8"/>
          <p:cNvCxnSpPr/>
          <p:nvPr/>
        </p:nvCxnSpPr>
        <p:spPr>
          <a:xfrm>
            <a:off x="155448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64592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1549908"/>
            <a:ext cx="1188720" cy="237744"/>
          </a:xfrm>
          <a:prstGeom prst="rect">
            <a:avLst/>
          </a:prstGeom>
          <a:noFill/>
        </p:spPr>
        <p:txBody>
          <a:bodyPr wrap="square" lIns="45720" rIns="45720" tIns="18288" bIns="18288">
            <a:spAutoFit/>
          </a:bodyPr>
          <a:lstStyle/>
          <a:p>
            <a:pPr algn="ctr"/>
            <a:r>
              <a:rPr sz="1000" b="1">
                <a:solidFill>
                  <a:srgbClr val="FFFFFF"/>
                </a:solidFill>
              </a:rPr>
              <a:t>ingestor</a:t>
            </a:r>
          </a:p>
        </p:txBody>
      </p:sp>
      <p:cxnSp>
        <p:nvCxnSpPr>
          <p:cNvPr id="12" name="Connector 11"/>
          <p:cNvCxnSpPr/>
          <p:nvPr/>
        </p:nvCxnSpPr>
        <p:spPr>
          <a:xfrm>
            <a:off x="283464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2608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549908"/>
            <a:ext cx="1188720" cy="237744"/>
          </a:xfrm>
          <a:prstGeom prst="rect">
            <a:avLst/>
          </a:prstGeom>
          <a:noFill/>
        </p:spPr>
        <p:txBody>
          <a:bodyPr wrap="square" lIns="45720" rIns="45720" tIns="18288" bIns="18288">
            <a:spAutoFit/>
          </a:bodyPr>
          <a:lstStyle/>
          <a:p>
            <a:pPr algn="ctr"/>
            <a:r>
              <a:rPr sz="1000" b="1">
                <a:solidFill>
                  <a:srgbClr val="FFFFFF"/>
                </a:solidFill>
              </a:rPr>
              <a:t>Kafka</a:t>
            </a:r>
          </a:p>
        </p:txBody>
      </p:sp>
      <p:cxnSp>
        <p:nvCxnSpPr>
          <p:cNvPr id="15" name="Connector 14"/>
          <p:cNvCxnSpPr/>
          <p:nvPr/>
        </p:nvCxnSpPr>
        <p:spPr>
          <a:xfrm>
            <a:off x="411480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20624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549908"/>
            <a:ext cx="1188720" cy="237744"/>
          </a:xfrm>
          <a:prstGeom prst="rect">
            <a:avLst/>
          </a:prstGeom>
          <a:noFill/>
        </p:spPr>
        <p:txBody>
          <a:bodyPr wrap="square" lIns="45720" rIns="45720" tIns="18288" bIns="18288">
            <a:spAutoFit/>
          </a:bodyPr>
          <a:lstStyle/>
          <a:p>
            <a:pPr algn="ctr"/>
            <a:r>
              <a:rPr sz="1000" b="1">
                <a:solidFill>
                  <a:srgbClr val="FFFFFF"/>
                </a:solidFill>
              </a:rPr>
              <a:t>S3 sink</a:t>
            </a:r>
          </a:p>
        </p:txBody>
      </p:sp>
      <p:sp>
        <p:nvSpPr>
          <p:cNvPr id="18" name="Rectangle 17"/>
          <p:cNvSpPr/>
          <p:nvPr/>
        </p:nvSpPr>
        <p:spPr>
          <a:xfrm>
            <a:off x="36576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372868"/>
            <a:ext cx="1188720" cy="237744"/>
          </a:xfrm>
          <a:prstGeom prst="rect">
            <a:avLst/>
          </a:prstGeom>
          <a:noFill/>
        </p:spPr>
        <p:txBody>
          <a:bodyPr wrap="square" lIns="45720" rIns="45720" tIns="18288" bIns="18288">
            <a:spAutoFit/>
          </a:bodyPr>
          <a:lstStyle/>
          <a:p>
            <a:pPr algn="ctr"/>
            <a:r>
              <a:rPr sz="1000" b="1">
                <a:solidFill>
                  <a:srgbClr val="FFFFFF"/>
                </a:solidFill>
              </a:rPr>
              <a:t>MinIO bronze</a:t>
            </a:r>
          </a:p>
        </p:txBody>
      </p:sp>
      <p:cxnSp>
        <p:nvCxnSpPr>
          <p:cNvPr id="20" name="Connector 19"/>
          <p:cNvCxnSpPr/>
          <p:nvPr/>
        </p:nvCxnSpPr>
        <p:spPr>
          <a:xfrm>
            <a:off x="155448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64592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2372868"/>
            <a:ext cx="1188720" cy="237744"/>
          </a:xfrm>
          <a:prstGeom prst="rect">
            <a:avLst/>
          </a:prstGeom>
          <a:noFill/>
        </p:spPr>
        <p:txBody>
          <a:bodyPr wrap="square" lIns="45720" rIns="45720" tIns="18288" bIns="18288">
            <a:spAutoFit/>
          </a:bodyPr>
          <a:lstStyle/>
          <a:p>
            <a:pPr algn="ctr"/>
            <a:r>
              <a:rPr sz="1000" b="1">
                <a:solidFill>
                  <a:srgbClr val="FFFFFF"/>
                </a:solidFill>
              </a:rPr>
              <a:t>Hop silver</a:t>
            </a:r>
          </a:p>
        </p:txBody>
      </p:sp>
      <p:cxnSp>
        <p:nvCxnSpPr>
          <p:cNvPr id="23" name="Connector 22"/>
          <p:cNvCxnSpPr/>
          <p:nvPr/>
        </p:nvCxnSpPr>
        <p:spPr>
          <a:xfrm>
            <a:off x="283464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92608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72868"/>
            <a:ext cx="1188720" cy="237744"/>
          </a:xfrm>
          <a:prstGeom prst="rect">
            <a:avLst/>
          </a:prstGeom>
          <a:noFill/>
        </p:spPr>
        <p:txBody>
          <a:bodyPr wrap="square" lIns="45720" rIns="45720" tIns="18288" bIns="18288">
            <a:spAutoFit/>
          </a:bodyPr>
          <a:lstStyle/>
          <a:p>
            <a:pPr algn="ctr"/>
            <a:r>
              <a:rPr sz="1000" b="1">
                <a:solidFill>
                  <a:srgbClr val="FFFFFF"/>
                </a:solidFill>
              </a:rPr>
              <a:t>DuckDB gold</a:t>
            </a:r>
          </a:p>
        </p:txBody>
      </p:sp>
      <p:cxnSp>
        <p:nvCxnSpPr>
          <p:cNvPr id="26" name="Connector 25"/>
          <p:cNvCxnSpPr/>
          <p:nvPr/>
        </p:nvCxnSpPr>
        <p:spPr>
          <a:xfrm>
            <a:off x="411480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20624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2372868"/>
            <a:ext cx="1188720" cy="237744"/>
          </a:xfrm>
          <a:prstGeom prst="rect">
            <a:avLst/>
          </a:prstGeom>
          <a:noFill/>
        </p:spPr>
        <p:txBody>
          <a:bodyPr wrap="square" lIns="45720" rIns="45720" tIns="18288" bIns="18288">
            <a:spAutoFit/>
          </a:bodyPr>
          <a:lstStyle/>
          <a:p>
            <a:pPr algn="ctr"/>
            <a:r>
              <a:rPr sz="1000" b="1">
                <a:solidFill>
                  <a:srgbClr val="FFFFFF"/>
                </a:solidFill>
              </a:rPr>
              <a:t>dashboard</a:t>
            </a:r>
          </a:p>
        </p:txBody>
      </p:sp>
      <p:cxnSp>
        <p:nvCxnSpPr>
          <p:cNvPr id="29" name="Connector 28"/>
          <p:cNvCxnSpPr/>
          <p:nvPr/>
        </p:nvCxnSpPr>
        <p:spPr>
          <a:xfrm flipH="1">
            <a:off x="960120" y="1874520"/>
            <a:ext cx="3840480" cy="41148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017520"/>
            <a:ext cx="5212080" cy="274320"/>
          </a:xfrm>
          <a:prstGeom prst="rect">
            <a:avLst/>
          </a:prstGeom>
          <a:noFill/>
        </p:spPr>
        <p:txBody>
          <a:bodyPr wrap="square" lIns="45720" rIns="45720" tIns="18288" bIns="18288">
            <a:spAutoFit/>
          </a:bodyPr>
          <a:lstStyle/>
          <a:p>
            <a:pPr algn="ctr"/>
            <a:r>
              <a:rPr sz="1100" b="1">
                <a:solidFill>
                  <a:srgbClr val="1F77B4"/>
                </a:solidFill>
              </a:rPr>
              <a:t>Latency budget</a:t>
            </a:r>
          </a:p>
        </p:txBody>
      </p:sp>
      <p:sp>
        <p:nvSpPr>
          <p:cNvPr id="31" name="TextBox 30"/>
          <p:cNvSpPr txBox="1"/>
          <p:nvPr/>
        </p:nvSpPr>
        <p:spPr>
          <a:xfrm>
            <a:off x="274320" y="3291840"/>
            <a:ext cx="5212080" cy="1645920"/>
          </a:xfrm>
          <a:prstGeom prst="rect">
            <a:avLst/>
          </a:prstGeom>
          <a:noFill/>
        </p:spPr>
        <p:txBody>
          <a:bodyPr wrap="square" lIns="45720" rIns="45720" tIns="18288" bIns="18288">
            <a:spAutoFit/>
          </a:bodyPr>
          <a:lstStyle/>
          <a:p>
            <a:pPr algn="ctr"/>
            <a:r>
              <a:rPr sz="1000" b="0">
                <a:solidFill>
                  <a:srgbClr val="0B2A4A"/>
                </a:solidFill>
                <a:latin typeface="Consolas"/>
              </a:rPr>
              <a:t>Source → Kafka topic        ~ seconds</a:t>
            </a:r>
          </a:p>
          <a:p>
            <a:pPr algn="ctr"/>
            <a:r>
              <a:rPr sz="1000" b="0">
                <a:solidFill>
                  <a:srgbClr val="0B2A4A"/>
                </a:solidFill>
                <a:latin typeface="Consolas"/>
              </a:rPr>
              <a:t>Topic → bronze object       ≤ S3 sink flush interval</a:t>
            </a:r>
          </a:p>
          <a:p>
            <a:pPr algn="ctr"/>
            <a:r>
              <a:rPr sz="1000" b="0">
                <a:solidFill>
                  <a:srgbClr val="0B2A4A"/>
                </a:solidFill>
                <a:latin typeface="Consolas"/>
              </a:rPr>
              <a:t>Bronze → silver → gold      ~ 5 min   (30_hop_medallion)</a:t>
            </a:r>
          </a:p>
          <a:p>
            <a:pPr algn="ctr"/>
            <a:r>
              <a:rPr sz="1000" b="0">
                <a:solidFill>
                  <a:srgbClr val="0B2A4A"/>
                </a:solidFill>
                <a:latin typeface="Consolas"/>
              </a:rPr>
              <a:t>Gold → dashboard tile       ~ 5 min   (40 + 50 push DAGs)</a:t>
            </a:r>
          </a:p>
          <a:p>
            <a:pPr algn="ctr"/>
            <a:r>
              <a:rPr sz="1000" b="0">
                <a:solidFill>
                  <a:srgbClr val="0B2A4A"/>
                </a:solidFill>
                <a:latin typeface="Consolas"/>
              </a:rPr>
              <a:t/>
            </a:r>
          </a:p>
          <a:p>
            <a:pPr algn="ctr"/>
            <a:r>
              <a:rPr sz="1000" b="0">
                <a:solidFill>
                  <a:srgbClr val="0B2A4A"/>
                </a:solidFill>
                <a:latin typeface="Consolas"/>
              </a:rPr>
              <a:t>End-to-end p95: about 10 minutes from packet to KPI.</a:t>
            </a:r>
          </a:p>
        </p:txBody>
      </p:sp>
      <p:sp>
        <p:nvSpPr>
          <p:cNvPr id="32" name="Rectangle 3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4" name="TextBox 3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Postal system</a:t>
            </a:r>
          </a:p>
        </p:txBody>
      </p:sp>
      <p:sp>
        <p:nvSpPr>
          <p:cNvPr id="35" name="TextBox 3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Postman picks up letters (ingestor), sorting office routes by zipcode (Kafka partition), regional warehouse stores them (bronze), couriers re-package by route (silver→gold), recipient opens the envelope (dashboard).</a:t>
            </a:r>
          </a:p>
        </p:txBody>
      </p:sp>
      <p:sp>
        <p:nvSpPr>
          <p:cNvPr id="36" name="Rectangle 35"/>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8 / 10  ·  Module 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Top 5 integration pitfalls (and how this stack dodges them)</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teams typically lose a week — and what to do instead</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1. Unpinned image tags — :latest changes silently. We pin Kafka 7.5.0, Debezium 2.5.4.Final.</a:t>
            </a:r>
          </a:p>
          <a:p>
            <a:pPr>
              <a:spcAft>
                <a:spcPts val="400"/>
              </a:spcAft>
            </a:pPr>
            <a:r>
              <a:rPr sz="1100">
                <a:solidFill>
                  <a:srgbClr val="0B2A4A"/>
                </a:solidFill>
              </a:rPr>
              <a:t>•  2. No DLQs — poison message kills the consumer. We ship 3 DLQ topics.</a:t>
            </a:r>
          </a:p>
          <a:p>
            <a:pPr>
              <a:spcAft>
                <a:spcPts val="400"/>
              </a:spcAft>
            </a:pPr>
            <a:r>
              <a:rPr sz="1100">
                <a:solidFill>
                  <a:srgbClr val="0B2A4A"/>
                </a:solidFill>
              </a:rPr>
              <a:t>•  3. WAL not enabled — Debezium silently does nothing. 03_enable_wal.sql.</a:t>
            </a:r>
          </a:p>
          <a:p>
            <a:pPr>
              <a:spcAft>
                <a:spcPts val="400"/>
              </a:spcAft>
            </a:pPr>
            <a:r>
              <a:rPr sz="1100">
                <a:solidFill>
                  <a:srgbClr val="0B2A4A"/>
                </a:solidFill>
              </a:rPr>
              <a:t>•  4. Schema drift without registry — bronze breaks silver. BACKWARD compat.</a:t>
            </a:r>
          </a:p>
          <a:p>
            <a:pPr>
              <a:spcAft>
                <a:spcPts val="400"/>
              </a:spcAft>
            </a:pPr>
            <a:r>
              <a:rPr sz="1100">
                <a:solidFill>
                  <a:srgbClr val="0B2A4A"/>
                </a:solidFill>
              </a:rPr>
              <a:t>•  5. DAG owns the stream — when scheduler dies, data dies. Ingestors are services.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Climbing rope rules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Climbers say 'always tie in, always check, always communicate.' Same here: always pin versions, always check Schema Registry, always send to a DLQ rather than crash.</a:t>
            </a:r>
          </a:p>
        </p:txBody>
      </p:sp>
      <p:sp>
        <p:nvSpPr>
          <p:cNvPr id="13" name="Rectangle 12"/>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9 / 10  ·  Module 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What does Debezium read from Postgres to produce events?</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The write-ahead log (WAL) via the pgoutput logical-decoding plugin — it does NOT poll the tables.</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Where do Kafka Connect plugin JARs live in this stack?</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debezium/plugins/ on the host, mounted into the connect container at /etc/kafka-connect/plugins (declared via CONNECT_PLUGIN_PATH).</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are the 3 ingestors services and not Airflow DAGs?</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Streams are continuous; if Airflow's scheduler dies, you'd lose data. Long-lived sockets belong in services that restart on failure.</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What's the trade-off of FULL schema compatibility vs BACKWARD?</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FULL = old AND new readers both work = safest but tightest constraints. BACKWARD = only new readers need to read old data = easier to evolve.</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If a poison message lands on a topic, what stops Connect from crashing?</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errors.tolerance + the DLQ topic (dlq.s3-sink-bronze-cdc etc.) — the bad record is parked, processing continues.</a:t>
            </a:r>
          </a:p>
        </p:txBody>
      </p:sp>
      <p:sp>
        <p:nvSpPr>
          <p:cNvPr id="16" name="Rectangle 15"/>
          <p:cNvSpPr/>
          <p:nvPr/>
        </p:nvSpPr>
        <p:spPr>
          <a:xfrm>
            <a:off x="0" y="66294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10 / 10  ·  Module 2 — Knowledge Check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3</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Building a Real-Time Data Pipeline</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From a public packet on the internet to a refreshed KPI in ~10 minutes</a:t>
            </a:r>
          </a:p>
        </p:txBody>
      </p:sp>
      <p:sp>
        <p:nvSpPr>
          <p:cNvPr id="7" name="Rectangle 6"/>
          <p:cNvSpPr/>
          <p:nvPr/>
        </p:nvSpPr>
        <p:spPr>
          <a:xfrm>
            <a:off x="137160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afka.png"/>
          <p:cNvPicPr>
            <a:picLocks noChangeAspect="1"/>
          </p:cNvPicPr>
          <p:nvPr/>
        </p:nvPicPr>
        <p:blipFill>
          <a:blip r:embed="rId2"/>
          <a:stretch>
            <a:fillRect/>
          </a:stretch>
        </p:blipFill>
        <p:spPr>
          <a:xfrm>
            <a:off x="1863822" y="3909059"/>
            <a:ext cx="478596" cy="777240"/>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inio.png"/>
          <p:cNvPicPr>
            <a:picLocks noChangeAspect="1"/>
          </p:cNvPicPr>
          <p:nvPr/>
        </p:nvPicPr>
        <p:blipFill>
          <a:blip r:embed="rId3"/>
          <a:stretch>
            <a:fillRect/>
          </a:stretch>
        </p:blipFill>
        <p:spPr>
          <a:xfrm>
            <a:off x="3360420" y="3909059"/>
            <a:ext cx="777240"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uckdb.png"/>
          <p:cNvPicPr>
            <a:picLocks noChangeAspect="1"/>
          </p:cNvPicPr>
          <p:nvPr/>
        </p:nvPicPr>
        <p:blipFill>
          <a:blip r:embed="rId4"/>
          <a:stretch>
            <a:fillRect/>
          </a:stretch>
        </p:blipFill>
        <p:spPr>
          <a:xfrm>
            <a:off x="4890259" y="3909059"/>
            <a:ext cx="1009402"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fana.png"/>
          <p:cNvPicPr>
            <a:picLocks noChangeAspect="1"/>
          </p:cNvPicPr>
          <p:nvPr/>
        </p:nvPicPr>
        <p:blipFill>
          <a:blip r:embed="rId5"/>
          <a:stretch>
            <a:fillRect/>
          </a:stretch>
        </p:blipFill>
        <p:spPr>
          <a:xfrm>
            <a:off x="6668076" y="3909059"/>
            <a:ext cx="745608" cy="77724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OGN ingestor walkthrough</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APRS over TCP → Avro on ogn.aircraft.positions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ogn-client connects to APRS-IS with a callsign and a radius filter.</a:t>
            </a:r>
          </a:p>
          <a:p>
            <a:pPr>
              <a:spcAft>
                <a:spcPts val="400"/>
              </a:spcAft>
            </a:pPr>
            <a:r>
              <a:rPr sz="1100">
                <a:solidFill>
                  <a:srgbClr val="0B2A4A"/>
                </a:solidFill>
              </a:rPr>
              <a:t>•  Parser handles malformed packets — bad ones go to logs, not topic.</a:t>
            </a:r>
          </a:p>
          <a:p>
            <a:pPr>
              <a:spcAft>
                <a:spcPts val="400"/>
              </a:spcAft>
            </a:pPr>
            <a:r>
              <a:rPr sz="1100">
                <a:solidFill>
                  <a:srgbClr val="0B2A4A"/>
                </a:solidFill>
              </a:rPr>
              <a:t>•  Avro serializer registers schema on first message.</a:t>
            </a:r>
          </a:p>
          <a:p>
            <a:pPr>
              <a:spcAft>
                <a:spcPts val="400"/>
              </a:spcAft>
            </a:pPr>
            <a:r>
              <a:rPr sz="1100">
                <a:solidFill>
                  <a:srgbClr val="0B2A4A"/>
                </a:solidFill>
              </a:rPr>
              <a:t>•  Restart policy: unless-stopped — survives a single APRS server hiccup.</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Police radio scanner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An OGN beacon is a tiny radio announcement: 'I'm here, this altitude, this speed.' The ingestor is the scanner that listens, transcribes, and pins each call to a noticeboard (Kafka).</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2 / 10  ·  Module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NOAA + EMSC ingestors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REST polling and a long-lived WebSocket — two more ingestion shapes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noaa_ingestor: api.weather.gov for stations + active alerts, 60 s poll.</a:t>
            </a:r>
          </a:p>
          <a:p>
            <a:pPr>
              <a:spcAft>
                <a:spcPts val="400"/>
              </a:spcAft>
            </a:pPr>
            <a:r>
              <a:rPr sz="1100">
                <a:solidFill>
                  <a:srgbClr val="0B2A4A"/>
                </a:solidFill>
              </a:rPr>
              <a:t>•  seismic_ingestor: EMSC WebSocket; reconnects with backoff on close.</a:t>
            </a:r>
          </a:p>
          <a:p>
            <a:pPr>
              <a:spcAft>
                <a:spcPts val="400"/>
              </a:spcAft>
            </a:pPr>
            <a:r>
              <a:rPr sz="1100">
                <a:solidFill>
                  <a:srgbClr val="0B2A4A"/>
                </a:solidFill>
              </a:rPr>
              <a:t>•  Both emit to Avro topics, sharing the same Schema Registry.</a:t>
            </a:r>
          </a:p>
          <a:p>
            <a:pPr>
              <a:spcAft>
                <a:spcPts val="400"/>
              </a:spcAft>
            </a:pPr>
            <a:r>
              <a:rPr sz="1100">
                <a:solidFill>
                  <a:srgbClr val="0B2A4A"/>
                </a:solidFill>
              </a:rPr>
              <a:t>•  All 3 read CITY_LAT / CITY_LON from .env so swapping demo location is trivial.</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Two ways to read the news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Polling NOAA = refreshing the homepage every 60 s. The seismic WebSocket = subscribing to a push notification. Same goal (latest news), different cost.</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3 / 10  ·  Module 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Bronze: S3 sink partitioning</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hourly partitions, and what the path actually looks like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quet.png"/>
          <p:cNvPicPr>
            <a:picLocks noChangeAspect="1"/>
          </p:cNvPicPr>
          <p:nvPr/>
        </p:nvPicPr>
        <p:blipFill>
          <a:blip r:embed="rId2"/>
          <a:stretch>
            <a:fillRect/>
          </a:stretch>
        </p:blipFill>
        <p:spPr>
          <a:xfrm>
            <a:off x="342900" y="1772702"/>
            <a:ext cx="4983480" cy="1026596"/>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Path: s3://bronze/&lt;topic&gt;/year=YYYY/month=MM/day=DD/hour=HH/&lt;topic&gt;+&lt;part&gt;+&lt;off&gt;.avro</a:t>
            </a:r>
          </a:p>
          <a:p>
            <a:pPr>
              <a:spcAft>
                <a:spcPts val="400"/>
              </a:spcAft>
            </a:pPr>
            <a:r>
              <a:rPr sz="1100">
                <a:solidFill>
                  <a:srgbClr val="0B2A4A"/>
                </a:solidFill>
              </a:rPr>
              <a:t>•  Hive-style partitions = automatic pruning in DuckDB / Spark / Athena.</a:t>
            </a:r>
          </a:p>
          <a:p>
            <a:pPr>
              <a:spcAft>
                <a:spcPts val="400"/>
              </a:spcAft>
            </a:pPr>
            <a:r>
              <a:rPr sz="1100">
                <a:solidFill>
                  <a:srgbClr val="0B2A4A"/>
                </a:solidFill>
              </a:rPr>
              <a:t>•  Hour is a sweet spot — small enough to prune, big enough to avoid millions of tiny files.</a:t>
            </a:r>
          </a:p>
          <a:p>
            <a:pPr>
              <a:spcAft>
                <a:spcPts val="400"/>
              </a:spcAft>
            </a:pPr>
            <a:r>
              <a:rPr sz="1100">
                <a:solidFill>
                  <a:srgbClr val="0B2A4A"/>
                </a:solidFill>
              </a:rPr>
              <a:t>•  Two sink connectors split CDC vs streams to keep tunings independent.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Filing cabinet</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Year/month/day/hour folders are the labels on a filing cabinet drawer. Without them, a query has to read every file. With them, the planner skips 99% of the cabinet.</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 / 10  ·  Module 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Silver: dedupe and late events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What 'clean' actually means in code — bronze_to_silver.py</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Dedup: group by natural PK, keep the row with max(ts_ms).</a:t>
            </a:r>
          </a:p>
          <a:p>
            <a:pPr>
              <a:spcAft>
                <a:spcPts val="400"/>
              </a:spcAft>
            </a:pPr>
            <a:r>
              <a:rPr sz="1100">
                <a:solidFill>
                  <a:srgbClr val="0B2A4A"/>
                </a:solidFill>
              </a:rPr>
              <a:t>•  Late filter: drop rows older than max(ts_ms) − 24h (configurable).</a:t>
            </a:r>
          </a:p>
          <a:p>
            <a:pPr>
              <a:spcAft>
                <a:spcPts val="400"/>
              </a:spcAft>
            </a:pPr>
            <a:r>
              <a:rPr sz="1100">
                <a:solidFill>
                  <a:srgbClr val="0B2A4A"/>
                </a:solidFill>
              </a:rPr>
              <a:t>•  Audit: every run writes silver/_quality/&lt;entity&gt;/&lt;utc-iso&gt;.avro (rows_in, rows_out, dropped_late, dup_collapsed).</a:t>
            </a:r>
          </a:p>
          <a:p>
            <a:pPr>
              <a:spcAft>
                <a:spcPts val="400"/>
              </a:spcAft>
            </a:pPr>
            <a:r>
              <a:rPr sz="1100">
                <a:solidFill>
                  <a:srgbClr val="0B2A4A"/>
                </a:solidFill>
              </a:rPr>
              <a:t>•  Idempotent — re-running just re-writes the same files, no double-count.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Photographer's keeper folder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photographer shoots 200 frames of the same pose. Silver is the keeper folder — one best frame per pose, blurries deleted, EXIF audited.</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 / 10  ·  Module 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Gold: DuckDB marts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Embedded analytic engine doing the heavy lifting, no extra server</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ckdb.png"/>
          <p:cNvPicPr>
            <a:picLocks noChangeAspect="1"/>
          </p:cNvPicPr>
          <p:nvPr/>
        </p:nvPicPr>
        <p:blipFill>
          <a:blip r:embed="rId2"/>
          <a:stretch>
            <a:fillRect/>
          </a:stretch>
        </p:blipFill>
        <p:spPr>
          <a:xfrm>
            <a:off x="1142406" y="982980"/>
            <a:ext cx="3384467"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silver_to_gold.py reads silver Avro via DuckDB (fastavro fallback).</a:t>
            </a:r>
          </a:p>
          <a:p>
            <a:pPr>
              <a:spcAft>
                <a:spcPts val="400"/>
              </a:spcAft>
            </a:pPr>
            <a:r>
              <a:rPr sz="1100">
                <a:solidFill>
                  <a:srgbClr val="0B2A4A"/>
                </a:solidFill>
              </a:rPr>
              <a:t>•  Joins regions / thresholds / watchlist inside one SELECT.</a:t>
            </a:r>
          </a:p>
          <a:p>
            <a:pPr>
              <a:spcAft>
                <a:spcPts val="400"/>
              </a:spcAft>
            </a:pPr>
            <a:r>
              <a:rPr sz="1100">
                <a:solidFill>
                  <a:srgbClr val="0B2A4A"/>
                </a:solidFill>
              </a:rPr>
              <a:t>•  Writes snapshot=&lt;utc&gt;/part-0.parquet AND overwrites latest.parquet.</a:t>
            </a:r>
          </a:p>
          <a:p>
            <a:pPr>
              <a:spcAft>
                <a:spcPts val="400"/>
              </a:spcAft>
            </a:pPr>
            <a:r>
              <a:rPr sz="1100">
                <a:solidFill>
                  <a:srgbClr val="0B2A4A"/>
                </a:solidFill>
              </a:rPr>
              <a:t>•  Dashboards point at latest.parquet — atomic rename = zero-downtime swap.</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Pocket calculator vs mainframe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DuckDB is a high-end pocket calculator: no server, no admin, but it can crunch tens of GB of Parquet over the network in seconds. Perfect for Gold-mart builds.</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6 / 10  ·  Module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End-to-end latency budget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the seconds and minutes actually go</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End-to-end: APRS packet → dashboard tile</a:t>
            </a:r>
          </a:p>
        </p:txBody>
      </p:sp>
      <p:sp>
        <p:nvSpPr>
          <p:cNvPr id="7" name="Rectangle 6"/>
          <p:cNvSpPr/>
          <p:nvPr/>
        </p:nvSpPr>
        <p:spPr>
          <a:xfrm>
            <a:off x="36576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49908"/>
            <a:ext cx="1188720" cy="237744"/>
          </a:xfrm>
          <a:prstGeom prst="rect">
            <a:avLst/>
          </a:prstGeom>
          <a:noFill/>
        </p:spPr>
        <p:txBody>
          <a:bodyPr wrap="square" lIns="45720" rIns="45720" tIns="18288" bIns="18288">
            <a:spAutoFit/>
          </a:bodyPr>
          <a:lstStyle/>
          <a:p>
            <a:pPr algn="ctr"/>
            <a:r>
              <a:rPr sz="1000" b="1">
                <a:solidFill>
                  <a:srgbClr val="FFFFFF"/>
                </a:solidFill>
              </a:rPr>
              <a:t>OGN APRS</a:t>
            </a:r>
          </a:p>
        </p:txBody>
      </p:sp>
      <p:cxnSp>
        <p:nvCxnSpPr>
          <p:cNvPr id="9" name="Connector 8"/>
          <p:cNvCxnSpPr/>
          <p:nvPr/>
        </p:nvCxnSpPr>
        <p:spPr>
          <a:xfrm>
            <a:off x="155448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64592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1549908"/>
            <a:ext cx="1188720" cy="237744"/>
          </a:xfrm>
          <a:prstGeom prst="rect">
            <a:avLst/>
          </a:prstGeom>
          <a:noFill/>
        </p:spPr>
        <p:txBody>
          <a:bodyPr wrap="square" lIns="45720" rIns="45720" tIns="18288" bIns="18288">
            <a:spAutoFit/>
          </a:bodyPr>
          <a:lstStyle/>
          <a:p>
            <a:pPr algn="ctr"/>
            <a:r>
              <a:rPr sz="1000" b="1">
                <a:solidFill>
                  <a:srgbClr val="FFFFFF"/>
                </a:solidFill>
              </a:rPr>
              <a:t>ingestor</a:t>
            </a:r>
          </a:p>
        </p:txBody>
      </p:sp>
      <p:cxnSp>
        <p:nvCxnSpPr>
          <p:cNvPr id="12" name="Connector 11"/>
          <p:cNvCxnSpPr/>
          <p:nvPr/>
        </p:nvCxnSpPr>
        <p:spPr>
          <a:xfrm>
            <a:off x="283464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2608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549908"/>
            <a:ext cx="1188720" cy="237744"/>
          </a:xfrm>
          <a:prstGeom prst="rect">
            <a:avLst/>
          </a:prstGeom>
          <a:noFill/>
        </p:spPr>
        <p:txBody>
          <a:bodyPr wrap="square" lIns="45720" rIns="45720" tIns="18288" bIns="18288">
            <a:spAutoFit/>
          </a:bodyPr>
          <a:lstStyle/>
          <a:p>
            <a:pPr algn="ctr"/>
            <a:r>
              <a:rPr sz="1000" b="1">
                <a:solidFill>
                  <a:srgbClr val="FFFFFF"/>
                </a:solidFill>
              </a:rPr>
              <a:t>Kafka</a:t>
            </a:r>
          </a:p>
        </p:txBody>
      </p:sp>
      <p:cxnSp>
        <p:nvCxnSpPr>
          <p:cNvPr id="15" name="Connector 14"/>
          <p:cNvCxnSpPr/>
          <p:nvPr/>
        </p:nvCxnSpPr>
        <p:spPr>
          <a:xfrm>
            <a:off x="411480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20624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549908"/>
            <a:ext cx="1188720" cy="237744"/>
          </a:xfrm>
          <a:prstGeom prst="rect">
            <a:avLst/>
          </a:prstGeom>
          <a:noFill/>
        </p:spPr>
        <p:txBody>
          <a:bodyPr wrap="square" lIns="45720" rIns="45720" tIns="18288" bIns="18288">
            <a:spAutoFit/>
          </a:bodyPr>
          <a:lstStyle/>
          <a:p>
            <a:pPr algn="ctr"/>
            <a:r>
              <a:rPr sz="1000" b="1">
                <a:solidFill>
                  <a:srgbClr val="FFFFFF"/>
                </a:solidFill>
              </a:rPr>
              <a:t>S3 sink</a:t>
            </a:r>
          </a:p>
        </p:txBody>
      </p:sp>
      <p:sp>
        <p:nvSpPr>
          <p:cNvPr id="18" name="Rectangle 17"/>
          <p:cNvSpPr/>
          <p:nvPr/>
        </p:nvSpPr>
        <p:spPr>
          <a:xfrm>
            <a:off x="36576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372868"/>
            <a:ext cx="1188720" cy="237744"/>
          </a:xfrm>
          <a:prstGeom prst="rect">
            <a:avLst/>
          </a:prstGeom>
          <a:noFill/>
        </p:spPr>
        <p:txBody>
          <a:bodyPr wrap="square" lIns="45720" rIns="45720" tIns="18288" bIns="18288">
            <a:spAutoFit/>
          </a:bodyPr>
          <a:lstStyle/>
          <a:p>
            <a:pPr algn="ctr"/>
            <a:r>
              <a:rPr sz="1000" b="1">
                <a:solidFill>
                  <a:srgbClr val="FFFFFF"/>
                </a:solidFill>
              </a:rPr>
              <a:t>MinIO bronze</a:t>
            </a:r>
          </a:p>
        </p:txBody>
      </p:sp>
      <p:cxnSp>
        <p:nvCxnSpPr>
          <p:cNvPr id="20" name="Connector 19"/>
          <p:cNvCxnSpPr/>
          <p:nvPr/>
        </p:nvCxnSpPr>
        <p:spPr>
          <a:xfrm>
            <a:off x="155448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64592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2372868"/>
            <a:ext cx="1188720" cy="237744"/>
          </a:xfrm>
          <a:prstGeom prst="rect">
            <a:avLst/>
          </a:prstGeom>
          <a:noFill/>
        </p:spPr>
        <p:txBody>
          <a:bodyPr wrap="square" lIns="45720" rIns="45720" tIns="18288" bIns="18288">
            <a:spAutoFit/>
          </a:bodyPr>
          <a:lstStyle/>
          <a:p>
            <a:pPr algn="ctr"/>
            <a:r>
              <a:rPr sz="1000" b="1">
                <a:solidFill>
                  <a:srgbClr val="FFFFFF"/>
                </a:solidFill>
              </a:rPr>
              <a:t>Hop silver</a:t>
            </a:r>
          </a:p>
        </p:txBody>
      </p:sp>
      <p:cxnSp>
        <p:nvCxnSpPr>
          <p:cNvPr id="23" name="Connector 22"/>
          <p:cNvCxnSpPr/>
          <p:nvPr/>
        </p:nvCxnSpPr>
        <p:spPr>
          <a:xfrm>
            <a:off x="283464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92608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72868"/>
            <a:ext cx="1188720" cy="237744"/>
          </a:xfrm>
          <a:prstGeom prst="rect">
            <a:avLst/>
          </a:prstGeom>
          <a:noFill/>
        </p:spPr>
        <p:txBody>
          <a:bodyPr wrap="square" lIns="45720" rIns="45720" tIns="18288" bIns="18288">
            <a:spAutoFit/>
          </a:bodyPr>
          <a:lstStyle/>
          <a:p>
            <a:pPr algn="ctr"/>
            <a:r>
              <a:rPr sz="1000" b="1">
                <a:solidFill>
                  <a:srgbClr val="FFFFFF"/>
                </a:solidFill>
              </a:rPr>
              <a:t>DuckDB gold</a:t>
            </a:r>
          </a:p>
        </p:txBody>
      </p:sp>
      <p:cxnSp>
        <p:nvCxnSpPr>
          <p:cNvPr id="26" name="Connector 25"/>
          <p:cNvCxnSpPr/>
          <p:nvPr/>
        </p:nvCxnSpPr>
        <p:spPr>
          <a:xfrm>
            <a:off x="411480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20624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2372868"/>
            <a:ext cx="1188720" cy="237744"/>
          </a:xfrm>
          <a:prstGeom prst="rect">
            <a:avLst/>
          </a:prstGeom>
          <a:noFill/>
        </p:spPr>
        <p:txBody>
          <a:bodyPr wrap="square" lIns="45720" rIns="45720" tIns="18288" bIns="18288">
            <a:spAutoFit/>
          </a:bodyPr>
          <a:lstStyle/>
          <a:p>
            <a:pPr algn="ctr"/>
            <a:r>
              <a:rPr sz="1000" b="1">
                <a:solidFill>
                  <a:srgbClr val="FFFFFF"/>
                </a:solidFill>
              </a:rPr>
              <a:t>dashboard</a:t>
            </a:r>
          </a:p>
        </p:txBody>
      </p:sp>
      <p:cxnSp>
        <p:nvCxnSpPr>
          <p:cNvPr id="29" name="Connector 28"/>
          <p:cNvCxnSpPr/>
          <p:nvPr/>
        </p:nvCxnSpPr>
        <p:spPr>
          <a:xfrm flipH="1">
            <a:off x="960120" y="1874520"/>
            <a:ext cx="3840480" cy="41148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017520"/>
            <a:ext cx="5212080" cy="274320"/>
          </a:xfrm>
          <a:prstGeom prst="rect">
            <a:avLst/>
          </a:prstGeom>
          <a:noFill/>
        </p:spPr>
        <p:txBody>
          <a:bodyPr wrap="square" lIns="45720" rIns="45720" tIns="18288" bIns="18288">
            <a:spAutoFit/>
          </a:bodyPr>
          <a:lstStyle/>
          <a:p>
            <a:pPr algn="ctr"/>
            <a:r>
              <a:rPr sz="1100" b="1">
                <a:solidFill>
                  <a:srgbClr val="1F77B4"/>
                </a:solidFill>
              </a:rPr>
              <a:t>Latency budget</a:t>
            </a:r>
          </a:p>
        </p:txBody>
      </p:sp>
      <p:sp>
        <p:nvSpPr>
          <p:cNvPr id="31" name="TextBox 30"/>
          <p:cNvSpPr txBox="1"/>
          <p:nvPr/>
        </p:nvSpPr>
        <p:spPr>
          <a:xfrm>
            <a:off x="274320" y="3291840"/>
            <a:ext cx="5212080" cy="1645920"/>
          </a:xfrm>
          <a:prstGeom prst="rect">
            <a:avLst/>
          </a:prstGeom>
          <a:noFill/>
        </p:spPr>
        <p:txBody>
          <a:bodyPr wrap="square" lIns="45720" rIns="45720" tIns="18288" bIns="18288">
            <a:spAutoFit/>
          </a:bodyPr>
          <a:lstStyle/>
          <a:p>
            <a:pPr algn="ctr"/>
            <a:r>
              <a:rPr sz="1000" b="0">
                <a:solidFill>
                  <a:srgbClr val="0B2A4A"/>
                </a:solidFill>
                <a:latin typeface="Consolas"/>
              </a:rPr>
              <a:t>Source → Kafka topic        ~ seconds</a:t>
            </a:r>
          </a:p>
          <a:p>
            <a:pPr algn="ctr"/>
            <a:r>
              <a:rPr sz="1000" b="0">
                <a:solidFill>
                  <a:srgbClr val="0B2A4A"/>
                </a:solidFill>
                <a:latin typeface="Consolas"/>
              </a:rPr>
              <a:t>Topic → bronze object       ≤ S3 sink flush interval</a:t>
            </a:r>
          </a:p>
          <a:p>
            <a:pPr algn="ctr"/>
            <a:r>
              <a:rPr sz="1000" b="0">
                <a:solidFill>
                  <a:srgbClr val="0B2A4A"/>
                </a:solidFill>
                <a:latin typeface="Consolas"/>
              </a:rPr>
              <a:t>Bronze → silver → gold      ~ 5 min   (30_hop_medallion)</a:t>
            </a:r>
          </a:p>
          <a:p>
            <a:pPr algn="ctr"/>
            <a:r>
              <a:rPr sz="1000" b="0">
                <a:solidFill>
                  <a:srgbClr val="0B2A4A"/>
                </a:solidFill>
                <a:latin typeface="Consolas"/>
              </a:rPr>
              <a:t>Gold → dashboard tile       ~ 5 min   (40 + 50 push DAGs)</a:t>
            </a:r>
          </a:p>
          <a:p>
            <a:pPr algn="ctr"/>
            <a:r>
              <a:rPr sz="1000" b="0">
                <a:solidFill>
                  <a:srgbClr val="0B2A4A"/>
                </a:solidFill>
                <a:latin typeface="Consolas"/>
              </a:rPr>
              <a:t/>
            </a:r>
          </a:p>
          <a:p>
            <a:pPr algn="ctr"/>
            <a:r>
              <a:rPr sz="1000" b="0">
                <a:solidFill>
                  <a:srgbClr val="0B2A4A"/>
                </a:solidFill>
                <a:latin typeface="Consolas"/>
              </a:rPr>
              <a:t>End-to-end p95: about 10 minutes from packet to KPI.</a:t>
            </a:r>
          </a:p>
        </p:txBody>
      </p:sp>
      <p:sp>
        <p:nvSpPr>
          <p:cNvPr id="32" name="Rectangle 3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4" name="TextBox 3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Pizza delivery time</a:t>
            </a:r>
          </a:p>
        </p:txBody>
      </p:sp>
      <p:sp>
        <p:nvSpPr>
          <p:cNvPr id="35" name="TextBox 3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Order placed → kitchen acknowledges (Kafka commit, seconds) → cooked (Hop, 5 min) → driver leaves (gold publish) → you eat (dashboard refresh). 10-minute p95 is fine for KPIs, painful for live ops.</a:t>
            </a:r>
          </a:p>
        </p:txBody>
      </p:sp>
      <p:sp>
        <p:nvSpPr>
          <p:cNvPr id="36" name="Rectangle 35"/>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7 / 10  ·  Module 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Three dashboards, three audiences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Quality, business, and live map — one stack, three viewpoints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fana.png"/>
          <p:cNvPicPr>
            <a:picLocks noChangeAspect="1"/>
          </p:cNvPicPr>
          <p:nvPr/>
        </p:nvPicPr>
        <p:blipFill>
          <a:blip r:embed="rId2"/>
          <a:stretch>
            <a:fillRect/>
          </a:stretch>
        </p:blipFill>
        <p:spPr>
          <a:xfrm>
            <a:off x="1584650" y="982980"/>
            <a:ext cx="2499980"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quality-dashboard :5001 — rule pass/fail counters, DLQ depth, alerts.</a:t>
            </a:r>
          </a:p>
          <a:p>
            <a:pPr>
              <a:spcAft>
                <a:spcPts val="400"/>
              </a:spcAft>
            </a:pPr>
            <a:r>
              <a:rPr sz="1100">
                <a:solidFill>
                  <a:srgbClr val="0B2A4A"/>
                </a:solidFill>
              </a:rPr>
              <a:t>•  business-dashboard :5002 — KPIs from gold marts, refreshes every 5 min.</a:t>
            </a:r>
          </a:p>
          <a:p>
            <a:pPr>
              <a:spcAft>
                <a:spcPts val="400"/>
              </a:spcAft>
            </a:pPr>
            <a:r>
              <a:rPr sz="1100">
                <a:solidFill>
                  <a:srgbClr val="0B2A4A"/>
                </a:solidFill>
              </a:rPr>
              <a:t>•  live-map :5003 — Leaflet map of OGN aircraft, near-real-time.</a:t>
            </a:r>
          </a:p>
          <a:p>
            <a:pPr>
              <a:spcAft>
                <a:spcPts val="400"/>
              </a:spcAft>
            </a:pPr>
            <a:r>
              <a:rPr sz="1100">
                <a:solidFill>
                  <a:srgbClr val="0B2A4A"/>
                </a:solidFill>
              </a:rPr>
              <a:t>•  All expose /metrics — Prometheus scrapes for unified observability.</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Cockpit, weather radar, in-flight movie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Pilot watches the cockpit (quality dashboard). Crew checks weather radar (business KPIs). Passengers watch the live map (live_map_dashboard). Same plane, same data, different needs.</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8 / 10  ·  Module 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Big-picture analogy — airport baggage handling</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the whole architecture clicks once you see it as luggage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Check-in agent     = Schema Registry  (tag the bag once, trust it everywhere)</a:t>
            </a:r>
          </a:p>
          <a:p>
            <a:pPr>
              <a:spcAft>
                <a:spcPts val="400"/>
              </a:spcAft>
            </a:pPr>
            <a:r>
              <a:rPr sz="1100">
                <a:solidFill>
                  <a:srgbClr val="0B2A4A"/>
                </a:solidFill>
              </a:rPr>
              <a:t>•  Sorter / belt      = Kafka partitions</a:t>
            </a:r>
          </a:p>
          <a:p>
            <a:pPr>
              <a:spcAft>
                <a:spcPts val="400"/>
              </a:spcAft>
            </a:pPr>
            <a:r>
              <a:rPr sz="1100">
                <a:solidFill>
                  <a:srgbClr val="0B2A4A"/>
                </a:solidFill>
              </a:rPr>
              <a:t>•  X-ray operator     = Connect with DLQ tolerance</a:t>
            </a:r>
          </a:p>
          <a:p>
            <a:pPr>
              <a:spcAft>
                <a:spcPts val="400"/>
              </a:spcAft>
            </a:pPr>
            <a:r>
              <a:rPr sz="1100">
                <a:solidFill>
                  <a:srgbClr val="0B2A4A"/>
                </a:solidFill>
              </a:rPr>
              <a:t>•  Aircraft hold      = S3 bronze, sealed for transport</a:t>
            </a:r>
          </a:p>
          <a:p>
            <a:pPr>
              <a:spcAft>
                <a:spcPts val="400"/>
              </a:spcAft>
            </a:pPr>
            <a:r>
              <a:rPr sz="1100">
                <a:solidFill>
                  <a:srgbClr val="0B2A4A"/>
                </a:solidFill>
              </a:rPr>
              <a:t>•  Baggage carousel   = Gold mart latest.parquet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Tag → belt → x-ray → cart → carousel</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Check-in tags the bag (schema). Conveyor sorts by destination (partition key). X-ray flags problems (DLQ). Cart batches to the plane (bronze hourly files). Carousel delivers to you (dashboard). Each handler does ONE thing well — that's the whole game.</a:t>
            </a:r>
          </a:p>
        </p:txBody>
      </p:sp>
      <p:sp>
        <p:nvSpPr>
          <p:cNvPr id="13" name="Rectangle 12"/>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9 / 10  ·  Module 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Why does silver keep an audit file under _quality/?</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So you can prove every Gold number — counts, drops, dedupes — without re-running. Compliance + debugging in one cheap file.</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What rule decides which row wins when silver dedupes?</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Group by natural PK; keep the row with the maximum ts_ms (most recent).</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does Gold write BOTH a timestamped snapshot AND latest.parquet?</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Snapshot = history / audit. latest.parquet = stable URL the dashboard reads. Atomic rename means dashboards never see a half-written file.</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If a NOAA ingestor crashes, what is the data loss exposure?</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Anything in flight that wasn't yet produced to Kafka. The container restarts under restart: unless-stopped, then resumes polling.</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What's the end-to-end p95 latency target for this stack?</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About 10 minutes — driven by the 5-min Hop schedule plus the 5-min dashboard-push DAG. Bronze landing itself is seconds.</a:t>
            </a:r>
          </a:p>
        </p:txBody>
      </p:sp>
      <p:sp>
        <p:nvSpPr>
          <p:cNvPr id="16" name="Rectangle 15"/>
          <p:cNvSpPr/>
          <p:nvPr/>
        </p:nvSpPr>
        <p:spPr>
          <a:xfrm>
            <a:off x="0" y="66294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10 / 10  ·  Module 3 — Knowledge Check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4</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Deployment and Best Practices</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Reproducible startup, observable runtime, recoverable failure</a:t>
            </a:r>
          </a:p>
        </p:txBody>
      </p:sp>
      <p:sp>
        <p:nvSpPr>
          <p:cNvPr id="7" name="Rectangle 6"/>
          <p:cNvSpPr/>
          <p:nvPr/>
        </p:nvSpPr>
        <p:spPr>
          <a:xfrm>
            <a:off x="137160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ker.png"/>
          <p:cNvPicPr>
            <a:picLocks noChangeAspect="1"/>
          </p:cNvPicPr>
          <p:nvPr/>
        </p:nvPicPr>
        <p:blipFill>
          <a:blip r:embed="rId2"/>
          <a:stretch>
            <a:fillRect/>
          </a:stretch>
        </p:blipFill>
        <p:spPr>
          <a:xfrm>
            <a:off x="1531620" y="4161662"/>
            <a:ext cx="1143000" cy="272034"/>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ometheus.png"/>
          <p:cNvPicPr>
            <a:picLocks noChangeAspect="1"/>
          </p:cNvPicPr>
          <p:nvPr/>
        </p:nvPicPr>
        <p:blipFill>
          <a:blip r:embed="rId3"/>
          <a:stretch>
            <a:fillRect/>
          </a:stretch>
        </p:blipFill>
        <p:spPr>
          <a:xfrm>
            <a:off x="3356855" y="3909059"/>
            <a:ext cx="784370"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afana.png"/>
          <p:cNvPicPr>
            <a:picLocks noChangeAspect="1"/>
          </p:cNvPicPr>
          <p:nvPr/>
        </p:nvPicPr>
        <p:blipFill>
          <a:blip r:embed="rId4"/>
          <a:stretch>
            <a:fillRect/>
          </a:stretch>
        </p:blipFill>
        <p:spPr>
          <a:xfrm>
            <a:off x="5022156" y="3909059"/>
            <a:ext cx="745608"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ostgres.png"/>
          <p:cNvPicPr>
            <a:picLocks noChangeAspect="1"/>
          </p:cNvPicPr>
          <p:nvPr/>
        </p:nvPicPr>
        <p:blipFill>
          <a:blip r:embed="rId5"/>
          <a:stretch>
            <a:fillRect/>
          </a:stretch>
        </p:blipFill>
        <p:spPr>
          <a:xfrm>
            <a:off x="6664796" y="3909059"/>
            <a:ext cx="752167" cy="7772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compose stack at a glance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22 containers, one bridge network, one .env</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docker-compose stack (22 services)</a:t>
            </a:r>
          </a:p>
        </p:txBody>
      </p:sp>
      <p:sp>
        <p:nvSpPr>
          <p:cNvPr id="7" name="Rectangle 6"/>
          <p:cNvSpPr/>
          <p:nvPr/>
        </p:nvSpPr>
        <p:spPr>
          <a:xfrm>
            <a:off x="274320" y="1371600"/>
            <a:ext cx="914400" cy="4572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81328"/>
            <a:ext cx="914400" cy="274320"/>
          </a:xfrm>
          <a:prstGeom prst="rect">
            <a:avLst/>
          </a:prstGeom>
          <a:noFill/>
        </p:spPr>
        <p:txBody>
          <a:bodyPr wrap="square" lIns="45720" rIns="45720" tIns="18288" bIns="18288">
            <a:spAutoFit/>
          </a:bodyPr>
          <a:lstStyle/>
          <a:p>
            <a:pPr algn="ctr"/>
            <a:r>
              <a:rPr sz="1000" b="1">
                <a:solidFill>
                  <a:srgbClr val="FFFFFF"/>
                </a:solidFill>
              </a:rPr>
              <a:t>Streaming</a:t>
            </a:r>
          </a:p>
        </p:txBody>
      </p:sp>
      <p:sp>
        <p:nvSpPr>
          <p:cNvPr id="9" name="Rectangle 8"/>
          <p:cNvSpPr/>
          <p:nvPr/>
        </p:nvSpPr>
        <p:spPr>
          <a:xfrm>
            <a:off x="1234440"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1490472"/>
            <a:ext cx="685800" cy="274320"/>
          </a:xfrm>
          <a:prstGeom prst="rect">
            <a:avLst/>
          </a:prstGeom>
          <a:noFill/>
        </p:spPr>
        <p:txBody>
          <a:bodyPr wrap="square" lIns="45720" rIns="45720" tIns="18288" bIns="18288">
            <a:spAutoFit/>
          </a:bodyPr>
          <a:lstStyle/>
          <a:p>
            <a:pPr algn="ctr"/>
            <a:r>
              <a:rPr sz="800" b="1">
                <a:solidFill>
                  <a:srgbClr val="0B2A4A"/>
                </a:solidFill>
              </a:rPr>
              <a:t>zookeeper</a:t>
            </a:r>
          </a:p>
        </p:txBody>
      </p:sp>
      <p:sp>
        <p:nvSpPr>
          <p:cNvPr id="11" name="Rectangle 10"/>
          <p:cNvSpPr/>
          <p:nvPr/>
        </p:nvSpPr>
        <p:spPr>
          <a:xfrm>
            <a:off x="1947672"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47672" y="1490472"/>
            <a:ext cx="685800" cy="274320"/>
          </a:xfrm>
          <a:prstGeom prst="rect">
            <a:avLst/>
          </a:prstGeom>
          <a:noFill/>
        </p:spPr>
        <p:txBody>
          <a:bodyPr wrap="square" lIns="45720" rIns="45720" tIns="18288" bIns="18288">
            <a:spAutoFit/>
          </a:bodyPr>
          <a:lstStyle/>
          <a:p>
            <a:pPr algn="ctr"/>
            <a:r>
              <a:rPr sz="800" b="1">
                <a:solidFill>
                  <a:srgbClr val="0B2A4A"/>
                </a:solidFill>
              </a:rPr>
              <a:t>kafka</a:t>
            </a:r>
          </a:p>
        </p:txBody>
      </p:sp>
      <p:sp>
        <p:nvSpPr>
          <p:cNvPr id="13" name="Rectangle 12"/>
          <p:cNvSpPr/>
          <p:nvPr/>
        </p:nvSpPr>
        <p:spPr>
          <a:xfrm>
            <a:off x="2660904"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60904" y="1490472"/>
            <a:ext cx="685800" cy="274320"/>
          </a:xfrm>
          <a:prstGeom prst="rect">
            <a:avLst/>
          </a:prstGeom>
          <a:noFill/>
        </p:spPr>
        <p:txBody>
          <a:bodyPr wrap="square" lIns="45720" rIns="45720" tIns="18288" bIns="18288">
            <a:spAutoFit/>
          </a:bodyPr>
          <a:lstStyle/>
          <a:p>
            <a:pPr algn="ctr"/>
            <a:r>
              <a:rPr sz="800" b="1">
                <a:solidFill>
                  <a:srgbClr val="0B2A4A"/>
                </a:solidFill>
              </a:rPr>
              <a:t>schema-registry</a:t>
            </a:r>
          </a:p>
        </p:txBody>
      </p:sp>
      <p:sp>
        <p:nvSpPr>
          <p:cNvPr id="15" name="Rectangle 14"/>
          <p:cNvSpPr/>
          <p:nvPr/>
        </p:nvSpPr>
        <p:spPr>
          <a:xfrm>
            <a:off x="3374136"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1490472"/>
            <a:ext cx="685800" cy="274320"/>
          </a:xfrm>
          <a:prstGeom prst="rect">
            <a:avLst/>
          </a:prstGeom>
          <a:noFill/>
        </p:spPr>
        <p:txBody>
          <a:bodyPr wrap="square" lIns="45720" rIns="45720" tIns="18288" bIns="18288">
            <a:spAutoFit/>
          </a:bodyPr>
          <a:lstStyle/>
          <a:p>
            <a:pPr algn="ctr"/>
            <a:r>
              <a:rPr sz="800" b="1">
                <a:solidFill>
                  <a:srgbClr val="0B2A4A"/>
                </a:solidFill>
              </a:rPr>
              <a:t>connect</a:t>
            </a:r>
          </a:p>
        </p:txBody>
      </p:sp>
      <p:sp>
        <p:nvSpPr>
          <p:cNvPr id="17" name="Rectangle 16"/>
          <p:cNvSpPr/>
          <p:nvPr/>
        </p:nvSpPr>
        <p:spPr>
          <a:xfrm>
            <a:off x="4087368"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7368" y="1490472"/>
            <a:ext cx="685800" cy="274320"/>
          </a:xfrm>
          <a:prstGeom prst="rect">
            <a:avLst/>
          </a:prstGeom>
          <a:noFill/>
        </p:spPr>
        <p:txBody>
          <a:bodyPr wrap="square" lIns="45720" rIns="45720" tIns="18288" bIns="18288">
            <a:spAutoFit/>
          </a:bodyPr>
          <a:lstStyle/>
          <a:p>
            <a:pPr algn="ctr"/>
            <a:r>
              <a:rPr sz="800" b="1">
                <a:solidFill>
                  <a:srgbClr val="0B2A4A"/>
                </a:solidFill>
              </a:rPr>
              <a:t>kafka-ui</a:t>
            </a:r>
          </a:p>
        </p:txBody>
      </p:sp>
      <p:sp>
        <p:nvSpPr>
          <p:cNvPr id="19" name="Rectangle 18"/>
          <p:cNvSpPr/>
          <p:nvPr/>
        </p:nvSpPr>
        <p:spPr>
          <a:xfrm>
            <a:off x="274320" y="1920240"/>
            <a:ext cx="914400" cy="4572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2029968"/>
            <a:ext cx="914400" cy="274320"/>
          </a:xfrm>
          <a:prstGeom prst="rect">
            <a:avLst/>
          </a:prstGeom>
          <a:noFill/>
        </p:spPr>
        <p:txBody>
          <a:bodyPr wrap="square" lIns="45720" rIns="45720" tIns="18288" bIns="18288">
            <a:spAutoFit/>
          </a:bodyPr>
          <a:lstStyle/>
          <a:p>
            <a:pPr algn="ctr"/>
            <a:r>
              <a:rPr sz="1000" b="1">
                <a:solidFill>
                  <a:srgbClr val="FFFFFF"/>
                </a:solidFill>
              </a:rPr>
              <a:t>Sources</a:t>
            </a:r>
          </a:p>
        </p:txBody>
      </p:sp>
      <p:sp>
        <p:nvSpPr>
          <p:cNvPr id="21" name="Rectangle 20"/>
          <p:cNvSpPr/>
          <p:nvPr/>
        </p:nvSpPr>
        <p:spPr>
          <a:xfrm>
            <a:off x="1234440"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2039112"/>
            <a:ext cx="685800" cy="274320"/>
          </a:xfrm>
          <a:prstGeom prst="rect">
            <a:avLst/>
          </a:prstGeom>
          <a:noFill/>
        </p:spPr>
        <p:txBody>
          <a:bodyPr wrap="square" lIns="45720" rIns="45720" tIns="18288" bIns="18288">
            <a:spAutoFit/>
          </a:bodyPr>
          <a:lstStyle/>
          <a:p>
            <a:pPr algn="ctr"/>
            <a:r>
              <a:rPr sz="800" b="1">
                <a:solidFill>
                  <a:srgbClr val="0B2A4A"/>
                </a:solidFill>
              </a:rPr>
              <a:t>config-db</a:t>
            </a:r>
          </a:p>
        </p:txBody>
      </p:sp>
      <p:sp>
        <p:nvSpPr>
          <p:cNvPr id="23" name="Rectangle 22"/>
          <p:cNvSpPr/>
          <p:nvPr/>
        </p:nvSpPr>
        <p:spPr>
          <a:xfrm>
            <a:off x="1947672"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47672" y="2039112"/>
            <a:ext cx="685800" cy="274320"/>
          </a:xfrm>
          <a:prstGeom prst="rect">
            <a:avLst/>
          </a:prstGeom>
          <a:noFill/>
        </p:spPr>
        <p:txBody>
          <a:bodyPr wrap="square" lIns="45720" rIns="45720" tIns="18288" bIns="18288">
            <a:spAutoFit/>
          </a:bodyPr>
          <a:lstStyle/>
          <a:p>
            <a:pPr algn="ctr"/>
            <a:r>
              <a:rPr sz="800" b="1">
                <a:solidFill>
                  <a:srgbClr val="0B2A4A"/>
                </a:solidFill>
              </a:rPr>
              <a:t>pg-exp</a:t>
            </a:r>
          </a:p>
        </p:txBody>
      </p:sp>
      <p:sp>
        <p:nvSpPr>
          <p:cNvPr id="25" name="Rectangle 24"/>
          <p:cNvSpPr/>
          <p:nvPr/>
        </p:nvSpPr>
        <p:spPr>
          <a:xfrm>
            <a:off x="2660904"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0904" y="2039112"/>
            <a:ext cx="685800" cy="274320"/>
          </a:xfrm>
          <a:prstGeom prst="rect">
            <a:avLst/>
          </a:prstGeom>
          <a:noFill/>
        </p:spPr>
        <p:txBody>
          <a:bodyPr wrap="square" lIns="45720" rIns="45720" tIns="18288" bIns="18288">
            <a:spAutoFit/>
          </a:bodyPr>
          <a:lstStyle/>
          <a:p>
            <a:pPr algn="ctr"/>
            <a:r>
              <a:rPr sz="800" b="1">
                <a:solidFill>
                  <a:srgbClr val="0B2A4A"/>
                </a:solidFill>
              </a:rPr>
              <a:t>app</a:t>
            </a:r>
          </a:p>
        </p:txBody>
      </p:sp>
      <p:sp>
        <p:nvSpPr>
          <p:cNvPr id="27" name="Rectangle 26"/>
          <p:cNvSpPr/>
          <p:nvPr/>
        </p:nvSpPr>
        <p:spPr>
          <a:xfrm>
            <a:off x="3374136"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74136" y="2039112"/>
            <a:ext cx="685800" cy="274320"/>
          </a:xfrm>
          <a:prstGeom prst="rect">
            <a:avLst/>
          </a:prstGeom>
          <a:noFill/>
        </p:spPr>
        <p:txBody>
          <a:bodyPr wrap="square" lIns="45720" rIns="45720" tIns="18288" bIns="18288">
            <a:spAutoFit/>
          </a:bodyPr>
          <a:lstStyle/>
          <a:p>
            <a:pPr algn="ctr"/>
            <a:r>
              <a:rPr sz="800" b="1">
                <a:solidFill>
                  <a:srgbClr val="0B2A4A"/>
                </a:solidFill>
              </a:rPr>
              <a:t>ogn</a:t>
            </a:r>
          </a:p>
        </p:txBody>
      </p:sp>
      <p:sp>
        <p:nvSpPr>
          <p:cNvPr id="29" name="Rectangle 28"/>
          <p:cNvSpPr/>
          <p:nvPr/>
        </p:nvSpPr>
        <p:spPr>
          <a:xfrm>
            <a:off x="4087368"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87368" y="2039112"/>
            <a:ext cx="685800" cy="274320"/>
          </a:xfrm>
          <a:prstGeom prst="rect">
            <a:avLst/>
          </a:prstGeom>
          <a:noFill/>
        </p:spPr>
        <p:txBody>
          <a:bodyPr wrap="square" lIns="45720" rIns="45720" tIns="18288" bIns="18288">
            <a:spAutoFit/>
          </a:bodyPr>
          <a:lstStyle/>
          <a:p>
            <a:pPr algn="ctr"/>
            <a:r>
              <a:rPr sz="800" b="1">
                <a:solidFill>
                  <a:srgbClr val="0B2A4A"/>
                </a:solidFill>
              </a:rPr>
              <a:t>noaa</a:t>
            </a:r>
          </a:p>
        </p:txBody>
      </p:sp>
      <p:sp>
        <p:nvSpPr>
          <p:cNvPr id="31" name="Rectangle 30"/>
          <p:cNvSpPr/>
          <p:nvPr/>
        </p:nvSpPr>
        <p:spPr>
          <a:xfrm>
            <a:off x="4800600"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2039112"/>
            <a:ext cx="685800" cy="274320"/>
          </a:xfrm>
          <a:prstGeom prst="rect">
            <a:avLst/>
          </a:prstGeom>
          <a:noFill/>
        </p:spPr>
        <p:txBody>
          <a:bodyPr wrap="square" lIns="45720" rIns="45720" tIns="18288" bIns="18288">
            <a:spAutoFit/>
          </a:bodyPr>
          <a:lstStyle/>
          <a:p>
            <a:pPr algn="ctr"/>
            <a:r>
              <a:rPr sz="800" b="1">
                <a:solidFill>
                  <a:srgbClr val="0B2A4A"/>
                </a:solidFill>
              </a:rPr>
              <a:t>seismic</a:t>
            </a:r>
          </a:p>
        </p:txBody>
      </p:sp>
      <p:sp>
        <p:nvSpPr>
          <p:cNvPr id="33" name="Rectangle 32"/>
          <p:cNvSpPr/>
          <p:nvPr/>
        </p:nvSpPr>
        <p:spPr>
          <a:xfrm>
            <a:off x="274320" y="2468880"/>
            <a:ext cx="914400" cy="4572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2578608"/>
            <a:ext cx="914400" cy="274320"/>
          </a:xfrm>
          <a:prstGeom prst="rect">
            <a:avLst/>
          </a:prstGeom>
          <a:noFill/>
        </p:spPr>
        <p:txBody>
          <a:bodyPr wrap="square" lIns="45720" rIns="45720" tIns="18288" bIns="18288">
            <a:spAutoFit/>
          </a:bodyPr>
          <a:lstStyle/>
          <a:p>
            <a:pPr algn="ctr"/>
            <a:r>
              <a:rPr sz="1000" b="1">
                <a:solidFill>
                  <a:srgbClr val="FFFFFF"/>
                </a:solidFill>
              </a:rPr>
              <a:t>Storage</a:t>
            </a:r>
          </a:p>
        </p:txBody>
      </p:sp>
      <p:sp>
        <p:nvSpPr>
          <p:cNvPr id="35" name="Rectangle 34"/>
          <p:cNvSpPr/>
          <p:nvPr/>
        </p:nvSpPr>
        <p:spPr>
          <a:xfrm>
            <a:off x="1234440" y="2468880"/>
            <a:ext cx="685800" cy="457200"/>
          </a:xfrm>
          <a:prstGeom prst="rect">
            <a:avLst/>
          </a:prstGeom>
          <a:solidFill>
            <a:srgbClr val="F1F5F9"/>
          </a:solidFill>
          <a:ln>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2587752"/>
            <a:ext cx="685800" cy="274320"/>
          </a:xfrm>
          <a:prstGeom prst="rect">
            <a:avLst/>
          </a:prstGeom>
          <a:noFill/>
        </p:spPr>
        <p:txBody>
          <a:bodyPr wrap="square" lIns="45720" rIns="45720" tIns="18288" bIns="18288">
            <a:spAutoFit/>
          </a:bodyPr>
          <a:lstStyle/>
          <a:p>
            <a:pPr algn="ctr"/>
            <a:r>
              <a:rPr sz="800" b="1">
                <a:solidFill>
                  <a:srgbClr val="0B2A4A"/>
                </a:solidFill>
              </a:rPr>
              <a:t>minio</a:t>
            </a:r>
          </a:p>
        </p:txBody>
      </p:sp>
      <p:sp>
        <p:nvSpPr>
          <p:cNvPr id="37" name="Rectangle 36"/>
          <p:cNvSpPr/>
          <p:nvPr/>
        </p:nvSpPr>
        <p:spPr>
          <a:xfrm>
            <a:off x="274320" y="3017520"/>
            <a:ext cx="91440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3127248"/>
            <a:ext cx="914400" cy="274320"/>
          </a:xfrm>
          <a:prstGeom prst="rect">
            <a:avLst/>
          </a:prstGeom>
          <a:noFill/>
        </p:spPr>
        <p:txBody>
          <a:bodyPr wrap="square" lIns="45720" rIns="45720" tIns="18288" bIns="18288">
            <a:spAutoFit/>
          </a:bodyPr>
          <a:lstStyle/>
          <a:p>
            <a:pPr algn="ctr"/>
            <a:r>
              <a:rPr sz="1000" b="1">
                <a:solidFill>
                  <a:srgbClr val="FFFFFF"/>
                </a:solidFill>
              </a:rPr>
              <a:t>Compute</a:t>
            </a:r>
          </a:p>
        </p:txBody>
      </p:sp>
      <p:sp>
        <p:nvSpPr>
          <p:cNvPr id="39" name="Rectangle 38"/>
          <p:cNvSpPr/>
          <p:nvPr/>
        </p:nvSpPr>
        <p:spPr>
          <a:xfrm>
            <a:off x="1234440"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3136392"/>
            <a:ext cx="685800" cy="274320"/>
          </a:xfrm>
          <a:prstGeom prst="rect">
            <a:avLst/>
          </a:prstGeom>
          <a:noFill/>
        </p:spPr>
        <p:txBody>
          <a:bodyPr wrap="square" lIns="45720" rIns="45720" tIns="18288" bIns="18288">
            <a:spAutoFit/>
          </a:bodyPr>
          <a:lstStyle/>
          <a:p>
            <a:pPr algn="ctr"/>
            <a:r>
              <a:rPr sz="800" b="1">
                <a:solidFill>
                  <a:srgbClr val="0B2A4A"/>
                </a:solidFill>
              </a:rPr>
              <a:t>hop</a:t>
            </a:r>
          </a:p>
        </p:txBody>
      </p:sp>
      <p:sp>
        <p:nvSpPr>
          <p:cNvPr id="41" name="Rectangle 40"/>
          <p:cNvSpPr/>
          <p:nvPr/>
        </p:nvSpPr>
        <p:spPr>
          <a:xfrm>
            <a:off x="1947672"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47672" y="3136392"/>
            <a:ext cx="685800" cy="274320"/>
          </a:xfrm>
          <a:prstGeom prst="rect">
            <a:avLst/>
          </a:prstGeom>
          <a:noFill/>
        </p:spPr>
        <p:txBody>
          <a:bodyPr wrap="square" lIns="45720" rIns="45720" tIns="18288" bIns="18288">
            <a:spAutoFit/>
          </a:bodyPr>
          <a:lstStyle/>
          <a:p>
            <a:pPr algn="ctr"/>
            <a:r>
              <a:rPr sz="800" b="1">
                <a:solidFill>
                  <a:srgbClr val="0B2A4A"/>
                </a:solidFill>
              </a:rPr>
              <a:t>airflow-db</a:t>
            </a:r>
          </a:p>
        </p:txBody>
      </p:sp>
      <p:sp>
        <p:nvSpPr>
          <p:cNvPr id="43" name="Rectangle 42"/>
          <p:cNvSpPr/>
          <p:nvPr/>
        </p:nvSpPr>
        <p:spPr>
          <a:xfrm>
            <a:off x="2660904"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60904" y="3136392"/>
            <a:ext cx="685800" cy="274320"/>
          </a:xfrm>
          <a:prstGeom prst="rect">
            <a:avLst/>
          </a:prstGeom>
          <a:noFill/>
        </p:spPr>
        <p:txBody>
          <a:bodyPr wrap="square" lIns="45720" rIns="45720" tIns="18288" bIns="18288">
            <a:spAutoFit/>
          </a:bodyPr>
          <a:lstStyle/>
          <a:p>
            <a:pPr algn="ctr"/>
            <a:r>
              <a:rPr sz="800" b="1">
                <a:solidFill>
                  <a:srgbClr val="0B2A4A"/>
                </a:solidFill>
              </a:rPr>
              <a:t>airflow-init</a:t>
            </a:r>
          </a:p>
        </p:txBody>
      </p:sp>
      <p:sp>
        <p:nvSpPr>
          <p:cNvPr id="45" name="Rectangle 44"/>
          <p:cNvSpPr/>
          <p:nvPr/>
        </p:nvSpPr>
        <p:spPr>
          <a:xfrm>
            <a:off x="3374136"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74136" y="3136392"/>
            <a:ext cx="685800" cy="274320"/>
          </a:xfrm>
          <a:prstGeom prst="rect">
            <a:avLst/>
          </a:prstGeom>
          <a:noFill/>
        </p:spPr>
        <p:txBody>
          <a:bodyPr wrap="square" lIns="45720" rIns="45720" tIns="18288" bIns="18288">
            <a:spAutoFit/>
          </a:bodyPr>
          <a:lstStyle/>
          <a:p>
            <a:pPr algn="ctr"/>
            <a:r>
              <a:rPr sz="800" b="1">
                <a:solidFill>
                  <a:srgbClr val="0B2A4A"/>
                </a:solidFill>
              </a:rPr>
              <a:t>airflow-web</a:t>
            </a:r>
          </a:p>
        </p:txBody>
      </p:sp>
      <p:sp>
        <p:nvSpPr>
          <p:cNvPr id="47" name="Rectangle 46"/>
          <p:cNvSpPr/>
          <p:nvPr/>
        </p:nvSpPr>
        <p:spPr>
          <a:xfrm>
            <a:off x="4087368"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87368" y="3136392"/>
            <a:ext cx="685800" cy="274320"/>
          </a:xfrm>
          <a:prstGeom prst="rect">
            <a:avLst/>
          </a:prstGeom>
          <a:noFill/>
        </p:spPr>
        <p:txBody>
          <a:bodyPr wrap="square" lIns="45720" rIns="45720" tIns="18288" bIns="18288">
            <a:spAutoFit/>
          </a:bodyPr>
          <a:lstStyle/>
          <a:p>
            <a:pPr algn="ctr"/>
            <a:r>
              <a:rPr sz="800" b="1">
                <a:solidFill>
                  <a:srgbClr val="0B2A4A"/>
                </a:solidFill>
              </a:rPr>
              <a:t>airflow-sched</a:t>
            </a:r>
          </a:p>
        </p:txBody>
      </p:sp>
      <p:sp>
        <p:nvSpPr>
          <p:cNvPr id="49" name="Rectangle 48"/>
          <p:cNvSpPr/>
          <p:nvPr/>
        </p:nvSpPr>
        <p:spPr>
          <a:xfrm>
            <a:off x="274320" y="3566160"/>
            <a:ext cx="914400" cy="4572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3675888"/>
            <a:ext cx="914400" cy="274320"/>
          </a:xfrm>
          <a:prstGeom prst="rect">
            <a:avLst/>
          </a:prstGeom>
          <a:noFill/>
        </p:spPr>
        <p:txBody>
          <a:bodyPr wrap="square" lIns="45720" rIns="45720" tIns="18288" bIns="18288">
            <a:spAutoFit/>
          </a:bodyPr>
          <a:lstStyle/>
          <a:p>
            <a:pPr algn="ctr"/>
            <a:r>
              <a:rPr sz="1000" b="1">
                <a:solidFill>
                  <a:srgbClr val="FFFFFF"/>
                </a:solidFill>
              </a:rPr>
              <a:t>Dashboards</a:t>
            </a:r>
          </a:p>
        </p:txBody>
      </p:sp>
      <p:sp>
        <p:nvSpPr>
          <p:cNvPr id="51" name="Rectangle 50"/>
          <p:cNvSpPr/>
          <p:nvPr/>
        </p:nvSpPr>
        <p:spPr>
          <a:xfrm>
            <a:off x="1234440"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34440" y="3685032"/>
            <a:ext cx="685800" cy="274320"/>
          </a:xfrm>
          <a:prstGeom prst="rect">
            <a:avLst/>
          </a:prstGeom>
          <a:noFill/>
        </p:spPr>
        <p:txBody>
          <a:bodyPr wrap="square" lIns="45720" rIns="45720" tIns="18288" bIns="18288">
            <a:spAutoFit/>
          </a:bodyPr>
          <a:lstStyle/>
          <a:p>
            <a:pPr algn="ctr"/>
            <a:r>
              <a:rPr sz="800" b="1">
                <a:solidFill>
                  <a:srgbClr val="0B2A4A"/>
                </a:solidFill>
              </a:rPr>
              <a:t>quality</a:t>
            </a:r>
          </a:p>
        </p:txBody>
      </p:sp>
      <p:sp>
        <p:nvSpPr>
          <p:cNvPr id="53" name="Rectangle 52"/>
          <p:cNvSpPr/>
          <p:nvPr/>
        </p:nvSpPr>
        <p:spPr>
          <a:xfrm>
            <a:off x="1947672"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47672" y="3685032"/>
            <a:ext cx="685800" cy="274320"/>
          </a:xfrm>
          <a:prstGeom prst="rect">
            <a:avLst/>
          </a:prstGeom>
          <a:noFill/>
        </p:spPr>
        <p:txBody>
          <a:bodyPr wrap="square" lIns="45720" rIns="45720" tIns="18288" bIns="18288">
            <a:spAutoFit/>
          </a:bodyPr>
          <a:lstStyle/>
          <a:p>
            <a:pPr algn="ctr"/>
            <a:r>
              <a:rPr sz="800" b="1">
                <a:solidFill>
                  <a:srgbClr val="0B2A4A"/>
                </a:solidFill>
              </a:rPr>
              <a:t>business</a:t>
            </a:r>
          </a:p>
        </p:txBody>
      </p:sp>
      <p:sp>
        <p:nvSpPr>
          <p:cNvPr id="55" name="Rectangle 54"/>
          <p:cNvSpPr/>
          <p:nvPr/>
        </p:nvSpPr>
        <p:spPr>
          <a:xfrm>
            <a:off x="2660904"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60904" y="3685032"/>
            <a:ext cx="685800" cy="274320"/>
          </a:xfrm>
          <a:prstGeom prst="rect">
            <a:avLst/>
          </a:prstGeom>
          <a:noFill/>
        </p:spPr>
        <p:txBody>
          <a:bodyPr wrap="square" lIns="45720" rIns="45720" tIns="18288" bIns="18288">
            <a:spAutoFit/>
          </a:bodyPr>
          <a:lstStyle/>
          <a:p>
            <a:pPr algn="ctr"/>
            <a:r>
              <a:rPr sz="800" b="1">
                <a:solidFill>
                  <a:srgbClr val="0B2A4A"/>
                </a:solidFill>
              </a:rPr>
              <a:t>live-map</a:t>
            </a:r>
          </a:p>
        </p:txBody>
      </p:sp>
      <p:sp>
        <p:nvSpPr>
          <p:cNvPr id="57" name="Rectangle 56"/>
          <p:cNvSpPr/>
          <p:nvPr/>
        </p:nvSpPr>
        <p:spPr>
          <a:xfrm>
            <a:off x="274320" y="4114800"/>
            <a:ext cx="914400" cy="4572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4224528"/>
            <a:ext cx="914400" cy="274320"/>
          </a:xfrm>
          <a:prstGeom prst="rect">
            <a:avLst/>
          </a:prstGeom>
          <a:noFill/>
        </p:spPr>
        <p:txBody>
          <a:bodyPr wrap="square" lIns="45720" rIns="45720" tIns="18288" bIns="18288">
            <a:spAutoFit/>
          </a:bodyPr>
          <a:lstStyle/>
          <a:p>
            <a:pPr algn="ctr"/>
            <a:r>
              <a:rPr sz="1000" b="1">
                <a:solidFill>
                  <a:srgbClr val="FFFFFF"/>
                </a:solidFill>
              </a:rPr>
              <a:t>Observ.</a:t>
            </a:r>
          </a:p>
        </p:txBody>
      </p:sp>
      <p:sp>
        <p:nvSpPr>
          <p:cNvPr id="59" name="Rectangle 58"/>
          <p:cNvSpPr/>
          <p:nvPr/>
        </p:nvSpPr>
        <p:spPr>
          <a:xfrm>
            <a:off x="1234440"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34440" y="4233672"/>
            <a:ext cx="685800" cy="274320"/>
          </a:xfrm>
          <a:prstGeom prst="rect">
            <a:avLst/>
          </a:prstGeom>
          <a:noFill/>
        </p:spPr>
        <p:txBody>
          <a:bodyPr wrap="square" lIns="45720" rIns="45720" tIns="18288" bIns="18288">
            <a:spAutoFit/>
          </a:bodyPr>
          <a:lstStyle/>
          <a:p>
            <a:pPr algn="ctr"/>
            <a:r>
              <a:rPr sz="800" b="1">
                <a:solidFill>
                  <a:srgbClr val="0B2A4A"/>
                </a:solidFill>
              </a:rPr>
              <a:t>prometheus</a:t>
            </a:r>
          </a:p>
        </p:txBody>
      </p:sp>
      <p:sp>
        <p:nvSpPr>
          <p:cNvPr id="61" name="Rectangle 60"/>
          <p:cNvSpPr/>
          <p:nvPr/>
        </p:nvSpPr>
        <p:spPr>
          <a:xfrm>
            <a:off x="1947672"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947672" y="4233672"/>
            <a:ext cx="685800" cy="274320"/>
          </a:xfrm>
          <a:prstGeom prst="rect">
            <a:avLst/>
          </a:prstGeom>
          <a:noFill/>
        </p:spPr>
        <p:txBody>
          <a:bodyPr wrap="square" lIns="45720" rIns="45720" tIns="18288" bIns="18288">
            <a:spAutoFit/>
          </a:bodyPr>
          <a:lstStyle/>
          <a:p>
            <a:pPr algn="ctr"/>
            <a:r>
              <a:rPr sz="800" b="1">
                <a:solidFill>
                  <a:srgbClr val="0B2A4A"/>
                </a:solidFill>
              </a:rPr>
              <a:t>alertmanager</a:t>
            </a:r>
          </a:p>
        </p:txBody>
      </p:sp>
      <p:sp>
        <p:nvSpPr>
          <p:cNvPr id="63" name="Rectangle 62"/>
          <p:cNvSpPr/>
          <p:nvPr/>
        </p:nvSpPr>
        <p:spPr>
          <a:xfrm>
            <a:off x="2660904"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0904" y="4233672"/>
            <a:ext cx="685800" cy="274320"/>
          </a:xfrm>
          <a:prstGeom prst="rect">
            <a:avLst/>
          </a:prstGeom>
          <a:noFill/>
        </p:spPr>
        <p:txBody>
          <a:bodyPr wrap="square" lIns="45720" rIns="45720" tIns="18288" bIns="18288">
            <a:spAutoFit/>
          </a:bodyPr>
          <a:lstStyle/>
          <a:p>
            <a:pPr algn="ctr"/>
            <a:r>
              <a:rPr sz="800" b="1">
                <a:solidFill>
                  <a:srgbClr val="0B2A4A"/>
                </a:solidFill>
              </a:rPr>
              <a:t>grafana</a:t>
            </a:r>
          </a:p>
        </p:txBody>
      </p:sp>
      <p:sp>
        <p:nvSpPr>
          <p:cNvPr id="65" name="Rectangle 6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67" name="TextBox 6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Apartment block</a:t>
            </a:r>
          </a:p>
        </p:txBody>
      </p:sp>
      <p:sp>
        <p:nvSpPr>
          <p:cNvPr id="68" name="TextBox 6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Each container is an apartment. Compose is the building, the .env is the rulebook every apartment shares, the bridge network is the hallway. You move out one tenant without disturbing the others.</a:t>
            </a:r>
          </a:p>
        </p:txBody>
      </p:sp>
      <p:sp>
        <p:nvSpPr>
          <p:cNvPr id="69" name="Rectangle 68"/>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2 / 10  ·  Module 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bootstrap.ps1 walkthrough</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What `./bootstrap.ps1` actually does on first run vs re-run</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1. Ensure .env exists (copy from .env.example if not).</a:t>
            </a:r>
          </a:p>
          <a:p>
            <a:pPr>
              <a:spcAft>
                <a:spcPts val="400"/>
              </a:spcAft>
            </a:pPr>
            <a:r>
              <a:rPr sz="1100">
                <a:solidFill>
                  <a:srgbClr val="0B2A4A"/>
                </a:solidFill>
              </a:rPr>
              <a:t>•  2. Download Connect plugins + JMX agent (skip if present).</a:t>
            </a:r>
          </a:p>
          <a:p>
            <a:pPr>
              <a:spcAft>
                <a:spcPts val="400"/>
              </a:spcAft>
            </a:pPr>
            <a:r>
              <a:rPr sz="1100">
                <a:solidFill>
                  <a:srgbClr val="0B2A4A"/>
                </a:solidFill>
              </a:rPr>
              <a:t>•  3. Build local app-base image, then compose pull, then compose up -d.</a:t>
            </a:r>
          </a:p>
          <a:p>
            <a:pPr>
              <a:spcAft>
                <a:spcPts val="400"/>
              </a:spcAft>
            </a:pPr>
            <a:r>
              <a:rPr sz="1100">
                <a:solidFill>
                  <a:srgbClr val="0B2A4A"/>
                </a:solidFill>
              </a:rPr>
              <a:t>•  4. Wait-Http on minio / schema-registry / connect / airflow.</a:t>
            </a:r>
          </a:p>
          <a:p>
            <a:pPr>
              <a:spcAft>
                <a:spcPts val="400"/>
              </a:spcAft>
            </a:pPr>
            <a:r>
              <a:rPr sz="1100">
                <a:solidFill>
                  <a:srgbClr val="0B2A4A"/>
                </a:solidFill>
              </a:rPr>
              <a:t>•  5. Create MinIO buckets, register Avro schemas, register all connectors.</a:t>
            </a:r>
          </a:p>
          <a:p>
            <a:pPr>
              <a:spcAft>
                <a:spcPts val="400"/>
              </a:spcAft>
            </a:pPr>
            <a:r>
              <a:rPr sz="1100">
                <a:solidFill>
                  <a:srgbClr val="0B2A4A"/>
                </a:solidFill>
              </a:rPr>
              <a:t>•  6. Unpause the 4 continuous DAGs and print the URL cheat-sheet.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Recipe with checkpoints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Like a recipe that says 'if dough is already proven, skip step 4.' Idempotent bootstrap = safe to re-run after any failure; only the missing steps execute.</a:t>
            </a:r>
          </a:p>
        </p:txBody>
      </p:sp>
      <p:sp>
        <p:nvSpPr>
          <p:cNvPr id="13" name="Rectangle 12"/>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3 / 10  ·  Module 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Image strategy: pin, build, pull — in that order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the 'pull access denied for day10-app' warning is harmless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Pin every external image (Kafka 7.5.0, Debezium 2.5.4.Final, Postgres 15).</a:t>
            </a:r>
          </a:p>
          <a:p>
            <a:pPr>
              <a:spcAft>
                <a:spcPts val="400"/>
              </a:spcAft>
            </a:pPr>
            <a:r>
              <a:rPr sz="1100">
                <a:solidFill>
                  <a:srgbClr val="0B2A4A"/>
                </a:solidFill>
              </a:rPr>
              <a:t>•  `compose build app-base` first — locally-built image now in the cache.</a:t>
            </a:r>
          </a:p>
          <a:p>
            <a:pPr>
              <a:spcAft>
                <a:spcPts val="400"/>
              </a:spcAft>
            </a:pPr>
            <a:r>
              <a:rPr sz="1100">
                <a:solidFill>
                  <a:srgbClr val="0B2A4A"/>
                </a:solidFill>
              </a:rPr>
              <a:t>•  `compose pull --ignore-pull-failures` to bring remote ones without timing out `up -d`.</a:t>
            </a:r>
          </a:p>
          <a:p>
            <a:pPr>
              <a:spcAft>
                <a:spcPts val="400"/>
              </a:spcAft>
            </a:pPr>
            <a:r>
              <a:rPr sz="1100">
                <a:solidFill>
                  <a:srgbClr val="0B2A4A"/>
                </a:solidFill>
              </a:rPr>
              <a:t>•  `compose up -d` — no network races, no surprise version drift.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Library card vs your own bookshelf</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Pulled images are library books (versioned, returnable). The day10-app image is a book you wrote yourself — Docker Hub doesn't have it, the warning is just the library looking and finding nothing.</a:t>
            </a:r>
          </a:p>
        </p:txBody>
      </p:sp>
      <p:sp>
        <p:nvSpPr>
          <p:cNvPr id="13" name="Rectangle 12"/>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 / 10  ·  Module 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Observability: Prometheus + Grafana + Alertmanager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Scrape the metrics, alert on the rules, show the dashboards</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Observability wiring</a:t>
            </a:r>
          </a:p>
        </p:txBody>
      </p:sp>
      <p:sp>
        <p:nvSpPr>
          <p:cNvPr id="7" name="Rectangle 6"/>
          <p:cNvSpPr/>
          <p:nvPr/>
        </p:nvSpPr>
        <p:spPr>
          <a:xfrm>
            <a:off x="274320" y="14173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904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kafka :9404</a:t>
            </a:r>
          </a:p>
        </p:txBody>
      </p:sp>
      <p:cxnSp>
        <p:nvCxnSpPr>
          <p:cNvPr id="9" name="Connector 8"/>
          <p:cNvCxnSpPr/>
          <p:nvPr/>
        </p:nvCxnSpPr>
        <p:spPr>
          <a:xfrm>
            <a:off x="1737360" y="1600200"/>
            <a:ext cx="731520" cy="11430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4320" y="18745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9476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pg-exp :9187</a:t>
            </a:r>
          </a:p>
        </p:txBody>
      </p:sp>
      <p:cxnSp>
        <p:nvCxnSpPr>
          <p:cNvPr id="12" name="Connector 11"/>
          <p:cNvCxnSpPr/>
          <p:nvPr/>
        </p:nvCxnSpPr>
        <p:spPr>
          <a:xfrm>
            <a:off x="1737360" y="2057400"/>
            <a:ext cx="731520" cy="6858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74320" y="23317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4048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minio :9000</a:t>
            </a:r>
          </a:p>
        </p:txBody>
      </p:sp>
      <p:cxnSp>
        <p:nvCxnSpPr>
          <p:cNvPr id="15" name="Connector 14"/>
          <p:cNvCxnSpPr/>
          <p:nvPr/>
        </p:nvCxnSpPr>
        <p:spPr>
          <a:xfrm>
            <a:off x="1737360" y="2514600"/>
            <a:ext cx="731520" cy="2286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74320" y="27889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28620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quality :5001</a:t>
            </a:r>
          </a:p>
        </p:txBody>
      </p:sp>
      <p:cxnSp>
        <p:nvCxnSpPr>
          <p:cNvPr id="18" name="Connector 17"/>
          <p:cNvCxnSpPr/>
          <p:nvPr/>
        </p:nvCxnSpPr>
        <p:spPr>
          <a:xfrm flipV="1">
            <a:off x="1737360" y="2743200"/>
            <a:ext cx="731520" cy="2286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74320" y="32461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3192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business :5002</a:t>
            </a:r>
          </a:p>
        </p:txBody>
      </p:sp>
      <p:cxnSp>
        <p:nvCxnSpPr>
          <p:cNvPr id="21" name="Connector 20"/>
          <p:cNvCxnSpPr/>
          <p:nvPr/>
        </p:nvCxnSpPr>
        <p:spPr>
          <a:xfrm flipV="1">
            <a:off x="1737360" y="2743200"/>
            <a:ext cx="731520" cy="6858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74320" y="37033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7764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connect :8083</a:t>
            </a:r>
          </a:p>
        </p:txBody>
      </p:sp>
      <p:cxnSp>
        <p:nvCxnSpPr>
          <p:cNvPr id="24" name="Connector 23"/>
          <p:cNvCxnSpPr/>
          <p:nvPr/>
        </p:nvCxnSpPr>
        <p:spPr>
          <a:xfrm flipV="1">
            <a:off x="1737360" y="2743200"/>
            <a:ext cx="731520" cy="11430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468880" y="2468880"/>
            <a:ext cx="1371600" cy="6400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0" y="2670048"/>
            <a:ext cx="1371600" cy="237744"/>
          </a:xfrm>
          <a:prstGeom prst="rect">
            <a:avLst/>
          </a:prstGeom>
          <a:noFill/>
        </p:spPr>
        <p:txBody>
          <a:bodyPr wrap="square" lIns="45720" rIns="45720" tIns="18288" bIns="18288">
            <a:spAutoFit/>
          </a:bodyPr>
          <a:lstStyle/>
          <a:p>
            <a:pPr algn="ctr"/>
            <a:r>
              <a:rPr sz="1000" b="1">
                <a:solidFill>
                  <a:srgbClr val="FFFFFF"/>
                </a:solidFill>
              </a:rPr>
              <a:t>Prometheus</a:t>
            </a:r>
          </a:p>
          <a:p>
            <a:pPr algn="ctr"/>
            <a:r>
              <a:rPr sz="1000" b="1">
                <a:solidFill>
                  <a:srgbClr val="FFFFFF"/>
                </a:solidFill>
              </a:rPr>
              <a:t>:9090</a:t>
            </a:r>
          </a:p>
        </p:txBody>
      </p:sp>
      <p:cxnSp>
        <p:nvCxnSpPr>
          <p:cNvPr id="27" name="Connector 26"/>
          <p:cNvCxnSpPr/>
          <p:nvPr/>
        </p:nvCxnSpPr>
        <p:spPr>
          <a:xfrm>
            <a:off x="3840480" y="2788919"/>
            <a:ext cx="45720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297680" y="2468880"/>
            <a:ext cx="1188720" cy="6400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670048"/>
            <a:ext cx="1188720" cy="237744"/>
          </a:xfrm>
          <a:prstGeom prst="rect">
            <a:avLst/>
          </a:prstGeom>
          <a:noFill/>
        </p:spPr>
        <p:txBody>
          <a:bodyPr wrap="square" lIns="45720" rIns="45720" tIns="18288" bIns="18288">
            <a:spAutoFit/>
          </a:bodyPr>
          <a:lstStyle/>
          <a:p>
            <a:pPr algn="ctr"/>
            <a:r>
              <a:rPr sz="1000" b="1">
                <a:solidFill>
                  <a:srgbClr val="FFFFFF"/>
                </a:solidFill>
              </a:rPr>
              <a:t>Alertmgr</a:t>
            </a:r>
          </a:p>
          <a:p>
            <a:pPr algn="ctr"/>
            <a:r>
              <a:rPr sz="1000" b="1">
                <a:solidFill>
                  <a:srgbClr val="FFFFFF"/>
                </a:solidFill>
              </a:rPr>
              <a:t>:9093</a:t>
            </a:r>
          </a:p>
        </p:txBody>
      </p:sp>
      <p:cxnSp>
        <p:nvCxnSpPr>
          <p:cNvPr id="30" name="Connector 29"/>
          <p:cNvCxnSpPr/>
          <p:nvPr/>
        </p:nvCxnSpPr>
        <p:spPr>
          <a:xfrm flipH="1" flipV="1">
            <a:off x="1280160" y="2743200"/>
            <a:ext cx="3611880" cy="36576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468880" y="3474720"/>
            <a:ext cx="1371600" cy="54864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3630168"/>
            <a:ext cx="1371600" cy="237744"/>
          </a:xfrm>
          <a:prstGeom prst="rect">
            <a:avLst/>
          </a:prstGeom>
          <a:noFill/>
        </p:spPr>
        <p:txBody>
          <a:bodyPr wrap="square" lIns="45720" rIns="45720" tIns="18288" bIns="18288">
            <a:spAutoFit/>
          </a:bodyPr>
          <a:lstStyle/>
          <a:p>
            <a:pPr algn="ctr"/>
            <a:r>
              <a:rPr sz="1000" b="1">
                <a:solidFill>
                  <a:srgbClr val="FFFFFF"/>
                </a:solidFill>
              </a:rPr>
              <a:t>Grafana :3000</a:t>
            </a:r>
          </a:p>
        </p:txBody>
      </p:sp>
      <p:cxnSp>
        <p:nvCxnSpPr>
          <p:cNvPr id="33" name="Connector 32"/>
          <p:cNvCxnSpPr/>
          <p:nvPr/>
        </p:nvCxnSpPr>
        <p:spPr>
          <a:xfrm>
            <a:off x="3154680" y="3108960"/>
            <a:ext cx="0" cy="36576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74320" y="4206240"/>
            <a:ext cx="5212080" cy="822960"/>
          </a:xfrm>
          <a:prstGeom prst="rect">
            <a:avLst/>
          </a:prstGeom>
          <a:noFill/>
        </p:spPr>
        <p:txBody>
          <a:bodyPr wrap="square" lIns="45720" rIns="45720" tIns="18288" bIns="18288">
            <a:spAutoFit/>
          </a:bodyPr>
          <a:lstStyle/>
          <a:p>
            <a:pPr algn="ctr"/>
            <a:r>
              <a:rPr sz="1000" b="0">
                <a:solidFill>
                  <a:srgbClr val="0B2A4A"/>
                </a:solidFill>
              </a:rPr>
              <a:t>Alerts fire from rule_files (data_quality, pipeline) →</a:t>
            </a:r>
          </a:p>
          <a:p>
            <a:pPr algn="ctr"/>
            <a:r>
              <a:rPr sz="1000" b="0">
                <a:solidFill>
                  <a:srgbClr val="0B2A4A"/>
                </a:solidFill>
              </a:rPr>
              <a:t>Alertmanager POSTs JSON to quality-dashboard /webhook/alerts →</a:t>
            </a:r>
          </a:p>
          <a:p>
            <a:pPr algn="ctr"/>
            <a:r>
              <a:rPr sz="1000" b="0">
                <a:solidFill>
                  <a:srgbClr val="0B2A4A"/>
                </a:solidFill>
              </a:rPr>
              <a:t>DataOps sees the alert in the same UI where they see the metric.</a:t>
            </a:r>
          </a:p>
        </p:txBody>
      </p:sp>
      <p:sp>
        <p:nvSpPr>
          <p:cNvPr id="35" name="Rectangle 3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7" name="TextBox 3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Hospital monitor</a:t>
            </a:r>
          </a:p>
        </p:txBody>
      </p:sp>
      <p:sp>
        <p:nvSpPr>
          <p:cNvPr id="38" name="TextBox 3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Sensors on every patient (exporters) → ECG screen (Prometheus) → red button when vitals cross thresholds (Alertmanager) → nurse dashboard (quality-dashboard / Grafana).</a:t>
            </a:r>
          </a:p>
        </p:txBody>
      </p:sp>
      <p:sp>
        <p:nvSpPr>
          <p:cNvPr id="39" name="Rectangle 38"/>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 / 10  ·  Module 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DLQ and recovery patterns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Three DLQs in this stack — what fills them, what drains them</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dlq.config-source             — Debezium can't decode this WAL row</a:t>
            </a:r>
          </a:p>
          <a:p>
            <a:pPr>
              <a:spcAft>
                <a:spcPts val="400"/>
              </a:spcAft>
            </a:pPr>
            <a:r>
              <a:rPr sz="1100">
                <a:solidFill>
                  <a:srgbClr val="0B2A4A"/>
                </a:solidFill>
              </a:rPr>
              <a:t>•  dlq.s3-sink-bronze-cdc        — sink couldn't write this record</a:t>
            </a:r>
          </a:p>
          <a:p>
            <a:pPr>
              <a:spcAft>
                <a:spcPts val="400"/>
              </a:spcAft>
            </a:pPr>
            <a:r>
              <a:rPr sz="1100">
                <a:solidFill>
                  <a:srgbClr val="0B2A4A"/>
                </a:solidFill>
              </a:rPr>
              <a:t>•  dlq.s3-sink-bronze-streams    — sink couldn't write this record</a:t>
            </a:r>
          </a:p>
          <a:p>
            <a:pPr>
              <a:spcAft>
                <a:spcPts val="400"/>
              </a:spcAft>
            </a:pPr>
            <a:r>
              <a:rPr sz="1100">
                <a:solidFill>
                  <a:srgbClr val="0B2A4A"/>
                </a:solidFill>
              </a:rPr>
              <a:t>•  Drain: re-process by hand → republish to original topic OR archive forever.</a:t>
            </a:r>
          </a:p>
          <a:p>
            <a:pPr>
              <a:spcAft>
                <a:spcPts val="400"/>
              </a:spcAft>
            </a:pPr>
            <a:r>
              <a:rPr sz="1100">
                <a:solidFill>
                  <a:srgbClr val="0B2A4A"/>
                </a:solidFill>
              </a:rPr>
              <a:t>•  Gauge: quality_dlq_size{topic} alerts when growth &gt; 0.</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Hospital triage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DLQs are the triage corner: don't block the ER, treat the easy patients first, come back to the hard cases with a specialist. Same for messages — park the poison, keep throughput, fix later.</a:t>
            </a:r>
          </a:p>
        </p:txBody>
      </p:sp>
      <p:sp>
        <p:nvSpPr>
          <p:cNvPr id="13" name="Rectangle 12"/>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6 / 10  ·  Module 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Common production gotchas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Failure mode → first symptom → quickest fix</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574765">
                <a:tc>
                  <a:txBody>
                    <a:bodyPr/>
                    <a:lstStyle/>
                    <a:p>
                      <a:r>
                        <a:rPr sz="1100" b="1">
                          <a:solidFill>
                            <a:srgbClr val="FFFFFF"/>
                          </a:solidFill>
                        </a:rPr>
                        <a:t>Failure mode</a:t>
                      </a:r>
                    </a:p>
                  </a:txBody>
                  <a:tcPr>
                    <a:solidFill>
                      <a:srgbClr val="0B2A4A"/>
                    </a:solidFill>
                  </a:tcPr>
                </a:tc>
                <a:tc>
                  <a:txBody>
                    <a:bodyPr/>
                    <a:lstStyle/>
                    <a:p>
                      <a:r>
                        <a:rPr sz="1100" b="1">
                          <a:solidFill>
                            <a:srgbClr val="FFFFFF"/>
                          </a:solidFill>
                        </a:rPr>
                        <a:t>First symptom</a:t>
                      </a:r>
                    </a:p>
                  </a:txBody>
                  <a:tcPr>
                    <a:solidFill>
                      <a:srgbClr val="0B2A4A"/>
                    </a:solidFill>
                  </a:tcPr>
                </a:tc>
                <a:tc>
                  <a:txBody>
                    <a:bodyPr/>
                    <a:lstStyle/>
                    <a:p>
                      <a:r>
                        <a:rPr sz="1100" b="1">
                          <a:solidFill>
                            <a:srgbClr val="FFFFFF"/>
                          </a:solidFill>
                        </a:rPr>
                        <a:t>Quickest fix</a:t>
                      </a:r>
                    </a:p>
                  </a:txBody>
                  <a:tcPr>
                    <a:solidFill>
                      <a:srgbClr val="0B2A4A"/>
                    </a:solidFill>
                  </a:tcPr>
                </a:tc>
              </a:tr>
              <a:tr h="574765">
                <a:tc>
                  <a:txBody>
                    <a:bodyPr/>
                    <a:lstStyle/>
                    <a:p>
                      <a:r>
                        <a:rPr sz="1000">
                          <a:solidFill>
                            <a:srgbClr val="0B2A4A"/>
                          </a:solidFill>
                        </a:rPr>
                        <a:t>WAL not enabled on Postgres</a:t>
                      </a:r>
                    </a:p>
                  </a:txBody>
                  <a:tcPr/>
                </a:tc>
                <a:tc>
                  <a:txBody>
                    <a:bodyPr/>
                    <a:lstStyle/>
                    <a:p>
                      <a:r>
                        <a:rPr sz="1000">
                          <a:solidFill>
                            <a:srgbClr val="0B2A4A"/>
                          </a:solidFill>
                        </a:rPr>
                        <a:t>Debezium creates slot then 0 events</a:t>
                      </a:r>
                    </a:p>
                  </a:txBody>
                  <a:tcPr/>
                </a:tc>
                <a:tc>
                  <a:txBody>
                    <a:bodyPr/>
                    <a:lstStyle/>
                    <a:p>
                      <a:r>
                        <a:rPr sz="1000">
                          <a:solidFill>
                            <a:srgbClr val="0B2A4A"/>
                          </a:solidFill>
                        </a:rPr>
                        <a:t>ALTER SYSTEM wal_level = logical; restart</a:t>
                      </a:r>
                    </a:p>
                  </a:txBody>
                  <a:tcPr/>
                </a:tc>
              </a:tr>
              <a:tr h="574765">
                <a:tc>
                  <a:txBody>
                    <a:bodyPr/>
                    <a:lstStyle/>
                    <a:p>
                      <a:r>
                        <a:rPr sz="1000">
                          <a:solidFill>
                            <a:srgbClr val="0B2A4A"/>
                          </a:solidFill>
                        </a:rPr>
                        <a:t>Schema Registry down</a:t>
                      </a:r>
                    </a:p>
                  </a:txBody>
                  <a:tcPr>
                    <a:solidFill>
                      <a:srgbClr val="F1F5F9"/>
                    </a:solidFill>
                  </a:tcPr>
                </a:tc>
                <a:tc>
                  <a:txBody>
                    <a:bodyPr/>
                    <a:lstStyle/>
                    <a:p>
                      <a:r>
                        <a:rPr sz="1000">
                          <a:solidFill>
                            <a:srgbClr val="0B2A4A"/>
                          </a:solidFill>
                        </a:rPr>
                        <a:t>Connect produces ‘SerializationException’</a:t>
                      </a:r>
                    </a:p>
                  </a:txBody>
                  <a:tcPr>
                    <a:solidFill>
                      <a:srgbClr val="F1F5F9"/>
                    </a:solidFill>
                  </a:tcPr>
                </a:tc>
                <a:tc>
                  <a:txBody>
                    <a:bodyPr/>
                    <a:lstStyle/>
                    <a:p>
                      <a:r>
                        <a:rPr sz="1000">
                          <a:solidFill>
                            <a:srgbClr val="0B2A4A"/>
                          </a:solidFill>
                        </a:rPr>
                        <a:t>compose restart schema-registry; replay DLQ</a:t>
                      </a:r>
                    </a:p>
                  </a:txBody>
                  <a:tcPr>
                    <a:solidFill>
                      <a:srgbClr val="F1F5F9"/>
                    </a:solidFill>
                  </a:tcPr>
                </a:tc>
              </a:tr>
              <a:tr h="574765">
                <a:tc>
                  <a:txBody>
                    <a:bodyPr/>
                    <a:lstStyle/>
                    <a:p>
                      <a:r>
                        <a:rPr sz="1000">
                          <a:solidFill>
                            <a:srgbClr val="0B2A4A"/>
                          </a:solidFill>
                        </a:rPr>
                        <a:t>Connect plugin path wrong</a:t>
                      </a:r>
                    </a:p>
                  </a:txBody>
                  <a:tcPr/>
                </a:tc>
                <a:tc>
                  <a:txBody>
                    <a:bodyPr/>
                    <a:lstStyle/>
                    <a:p>
                      <a:r>
                        <a:rPr sz="1000">
                          <a:solidFill>
                            <a:srgbClr val="0B2A4A"/>
                          </a:solidFill>
                        </a:rPr>
                        <a:t>0 connectors visible at /connectors</a:t>
                      </a:r>
                    </a:p>
                  </a:txBody>
                  <a:tcPr/>
                </a:tc>
                <a:tc>
                  <a:txBody>
                    <a:bodyPr/>
                    <a:lstStyle/>
                    <a:p>
                      <a:r>
                        <a:rPr sz="1000">
                          <a:solidFill>
                            <a:srgbClr val="0B2A4A"/>
                          </a:solidFill>
                        </a:rPr>
                        <a:t>check CONNECT_PLUGIN_PATH and bind mount</a:t>
                      </a:r>
                    </a:p>
                  </a:txBody>
                  <a:tcPr/>
                </a:tc>
              </a:tr>
              <a:tr h="574765">
                <a:tc>
                  <a:txBody>
                    <a:bodyPr/>
                    <a:lstStyle/>
                    <a:p>
                      <a:r>
                        <a:rPr sz="1000">
                          <a:solidFill>
                            <a:srgbClr val="0B2A4A"/>
                          </a:solidFill>
                        </a:rPr>
                        <a:t>MinIO out of space</a:t>
                      </a:r>
                    </a:p>
                  </a:txBody>
                  <a:tcPr>
                    <a:solidFill>
                      <a:srgbClr val="F1F5F9"/>
                    </a:solidFill>
                  </a:tcPr>
                </a:tc>
                <a:tc>
                  <a:txBody>
                    <a:bodyPr/>
                    <a:lstStyle/>
                    <a:p>
                      <a:r>
                        <a:rPr sz="1000">
                          <a:solidFill>
                            <a:srgbClr val="0B2A4A"/>
                          </a:solidFill>
                        </a:rPr>
                        <a:t>S3 sink RUNNING → FAILED, 507 in logs</a:t>
                      </a:r>
                    </a:p>
                  </a:txBody>
                  <a:tcPr>
                    <a:solidFill>
                      <a:srgbClr val="F1F5F9"/>
                    </a:solidFill>
                  </a:tcPr>
                </a:tc>
                <a:tc>
                  <a:txBody>
                    <a:bodyPr/>
                    <a:lstStyle/>
                    <a:p>
                      <a:r>
                        <a:rPr sz="1000">
                          <a:solidFill>
                            <a:srgbClr val="0B2A4A"/>
                          </a:solidFill>
                        </a:rPr>
                        <a:t>mc rm or extend volume; restart connector</a:t>
                      </a:r>
                    </a:p>
                  </a:txBody>
                  <a:tcPr>
                    <a:solidFill>
                      <a:srgbClr val="F1F5F9"/>
                    </a:solidFill>
                  </a:tcPr>
                </a:tc>
              </a:tr>
              <a:tr h="574765">
                <a:tc>
                  <a:txBody>
                    <a:bodyPr/>
                    <a:lstStyle/>
                    <a:p>
                      <a:r>
                        <a:rPr sz="1000">
                          <a:solidFill>
                            <a:srgbClr val="0B2A4A"/>
                          </a:solidFill>
                        </a:rPr>
                        <a:t>Airflow scheduler dead</a:t>
                      </a:r>
                    </a:p>
                  </a:txBody>
                  <a:tcPr/>
                </a:tc>
                <a:tc>
                  <a:txBody>
                    <a:bodyPr/>
                    <a:lstStyle/>
                    <a:p>
                      <a:r>
                        <a:rPr sz="1000">
                          <a:solidFill>
                            <a:srgbClr val="0B2A4A"/>
                          </a:solidFill>
                        </a:rPr>
                        <a:t>DAGs queued but never start</a:t>
                      </a:r>
                    </a:p>
                  </a:txBody>
                  <a:tcPr/>
                </a:tc>
                <a:tc>
                  <a:txBody>
                    <a:bodyPr/>
                    <a:lstStyle/>
                    <a:p>
                      <a:r>
                        <a:rPr sz="1000">
                          <a:solidFill>
                            <a:srgbClr val="0B2A4A"/>
                          </a:solidFill>
                        </a:rPr>
                        <a:t>compose restart airflow-scheduler</a:t>
                      </a:r>
                    </a:p>
                  </a:txBody>
                  <a:tcPr/>
                </a:tc>
              </a:tr>
              <a:tr h="574770">
                <a:tc>
                  <a:txBody>
                    <a:bodyPr/>
                    <a:lstStyle/>
                    <a:p>
                      <a:r>
                        <a:rPr sz="1000">
                          <a:solidFill>
                            <a:srgbClr val="0B2A4A"/>
                          </a:solidFill>
                        </a:rPr>
                        <a:t>Pinned image moved on Hub</a:t>
                      </a:r>
                    </a:p>
                  </a:txBody>
                  <a:tcPr>
                    <a:solidFill>
                      <a:srgbClr val="F1F5F9"/>
                    </a:solidFill>
                  </a:tcPr>
                </a:tc>
                <a:tc>
                  <a:txBody>
                    <a:bodyPr/>
                    <a:lstStyle/>
                    <a:p>
                      <a:r>
                        <a:rPr sz="1000">
                          <a:solidFill>
                            <a:srgbClr val="0B2A4A"/>
                          </a:solidFill>
                        </a:rPr>
                        <a:t>compose pull says ‘not found’</a:t>
                      </a:r>
                    </a:p>
                  </a:txBody>
                  <a:tcPr>
                    <a:solidFill>
                      <a:srgbClr val="F1F5F9"/>
                    </a:solidFill>
                  </a:tcPr>
                </a:tc>
                <a:tc>
                  <a:txBody>
                    <a:bodyPr/>
                    <a:lstStyle/>
                    <a:p>
                      <a:r>
                        <a:rPr sz="1000">
                          <a:solidFill>
                            <a:srgbClr val="0B2A4A"/>
                          </a:solidFill>
                        </a:rPr>
                        <a:t>switch tag, audit version in .env</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Pilot's checklist</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Pilots don't memorise emergencies — they read the laminated card. This table is your laminated card.</a:t>
            </a:r>
          </a:p>
        </p:txBody>
      </p:sp>
      <p:sp>
        <p:nvSpPr>
          <p:cNvPr id="11" name="Rectangle 10"/>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7 / 10  ·  Module 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Secrets, configuration, and the .env file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credentials live (and where they must NOT live)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.env holds: MinIO creds, Postgres creds, Airflow Fernet key, ports.</a:t>
            </a:r>
          </a:p>
          <a:p>
            <a:pPr>
              <a:spcAft>
                <a:spcPts val="400"/>
              </a:spcAft>
            </a:pPr>
            <a:r>
              <a:rPr sz="1100">
                <a:solidFill>
                  <a:srgbClr val="0B2A4A"/>
                </a:solidFill>
              </a:rPr>
              <a:t>•  .env.example is committed; .env is .gitignored.</a:t>
            </a:r>
          </a:p>
          <a:p>
            <a:pPr>
              <a:spcAft>
                <a:spcPts val="400"/>
              </a:spcAft>
            </a:pPr>
            <a:r>
              <a:rPr sz="1100">
                <a:solidFill>
                  <a:srgbClr val="0B2A4A"/>
                </a:solidFill>
              </a:rPr>
              <a:t>•  For real prod: swap .env for Docker secrets / Vault / AWS SSM.</a:t>
            </a:r>
          </a:p>
          <a:p>
            <a:pPr>
              <a:spcAft>
                <a:spcPts val="400"/>
              </a:spcAft>
            </a:pPr>
            <a:r>
              <a:rPr sz="1100">
                <a:solidFill>
                  <a:srgbClr val="0B2A4A"/>
                </a:solidFill>
              </a:rPr>
              <a:t>•  Never bake credentials into Dockerfile RUN lines or git history.</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Hotel room safe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Your passwords are jewellery — they live in the safe (.env / a secret manager), not on the dresser (git, Dockerfile, source code). Everything else (image versions, ports, paths) is fine in the open.</a:t>
            </a:r>
          </a:p>
        </p:txBody>
      </p:sp>
      <p:sp>
        <p:nvSpPr>
          <p:cNvPr id="13" name="Rectangle 12"/>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8 / 10  ·  Module 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Capacity planning rules of thumb</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When (not if) to scale each layer</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metheus.png"/>
          <p:cNvPicPr>
            <a:picLocks noChangeAspect="1"/>
          </p:cNvPicPr>
          <p:nvPr/>
        </p:nvPicPr>
        <p:blipFill>
          <a:blip r:embed="rId2"/>
          <a:stretch>
            <a:fillRect/>
          </a:stretch>
        </p:blipFill>
        <p:spPr>
          <a:xfrm>
            <a:off x="1519666" y="982980"/>
            <a:ext cx="2629948"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Kafka: scale partitions when consumer lag stays &gt; 30 s; brokers when disk fills.</a:t>
            </a:r>
          </a:p>
          <a:p>
            <a:pPr>
              <a:spcAft>
                <a:spcPts val="400"/>
              </a:spcAft>
            </a:pPr>
            <a:r>
              <a:rPr sz="1100">
                <a:solidFill>
                  <a:srgbClr val="0B2A4A"/>
                </a:solidFill>
              </a:rPr>
              <a:t>•  Connect: scale workers when tasks-per-worker &gt; 5 and CPU &gt; 70 %.</a:t>
            </a:r>
          </a:p>
          <a:p>
            <a:pPr>
              <a:spcAft>
                <a:spcPts val="400"/>
              </a:spcAft>
            </a:pPr>
            <a:r>
              <a:rPr sz="1100">
                <a:solidFill>
                  <a:srgbClr val="0B2A4A"/>
                </a:solidFill>
              </a:rPr>
              <a:t>•  MinIO: add drives when used &gt; 70 %; rebalance is online.</a:t>
            </a:r>
          </a:p>
          <a:p>
            <a:pPr>
              <a:spcAft>
                <a:spcPts val="400"/>
              </a:spcAft>
            </a:pPr>
            <a:r>
              <a:rPr sz="1100">
                <a:solidFill>
                  <a:srgbClr val="0B2A4A"/>
                </a:solidFill>
              </a:rPr>
              <a:t>•  Airflow: scale workers when scheduler queue &gt; 0 sustained; switch to CeleryExecutor before that.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Restaurant kitchen during a rush</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You don't hire more chefs when the dining room is half full. Watch the metrics, scale the bottleneck, then re-measure. Premature scaling = expensive empty restaurant.</a:t>
            </a:r>
          </a:p>
        </p:txBody>
      </p:sp>
      <p:sp>
        <p:nvSpPr>
          <p:cNvPr id="13" name="Rectangle 12"/>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9 / 10  ·  Module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Why pre-build day10-app before `compose up -d` in bootstrap?</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So compose has the image locally and doesn't waste a network round-trip + timeout trying to pull it from Docker Hub.</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Where does Alertmanager send firing alerts in this stack?</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POST → http://quality-dashboard:5001/webhook/alerts, so DataOps sees them in the same UI as the metrics.</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What's the single most common cause of 'Debezium silent / 0 events'?</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Postgres wal_level is not 'logical' (or the publication/slot wasn't created). Run 03_enable_wal.sql, restart, re-create the connector.</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What's the cleanest way to handle a poison message in the S3 sink?</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Set errors.tolerance=all + errors.deadletterqueue.topic.name — bad records go to dlq.s3-sink-bronze-* and the sink keeps running.</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How do you make bootstrap.ps1 safe to re-run after a failure?</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Idempotent steps: skip downloads if files exist, `compose up -d` is a no-op for healthy services, schema/connector registration uses PUT.</a:t>
            </a:r>
          </a:p>
        </p:txBody>
      </p:sp>
      <p:sp>
        <p:nvSpPr>
          <p:cNvPr id="16" name="Rectangle 15"/>
          <p:cNvSpPr/>
          <p:nvPr/>
        </p:nvSpPr>
        <p:spPr>
          <a:xfrm>
            <a:off x="0" y="66294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10 / 10  ·  Module 4 — Knowledge Check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CLOSING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What you actually built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Inventory of the running stack — count it, you earned it</a:t>
            </a:r>
          </a:p>
        </p:txBody>
      </p:sp>
      <p:graphicFrame>
        <p:nvGraphicFramePr>
          <p:cNvPr id="6" name="Table 5"/>
          <p:cNvGraphicFramePr>
            <a:graphicFrameLocks noGrp="1"/>
          </p:cNvGraphicFramePr>
          <p:nvPr/>
        </p:nvGraphicFramePr>
        <p:xfrm>
          <a:off x="274320" y="960120"/>
          <a:ext cx="8595360" cy="4023360"/>
        </p:xfrm>
        <a:graphic>
          <a:graphicData uri="http://schemas.openxmlformats.org/drawingml/2006/table">
            <a:tbl>
              <a:tblPr firstRow="1" bandRow="1">
                <a:tableStyleId>{5C22544A-7EE6-4342-B048-85BDC9FD1C3A}</a:tableStyleId>
              </a:tblPr>
              <a:tblGrid>
                <a:gridCol w="2865120"/>
                <a:gridCol w="2865120"/>
                <a:gridCol w="2865120"/>
              </a:tblGrid>
              <a:tr h="365760">
                <a:tc>
                  <a:txBody>
                    <a:bodyPr/>
                    <a:lstStyle/>
                    <a:p>
                      <a:r>
                        <a:rPr sz="1200" b="1">
                          <a:solidFill>
                            <a:srgbClr val="FFFFFF"/>
                          </a:solidFill>
                        </a:rPr>
                        <a:t>Component</a:t>
                      </a:r>
                    </a:p>
                  </a:txBody>
                  <a:tcPr>
                    <a:solidFill>
                      <a:srgbClr val="0B2A4A"/>
                    </a:solidFill>
                  </a:tcPr>
                </a:tc>
                <a:tc>
                  <a:txBody>
                    <a:bodyPr/>
                    <a:lstStyle/>
                    <a:p>
                      <a:r>
                        <a:rPr sz="1200" b="1">
                          <a:solidFill>
                            <a:srgbClr val="FFFFFF"/>
                          </a:solidFill>
                        </a:rPr>
                        <a:t>Count</a:t>
                      </a:r>
                    </a:p>
                  </a:txBody>
                  <a:tcPr>
                    <a:solidFill>
                      <a:srgbClr val="0B2A4A"/>
                    </a:solidFill>
                  </a:tcPr>
                </a:tc>
                <a:tc>
                  <a:txBody>
                    <a:bodyPr/>
                    <a:lstStyle/>
                    <a:p>
                      <a:r>
                        <a:rPr sz="1200" b="1">
                          <a:solidFill>
                            <a:srgbClr val="FFFFFF"/>
                          </a:solidFill>
                        </a:rPr>
                        <a:t>Detail</a:t>
                      </a:r>
                    </a:p>
                  </a:txBody>
                  <a:tcPr>
                    <a:solidFill>
                      <a:srgbClr val="0B2A4A"/>
                    </a:solidFill>
                  </a:tcPr>
                </a:tc>
              </a:tr>
              <a:tr h="365760">
                <a:tc>
                  <a:txBody>
                    <a:bodyPr/>
                    <a:lstStyle/>
                    <a:p>
                      <a:r>
                        <a:rPr sz="1000">
                          <a:solidFill>
                            <a:srgbClr val="0B2A4A"/>
                          </a:solidFill>
                        </a:rPr>
                        <a:t>Source feeds</a:t>
                      </a:r>
                    </a:p>
                  </a:txBody>
                  <a:tcPr/>
                </a:tc>
                <a:tc>
                  <a:txBody>
                    <a:bodyPr/>
                    <a:lstStyle/>
                    <a:p>
                      <a:r>
                        <a:rPr sz="1000" b="1">
                          <a:solidFill>
                            <a:srgbClr val="1F77B4"/>
                          </a:solidFill>
                        </a:rPr>
                        <a:t>3 live + 1 CDC</a:t>
                      </a:r>
                    </a:p>
                  </a:txBody>
                  <a:tcPr/>
                </a:tc>
                <a:tc>
                  <a:txBody>
                    <a:bodyPr/>
                    <a:lstStyle/>
                    <a:p>
                      <a:r>
                        <a:rPr sz="1000">
                          <a:solidFill>
                            <a:srgbClr val="0B2A4A"/>
                          </a:solidFill>
                        </a:rPr>
                        <a:t>OGN · NOAA · EMSC · Postgres</a:t>
                      </a:r>
                    </a:p>
                  </a:txBody>
                  <a:tcPr/>
                </a:tc>
              </a:tr>
              <a:tr h="365760">
                <a:tc>
                  <a:txBody>
                    <a:bodyPr/>
                    <a:lstStyle/>
                    <a:p>
                      <a:r>
                        <a:rPr sz="1000">
                          <a:solidFill>
                            <a:srgbClr val="0B2A4A"/>
                          </a:solidFill>
                        </a:rPr>
                        <a:t>Kafka topics</a:t>
                      </a:r>
                    </a:p>
                  </a:txBody>
                  <a:tcPr>
                    <a:solidFill>
                      <a:srgbClr val="F1F5F9"/>
                    </a:solidFill>
                  </a:tcPr>
                </a:tc>
                <a:tc>
                  <a:txBody>
                    <a:bodyPr/>
                    <a:lstStyle/>
                    <a:p>
                      <a:r>
                        <a:rPr sz="1000" b="1">
                          <a:solidFill>
                            <a:srgbClr val="1F77B4"/>
                          </a:solidFill>
                        </a:rPr>
                        <a:t>8</a:t>
                      </a:r>
                    </a:p>
                  </a:txBody>
                  <a:tcPr>
                    <a:solidFill>
                      <a:srgbClr val="F1F5F9"/>
                    </a:solidFill>
                  </a:tcPr>
                </a:tc>
                <a:tc>
                  <a:txBody>
                    <a:bodyPr/>
                    <a:lstStyle/>
                    <a:p>
                      <a:r>
                        <a:rPr sz="1000">
                          <a:solidFill>
                            <a:srgbClr val="0B2A4A"/>
                          </a:solidFill>
                        </a:rPr>
                        <a:t>5 streams + 3 CDC + 1 heartbeat</a:t>
                      </a:r>
                    </a:p>
                  </a:txBody>
                  <a:tcPr>
                    <a:solidFill>
                      <a:srgbClr val="F1F5F9"/>
                    </a:solidFill>
                  </a:tcPr>
                </a:tc>
              </a:tr>
              <a:tr h="365760">
                <a:tc>
                  <a:txBody>
                    <a:bodyPr/>
                    <a:lstStyle/>
                    <a:p>
                      <a:r>
                        <a:rPr sz="1000">
                          <a:solidFill>
                            <a:srgbClr val="0B2A4A"/>
                          </a:solidFill>
                        </a:rPr>
                        <a:t>Avro schemas registered</a:t>
                      </a:r>
                    </a:p>
                  </a:txBody>
                  <a:tcPr/>
                </a:tc>
                <a:tc>
                  <a:txBody>
                    <a:bodyPr/>
                    <a:lstStyle/>
                    <a:p>
                      <a:r>
                        <a:rPr sz="1000" b="1">
                          <a:solidFill>
                            <a:srgbClr val="1F77B4"/>
                          </a:solidFill>
                        </a:rPr>
                        <a:t>5</a:t>
                      </a:r>
                    </a:p>
                  </a:txBody>
                  <a:tcPr/>
                </a:tc>
                <a:tc>
                  <a:txBody>
                    <a:bodyPr/>
                    <a:lstStyle/>
                    <a:p>
                      <a:r>
                        <a:rPr sz="1000">
                          <a:solidFill>
                            <a:srgbClr val="0B2A4A"/>
                          </a:solidFill>
                        </a:rPr>
                        <a:t>ogn_position · noaa_observation · noaa_alert · seismic_event · config_change</a:t>
                      </a:r>
                    </a:p>
                  </a:txBody>
                  <a:tcPr/>
                </a:tc>
              </a:tr>
              <a:tr h="365760">
                <a:tc>
                  <a:txBody>
                    <a:bodyPr/>
                    <a:lstStyle/>
                    <a:p>
                      <a:r>
                        <a:rPr sz="1000">
                          <a:solidFill>
                            <a:srgbClr val="0B2A4A"/>
                          </a:solidFill>
                        </a:rPr>
                        <a:t>Bronze layout</a:t>
                      </a:r>
                    </a:p>
                  </a:txBody>
                  <a:tcPr>
                    <a:solidFill>
                      <a:srgbClr val="F1F5F9"/>
                    </a:solidFill>
                  </a:tcPr>
                </a:tc>
                <a:tc>
                  <a:txBody>
                    <a:bodyPr/>
                    <a:lstStyle/>
                    <a:p>
                      <a:r>
                        <a:rPr sz="1000" b="1">
                          <a:solidFill>
                            <a:srgbClr val="1F77B4"/>
                          </a:solidFill>
                        </a:rPr>
                        <a:t>hourly</a:t>
                      </a:r>
                    </a:p>
                  </a:txBody>
                  <a:tcPr>
                    <a:solidFill>
                      <a:srgbClr val="F1F5F9"/>
                    </a:solidFill>
                  </a:tcPr>
                </a:tc>
                <a:tc>
                  <a:txBody>
                    <a:bodyPr/>
                    <a:lstStyle/>
                    <a:p>
                      <a:r>
                        <a:rPr sz="1000">
                          <a:solidFill>
                            <a:srgbClr val="0B2A4A"/>
                          </a:solidFill>
                        </a:rPr>
                        <a:t>s3://bronze/&lt;topic&gt;/year=…/hour=…/…avro</a:t>
                      </a:r>
                    </a:p>
                  </a:txBody>
                  <a:tcPr>
                    <a:solidFill>
                      <a:srgbClr val="F1F5F9"/>
                    </a:solidFill>
                  </a:tcPr>
                </a:tc>
              </a:tr>
              <a:tr h="365760">
                <a:tc>
                  <a:txBody>
                    <a:bodyPr/>
                    <a:lstStyle/>
                    <a:p>
                      <a:r>
                        <a:rPr sz="1000">
                          <a:solidFill>
                            <a:srgbClr val="0B2A4A"/>
                          </a:solidFill>
                        </a:rPr>
                        <a:t>Silver entities</a:t>
                      </a:r>
                    </a:p>
                  </a:txBody>
                  <a:tcPr/>
                </a:tc>
                <a:tc>
                  <a:txBody>
                    <a:bodyPr/>
                    <a:lstStyle/>
                    <a:p>
                      <a:r>
                        <a:rPr sz="1000" b="1">
                          <a:solidFill>
                            <a:srgbClr val="1F77B4"/>
                          </a:solidFill>
                        </a:rPr>
                        <a:t>4</a:t>
                      </a:r>
                    </a:p>
                  </a:txBody>
                  <a:tcPr/>
                </a:tc>
                <a:tc>
                  <a:txBody>
                    <a:bodyPr/>
                    <a:lstStyle/>
                    <a:p>
                      <a:r>
                        <a:rPr sz="1000">
                          <a:solidFill>
                            <a:srgbClr val="0B2A4A"/>
                          </a:solidFill>
                        </a:rPr>
                        <a:t>dedupe + late-filter + audit</a:t>
                      </a:r>
                    </a:p>
                  </a:txBody>
                  <a:tcPr/>
                </a:tc>
              </a:tr>
              <a:tr h="365760">
                <a:tc>
                  <a:txBody>
                    <a:bodyPr/>
                    <a:lstStyle/>
                    <a:p>
                      <a:r>
                        <a:rPr sz="1000">
                          <a:solidFill>
                            <a:srgbClr val="0B2A4A"/>
                          </a:solidFill>
                        </a:rPr>
                        <a:t>Gold marts</a:t>
                      </a:r>
                    </a:p>
                  </a:txBody>
                  <a:tcPr>
                    <a:solidFill>
                      <a:srgbClr val="F1F5F9"/>
                    </a:solidFill>
                  </a:tcPr>
                </a:tc>
                <a:tc>
                  <a:txBody>
                    <a:bodyPr/>
                    <a:lstStyle/>
                    <a:p>
                      <a:r>
                        <a:rPr sz="1000" b="1">
                          <a:solidFill>
                            <a:srgbClr val="1F77B4"/>
                          </a:solidFill>
                        </a:rPr>
                        <a:t>4</a:t>
                      </a:r>
                    </a:p>
                  </a:txBody>
                  <a:tcPr>
                    <a:solidFill>
                      <a:srgbClr val="F1F5F9"/>
                    </a:solidFill>
                  </a:tcPr>
                </a:tc>
                <a:tc>
                  <a:txBody>
                    <a:bodyPr/>
                    <a:lstStyle/>
                    <a:p>
                      <a:r>
                        <a:rPr sz="1000">
                          <a:solidFill>
                            <a:srgbClr val="0B2A4A"/>
                          </a:solidFill>
                        </a:rPr>
                        <a:t>aircraft density · weather snapshot · seismic 24h · region-alert correlation</a:t>
                      </a:r>
                    </a:p>
                  </a:txBody>
                  <a:tcPr>
                    <a:solidFill>
                      <a:srgbClr val="F1F5F9"/>
                    </a:solidFill>
                  </a:tcPr>
                </a:tc>
              </a:tr>
              <a:tr h="365760">
                <a:tc>
                  <a:txBody>
                    <a:bodyPr/>
                    <a:lstStyle/>
                    <a:p>
                      <a:r>
                        <a:rPr sz="1000">
                          <a:solidFill>
                            <a:srgbClr val="0B2A4A"/>
                          </a:solidFill>
                        </a:rPr>
                        <a:t>Airflow DAGs</a:t>
                      </a:r>
                    </a:p>
                  </a:txBody>
                  <a:tcPr/>
                </a:tc>
                <a:tc>
                  <a:txBody>
                    <a:bodyPr/>
                    <a:lstStyle/>
                    <a:p>
                      <a:r>
                        <a:rPr sz="1000" b="1">
                          <a:solidFill>
                            <a:srgbClr val="1F77B4"/>
                          </a:solidFill>
                        </a:rPr>
                        <a:t>5</a:t>
                      </a:r>
                    </a:p>
                  </a:txBody>
                  <a:tcPr/>
                </a:tc>
                <a:tc>
                  <a:txBody>
                    <a:bodyPr/>
                    <a:lstStyle/>
                    <a:p>
                      <a:r>
                        <a:rPr sz="1000">
                          <a:solidFill>
                            <a:srgbClr val="0B2A4A"/>
                          </a:solidFill>
                        </a:rPr>
                        <a:t>bootstrap + drift + medallion + quality + KPIs</a:t>
                      </a:r>
                    </a:p>
                  </a:txBody>
                  <a:tcPr/>
                </a:tc>
              </a:tr>
              <a:tr h="365760">
                <a:tc>
                  <a:txBody>
                    <a:bodyPr/>
                    <a:lstStyle/>
                    <a:p>
                      <a:r>
                        <a:rPr sz="1000">
                          <a:solidFill>
                            <a:srgbClr val="0B2A4A"/>
                          </a:solidFill>
                        </a:rPr>
                        <a:t>Dashboards</a:t>
                      </a:r>
                    </a:p>
                  </a:txBody>
                  <a:tcPr>
                    <a:solidFill>
                      <a:srgbClr val="F1F5F9"/>
                    </a:solidFill>
                  </a:tcPr>
                </a:tc>
                <a:tc>
                  <a:txBody>
                    <a:bodyPr/>
                    <a:lstStyle/>
                    <a:p>
                      <a:r>
                        <a:rPr sz="1000" b="1">
                          <a:solidFill>
                            <a:srgbClr val="1F77B4"/>
                          </a:solidFill>
                        </a:rPr>
                        <a:t>3</a:t>
                      </a:r>
                    </a:p>
                  </a:txBody>
                  <a:tcPr>
                    <a:solidFill>
                      <a:srgbClr val="F1F5F9"/>
                    </a:solidFill>
                  </a:tcPr>
                </a:tc>
                <a:tc>
                  <a:txBody>
                    <a:bodyPr/>
                    <a:lstStyle/>
                    <a:p>
                      <a:r>
                        <a:rPr sz="1000">
                          <a:solidFill>
                            <a:srgbClr val="0B2A4A"/>
                          </a:solidFill>
                        </a:rPr>
                        <a:t>quality :5001 · business :5002 · live-map :5003</a:t>
                      </a:r>
                    </a:p>
                  </a:txBody>
                  <a:tcPr>
                    <a:solidFill>
                      <a:srgbClr val="F1F5F9"/>
                    </a:solidFill>
                  </a:tcPr>
                </a:tc>
              </a:tr>
              <a:tr h="365760">
                <a:tc>
                  <a:txBody>
                    <a:bodyPr/>
                    <a:lstStyle/>
                    <a:p>
                      <a:r>
                        <a:rPr sz="1000">
                          <a:solidFill>
                            <a:srgbClr val="0B2A4A"/>
                          </a:solidFill>
                        </a:rPr>
                        <a:t>Observability</a:t>
                      </a:r>
                    </a:p>
                  </a:txBody>
                  <a:tcPr/>
                </a:tc>
                <a:tc>
                  <a:txBody>
                    <a:bodyPr/>
                    <a:lstStyle/>
                    <a:p>
                      <a:r>
                        <a:rPr sz="1000" b="1">
                          <a:solidFill>
                            <a:srgbClr val="1F77B4"/>
                          </a:solidFill>
                        </a:rPr>
                        <a:t>3 services</a:t>
                      </a:r>
                    </a:p>
                  </a:txBody>
                  <a:tcPr/>
                </a:tc>
                <a:tc>
                  <a:txBody>
                    <a:bodyPr/>
                    <a:lstStyle/>
                    <a:p>
                      <a:r>
                        <a:rPr sz="1000">
                          <a:solidFill>
                            <a:srgbClr val="0B2A4A"/>
                          </a:solidFill>
                        </a:rPr>
                        <a:t>prometheus · alertmanager · grafana</a:t>
                      </a:r>
                    </a:p>
                  </a:txBody>
                  <a:tcPr/>
                </a:tc>
              </a:tr>
              <a:tr h="365760">
                <a:tc>
                  <a:txBody>
                    <a:bodyPr/>
                    <a:lstStyle/>
                    <a:p>
                      <a:r>
                        <a:rPr sz="1000">
                          <a:solidFill>
                            <a:srgbClr val="0B2A4A"/>
                          </a:solidFill>
                        </a:rPr>
                        <a:t>Containers</a:t>
                      </a:r>
                    </a:p>
                  </a:txBody>
                  <a:tcPr>
                    <a:solidFill>
                      <a:srgbClr val="F1F5F9"/>
                    </a:solidFill>
                  </a:tcPr>
                </a:tc>
                <a:tc>
                  <a:txBody>
                    <a:bodyPr/>
                    <a:lstStyle/>
                    <a:p>
                      <a:r>
                        <a:rPr sz="1000" b="1">
                          <a:solidFill>
                            <a:srgbClr val="1F77B4"/>
                          </a:solidFill>
                        </a:rPr>
                        <a:t>22</a:t>
                      </a:r>
                    </a:p>
                  </a:txBody>
                  <a:tcPr>
                    <a:solidFill>
                      <a:srgbClr val="F1F5F9"/>
                    </a:solidFill>
                  </a:tcPr>
                </a:tc>
                <a:tc>
                  <a:txBody>
                    <a:bodyPr/>
                    <a:lstStyle/>
                    <a:p>
                      <a:r>
                        <a:rPr sz="1000">
                          <a:solidFill>
                            <a:srgbClr val="0B2A4A"/>
                          </a:solidFill>
                        </a:rPr>
                        <a:t>one bridge network · one .env</a:t>
                      </a:r>
                    </a:p>
                  </a:txBody>
                  <a:tcPr>
                    <a:solidFill>
                      <a:srgbClr val="F1F5F9"/>
                    </a:solidFill>
                  </a:tcPr>
                </a:tc>
              </a:tr>
            </a:tbl>
          </a:graphicData>
        </a:graphic>
      </p:graphicFrame>
      <p:sp>
        <p:nvSpPr>
          <p:cNvPr id="7" name="Rectangle 6"/>
          <p:cNvSpPr/>
          <p:nvPr/>
        </p:nvSpPr>
        <p:spPr>
          <a:xfrm>
            <a:off x="0" y="6629400"/>
            <a:ext cx="9144000" cy="228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49 / 52  ·  Closing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CLOSING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Where to take it next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Six concrete extensions — each one builds on what you already have</a:t>
            </a:r>
          </a:p>
        </p:txBody>
      </p:sp>
      <p:sp>
        <p:nvSpPr>
          <p:cNvPr id="6" name="Rectangle 5"/>
          <p:cNvSpPr/>
          <p:nvPr/>
        </p:nvSpPr>
        <p:spPr>
          <a:xfrm>
            <a:off x="274320" y="96012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96012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3886200" cy="320040"/>
          </a:xfrm>
          <a:prstGeom prst="rect">
            <a:avLst/>
          </a:prstGeom>
          <a:noFill/>
        </p:spPr>
        <p:txBody>
          <a:bodyPr wrap="square" lIns="45720" rIns="45720" tIns="18288" bIns="18288">
            <a:spAutoFit/>
          </a:bodyPr>
          <a:lstStyle/>
          <a:p>
            <a:pPr algn="l"/>
            <a:r>
              <a:rPr sz="1200" b="1">
                <a:solidFill>
                  <a:srgbClr val="0B2A4A"/>
                </a:solidFill>
              </a:rPr>
              <a:t>1.  Add a 4th source feed</a:t>
            </a:r>
          </a:p>
        </p:txBody>
      </p:sp>
      <p:sp>
        <p:nvSpPr>
          <p:cNvPr id="9" name="TextBox 8"/>
          <p:cNvSpPr txBox="1"/>
          <p:nvPr/>
        </p:nvSpPr>
        <p:spPr>
          <a:xfrm>
            <a:off x="548640" y="1371600"/>
            <a:ext cx="3886200" cy="822960"/>
          </a:xfrm>
          <a:prstGeom prst="rect">
            <a:avLst/>
          </a:prstGeom>
          <a:noFill/>
        </p:spPr>
        <p:txBody>
          <a:bodyPr wrap="square" lIns="45720" rIns="45720" tIns="18288" bIns="18288">
            <a:spAutoFit/>
          </a:bodyPr>
          <a:lstStyle/>
          <a:p>
            <a:pPr algn="l"/>
            <a:r>
              <a:rPr sz="1000" b="0">
                <a:solidFill>
                  <a:srgbClr val="555555"/>
                </a:solidFill>
              </a:rPr>
              <a:t>ADS-B Exchange or USGS — proves the contract is reusable. Reuse the ingestor pattern, register a new Avro schema.</a:t>
            </a:r>
          </a:p>
        </p:txBody>
      </p:sp>
      <p:sp>
        <p:nvSpPr>
          <p:cNvPr id="10" name="Rectangle 9"/>
          <p:cNvSpPr/>
          <p:nvPr/>
        </p:nvSpPr>
        <p:spPr>
          <a:xfrm>
            <a:off x="4663440" y="96012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8032" y="96012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1051560"/>
            <a:ext cx="3886200" cy="320040"/>
          </a:xfrm>
          <a:prstGeom prst="rect">
            <a:avLst/>
          </a:prstGeom>
          <a:noFill/>
        </p:spPr>
        <p:txBody>
          <a:bodyPr wrap="square" lIns="45720" rIns="45720" tIns="18288" bIns="18288">
            <a:spAutoFit/>
          </a:bodyPr>
          <a:lstStyle/>
          <a:p>
            <a:pPr algn="l"/>
            <a:r>
              <a:rPr sz="1200" b="1">
                <a:solidFill>
                  <a:srgbClr val="0B2A4A"/>
                </a:solidFill>
              </a:rPr>
              <a:t>2.  Swap MinIO for S3 (or Azure Blob)</a:t>
            </a:r>
          </a:p>
        </p:txBody>
      </p:sp>
      <p:sp>
        <p:nvSpPr>
          <p:cNvPr id="13" name="TextBox 12"/>
          <p:cNvSpPr txBox="1"/>
          <p:nvPr/>
        </p:nvSpPr>
        <p:spPr>
          <a:xfrm>
            <a:off x="4937760" y="1371600"/>
            <a:ext cx="3886200" cy="822960"/>
          </a:xfrm>
          <a:prstGeom prst="rect">
            <a:avLst/>
          </a:prstGeom>
          <a:noFill/>
        </p:spPr>
        <p:txBody>
          <a:bodyPr wrap="square" lIns="45720" rIns="45720" tIns="18288" bIns="18288">
            <a:spAutoFit/>
          </a:bodyPr>
          <a:lstStyle/>
          <a:p>
            <a:pPr algn="l"/>
            <a:r>
              <a:rPr sz="1000" b="0">
                <a:solidFill>
                  <a:srgbClr val="555555"/>
                </a:solidFill>
              </a:rPr>
              <a:t>Only the endpoint URL changes. The sink connector, paths, and DuckDB read URIs stay identical.</a:t>
            </a:r>
          </a:p>
        </p:txBody>
      </p:sp>
      <p:sp>
        <p:nvSpPr>
          <p:cNvPr id="14" name="Rectangle 13"/>
          <p:cNvSpPr/>
          <p:nvPr/>
        </p:nvSpPr>
        <p:spPr>
          <a:xfrm>
            <a:off x="274320" y="237744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 y="237744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468880"/>
            <a:ext cx="3886200" cy="320040"/>
          </a:xfrm>
          <a:prstGeom prst="rect">
            <a:avLst/>
          </a:prstGeom>
          <a:noFill/>
        </p:spPr>
        <p:txBody>
          <a:bodyPr wrap="square" lIns="45720" rIns="45720" tIns="18288" bIns="18288">
            <a:spAutoFit/>
          </a:bodyPr>
          <a:lstStyle/>
          <a:p>
            <a:pPr algn="l"/>
            <a:r>
              <a:rPr sz="1200" b="1">
                <a:solidFill>
                  <a:srgbClr val="0B2A4A"/>
                </a:solidFill>
              </a:rPr>
              <a:t>3.  Add CeleryExecutor and a second Airflow worker</a:t>
            </a:r>
          </a:p>
        </p:txBody>
      </p:sp>
      <p:sp>
        <p:nvSpPr>
          <p:cNvPr id="17" name="TextBox 16"/>
          <p:cNvSpPr txBox="1"/>
          <p:nvPr/>
        </p:nvSpPr>
        <p:spPr>
          <a:xfrm>
            <a:off x="548640" y="2788920"/>
            <a:ext cx="3886200" cy="822960"/>
          </a:xfrm>
          <a:prstGeom prst="rect">
            <a:avLst/>
          </a:prstGeom>
          <a:noFill/>
        </p:spPr>
        <p:txBody>
          <a:bodyPr wrap="square" lIns="45720" rIns="45720" tIns="18288" bIns="18288">
            <a:spAutoFit/>
          </a:bodyPr>
          <a:lstStyle/>
          <a:p>
            <a:pPr algn="l"/>
            <a:r>
              <a:rPr sz="1000" b="0">
                <a:solidFill>
                  <a:srgbClr val="555555"/>
                </a:solidFill>
              </a:rPr>
              <a:t>When the scheduler queue stays &gt; 0, the LocalExecutor is the bottleneck. Celery + Redis lets you scale workers horizontally.</a:t>
            </a:r>
          </a:p>
        </p:txBody>
      </p:sp>
      <p:sp>
        <p:nvSpPr>
          <p:cNvPr id="18" name="Rectangle 17"/>
          <p:cNvSpPr/>
          <p:nvPr/>
        </p:nvSpPr>
        <p:spPr>
          <a:xfrm>
            <a:off x="4663440" y="237744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28032" y="237744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2468880"/>
            <a:ext cx="3886200" cy="320040"/>
          </a:xfrm>
          <a:prstGeom prst="rect">
            <a:avLst/>
          </a:prstGeom>
          <a:noFill/>
        </p:spPr>
        <p:txBody>
          <a:bodyPr wrap="square" lIns="45720" rIns="45720" tIns="18288" bIns="18288">
            <a:spAutoFit/>
          </a:bodyPr>
          <a:lstStyle/>
          <a:p>
            <a:pPr algn="l"/>
            <a:r>
              <a:rPr sz="1200" b="1">
                <a:solidFill>
                  <a:srgbClr val="0B2A4A"/>
                </a:solidFill>
              </a:rPr>
              <a:t>4.  Wire alerts to Slack / PagerDuty</a:t>
            </a:r>
          </a:p>
        </p:txBody>
      </p:sp>
      <p:sp>
        <p:nvSpPr>
          <p:cNvPr id="21" name="TextBox 20"/>
          <p:cNvSpPr txBox="1"/>
          <p:nvPr/>
        </p:nvSpPr>
        <p:spPr>
          <a:xfrm>
            <a:off x="4937760" y="2788920"/>
            <a:ext cx="3886200" cy="822960"/>
          </a:xfrm>
          <a:prstGeom prst="rect">
            <a:avLst/>
          </a:prstGeom>
          <a:noFill/>
        </p:spPr>
        <p:txBody>
          <a:bodyPr wrap="square" lIns="45720" rIns="45720" tIns="18288" bIns="18288">
            <a:spAutoFit/>
          </a:bodyPr>
          <a:lstStyle/>
          <a:p>
            <a:pPr algn="l"/>
            <a:r>
              <a:rPr sz="1000" b="0">
                <a:solidFill>
                  <a:srgbClr val="555555"/>
                </a:solidFill>
              </a:rPr>
              <a:t>Alertmanager already POSTs to a webhook — add a receiver block for Slack / PagerDuty / Opsgenie alongside the quality-dashboard one.</a:t>
            </a:r>
          </a:p>
        </p:txBody>
      </p:sp>
      <p:sp>
        <p:nvSpPr>
          <p:cNvPr id="22" name="Rectangle 21"/>
          <p:cNvSpPr/>
          <p:nvPr/>
        </p:nvSpPr>
        <p:spPr>
          <a:xfrm>
            <a:off x="274320" y="379476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 y="379476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86200"/>
            <a:ext cx="3886200" cy="320040"/>
          </a:xfrm>
          <a:prstGeom prst="rect">
            <a:avLst/>
          </a:prstGeom>
          <a:noFill/>
        </p:spPr>
        <p:txBody>
          <a:bodyPr wrap="square" lIns="45720" rIns="45720" tIns="18288" bIns="18288">
            <a:spAutoFit/>
          </a:bodyPr>
          <a:lstStyle/>
          <a:p>
            <a:pPr algn="l"/>
            <a:r>
              <a:rPr sz="1200" b="1">
                <a:solidFill>
                  <a:srgbClr val="0B2A4A"/>
                </a:solidFill>
              </a:rPr>
              <a:t>5.  Add a streaming SQL engine (ksqlDB / Flink)</a:t>
            </a:r>
          </a:p>
        </p:txBody>
      </p:sp>
      <p:sp>
        <p:nvSpPr>
          <p:cNvPr id="25" name="TextBox 24"/>
          <p:cNvSpPr txBox="1"/>
          <p:nvPr/>
        </p:nvSpPr>
        <p:spPr>
          <a:xfrm>
            <a:off x="548640" y="4206240"/>
            <a:ext cx="3886200" cy="822960"/>
          </a:xfrm>
          <a:prstGeom prst="rect">
            <a:avLst/>
          </a:prstGeom>
          <a:noFill/>
        </p:spPr>
        <p:txBody>
          <a:bodyPr wrap="square" lIns="45720" rIns="45720" tIns="18288" bIns="18288">
            <a:spAutoFit/>
          </a:bodyPr>
          <a:lstStyle/>
          <a:p>
            <a:pPr algn="l"/>
            <a:r>
              <a:rPr sz="1000" b="0">
                <a:solidFill>
                  <a:srgbClr val="555555"/>
                </a:solidFill>
              </a:rPr>
              <a:t>Bronze is already there — point a stream processor at it for windowed aggregates you can't easily express in the 5-min Hop run.</a:t>
            </a:r>
          </a:p>
        </p:txBody>
      </p:sp>
      <p:sp>
        <p:nvSpPr>
          <p:cNvPr id="26" name="Rectangle 25"/>
          <p:cNvSpPr/>
          <p:nvPr/>
        </p:nvSpPr>
        <p:spPr>
          <a:xfrm>
            <a:off x="4663440" y="3794760"/>
            <a:ext cx="164592" cy="12801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28032" y="3794760"/>
            <a:ext cx="4087368" cy="1280160"/>
          </a:xfrm>
          <a:prstGeom prst="rect">
            <a:avLst/>
          </a:prstGeom>
          <a:solidFill>
            <a:srgbClr val="F1F5F9"/>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3886200"/>
            <a:ext cx="3886200" cy="320040"/>
          </a:xfrm>
          <a:prstGeom prst="rect">
            <a:avLst/>
          </a:prstGeom>
          <a:noFill/>
        </p:spPr>
        <p:txBody>
          <a:bodyPr wrap="square" lIns="45720" rIns="45720" tIns="18288" bIns="18288">
            <a:spAutoFit/>
          </a:bodyPr>
          <a:lstStyle/>
          <a:p>
            <a:pPr algn="l"/>
            <a:r>
              <a:rPr sz="1200" b="1">
                <a:solidFill>
                  <a:srgbClr val="0B2A4A"/>
                </a:solidFill>
              </a:rPr>
              <a:t>6.  Wrap the marts with FastAPI</a:t>
            </a:r>
          </a:p>
        </p:txBody>
      </p:sp>
      <p:sp>
        <p:nvSpPr>
          <p:cNvPr id="29" name="TextBox 28"/>
          <p:cNvSpPr txBox="1"/>
          <p:nvPr/>
        </p:nvSpPr>
        <p:spPr>
          <a:xfrm>
            <a:off x="4937760" y="4206240"/>
            <a:ext cx="3886200" cy="822960"/>
          </a:xfrm>
          <a:prstGeom prst="rect">
            <a:avLst/>
          </a:prstGeom>
          <a:noFill/>
        </p:spPr>
        <p:txBody>
          <a:bodyPr wrap="square" lIns="45720" rIns="45720" tIns="18288" bIns="18288">
            <a:spAutoFit/>
          </a:bodyPr>
          <a:lstStyle/>
          <a:p>
            <a:pPr algn="l"/>
            <a:r>
              <a:rPr sz="1000" b="0">
                <a:solidFill>
                  <a:srgbClr val="555555"/>
                </a:solidFill>
              </a:rPr>
              <a:t>Same latest.parquet, served as JSON over HTTP — turns dashboards into headless APIs that any client can consume.</a:t>
            </a:r>
          </a:p>
        </p:txBody>
      </p:sp>
      <p:sp>
        <p:nvSpPr>
          <p:cNvPr id="30" name="Rectangle 29"/>
          <p:cNvSpPr/>
          <p:nvPr/>
        </p:nvSpPr>
        <p:spPr>
          <a:xfrm>
            <a:off x="0" y="6629400"/>
            <a:ext cx="9144000" cy="228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50 / 52  ·  Closing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CLOSING</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Final knowledge check — mixed</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One question from each module + one integration question</a:t>
            </a:r>
          </a:p>
        </p:txBody>
      </p:sp>
      <p:sp>
        <p:nvSpPr>
          <p:cNvPr id="6" name="TextBox 5"/>
          <p:cNvSpPr txBox="1"/>
          <p:nvPr/>
        </p:nvSpPr>
        <p:spPr>
          <a:xfrm>
            <a:off x="365760" y="960120"/>
            <a:ext cx="8412480" cy="365760"/>
          </a:xfrm>
          <a:prstGeom prst="rect">
            <a:avLst/>
          </a:prstGeom>
          <a:noFill/>
        </p:spPr>
        <p:txBody>
          <a:bodyPr wrap="square" lIns="45720" rIns="45720" tIns="18288" bIns="18288">
            <a:spAutoFit/>
          </a:bodyPr>
          <a:lstStyle/>
          <a:p>
            <a:pPr algn="l"/>
            <a:r>
              <a:rPr sz="1200" b="1">
                <a:solidFill>
                  <a:srgbClr val="0B2A4A"/>
                </a:solidFill>
              </a:rPr>
              <a:t>Q1. M1 · Why three medallion layers and not just bronze → gold?</a:t>
            </a:r>
          </a:p>
        </p:txBody>
      </p:sp>
      <p:sp>
        <p:nvSpPr>
          <p:cNvPr id="7" name="TextBox 6"/>
          <p:cNvSpPr txBox="1"/>
          <p:nvPr/>
        </p:nvSpPr>
        <p:spPr>
          <a:xfrm>
            <a:off x="548640" y="1325880"/>
            <a:ext cx="8229600" cy="457200"/>
          </a:xfrm>
          <a:prstGeom prst="rect">
            <a:avLst/>
          </a:prstGeom>
          <a:noFill/>
        </p:spPr>
        <p:txBody>
          <a:bodyPr wrap="square" lIns="45720" rIns="45720" tIns="18288" bIns="18288">
            <a:spAutoFit/>
          </a:bodyPr>
          <a:lstStyle/>
          <a:p>
            <a:pPr algn="l"/>
            <a:r>
              <a:rPr sz="1100" b="0">
                <a:solidFill>
                  <a:srgbClr val="2CA02C"/>
                </a:solidFill>
              </a:rPr>
              <a:t>A. Silver is the cheap idempotent join surface — dedupe, late-filter, audit once so every gold mart can reuse it without re-doing the work.</a:t>
            </a:r>
          </a:p>
        </p:txBody>
      </p:sp>
      <p:sp>
        <p:nvSpPr>
          <p:cNvPr id="8" name="TextBox 7"/>
          <p:cNvSpPr txBox="1"/>
          <p:nvPr/>
        </p:nvSpPr>
        <p:spPr>
          <a:xfrm>
            <a:off x="365760" y="1783080"/>
            <a:ext cx="8412480" cy="365760"/>
          </a:xfrm>
          <a:prstGeom prst="rect">
            <a:avLst/>
          </a:prstGeom>
          <a:noFill/>
        </p:spPr>
        <p:txBody>
          <a:bodyPr wrap="square" lIns="45720" rIns="45720" tIns="18288" bIns="18288">
            <a:spAutoFit/>
          </a:bodyPr>
          <a:lstStyle/>
          <a:p>
            <a:pPr algn="l"/>
            <a:r>
              <a:rPr sz="1200" b="1">
                <a:solidFill>
                  <a:srgbClr val="0B2A4A"/>
                </a:solidFill>
              </a:rPr>
              <a:t>Q2. M2 · What does the Schema Registry actually enforce on producers?</a:t>
            </a:r>
          </a:p>
        </p:txBody>
      </p:sp>
      <p:sp>
        <p:nvSpPr>
          <p:cNvPr id="9" name="TextBox 8"/>
          <p:cNvSpPr txBox="1"/>
          <p:nvPr/>
        </p:nvSpPr>
        <p:spPr>
          <a:xfrm>
            <a:off x="548640" y="2148840"/>
            <a:ext cx="8229600" cy="457200"/>
          </a:xfrm>
          <a:prstGeom prst="rect">
            <a:avLst/>
          </a:prstGeom>
          <a:noFill/>
        </p:spPr>
        <p:txBody>
          <a:bodyPr wrap="square" lIns="45720" rIns="45720" tIns="18288" bIns="18288">
            <a:spAutoFit/>
          </a:bodyPr>
          <a:lstStyle/>
          <a:p>
            <a:pPr algn="l"/>
            <a:r>
              <a:rPr sz="1100" b="0">
                <a:solidFill>
                  <a:srgbClr val="2CA02C"/>
                </a:solidFill>
              </a:rPr>
              <a:t>A. The compatibility rule for that subject (BACKWARD by default) — a producer that ships an incompatible schema fails at registration time, not in production.</a:t>
            </a:r>
          </a:p>
        </p:txBody>
      </p:sp>
      <p:sp>
        <p:nvSpPr>
          <p:cNvPr id="10" name="TextBox 9"/>
          <p:cNvSpPr txBox="1"/>
          <p:nvPr/>
        </p:nvSpPr>
        <p:spPr>
          <a:xfrm>
            <a:off x="365760" y="2606040"/>
            <a:ext cx="8412480" cy="365760"/>
          </a:xfrm>
          <a:prstGeom prst="rect">
            <a:avLst/>
          </a:prstGeom>
          <a:noFill/>
        </p:spPr>
        <p:txBody>
          <a:bodyPr wrap="square" lIns="45720" rIns="45720" tIns="18288" bIns="18288">
            <a:spAutoFit/>
          </a:bodyPr>
          <a:lstStyle/>
          <a:p>
            <a:pPr algn="l"/>
            <a:r>
              <a:rPr sz="1200" b="1">
                <a:solidFill>
                  <a:srgbClr val="0B2A4A"/>
                </a:solidFill>
              </a:rPr>
              <a:t>Q3. M3 · What's the file the dashboards point at, and why?</a:t>
            </a:r>
          </a:p>
        </p:txBody>
      </p:sp>
      <p:sp>
        <p:nvSpPr>
          <p:cNvPr id="11" name="TextBox 10"/>
          <p:cNvSpPr txBox="1"/>
          <p:nvPr/>
        </p:nvSpPr>
        <p:spPr>
          <a:xfrm>
            <a:off x="548640" y="2971800"/>
            <a:ext cx="8229600" cy="457200"/>
          </a:xfrm>
          <a:prstGeom prst="rect">
            <a:avLst/>
          </a:prstGeom>
          <a:noFill/>
        </p:spPr>
        <p:txBody>
          <a:bodyPr wrap="square" lIns="45720" rIns="45720" tIns="18288" bIns="18288">
            <a:spAutoFit/>
          </a:bodyPr>
          <a:lstStyle/>
          <a:p>
            <a:pPr algn="l"/>
            <a:r>
              <a:rPr sz="1100" b="0">
                <a:solidFill>
                  <a:srgbClr val="2CA02C"/>
                </a:solidFill>
              </a:rPr>
              <a:t>A. latest.parquet — written via atomic rename so the dashboard never reads a half-finished file, and the URL never changes.</a:t>
            </a:r>
          </a:p>
        </p:txBody>
      </p:sp>
      <p:sp>
        <p:nvSpPr>
          <p:cNvPr id="12" name="TextBox 11"/>
          <p:cNvSpPr txBox="1"/>
          <p:nvPr/>
        </p:nvSpPr>
        <p:spPr>
          <a:xfrm>
            <a:off x="365760" y="3429000"/>
            <a:ext cx="8412480" cy="365760"/>
          </a:xfrm>
          <a:prstGeom prst="rect">
            <a:avLst/>
          </a:prstGeom>
          <a:noFill/>
        </p:spPr>
        <p:txBody>
          <a:bodyPr wrap="square" lIns="45720" rIns="45720" tIns="18288" bIns="18288">
            <a:spAutoFit/>
          </a:bodyPr>
          <a:lstStyle/>
          <a:p>
            <a:pPr algn="l"/>
            <a:r>
              <a:rPr sz="1200" b="1">
                <a:solidFill>
                  <a:srgbClr val="0B2A4A"/>
                </a:solidFill>
              </a:rPr>
              <a:t>Q4. M4 · After a Kafka restart, what proves the pipeline recovered?</a:t>
            </a:r>
          </a:p>
        </p:txBody>
      </p:sp>
      <p:sp>
        <p:nvSpPr>
          <p:cNvPr id="13" name="TextBox 12"/>
          <p:cNvSpPr txBox="1"/>
          <p:nvPr/>
        </p:nvSpPr>
        <p:spPr>
          <a:xfrm>
            <a:off x="548640" y="3794760"/>
            <a:ext cx="8229600" cy="457200"/>
          </a:xfrm>
          <a:prstGeom prst="rect">
            <a:avLst/>
          </a:prstGeom>
          <a:noFill/>
        </p:spPr>
        <p:txBody>
          <a:bodyPr wrap="square" lIns="45720" rIns="45720" tIns="18288" bIns="18288">
            <a:spAutoFit/>
          </a:bodyPr>
          <a:lstStyle/>
          <a:p>
            <a:pPr algn="l"/>
            <a:r>
              <a:rPr sz="1100" b="0">
                <a:solidFill>
                  <a:srgbClr val="2CA02C"/>
                </a:solidFill>
              </a:rPr>
              <a:t>A. Consumer lag on every S3-sink consumer group returns to ~0, and bronze hourly files for the current hour resume appearing.</a:t>
            </a:r>
          </a:p>
        </p:txBody>
      </p:sp>
      <p:sp>
        <p:nvSpPr>
          <p:cNvPr id="14" name="TextBox 13"/>
          <p:cNvSpPr txBox="1"/>
          <p:nvPr/>
        </p:nvSpPr>
        <p:spPr>
          <a:xfrm>
            <a:off x="365760" y="4251960"/>
            <a:ext cx="8412480" cy="365760"/>
          </a:xfrm>
          <a:prstGeom prst="rect">
            <a:avLst/>
          </a:prstGeom>
          <a:noFill/>
        </p:spPr>
        <p:txBody>
          <a:bodyPr wrap="square" lIns="45720" rIns="45720" tIns="18288" bIns="18288">
            <a:spAutoFit/>
          </a:bodyPr>
          <a:lstStyle/>
          <a:p>
            <a:pPr algn="l"/>
            <a:r>
              <a:rPr sz="1200" b="1">
                <a:solidFill>
                  <a:srgbClr val="0B2A4A"/>
                </a:solidFill>
              </a:rPr>
              <a:t>Q5. Integration · A new feed must be onboarded in 1 day — what's the path?</a:t>
            </a:r>
          </a:p>
        </p:txBody>
      </p:sp>
      <p:sp>
        <p:nvSpPr>
          <p:cNvPr id="15" name="TextBox 14"/>
          <p:cNvSpPr txBox="1"/>
          <p:nvPr/>
        </p:nvSpPr>
        <p:spPr>
          <a:xfrm>
            <a:off x="548640" y="4617720"/>
            <a:ext cx="8229600" cy="457200"/>
          </a:xfrm>
          <a:prstGeom prst="rect">
            <a:avLst/>
          </a:prstGeom>
          <a:noFill/>
        </p:spPr>
        <p:txBody>
          <a:bodyPr wrap="square" lIns="45720" rIns="45720" tIns="18288" bIns="18288">
            <a:spAutoFit/>
          </a:bodyPr>
          <a:lstStyle/>
          <a:p>
            <a:pPr algn="l"/>
            <a:r>
              <a:rPr sz="1100" b="0">
                <a:solidFill>
                  <a:srgbClr val="2CA02C"/>
                </a:solidFill>
              </a:rPr>
              <a:t>A. Write an ingestor service (same pattern as ogn/noaa/seismic), register an Avro schema, add a topic, point the S3-sink at it. Silver + Gold come along for free if the new entity matches an existing mart shape.</a:t>
            </a:r>
          </a:p>
        </p:txBody>
      </p:sp>
      <p:sp>
        <p:nvSpPr>
          <p:cNvPr id="16" name="Rectangle 15"/>
          <p:cNvSpPr/>
          <p:nvPr/>
        </p:nvSpPr>
        <p:spPr>
          <a:xfrm>
            <a:off x="0" y="6629400"/>
            <a:ext cx="9144000" cy="228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647688"/>
            <a:ext cx="8595360" cy="182880"/>
          </a:xfrm>
          <a:prstGeom prst="rect">
            <a:avLst/>
          </a:prstGeom>
          <a:noFill/>
        </p:spPr>
        <p:txBody>
          <a:bodyPr wrap="square" lIns="45720" rIns="45720" tIns="18288" bIns="18288">
            <a:spAutoFit/>
          </a:bodyPr>
          <a:lstStyle/>
          <a:p>
            <a:pPr algn="l"/>
            <a:r>
              <a:rPr sz="900" b="0">
                <a:solidFill>
                  <a:srgbClr val="FFFFFF"/>
                </a:solidFill>
              </a:rPr>
              <a:t>Slide 51 / 52  ·  Closing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8229600" cy="457200"/>
          </a:xfrm>
          <a:prstGeom prst="rect">
            <a:avLst/>
          </a:prstGeom>
          <a:noFill/>
        </p:spPr>
        <p:txBody>
          <a:bodyPr wrap="square" lIns="45720" rIns="45720" tIns="18288" bIns="18288">
            <a:spAutoFit/>
          </a:bodyPr>
          <a:lstStyle/>
          <a:p>
            <a:pPr algn="l"/>
            <a:r>
              <a:rPr sz="1400" b="1">
                <a:solidFill>
                  <a:srgbClr val="CCDDEE"/>
                </a:solidFill>
              </a:rPr>
              <a:t>DAY 10  ·  CAPSTONE</a:t>
            </a:r>
          </a:p>
        </p:txBody>
      </p:sp>
      <p:sp>
        <p:nvSpPr>
          <p:cNvPr id="5" name="TextBox 4"/>
          <p:cNvSpPr txBox="1"/>
          <p:nvPr/>
        </p:nvSpPr>
        <p:spPr>
          <a:xfrm>
            <a:off x="457200" y="1005840"/>
            <a:ext cx="8229600" cy="914400"/>
          </a:xfrm>
          <a:prstGeom prst="rect">
            <a:avLst/>
          </a:prstGeom>
          <a:noFill/>
        </p:spPr>
        <p:txBody>
          <a:bodyPr wrap="square" lIns="45720" rIns="45720" tIns="18288" bIns="18288">
            <a:spAutoFit/>
          </a:bodyPr>
          <a:lstStyle/>
          <a:p>
            <a:pPr algn="l"/>
            <a:r>
              <a:rPr sz="3200" b="1">
                <a:solidFill>
                  <a:srgbClr val="FFFFFF"/>
                </a:solidFill>
              </a:rPr>
              <a:t>Thank you — go build it</a:t>
            </a:r>
          </a:p>
        </p:txBody>
      </p:sp>
      <p:sp>
        <p:nvSpPr>
          <p:cNvPr id="6" name="TextBox 5"/>
          <p:cNvSpPr txBox="1"/>
          <p:nvPr/>
        </p:nvSpPr>
        <p:spPr>
          <a:xfrm>
            <a:off x="457200" y="2011680"/>
            <a:ext cx="8229600" cy="457200"/>
          </a:xfrm>
          <a:prstGeom prst="rect">
            <a:avLst/>
          </a:prstGeom>
          <a:noFill/>
        </p:spPr>
        <p:txBody>
          <a:bodyPr wrap="square" lIns="45720" rIns="45720" tIns="18288" bIns="18288">
            <a:spAutoFit/>
          </a:bodyPr>
          <a:lstStyle/>
          <a:p>
            <a:pPr algn="l"/>
            <a:r>
              <a:rPr sz="1400" b="0">
                <a:solidFill>
                  <a:srgbClr val="CCDDEE"/>
                </a:solidFill>
                <a:latin typeface="Consolas"/>
              </a:rPr>
              <a:t>The stack is one  ./bootstrap.ps1  away.</a:t>
            </a:r>
          </a:p>
        </p:txBody>
      </p:sp>
      <p:sp>
        <p:nvSpPr>
          <p:cNvPr id="7" name="Rectangle 6"/>
          <p:cNvSpPr/>
          <p:nvPr/>
        </p:nvSpPr>
        <p:spPr>
          <a:xfrm>
            <a:off x="457200" y="2743200"/>
            <a:ext cx="8229600" cy="3108960"/>
          </a:xfrm>
          <a:prstGeom prst="rect">
            <a:avLst/>
          </a:prstGeom>
          <a:solidFill>
            <a:srgbClr val="071C33"/>
          </a:solidFill>
          <a:ln w="9525">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834640"/>
            <a:ext cx="7863840" cy="365760"/>
          </a:xfrm>
          <a:prstGeom prst="rect">
            <a:avLst/>
          </a:prstGeom>
          <a:noFill/>
        </p:spPr>
        <p:txBody>
          <a:bodyPr wrap="square" lIns="45720" rIns="45720" tIns="18288" bIns="18288">
            <a:spAutoFit/>
          </a:bodyPr>
          <a:lstStyle/>
          <a:p>
            <a:pPr algn="l"/>
            <a:r>
              <a:rPr sz="1300" b="1">
                <a:solidFill>
                  <a:srgbClr val="CCDDEE"/>
                </a:solidFill>
              </a:rPr>
              <a:t>URL cheat-sheet (local)</a:t>
            </a:r>
          </a:p>
        </p:txBody>
      </p:sp>
      <p:sp>
        <p:nvSpPr>
          <p:cNvPr id="9" name="TextBox 8"/>
          <p:cNvSpPr txBox="1"/>
          <p:nvPr/>
        </p:nvSpPr>
        <p:spPr>
          <a:xfrm>
            <a:off x="731520" y="3246120"/>
            <a:ext cx="2194560" cy="228600"/>
          </a:xfrm>
          <a:prstGeom prst="rect">
            <a:avLst/>
          </a:prstGeom>
          <a:noFill/>
        </p:spPr>
        <p:txBody>
          <a:bodyPr wrap="square" lIns="45720" rIns="45720" tIns="18288" bIns="18288">
            <a:spAutoFit/>
          </a:bodyPr>
          <a:lstStyle/>
          <a:p>
            <a:pPr algn="l"/>
            <a:r>
              <a:rPr sz="1000" b="1">
                <a:solidFill>
                  <a:srgbClr val="FFFFFF"/>
                </a:solidFill>
              </a:rPr>
              <a:t>Airflow</a:t>
            </a:r>
          </a:p>
        </p:txBody>
      </p:sp>
      <p:sp>
        <p:nvSpPr>
          <p:cNvPr id="10" name="TextBox 9"/>
          <p:cNvSpPr txBox="1"/>
          <p:nvPr/>
        </p:nvSpPr>
        <p:spPr>
          <a:xfrm>
            <a:off x="2926080" y="3246120"/>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http://localhost:8080   (admin / admin)</a:t>
            </a:r>
          </a:p>
        </p:txBody>
      </p:sp>
      <p:sp>
        <p:nvSpPr>
          <p:cNvPr id="11" name="TextBox 10"/>
          <p:cNvSpPr txBox="1"/>
          <p:nvPr/>
        </p:nvSpPr>
        <p:spPr>
          <a:xfrm>
            <a:off x="731520" y="3493008"/>
            <a:ext cx="2194560" cy="228600"/>
          </a:xfrm>
          <a:prstGeom prst="rect">
            <a:avLst/>
          </a:prstGeom>
          <a:noFill/>
        </p:spPr>
        <p:txBody>
          <a:bodyPr wrap="square" lIns="45720" rIns="45720" tIns="18288" bIns="18288">
            <a:spAutoFit/>
          </a:bodyPr>
          <a:lstStyle/>
          <a:p>
            <a:pPr algn="l"/>
            <a:r>
              <a:rPr sz="1000" b="1">
                <a:solidFill>
                  <a:srgbClr val="FFFFFF"/>
                </a:solidFill>
              </a:rPr>
              <a:t>Kafka UI</a:t>
            </a:r>
          </a:p>
        </p:txBody>
      </p:sp>
      <p:sp>
        <p:nvSpPr>
          <p:cNvPr id="12" name="TextBox 11"/>
          <p:cNvSpPr txBox="1"/>
          <p:nvPr/>
        </p:nvSpPr>
        <p:spPr>
          <a:xfrm>
            <a:off x="2926080" y="3493008"/>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http://localhost:8090</a:t>
            </a:r>
          </a:p>
        </p:txBody>
      </p:sp>
      <p:sp>
        <p:nvSpPr>
          <p:cNvPr id="13" name="TextBox 12"/>
          <p:cNvSpPr txBox="1"/>
          <p:nvPr/>
        </p:nvSpPr>
        <p:spPr>
          <a:xfrm>
            <a:off x="731520" y="3739896"/>
            <a:ext cx="2194560" cy="228600"/>
          </a:xfrm>
          <a:prstGeom prst="rect">
            <a:avLst/>
          </a:prstGeom>
          <a:noFill/>
        </p:spPr>
        <p:txBody>
          <a:bodyPr wrap="square" lIns="45720" rIns="45720" tIns="18288" bIns="18288">
            <a:spAutoFit/>
          </a:bodyPr>
          <a:lstStyle/>
          <a:p>
            <a:pPr algn="l"/>
            <a:r>
              <a:rPr sz="1000" b="1">
                <a:solidFill>
                  <a:srgbClr val="FFFFFF"/>
                </a:solidFill>
              </a:rPr>
              <a:t>Schema Registry</a:t>
            </a:r>
          </a:p>
        </p:txBody>
      </p:sp>
      <p:sp>
        <p:nvSpPr>
          <p:cNvPr id="14" name="TextBox 13"/>
          <p:cNvSpPr txBox="1"/>
          <p:nvPr/>
        </p:nvSpPr>
        <p:spPr>
          <a:xfrm>
            <a:off x="2926080" y="3739896"/>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http://localhost:8081/subjects</a:t>
            </a:r>
          </a:p>
        </p:txBody>
      </p:sp>
      <p:sp>
        <p:nvSpPr>
          <p:cNvPr id="15" name="TextBox 14"/>
          <p:cNvSpPr txBox="1"/>
          <p:nvPr/>
        </p:nvSpPr>
        <p:spPr>
          <a:xfrm>
            <a:off x="731520" y="3986784"/>
            <a:ext cx="2194560" cy="228600"/>
          </a:xfrm>
          <a:prstGeom prst="rect">
            <a:avLst/>
          </a:prstGeom>
          <a:noFill/>
        </p:spPr>
        <p:txBody>
          <a:bodyPr wrap="square" lIns="45720" rIns="45720" tIns="18288" bIns="18288">
            <a:spAutoFit/>
          </a:bodyPr>
          <a:lstStyle/>
          <a:p>
            <a:pPr algn="l"/>
            <a:r>
              <a:rPr sz="1000" b="1">
                <a:solidFill>
                  <a:srgbClr val="FFFFFF"/>
                </a:solidFill>
              </a:rPr>
              <a:t>Connect REST</a:t>
            </a:r>
          </a:p>
        </p:txBody>
      </p:sp>
      <p:sp>
        <p:nvSpPr>
          <p:cNvPr id="16" name="TextBox 15"/>
          <p:cNvSpPr txBox="1"/>
          <p:nvPr/>
        </p:nvSpPr>
        <p:spPr>
          <a:xfrm>
            <a:off x="2926080" y="3986784"/>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http://localhost:8083/connectors</a:t>
            </a:r>
          </a:p>
        </p:txBody>
      </p:sp>
      <p:sp>
        <p:nvSpPr>
          <p:cNvPr id="17" name="TextBox 16"/>
          <p:cNvSpPr txBox="1"/>
          <p:nvPr/>
        </p:nvSpPr>
        <p:spPr>
          <a:xfrm>
            <a:off x="731520" y="4233672"/>
            <a:ext cx="2194560" cy="228600"/>
          </a:xfrm>
          <a:prstGeom prst="rect">
            <a:avLst/>
          </a:prstGeom>
          <a:noFill/>
        </p:spPr>
        <p:txBody>
          <a:bodyPr wrap="square" lIns="45720" rIns="45720" tIns="18288" bIns="18288">
            <a:spAutoFit/>
          </a:bodyPr>
          <a:lstStyle/>
          <a:p>
            <a:pPr algn="l"/>
            <a:r>
              <a:rPr sz="1000" b="1">
                <a:solidFill>
                  <a:srgbClr val="FFFFFF"/>
                </a:solidFill>
              </a:rPr>
              <a:t>MinIO console</a:t>
            </a:r>
          </a:p>
        </p:txBody>
      </p:sp>
      <p:sp>
        <p:nvSpPr>
          <p:cNvPr id="18" name="TextBox 17"/>
          <p:cNvSpPr txBox="1"/>
          <p:nvPr/>
        </p:nvSpPr>
        <p:spPr>
          <a:xfrm>
            <a:off x="2926080" y="4233672"/>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http://localhost:9001   (minioadmin / minioadmin)</a:t>
            </a:r>
          </a:p>
        </p:txBody>
      </p:sp>
      <p:sp>
        <p:nvSpPr>
          <p:cNvPr id="19" name="TextBox 18"/>
          <p:cNvSpPr txBox="1"/>
          <p:nvPr/>
        </p:nvSpPr>
        <p:spPr>
          <a:xfrm>
            <a:off x="731520" y="4480560"/>
            <a:ext cx="2194560" cy="228600"/>
          </a:xfrm>
          <a:prstGeom prst="rect">
            <a:avLst/>
          </a:prstGeom>
          <a:noFill/>
        </p:spPr>
        <p:txBody>
          <a:bodyPr wrap="square" lIns="45720" rIns="45720" tIns="18288" bIns="18288">
            <a:spAutoFit/>
          </a:bodyPr>
          <a:lstStyle/>
          <a:p>
            <a:pPr algn="l"/>
            <a:r>
              <a:rPr sz="1000" b="1">
                <a:solidFill>
                  <a:srgbClr val="FFFFFF"/>
                </a:solidFill>
              </a:rPr>
              <a:t>Quality dashboard</a:t>
            </a:r>
          </a:p>
        </p:txBody>
      </p:sp>
      <p:sp>
        <p:nvSpPr>
          <p:cNvPr id="20" name="TextBox 19"/>
          <p:cNvSpPr txBox="1"/>
          <p:nvPr/>
        </p:nvSpPr>
        <p:spPr>
          <a:xfrm>
            <a:off x="2926080" y="4480560"/>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http://localhost:5001</a:t>
            </a:r>
          </a:p>
        </p:txBody>
      </p:sp>
      <p:sp>
        <p:nvSpPr>
          <p:cNvPr id="21" name="TextBox 20"/>
          <p:cNvSpPr txBox="1"/>
          <p:nvPr/>
        </p:nvSpPr>
        <p:spPr>
          <a:xfrm>
            <a:off x="731520" y="4727448"/>
            <a:ext cx="2194560" cy="228600"/>
          </a:xfrm>
          <a:prstGeom prst="rect">
            <a:avLst/>
          </a:prstGeom>
          <a:noFill/>
        </p:spPr>
        <p:txBody>
          <a:bodyPr wrap="square" lIns="45720" rIns="45720" tIns="18288" bIns="18288">
            <a:spAutoFit/>
          </a:bodyPr>
          <a:lstStyle/>
          <a:p>
            <a:pPr algn="l"/>
            <a:r>
              <a:rPr sz="1000" b="1">
                <a:solidFill>
                  <a:srgbClr val="FFFFFF"/>
                </a:solidFill>
              </a:rPr>
              <a:t>Business dashboard</a:t>
            </a:r>
          </a:p>
        </p:txBody>
      </p:sp>
      <p:sp>
        <p:nvSpPr>
          <p:cNvPr id="22" name="TextBox 21"/>
          <p:cNvSpPr txBox="1"/>
          <p:nvPr/>
        </p:nvSpPr>
        <p:spPr>
          <a:xfrm>
            <a:off x="2926080" y="4727448"/>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http://localhost:5002</a:t>
            </a:r>
          </a:p>
        </p:txBody>
      </p:sp>
      <p:sp>
        <p:nvSpPr>
          <p:cNvPr id="23" name="TextBox 22"/>
          <p:cNvSpPr txBox="1"/>
          <p:nvPr/>
        </p:nvSpPr>
        <p:spPr>
          <a:xfrm>
            <a:off x="731520" y="4974336"/>
            <a:ext cx="2194560" cy="228600"/>
          </a:xfrm>
          <a:prstGeom prst="rect">
            <a:avLst/>
          </a:prstGeom>
          <a:noFill/>
        </p:spPr>
        <p:txBody>
          <a:bodyPr wrap="square" lIns="45720" rIns="45720" tIns="18288" bIns="18288">
            <a:spAutoFit/>
          </a:bodyPr>
          <a:lstStyle/>
          <a:p>
            <a:pPr algn="l"/>
            <a:r>
              <a:rPr sz="1000" b="1">
                <a:solidFill>
                  <a:srgbClr val="FFFFFF"/>
                </a:solidFill>
              </a:rPr>
              <a:t>Live-map dashboard</a:t>
            </a:r>
          </a:p>
        </p:txBody>
      </p:sp>
      <p:sp>
        <p:nvSpPr>
          <p:cNvPr id="24" name="TextBox 23"/>
          <p:cNvSpPr txBox="1"/>
          <p:nvPr/>
        </p:nvSpPr>
        <p:spPr>
          <a:xfrm>
            <a:off x="2926080" y="4974336"/>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http://localhost:5003</a:t>
            </a:r>
          </a:p>
        </p:txBody>
      </p:sp>
      <p:sp>
        <p:nvSpPr>
          <p:cNvPr id="25" name="TextBox 24"/>
          <p:cNvSpPr txBox="1"/>
          <p:nvPr/>
        </p:nvSpPr>
        <p:spPr>
          <a:xfrm>
            <a:off x="731520" y="5221224"/>
            <a:ext cx="2194560" cy="228600"/>
          </a:xfrm>
          <a:prstGeom prst="rect">
            <a:avLst/>
          </a:prstGeom>
          <a:noFill/>
        </p:spPr>
        <p:txBody>
          <a:bodyPr wrap="square" lIns="45720" rIns="45720" tIns="18288" bIns="18288">
            <a:spAutoFit/>
          </a:bodyPr>
          <a:lstStyle/>
          <a:p>
            <a:pPr algn="l"/>
            <a:r>
              <a:rPr sz="1000" b="1">
                <a:solidFill>
                  <a:srgbClr val="FFFFFF"/>
                </a:solidFill>
              </a:rPr>
              <a:t>Prometheus</a:t>
            </a:r>
          </a:p>
        </p:txBody>
      </p:sp>
      <p:sp>
        <p:nvSpPr>
          <p:cNvPr id="26" name="TextBox 25"/>
          <p:cNvSpPr txBox="1"/>
          <p:nvPr/>
        </p:nvSpPr>
        <p:spPr>
          <a:xfrm>
            <a:off x="2926080" y="5221224"/>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http://localhost:9090</a:t>
            </a:r>
          </a:p>
        </p:txBody>
      </p:sp>
      <p:sp>
        <p:nvSpPr>
          <p:cNvPr id="27" name="TextBox 26"/>
          <p:cNvSpPr txBox="1"/>
          <p:nvPr/>
        </p:nvSpPr>
        <p:spPr>
          <a:xfrm>
            <a:off x="731520" y="5468112"/>
            <a:ext cx="2194560" cy="228600"/>
          </a:xfrm>
          <a:prstGeom prst="rect">
            <a:avLst/>
          </a:prstGeom>
          <a:noFill/>
        </p:spPr>
        <p:txBody>
          <a:bodyPr wrap="square" lIns="45720" rIns="45720" tIns="18288" bIns="18288">
            <a:spAutoFit/>
          </a:bodyPr>
          <a:lstStyle/>
          <a:p>
            <a:pPr algn="l"/>
            <a:r>
              <a:rPr sz="1000" b="1">
                <a:solidFill>
                  <a:srgbClr val="FFFFFF"/>
                </a:solidFill>
              </a:rPr>
              <a:t>Grafana</a:t>
            </a:r>
          </a:p>
        </p:txBody>
      </p:sp>
      <p:sp>
        <p:nvSpPr>
          <p:cNvPr id="28" name="TextBox 27"/>
          <p:cNvSpPr txBox="1"/>
          <p:nvPr/>
        </p:nvSpPr>
        <p:spPr>
          <a:xfrm>
            <a:off x="2926080" y="5468112"/>
            <a:ext cx="5669280" cy="228600"/>
          </a:xfrm>
          <a:prstGeom prst="rect">
            <a:avLst/>
          </a:prstGeom>
          <a:noFill/>
        </p:spPr>
        <p:txBody>
          <a:bodyPr wrap="square" lIns="45720" rIns="45720" tIns="18288" bIns="18288">
            <a:spAutoFit/>
          </a:bodyPr>
          <a:lstStyle/>
          <a:p>
            <a:pPr algn="l"/>
            <a:r>
              <a:rPr sz="1000" b="0">
                <a:solidFill>
                  <a:srgbClr val="CCDDEE"/>
                </a:solidFill>
                <a:latin typeface="Consolas"/>
              </a:rPr>
              <a:t>http://localhost:3000   (admin / admin)</a:t>
            </a:r>
          </a:p>
        </p:txBody>
      </p:sp>
      <p:sp>
        <p:nvSpPr>
          <p:cNvPr id="29" name="TextBox 28"/>
          <p:cNvSpPr txBox="1"/>
          <p:nvPr/>
        </p:nvSpPr>
        <p:spPr>
          <a:xfrm>
            <a:off x="457200" y="6355080"/>
            <a:ext cx="8229600" cy="365760"/>
          </a:xfrm>
          <a:prstGeom prst="rect">
            <a:avLst/>
          </a:prstGeom>
          <a:noFill/>
        </p:spPr>
        <p:txBody>
          <a:bodyPr wrap="square" lIns="45720" rIns="45720" tIns="18288" bIns="18288">
            <a:spAutoFit/>
          </a:bodyPr>
          <a:lstStyle/>
          <a:p>
            <a:pPr algn="ctr"/>
            <a:r>
              <a:rPr sz="1000" b="0">
                <a:solidFill>
                  <a:srgbClr val="CCDDEE"/>
                </a:solidFill>
              </a:rPr>
              <a:t>Slide 52 / 52  ·  end of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