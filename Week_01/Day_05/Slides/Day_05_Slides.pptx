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  <p:sldId id="329" r:id="rId88"/>
    <p:sldId id="330" r:id="rId89"/>
    <p:sldId id="331" r:id="rId90"/>
    <p:sldId id="332" r:id="rId91"/>
    <p:sldId id="333" r:id="rId92"/>
    <p:sldId id="334" r:id="rId93"/>
    <p:sldId id="335" r:id="rId94"/>
    <p:sldId id="336" r:id="rId95"/>
    <p:sldId id="337" r:id="rId96"/>
    <p:sldId id="338" r:id="rId97"/>
    <p:sldId id="339" r:id="rId98"/>
    <p:sldId id="340" r:id="rId99"/>
    <p:sldId id="341" r:id="rId100"/>
    <p:sldId id="342" r:id="rId10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6D398E1-114B-406F-A7F0-BBBDB18D0969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PlaceHolder 3"/>
          <p:cNvSpPr>
            <a:spLocks noGrp="1"/>
          </p:cNvSpPr>
          <p:nvPr>
            <p:ph type="sldNum" idx="5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PlaceHolder 3"/>
          <p:cNvSpPr>
            <a:spLocks noGrp="1"/>
          </p:cNvSpPr>
          <p:nvPr>
            <p:ph type="sldNum" idx="5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PlaceHolder 3"/>
          <p:cNvSpPr>
            <a:spLocks noGrp="1"/>
          </p:cNvSpPr>
          <p:nvPr>
            <p:ph type="sldNum" idx="5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PlaceHolder 3"/>
          <p:cNvSpPr>
            <a:spLocks noGrp="1"/>
          </p:cNvSpPr>
          <p:nvPr>
            <p:ph type="sldNum" idx="5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C2F507-6845-4DA4-8D3A-7CBA73FF98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D44EE2-D040-4EB1-BB0A-38D5505464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A81BF9D-F9F5-4405-8C26-9F56764345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17E235E-0963-4C86-A94F-97DF000E7F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FB6E50-AC8F-4C67-8695-FC337F732A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6779E9-0B6B-4B43-A302-4C802D7720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E1458C7-CE61-4CD4-91D7-60C236A699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0288BD0-855D-4668-92B4-2762644E32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D51A7C2-39E7-48BA-B47B-FDFA6A9CB4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AE8E7E1-12F2-4AAC-8ED0-BA816E68E1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696438-DB61-48AF-B601-BD1B0FBED0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58F7ED5-F5F5-4BBB-A215-2624BFBC0E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file:///C:/Users/Gamer/Downloads/Training/Week1/Day%205/&#12304;264677521234698&#8224;L16-L31&#12305;" TargetMode="External"/><Relationship Id="rId3" Type="http://schemas.openxmlformats.org/officeDocument/2006/relationships/hyperlink" Target="file:///C:/Users/Gamer/Downloads/Training/Week1/Day%205/&#12304;73443659327933&#8224;L127-L148&#12305;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file:///C:/Users/Gamer/Downloads/Training/Week1/Day%205/&#12304;114490099092113&#8224;L95-L122&#12305;" TargetMode="External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5/&#12304;549557786880950&#8224;L592-L610&#12305;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hyperlink" Target="file:///C:/Users/Gamer/Downloads/Training/Week1/Day%205/&#12304;764676770703156&#8224;L185-L196&#12305;" TargetMode="External"/><Relationship Id="rId5" Type="http://schemas.openxmlformats.org/officeDocument/2006/relationships/hyperlink" Target="file:///C:/Users/Gamer/Downloads/Training/Week1/Day%205/&#12304;73443659327933&#8224;L127-L148&#12305;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hyperlink" Target="file:///C:/Users/Gamer/Downloads/Training/Week1/Day%205/&#12304;114490099092113&#8224;L95-L122&#12305;" TargetMode="Externa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hyperlink" Target="file:///C:/Users/Gamer/Downloads/Training/Week1/Day%205/&#12304;549557786880950&#8224;L592-L610&#12305;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hyperlink" Target="file:///C:/Users/Gamer/Downloads/Training/Week1/Day%205/&#12304;764676770703156&#8224;L185-L196&#12305;" TargetMode="External"/><Relationship Id="rId3" Type="http://schemas.openxmlformats.org/officeDocument/2006/relationships/hyperlink" Target="file:///C:/Users/Gamer/Downloads/Training/Week1/Day%205/&#12304;764676770703156&#8224;L297-L321&#12305;" TargetMode="Externa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hyperlink" Target="file:///C:/Users/Gamer/Downloads/Training/Week1/Day%205/&#12304;16003946386759&#8224;L168-L180&#12305;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5/&#12304;645518690862239&#8224;L139-L173&#12305;" TargetMode="External"/><Relationship Id="rId2" Type="http://schemas.openxmlformats.org/officeDocument/2006/relationships/hyperlink" Target="file:///C:/Users/Gamer/Downloads/Training/Week1/Day%205/&#12304;645518690862239&#8224;L284-L296&#12305;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5/&#12304;645518690862239&#8224;L139-L173&#12305;" TargetMode="External"/><Relationship Id="rId2" Type="http://schemas.openxmlformats.org/officeDocument/2006/relationships/hyperlink" Target="file:///C:/Users/Gamer/Downloads/Training/Week1/Day%205/&#12304;645518690862239&#8224;L284-L296&#12305;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5/&#12304;645518690862239&#8224;L284-L296&#12305;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5/&#12304;549557786880950&#8224;L592-L610&#12305;" TargetMode="External"/><Relationship Id="rId2" Type="http://schemas.openxmlformats.org/officeDocument/2006/relationships/hyperlink" Target="file:///C:/Users/Gamer/Downloads/Training/Week1/Day%205/&#12304;114490099092113&#8224;L125-L134&#12305;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e172a"/>
          </a:solidFill>
          <a:ln w="12600">
            <a:solidFill>
              <a:srgbClr val="0e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1"/>
          <p:cNvSpPr/>
          <p:nvPr/>
        </p:nvSpPr>
        <p:spPr>
          <a:xfrm>
            <a:off x="274320" y="137160"/>
            <a:ext cx="8594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b703"/>
                </a:solidFill>
                <a:effectLst/>
                <a:uFillTx/>
                <a:latin typeface="Calibri"/>
                <a:ea typeface="Calibri"/>
              </a:rPr>
              <a:t>Day 5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Data Ingestion Pipeline Design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2"/>
          <p:cNvPicPr/>
          <p:nvPr/>
        </p:nvPicPr>
        <p:blipFill>
          <a:blip r:embed="rId1"/>
          <a:stretch/>
        </p:blipFill>
        <p:spPr>
          <a:xfrm>
            <a:off x="5029200" y="731520"/>
            <a:ext cx="4022280" cy="365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2"/>
          <p:cNvSpPr/>
          <p:nvPr/>
        </p:nvSpPr>
        <p:spPr>
          <a:xfrm>
            <a:off x="457200" y="1828800"/>
            <a:ext cx="438804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Designing Robust Data Ingestion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From Chaos to Clean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2"/>
              </a:rPr>
              <a:t>[1]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3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Learning Objectives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1"/>
          <p:cNvPicPr/>
          <p:nvPr/>
        </p:nvPicPr>
        <p:blipFill>
          <a:blip r:embed="rId1"/>
          <a:stretch/>
        </p:blipFill>
        <p:spPr>
          <a:xfrm>
            <a:off x="457200" y="91440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4"/>
          <p:cNvSpPr/>
          <p:nvPr/>
        </p:nvSpPr>
        <p:spPr>
          <a:xfrm>
            <a:off x="822960" y="9144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Understand ingestion pipeline design principles (idempotency, ordering, deduplication, replay)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3"/>
          <p:cNvPicPr/>
          <p:nvPr/>
        </p:nvPicPr>
        <p:blipFill>
          <a:blip r:embed="rId2"/>
          <a:stretch/>
        </p:blipFill>
        <p:spPr>
          <a:xfrm>
            <a:off x="457200" y="137160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5"/>
          <p:cNvSpPr/>
          <p:nvPr/>
        </p:nvSpPr>
        <p:spPr>
          <a:xfrm>
            <a:off x="822960" y="13716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Design multi-source ingestion architectures combining CDC, streaming, batch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4"/>
          <p:cNvPicPr/>
          <p:nvPr/>
        </p:nvPicPr>
        <p:blipFill>
          <a:blip r:embed="rId3"/>
          <a:stretch/>
        </p:blipFill>
        <p:spPr>
          <a:xfrm>
            <a:off x="457200" y="182880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6"/>
          <p:cNvSpPr/>
          <p:nvPr/>
        </p:nvSpPr>
        <p:spPr>
          <a:xfrm>
            <a:off x="822960" y="1828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Manage schemas &amp; evolve contracts with Avro/JSON/Protobuf and Schema Registry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5"/>
          <p:cNvPicPr/>
          <p:nvPr/>
        </p:nvPicPr>
        <p:blipFill>
          <a:blip r:embed="rId4"/>
          <a:stretch/>
        </p:blipFill>
        <p:spPr>
          <a:xfrm>
            <a:off x="457200" y="228600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7"/>
          <p:cNvSpPr/>
          <p:nvPr/>
        </p:nvSpPr>
        <p:spPr>
          <a:xfrm>
            <a:off x="822960" y="22860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Handle bad data using validation and Dead Letter Queues (DLQ)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12"/>
          <p:cNvPicPr/>
          <p:nvPr/>
        </p:nvPicPr>
        <p:blipFill>
          <a:blip r:embed="rId5"/>
          <a:stretch/>
        </p:blipFill>
        <p:spPr>
          <a:xfrm>
            <a:off x="457200" y="274320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15"/>
          <p:cNvSpPr/>
          <p:nvPr/>
        </p:nvSpPr>
        <p:spPr>
          <a:xfrm>
            <a:off x="822960" y="27432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Address delivery guarantees &amp; late events using watermarks and grace periods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13"/>
          <p:cNvPicPr/>
          <p:nvPr/>
        </p:nvPicPr>
        <p:blipFill>
          <a:blip r:embed="rId6"/>
          <a:stretch/>
        </p:blipFill>
        <p:spPr>
          <a:xfrm>
            <a:off x="457200" y="320040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16"/>
          <p:cNvSpPr/>
          <p:nvPr/>
        </p:nvSpPr>
        <p:spPr>
          <a:xfrm>
            <a:off x="822960" y="32004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Build and test an end-to-end ingestion pipeline in the hands-on lab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7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8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"/>
          <p:cNvSpPr/>
          <p:nvPr/>
        </p:nvSpPr>
        <p:spPr>
          <a:xfrm>
            <a:off x="457200" y="1097280"/>
            <a:ext cx="959040" cy="456120"/>
          </a:xfrm>
          <a:prstGeom prst="roundRect">
            <a:avLst>
              <a:gd name="adj" fmla="val 20000"/>
            </a:avLst>
          </a:prstGeom>
          <a:solidFill>
            <a:srgbClr val="12b8a6"/>
          </a:solidFill>
          <a:ln w="12600">
            <a:solidFill>
              <a:srgbClr val="12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9"/>
          <p:cNvSpPr/>
          <p:nvPr/>
        </p:nvSpPr>
        <p:spPr>
          <a:xfrm>
            <a:off x="502920" y="1188720"/>
            <a:ext cx="867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Recap &amp; Why Ingestion Matters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1426320" y="1307520"/>
            <a:ext cx="72000" cy="35640"/>
          </a:xfrm>
          <a:prstGeom prst="rect">
            <a:avLst/>
          </a:prstGeom>
          <a:solidFill>
            <a:srgbClr val="cccccc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1508760" y="1097280"/>
            <a:ext cx="959040" cy="45612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6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1554480" y="1188720"/>
            <a:ext cx="867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 Principles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2477880" y="1307520"/>
            <a:ext cx="72000" cy="35640"/>
          </a:xfrm>
          <a:prstGeom prst="rect">
            <a:avLst/>
          </a:prstGeom>
          <a:solidFill>
            <a:srgbClr val="cccccc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7" name="Shape 7"/>
          <p:cNvSpPr/>
          <p:nvPr/>
        </p:nvSpPr>
        <p:spPr>
          <a:xfrm>
            <a:off x="2560320" y="1097280"/>
            <a:ext cx="959040" cy="456120"/>
          </a:xfrm>
          <a:prstGeom prst="roundRect">
            <a:avLst>
              <a:gd name="adj" fmla="val 20000"/>
            </a:avLst>
          </a:prstGeom>
          <a:solidFill>
            <a:srgbClr val="a84acb"/>
          </a:solidFill>
          <a:ln w="12600">
            <a:solidFill>
              <a:srgbClr val="a84a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2606040" y="1188720"/>
            <a:ext cx="867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Multi‑Source Architecture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3529440" y="1307520"/>
            <a:ext cx="72000" cy="35640"/>
          </a:xfrm>
          <a:prstGeom prst="rect">
            <a:avLst/>
          </a:prstGeom>
          <a:solidFill>
            <a:srgbClr val="cccccc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0" name="Shape 10"/>
          <p:cNvSpPr/>
          <p:nvPr/>
        </p:nvSpPr>
        <p:spPr>
          <a:xfrm>
            <a:off x="3611880" y="1097280"/>
            <a:ext cx="959040" cy="456120"/>
          </a:xfrm>
          <a:prstGeom prst="roundRect">
            <a:avLst>
              <a:gd name="adj" fmla="val 20000"/>
            </a:avLst>
          </a:prstGeom>
          <a:solidFill>
            <a:srgbClr val="ffb703"/>
          </a:solidFill>
          <a:ln w="126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3657600" y="1188720"/>
            <a:ext cx="867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Schema Management &amp; Evolution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2"/>
          <p:cNvSpPr/>
          <p:nvPr/>
        </p:nvSpPr>
        <p:spPr>
          <a:xfrm>
            <a:off x="4581000" y="1307520"/>
            <a:ext cx="72000" cy="35640"/>
          </a:xfrm>
          <a:prstGeom prst="rect">
            <a:avLst/>
          </a:prstGeom>
          <a:solidFill>
            <a:srgbClr val="cccccc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3" name="Shape 13"/>
          <p:cNvSpPr/>
          <p:nvPr/>
        </p:nvSpPr>
        <p:spPr>
          <a:xfrm>
            <a:off x="4663440" y="1097280"/>
            <a:ext cx="959040" cy="456120"/>
          </a:xfrm>
          <a:prstGeom prst="roundRect">
            <a:avLst>
              <a:gd name="adj" fmla="val 20000"/>
            </a:avLst>
          </a:prstGeom>
          <a:solidFill>
            <a:srgbClr val="f28482"/>
          </a:solidFill>
          <a:ln w="12600">
            <a:solidFill>
              <a:srgbClr val="f284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4709160" y="1188720"/>
            <a:ext cx="867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Bad Data &amp; DLQ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5632560" y="1307520"/>
            <a:ext cx="72000" cy="35640"/>
          </a:xfrm>
          <a:prstGeom prst="rect">
            <a:avLst/>
          </a:prstGeom>
          <a:solidFill>
            <a:srgbClr val="cccccc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5715000" y="1097280"/>
            <a:ext cx="959040" cy="4561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6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5760720" y="1188720"/>
            <a:ext cx="867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Delivery Guarantees &amp; Ordering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8"/>
          <p:cNvSpPr/>
          <p:nvPr/>
        </p:nvSpPr>
        <p:spPr>
          <a:xfrm>
            <a:off x="6684120" y="1307520"/>
            <a:ext cx="72000" cy="35640"/>
          </a:xfrm>
          <a:prstGeom prst="rect">
            <a:avLst/>
          </a:prstGeom>
          <a:solidFill>
            <a:srgbClr val="cccccc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9" name="Shape 19"/>
          <p:cNvSpPr/>
          <p:nvPr/>
        </p:nvSpPr>
        <p:spPr>
          <a:xfrm>
            <a:off x="6766560" y="1097280"/>
            <a:ext cx="959040" cy="456120"/>
          </a:xfrm>
          <a:prstGeom prst="roundRect">
            <a:avLst>
              <a:gd name="adj" fmla="val 20000"/>
            </a:avLst>
          </a:prstGeom>
          <a:solidFill>
            <a:srgbClr val="0077b6"/>
          </a:solidFill>
          <a:ln w="126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 20"/>
          <p:cNvSpPr/>
          <p:nvPr/>
        </p:nvSpPr>
        <p:spPr>
          <a:xfrm>
            <a:off x="6812280" y="1188720"/>
            <a:ext cx="867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Late &amp; Out‑of‑Order Events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1"/>
          <p:cNvSpPr/>
          <p:nvPr/>
        </p:nvSpPr>
        <p:spPr>
          <a:xfrm>
            <a:off x="7735680" y="1307520"/>
            <a:ext cx="72000" cy="35640"/>
          </a:xfrm>
          <a:prstGeom prst="rect">
            <a:avLst/>
          </a:prstGeom>
          <a:solidFill>
            <a:srgbClr val="cccccc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2" name="Shape 22"/>
          <p:cNvSpPr/>
          <p:nvPr/>
        </p:nvSpPr>
        <p:spPr>
          <a:xfrm>
            <a:off x="7818120" y="1097280"/>
            <a:ext cx="959040" cy="456120"/>
          </a:xfrm>
          <a:prstGeom prst="roundRect">
            <a:avLst>
              <a:gd name="adj" fmla="val 20000"/>
            </a:avLst>
          </a:prstGeom>
          <a:solidFill>
            <a:srgbClr val="12b8a6"/>
          </a:solidFill>
          <a:ln w="12600">
            <a:solidFill>
              <a:srgbClr val="12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23"/>
          <p:cNvSpPr/>
          <p:nvPr/>
        </p:nvSpPr>
        <p:spPr>
          <a:xfrm>
            <a:off x="7863840" y="1188720"/>
            <a:ext cx="867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Lab &amp; Quiz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4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1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18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From CDC to Ingestion Pipelines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6"/>
          <p:cNvPicPr/>
          <p:nvPr/>
        </p:nvPicPr>
        <p:blipFill>
          <a:blip r:embed="rId1"/>
          <a:stretch/>
        </p:blipFill>
        <p:spPr>
          <a:xfrm>
            <a:off x="457200" y="91440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9"/>
          <p:cNvSpPr/>
          <p:nvPr/>
        </p:nvSpPr>
        <p:spPr>
          <a:xfrm>
            <a:off x="868680" y="91440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Debezium captures database INSERT/UPDATE/DELETE events and streams them to Kafka topics in the same order they occurred.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7"/>
          <p:cNvPicPr/>
          <p:nvPr/>
        </p:nvPicPr>
        <p:blipFill>
          <a:blip r:embed="rId2"/>
          <a:stretch/>
        </p:blipFill>
        <p:spPr>
          <a:xfrm>
            <a:off x="457200" y="132588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21"/>
          <p:cNvSpPr/>
          <p:nvPr/>
        </p:nvSpPr>
        <p:spPr>
          <a:xfrm>
            <a:off x="868680" y="132588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Day 4 lab taught you to register a connector, capture change events and consume them from Kafka.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8"/>
          <p:cNvPicPr/>
          <p:nvPr/>
        </p:nvPicPr>
        <p:blipFill>
          <a:blip r:embed="rId3"/>
          <a:stretch/>
        </p:blipFill>
        <p:spPr>
          <a:xfrm>
            <a:off x="457200" y="173736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22"/>
          <p:cNvSpPr/>
          <p:nvPr/>
        </p:nvSpPr>
        <p:spPr>
          <a:xfrm>
            <a:off x="868680" y="173736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Day 5 goes beyond CDC: combining multiple sources, managing schemas and handling bad data to build production‑grade ingestion.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280880" y="3434400"/>
            <a:ext cx="1096200" cy="410400"/>
          </a:xfrm>
          <a:prstGeom prst="roundRect">
            <a:avLst>
              <a:gd name="adj" fmla="val 22222"/>
            </a:avLst>
          </a:prstGeom>
          <a:solidFill>
            <a:srgbClr val="00b4d8"/>
          </a:solidFill>
          <a:ln w="126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 25"/>
          <p:cNvSpPr/>
          <p:nvPr/>
        </p:nvSpPr>
        <p:spPr>
          <a:xfrm>
            <a:off x="1280880" y="3434400"/>
            <a:ext cx="1096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DB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>
            <a:off x="2378160" y="3594600"/>
            <a:ext cx="273240" cy="9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5" name="Shape 8"/>
          <p:cNvSpPr/>
          <p:nvPr/>
        </p:nvSpPr>
        <p:spPr>
          <a:xfrm>
            <a:off x="2652480" y="3434400"/>
            <a:ext cx="1096200" cy="410400"/>
          </a:xfrm>
          <a:prstGeom prst="roundRect">
            <a:avLst>
              <a:gd name="adj" fmla="val 22222"/>
            </a:avLst>
          </a:prstGeom>
          <a:solidFill>
            <a:srgbClr val="a84acb"/>
          </a:solidFill>
          <a:ln w="12600">
            <a:solidFill>
              <a:srgbClr val="a84a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 31"/>
          <p:cNvSpPr/>
          <p:nvPr/>
        </p:nvSpPr>
        <p:spPr>
          <a:xfrm>
            <a:off x="2652480" y="3434400"/>
            <a:ext cx="1096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Debezium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1"/>
          <p:cNvSpPr/>
          <p:nvPr/>
        </p:nvSpPr>
        <p:spPr>
          <a:xfrm>
            <a:off x="3749760" y="3594600"/>
            <a:ext cx="273240" cy="9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8" name="Shape 14"/>
          <p:cNvSpPr/>
          <p:nvPr/>
        </p:nvSpPr>
        <p:spPr>
          <a:xfrm>
            <a:off x="4024080" y="3434400"/>
            <a:ext cx="1096200" cy="410400"/>
          </a:xfrm>
          <a:prstGeom prst="roundRect">
            <a:avLst>
              <a:gd name="adj" fmla="val 22222"/>
            </a:avLst>
          </a:prstGeom>
          <a:solidFill>
            <a:srgbClr val="12b8a6"/>
          </a:solidFill>
          <a:ln w="12600">
            <a:solidFill>
              <a:srgbClr val="12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 32"/>
          <p:cNvSpPr/>
          <p:nvPr/>
        </p:nvSpPr>
        <p:spPr>
          <a:xfrm>
            <a:off x="4024080" y="3434400"/>
            <a:ext cx="1096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Kafka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5121360" y="3594600"/>
            <a:ext cx="273240" cy="9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1" name="Shape 20"/>
          <p:cNvSpPr/>
          <p:nvPr/>
        </p:nvSpPr>
        <p:spPr>
          <a:xfrm>
            <a:off x="5395680" y="3434400"/>
            <a:ext cx="1096200" cy="410400"/>
          </a:xfrm>
          <a:prstGeom prst="roundRect">
            <a:avLst>
              <a:gd name="adj" fmla="val 22222"/>
            </a:avLst>
          </a:prstGeom>
          <a:solidFill>
            <a:srgbClr val="f28482"/>
          </a:solidFill>
          <a:ln w="12600">
            <a:solidFill>
              <a:srgbClr val="f284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 33"/>
          <p:cNvSpPr/>
          <p:nvPr/>
        </p:nvSpPr>
        <p:spPr>
          <a:xfrm>
            <a:off x="5395680" y="3434400"/>
            <a:ext cx="1096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Consumer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4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4"/>
              </a:rPr>
              <a:t>[1]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5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32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4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is a replayable event log, not just a queue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33"/>
          <p:cNvSpPr/>
          <p:nvPr/>
        </p:nvSpPr>
        <p:spPr>
          <a:xfrm>
            <a:off x="685800" y="1188720"/>
            <a:ext cx="191952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Idea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34"/>
          <p:cNvSpPr/>
          <p:nvPr/>
        </p:nvSpPr>
        <p:spPr>
          <a:xfrm>
            <a:off x="2606040" y="1188720"/>
            <a:ext cx="278820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Queue mental model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35"/>
          <p:cNvSpPr/>
          <p:nvPr/>
        </p:nvSpPr>
        <p:spPr>
          <a:xfrm>
            <a:off x="5394960" y="1188720"/>
            <a:ext cx="297108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 event-log mental model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36"/>
          <p:cNvSpPr/>
          <p:nvPr/>
        </p:nvSpPr>
        <p:spPr>
          <a:xfrm>
            <a:off x="685800" y="1627560"/>
            <a:ext cx="1919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Read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37"/>
          <p:cNvSpPr/>
          <p:nvPr/>
        </p:nvSpPr>
        <p:spPr>
          <a:xfrm>
            <a:off x="2606040" y="1627560"/>
            <a:ext cx="27882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Message disappears after consume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38"/>
          <p:cNvSpPr/>
          <p:nvPr/>
        </p:nvSpPr>
        <p:spPr>
          <a:xfrm>
            <a:off x="5394960" y="1627560"/>
            <a:ext cx="2971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Message remains until retention removes it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39"/>
          <p:cNvSpPr/>
          <p:nvPr/>
        </p:nvSpPr>
        <p:spPr>
          <a:xfrm>
            <a:off x="685800" y="2066400"/>
            <a:ext cx="1919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40"/>
          <p:cNvSpPr/>
          <p:nvPr/>
        </p:nvSpPr>
        <p:spPr>
          <a:xfrm>
            <a:off x="2606040" y="2066400"/>
            <a:ext cx="27882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Usually one worker owns work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41"/>
          <p:cNvSpPr/>
          <p:nvPr/>
        </p:nvSpPr>
        <p:spPr>
          <a:xfrm>
            <a:off x="5394960" y="2066400"/>
            <a:ext cx="2971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Many groups can read same topic independently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42"/>
          <p:cNvSpPr/>
          <p:nvPr/>
        </p:nvSpPr>
        <p:spPr>
          <a:xfrm>
            <a:off x="685800" y="2505600"/>
            <a:ext cx="1919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Position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43"/>
          <p:cNvSpPr/>
          <p:nvPr/>
        </p:nvSpPr>
        <p:spPr>
          <a:xfrm>
            <a:off x="2606040" y="2505600"/>
            <a:ext cx="27882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Queue tracks delivery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51"/>
          <p:cNvSpPr/>
          <p:nvPr/>
        </p:nvSpPr>
        <p:spPr>
          <a:xfrm>
            <a:off x="5394960" y="2505600"/>
            <a:ext cx="2971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 group commits offsets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52"/>
          <p:cNvSpPr/>
          <p:nvPr/>
        </p:nvSpPr>
        <p:spPr>
          <a:xfrm>
            <a:off x="685800" y="2944440"/>
            <a:ext cx="1919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Recovery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53"/>
          <p:cNvSpPr/>
          <p:nvPr/>
        </p:nvSpPr>
        <p:spPr>
          <a:xfrm>
            <a:off x="2606040" y="2944440"/>
            <a:ext cx="27882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Harder to replay history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54"/>
          <p:cNvSpPr/>
          <p:nvPr/>
        </p:nvSpPr>
        <p:spPr>
          <a:xfrm>
            <a:off x="5394960" y="2944440"/>
            <a:ext cx="2971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Seek/replay from retained offset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2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1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42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recap 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3"/>
          <p:cNvSpPr/>
          <p:nvPr/>
        </p:nvSpPr>
        <p:spPr>
          <a:xfrm>
            <a:off x="594360" y="1078920"/>
            <a:ext cx="159948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Term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25"/>
          <p:cNvSpPr/>
          <p:nvPr/>
        </p:nvSpPr>
        <p:spPr>
          <a:xfrm>
            <a:off x="2194560" y="1078920"/>
            <a:ext cx="214812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Plain meaning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26"/>
          <p:cNvSpPr/>
          <p:nvPr/>
        </p:nvSpPr>
        <p:spPr>
          <a:xfrm>
            <a:off x="4343400" y="1078920"/>
            <a:ext cx="393120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it matters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27"/>
          <p:cNvSpPr/>
          <p:nvPr/>
        </p:nvSpPr>
        <p:spPr>
          <a:xfrm>
            <a:off x="594360" y="1472040"/>
            <a:ext cx="15994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28"/>
          <p:cNvSpPr/>
          <p:nvPr/>
        </p:nvSpPr>
        <p:spPr>
          <a:xfrm>
            <a:off x="2194560" y="1472040"/>
            <a:ext cx="21481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Named stream of records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29"/>
          <p:cNvSpPr/>
          <p:nvPr/>
        </p:nvSpPr>
        <p:spPr>
          <a:xfrm>
            <a:off x="4343400" y="1472040"/>
            <a:ext cx="39312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Defines ownership, retention and consumers.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30"/>
          <p:cNvSpPr/>
          <p:nvPr/>
        </p:nvSpPr>
        <p:spPr>
          <a:xfrm>
            <a:off x="594360" y="1865520"/>
            <a:ext cx="15994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Partition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31"/>
          <p:cNvSpPr/>
          <p:nvPr/>
        </p:nvSpPr>
        <p:spPr>
          <a:xfrm>
            <a:off x="2194560" y="1865520"/>
            <a:ext cx="21481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Ordered shard of a topic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55"/>
          <p:cNvSpPr/>
          <p:nvPr/>
        </p:nvSpPr>
        <p:spPr>
          <a:xfrm>
            <a:off x="4343400" y="1865520"/>
            <a:ext cx="39312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Sets parallelism and per-key ordering boundary.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56"/>
          <p:cNvSpPr/>
          <p:nvPr/>
        </p:nvSpPr>
        <p:spPr>
          <a:xfrm>
            <a:off x="594360" y="2258640"/>
            <a:ext cx="15994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57"/>
          <p:cNvSpPr/>
          <p:nvPr/>
        </p:nvSpPr>
        <p:spPr>
          <a:xfrm>
            <a:off x="2194560" y="2258640"/>
            <a:ext cx="21481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Record position in a partition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58"/>
          <p:cNvSpPr/>
          <p:nvPr/>
        </p:nvSpPr>
        <p:spPr>
          <a:xfrm>
            <a:off x="4343400" y="2258640"/>
            <a:ext cx="39312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Lets a group resume or replay work.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59"/>
          <p:cNvSpPr/>
          <p:nvPr/>
        </p:nvSpPr>
        <p:spPr>
          <a:xfrm>
            <a:off x="594360" y="2651760"/>
            <a:ext cx="15994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Producer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60"/>
          <p:cNvSpPr/>
          <p:nvPr/>
        </p:nvSpPr>
        <p:spPr>
          <a:xfrm>
            <a:off x="2194560" y="2651760"/>
            <a:ext cx="21481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Writes records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61"/>
          <p:cNvSpPr/>
          <p:nvPr/>
        </p:nvSpPr>
        <p:spPr>
          <a:xfrm>
            <a:off x="4343400" y="2651760"/>
            <a:ext cx="39312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Must choose keys, acks and error handling.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62"/>
          <p:cNvSpPr/>
          <p:nvPr/>
        </p:nvSpPr>
        <p:spPr>
          <a:xfrm>
            <a:off x="594360" y="3044880"/>
            <a:ext cx="15994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 group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63"/>
          <p:cNvSpPr/>
          <p:nvPr/>
        </p:nvSpPr>
        <p:spPr>
          <a:xfrm>
            <a:off x="2194560" y="3044880"/>
            <a:ext cx="21481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Reads records together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64"/>
          <p:cNvSpPr/>
          <p:nvPr/>
        </p:nvSpPr>
        <p:spPr>
          <a:xfrm>
            <a:off x="4343400" y="3044880"/>
            <a:ext cx="39312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Scales up to partition count.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65"/>
          <p:cNvSpPr/>
          <p:nvPr/>
        </p:nvSpPr>
        <p:spPr>
          <a:xfrm>
            <a:off x="594360" y="3438000"/>
            <a:ext cx="15994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Broker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66"/>
          <p:cNvSpPr/>
          <p:nvPr/>
        </p:nvSpPr>
        <p:spPr>
          <a:xfrm>
            <a:off x="2194560" y="3438000"/>
            <a:ext cx="21481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server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67"/>
          <p:cNvSpPr/>
          <p:nvPr/>
        </p:nvSpPr>
        <p:spPr>
          <a:xfrm>
            <a:off x="4343400" y="3438000"/>
            <a:ext cx="39312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Stores partitions and serves reads/writes.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Medallion layers separate evidence from opinion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4"/>
          <p:cNvSpPr/>
          <p:nvPr/>
        </p:nvSpPr>
        <p:spPr>
          <a:xfrm>
            <a:off x="914400" y="1463040"/>
            <a:ext cx="227916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raw evidence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5"/>
          <p:cNvSpPr/>
          <p:nvPr/>
        </p:nvSpPr>
        <p:spPr>
          <a:xfrm>
            <a:off x="3431880" y="1463040"/>
            <a:ext cx="227916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trusted state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Connector 6"/>
          <p:cNvCxnSpPr/>
          <p:nvPr/>
        </p:nvCxnSpPr>
        <p:spPr>
          <a:xfrm>
            <a:off x="3194280" y="171900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82" name="Rounded Rectangle 7"/>
          <p:cNvSpPr/>
          <p:nvPr/>
        </p:nvSpPr>
        <p:spPr>
          <a:xfrm>
            <a:off x="5949720" y="1463040"/>
            <a:ext cx="227916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business view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3" name="Connector 8"/>
          <p:cNvCxnSpPr/>
          <p:nvPr/>
        </p:nvCxnSpPr>
        <p:spPr>
          <a:xfrm>
            <a:off x="5711760" y="171900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84" name="Rectangle 9"/>
          <p:cNvSpPr/>
          <p:nvPr/>
        </p:nvSpPr>
        <p:spPr>
          <a:xfrm>
            <a:off x="685800" y="2514600"/>
            <a:ext cx="150804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Layer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10"/>
          <p:cNvSpPr/>
          <p:nvPr/>
        </p:nvSpPr>
        <p:spPr>
          <a:xfrm>
            <a:off x="2194560" y="2514600"/>
            <a:ext cx="274248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11"/>
          <p:cNvSpPr/>
          <p:nvPr/>
        </p:nvSpPr>
        <p:spPr>
          <a:xfrm>
            <a:off x="4937760" y="2514600"/>
            <a:ext cx="333684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Typical rule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12"/>
          <p:cNvSpPr/>
          <p:nvPr/>
        </p:nvSpPr>
        <p:spPr>
          <a:xfrm>
            <a:off x="685800" y="2926080"/>
            <a:ext cx="150804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3"/>
          <p:cNvSpPr/>
          <p:nvPr/>
        </p:nvSpPr>
        <p:spPr>
          <a:xfrm>
            <a:off x="2194560" y="2926080"/>
            <a:ext cx="27424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exactly arrived?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14"/>
          <p:cNvSpPr/>
          <p:nvPr/>
        </p:nvSpPr>
        <p:spPr>
          <a:xfrm>
            <a:off x="4937760" y="2926080"/>
            <a:ext cx="333684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raw payload, metadata, topic, partition and offset.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15"/>
          <p:cNvSpPr/>
          <p:nvPr/>
        </p:nvSpPr>
        <p:spPr>
          <a:xfrm>
            <a:off x="685800" y="3337560"/>
            <a:ext cx="150804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Silver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16"/>
          <p:cNvSpPr/>
          <p:nvPr/>
        </p:nvSpPr>
        <p:spPr>
          <a:xfrm>
            <a:off x="2194560" y="3337560"/>
            <a:ext cx="27424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Which records are usable?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17"/>
          <p:cNvSpPr/>
          <p:nvPr/>
        </p:nvSpPr>
        <p:spPr>
          <a:xfrm>
            <a:off x="4937760" y="3337560"/>
            <a:ext cx="333684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Validate, dedupe, resolve CDC and quarantine bad rows.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18"/>
          <p:cNvSpPr/>
          <p:nvPr/>
        </p:nvSpPr>
        <p:spPr>
          <a:xfrm>
            <a:off x="685800" y="3749040"/>
            <a:ext cx="150804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Gold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19"/>
          <p:cNvSpPr/>
          <p:nvPr/>
        </p:nvSpPr>
        <p:spPr>
          <a:xfrm>
            <a:off x="2194560" y="3749040"/>
            <a:ext cx="27424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Which result is reportable?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20"/>
          <p:cNvSpPr/>
          <p:nvPr/>
        </p:nvSpPr>
        <p:spPr>
          <a:xfrm>
            <a:off x="4937760" y="3749040"/>
            <a:ext cx="333684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Aggregate only accepted Silver facts with lineage.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26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Design Principles for Ingestion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9"/>
          <p:cNvPicPr/>
          <p:nvPr/>
        </p:nvPicPr>
        <p:blipFill>
          <a:blip r:embed="rId1"/>
          <a:stretch/>
        </p:blipFill>
        <p:spPr>
          <a:xfrm>
            <a:off x="457200" y="91440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27"/>
          <p:cNvSpPr/>
          <p:nvPr/>
        </p:nvSpPr>
        <p:spPr>
          <a:xfrm>
            <a:off x="822960" y="9144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Idempotency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Repeated processing of the same event yields the same result.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10"/>
          <p:cNvPicPr/>
          <p:nvPr/>
        </p:nvPicPr>
        <p:blipFill>
          <a:blip r:embed="rId2"/>
          <a:stretch/>
        </p:blipFill>
        <p:spPr>
          <a:xfrm>
            <a:off x="457200" y="146304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28"/>
          <p:cNvSpPr/>
          <p:nvPr/>
        </p:nvSpPr>
        <p:spPr>
          <a:xfrm>
            <a:off x="822960" y="146304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Ordering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Events must be consumed in the order they were generated for a given key.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11"/>
          <p:cNvPicPr/>
          <p:nvPr/>
        </p:nvPicPr>
        <p:blipFill>
          <a:blip r:embed="rId3"/>
          <a:stretch/>
        </p:blipFill>
        <p:spPr>
          <a:xfrm>
            <a:off x="457200" y="201168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29"/>
          <p:cNvSpPr/>
          <p:nvPr/>
        </p:nvSpPr>
        <p:spPr>
          <a:xfrm>
            <a:off x="822960" y="201168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Deduplication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Duplicate events are detected and ignored.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17"/>
          <p:cNvPicPr/>
          <p:nvPr/>
        </p:nvPicPr>
        <p:blipFill>
          <a:blip r:embed="rId4"/>
          <a:stretch/>
        </p:blipFill>
        <p:spPr>
          <a:xfrm>
            <a:off x="457200" y="256032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30"/>
          <p:cNvSpPr/>
          <p:nvPr/>
        </p:nvSpPr>
        <p:spPr>
          <a:xfrm>
            <a:off x="822960" y="256032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Replayability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The pipeline supports replaying events to recover from errors.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18"/>
          <p:cNvPicPr/>
          <p:nvPr/>
        </p:nvPicPr>
        <p:blipFill>
          <a:blip r:embed="rId5"/>
          <a:stretch/>
        </p:blipFill>
        <p:spPr>
          <a:xfrm>
            <a:off x="457200" y="3108960"/>
            <a:ext cx="318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38"/>
          <p:cNvSpPr/>
          <p:nvPr/>
        </p:nvSpPr>
        <p:spPr>
          <a:xfrm>
            <a:off x="822960" y="310896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Auditability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Every event is traceable with metadata for compliance.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9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6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35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Multi‑Source Ingestion Architecture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6"/>
          <p:cNvSpPr/>
          <p:nvPr/>
        </p:nvSpPr>
        <p:spPr>
          <a:xfrm>
            <a:off x="457200" y="7315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Combine Change Data Capture, streaming events and batch files into a unified Kafka ingestion layer.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3"/>
          <p:cNvSpPr/>
          <p:nvPr/>
        </p:nvSpPr>
        <p:spPr>
          <a:xfrm>
            <a:off x="914400" y="1371600"/>
            <a:ext cx="1279080" cy="456120"/>
          </a:xfrm>
          <a:prstGeom prst="roundRect">
            <a:avLst>
              <a:gd name="adj" fmla="val 20000"/>
            </a:avLst>
          </a:prstGeom>
          <a:solidFill>
            <a:srgbClr val="12b8a6"/>
          </a:solidFill>
          <a:ln w="12600">
            <a:solidFill>
              <a:srgbClr val="12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11" name="Image 14"/>
          <p:cNvPicPr/>
          <p:nvPr/>
        </p:nvPicPr>
        <p:blipFill>
          <a:blip r:embed="rId1"/>
          <a:stretch/>
        </p:blipFill>
        <p:spPr>
          <a:xfrm>
            <a:off x="960120" y="1435680"/>
            <a:ext cx="273960" cy="36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37"/>
          <p:cNvSpPr/>
          <p:nvPr/>
        </p:nvSpPr>
        <p:spPr>
          <a:xfrm>
            <a:off x="1234440" y="141732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Orders DB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4"/>
          <p:cNvSpPr/>
          <p:nvPr/>
        </p:nvSpPr>
        <p:spPr>
          <a:xfrm>
            <a:off x="3108960" y="1371600"/>
            <a:ext cx="1279080" cy="45612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6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14" name="Image 15"/>
          <p:cNvPicPr/>
          <p:nvPr/>
        </p:nvPicPr>
        <p:blipFill>
          <a:blip r:embed="rId2"/>
          <a:stretch/>
        </p:blipFill>
        <p:spPr>
          <a:xfrm>
            <a:off x="3154680" y="1435680"/>
            <a:ext cx="264600" cy="3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40"/>
          <p:cNvSpPr/>
          <p:nvPr/>
        </p:nvSpPr>
        <p:spPr>
          <a:xfrm>
            <a:off x="3429000" y="141732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Inventory DB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5"/>
          <p:cNvSpPr/>
          <p:nvPr/>
        </p:nvSpPr>
        <p:spPr>
          <a:xfrm>
            <a:off x="5303520" y="1371600"/>
            <a:ext cx="1279080" cy="456120"/>
          </a:xfrm>
          <a:prstGeom prst="roundRect">
            <a:avLst>
              <a:gd name="adj" fmla="val 20000"/>
            </a:avLst>
          </a:prstGeom>
          <a:solidFill>
            <a:srgbClr val="a84acb"/>
          </a:solidFill>
          <a:ln w="12600">
            <a:solidFill>
              <a:srgbClr val="a84a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17" name="Image 16"/>
          <p:cNvPicPr/>
          <p:nvPr/>
        </p:nvPicPr>
        <p:blipFill>
          <a:blip r:embed="rId3"/>
          <a:stretch/>
        </p:blipFill>
        <p:spPr>
          <a:xfrm>
            <a:off x="5349240" y="143568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41"/>
          <p:cNvSpPr/>
          <p:nvPr/>
        </p:nvSpPr>
        <p:spPr>
          <a:xfrm>
            <a:off x="5623560" y="141732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Clickstream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6"/>
          <p:cNvSpPr/>
          <p:nvPr/>
        </p:nvSpPr>
        <p:spPr>
          <a:xfrm>
            <a:off x="7498080" y="1371600"/>
            <a:ext cx="1279080" cy="456120"/>
          </a:xfrm>
          <a:prstGeom prst="roundRect">
            <a:avLst>
              <a:gd name="adj" fmla="val 20000"/>
            </a:avLst>
          </a:prstGeom>
          <a:solidFill>
            <a:srgbClr val="ffb703"/>
          </a:solidFill>
          <a:ln w="126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20" name="Image 19"/>
          <p:cNvPicPr/>
          <p:nvPr/>
        </p:nvPicPr>
        <p:blipFill>
          <a:blip r:embed="rId4"/>
          <a:stretch/>
        </p:blipFill>
        <p:spPr>
          <a:xfrm>
            <a:off x="7543800" y="143568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 42"/>
          <p:cNvSpPr/>
          <p:nvPr/>
        </p:nvSpPr>
        <p:spPr>
          <a:xfrm>
            <a:off x="7818120" y="141732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Logistics CSV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7"/>
          <p:cNvSpPr/>
          <p:nvPr/>
        </p:nvSpPr>
        <p:spPr>
          <a:xfrm>
            <a:off x="1508760" y="1828800"/>
            <a:ext cx="90360" cy="273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3" name="Shape 28"/>
          <p:cNvSpPr/>
          <p:nvPr/>
        </p:nvSpPr>
        <p:spPr>
          <a:xfrm>
            <a:off x="3703320" y="1828800"/>
            <a:ext cx="90360" cy="273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4" name="Shape 29"/>
          <p:cNvSpPr/>
          <p:nvPr/>
        </p:nvSpPr>
        <p:spPr>
          <a:xfrm>
            <a:off x="5897880" y="1828800"/>
            <a:ext cx="90360" cy="273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5" name="Shape 30"/>
          <p:cNvSpPr/>
          <p:nvPr/>
        </p:nvSpPr>
        <p:spPr>
          <a:xfrm>
            <a:off x="8092440" y="1828800"/>
            <a:ext cx="90360" cy="273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6" name="Shape 31"/>
          <p:cNvSpPr/>
          <p:nvPr/>
        </p:nvSpPr>
        <p:spPr>
          <a:xfrm>
            <a:off x="1371600" y="2286000"/>
            <a:ext cx="5485320" cy="456120"/>
          </a:xfrm>
          <a:prstGeom prst="roundRect">
            <a:avLst>
              <a:gd name="adj" fmla="val 20000"/>
            </a:avLst>
          </a:prstGeom>
          <a:solidFill>
            <a:srgbClr val="0e172a"/>
          </a:solidFill>
          <a:ln w="12600">
            <a:solidFill>
              <a:srgbClr val="0e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 43"/>
          <p:cNvSpPr/>
          <p:nvPr/>
        </p:nvSpPr>
        <p:spPr>
          <a:xfrm>
            <a:off x="1371600" y="2286000"/>
            <a:ext cx="5485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Kafka Topics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2"/>
          <p:cNvSpPr/>
          <p:nvPr/>
        </p:nvSpPr>
        <p:spPr>
          <a:xfrm>
            <a:off x="4078800" y="2740320"/>
            <a:ext cx="90360" cy="273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9" name="Shape 33"/>
          <p:cNvSpPr/>
          <p:nvPr/>
        </p:nvSpPr>
        <p:spPr>
          <a:xfrm>
            <a:off x="2876400" y="3014640"/>
            <a:ext cx="2742120" cy="54756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6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44"/>
          <p:cNvSpPr/>
          <p:nvPr/>
        </p:nvSpPr>
        <p:spPr>
          <a:xfrm>
            <a:off x="2948400" y="3014640"/>
            <a:ext cx="2742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Processing &amp; Validation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5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5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46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CDC Source: Orders Database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 20"/>
          <p:cNvPicPr/>
          <p:nvPr/>
        </p:nvPicPr>
        <p:blipFill>
          <a:blip r:embed="rId1"/>
          <a:stretch/>
        </p:blipFill>
        <p:spPr>
          <a:xfrm>
            <a:off x="457200" y="82296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47"/>
          <p:cNvSpPr/>
          <p:nvPr/>
        </p:nvSpPr>
        <p:spPr>
          <a:xfrm>
            <a:off x="1005840" y="822960"/>
            <a:ext cx="767988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Why capture orders?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Orders are the lifeblood of the business. We need to replicate inserts, updates and deletes from the source database into Kafka topics to drive downstream services.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Connector Configuration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Debezium Postgres/MySQL connector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Table include list: public.orders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Snapshot mode: initial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8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2"/>
              </a:rPr>
              <a:t>[1]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3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49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CDC Source: Inventory Database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21"/>
          <p:cNvPicPr/>
          <p:nvPr/>
        </p:nvPicPr>
        <p:blipFill>
          <a:blip r:embed="rId1"/>
          <a:stretch/>
        </p:blipFill>
        <p:spPr>
          <a:xfrm>
            <a:off x="457200" y="82296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50"/>
          <p:cNvSpPr/>
          <p:nvPr/>
        </p:nvSpPr>
        <p:spPr>
          <a:xfrm>
            <a:off x="1005840" y="822960"/>
            <a:ext cx="767988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Why capture inventory?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Inventory changes directly affect availability and pricing. Synchronize stock updates to avoid overselling and ensure timely replenishment.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Connector Configuration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Use Debezium MySQL or Postgres connector with include list public.inventory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Set snapshot.mode=initial or initial_only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1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2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52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Streaming Source: Clickstream Events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 22"/>
          <p:cNvPicPr/>
          <p:nvPr/>
        </p:nvPicPr>
        <p:blipFill>
          <a:blip r:embed="rId1"/>
          <a:stretch/>
        </p:blipFill>
        <p:spPr>
          <a:xfrm>
            <a:off x="457200" y="82296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53"/>
          <p:cNvSpPr/>
          <p:nvPr/>
        </p:nvSpPr>
        <p:spPr>
          <a:xfrm>
            <a:off x="1005840" y="822960"/>
            <a:ext cx="767988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Simulated user actions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User clicks, page views and other events are generated in real time. A Python producer writes JSON events to a Kafka topic, keyed by user ID.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Producer Characteristics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Use event time as the timestamp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Partition by user ID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Include session and event type fields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4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55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Batch Source: Logistics CSV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23"/>
          <p:cNvPicPr/>
          <p:nvPr/>
        </p:nvPicPr>
        <p:blipFill>
          <a:blip r:embed="rId1"/>
          <a:stretch/>
        </p:blipFill>
        <p:spPr>
          <a:xfrm>
            <a:off x="457200" y="82296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56"/>
          <p:cNvSpPr/>
          <p:nvPr/>
        </p:nvSpPr>
        <p:spPr>
          <a:xfrm>
            <a:off x="1005840" y="822960"/>
            <a:ext cx="767988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Daily batch deliveries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Logistics providers send CSV files with shipments and tracking numbers. We need to ingest these files and convert them into structured Kafka events.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Ingestion Options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Kafka Connect FileSource connector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Custom Python producer reading CSV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Validate and enrich records before publishing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57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58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Event Schema Management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59"/>
          <p:cNvSpPr/>
          <p:nvPr/>
        </p:nvSpPr>
        <p:spPr>
          <a:xfrm>
            <a:off x="457200" y="7315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Schemas define the structure of your messages. Treat schemas as contracts between producers and consumers.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4"/>
          <p:cNvSpPr/>
          <p:nvPr/>
        </p:nvSpPr>
        <p:spPr>
          <a:xfrm>
            <a:off x="457200" y="1463040"/>
            <a:ext cx="2559240" cy="639000"/>
          </a:xfrm>
          <a:prstGeom prst="roundRect">
            <a:avLst>
              <a:gd name="adj" fmla="val 14286"/>
            </a:avLst>
          </a:prstGeom>
          <a:solidFill>
            <a:srgbClr val="12b8a6"/>
          </a:solidFill>
          <a:ln w="12600">
            <a:solidFill>
              <a:srgbClr val="12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 60"/>
          <p:cNvSpPr/>
          <p:nvPr/>
        </p:nvSpPr>
        <p:spPr>
          <a:xfrm>
            <a:off x="457200" y="1463040"/>
            <a:ext cx="255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Avro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61"/>
          <p:cNvSpPr/>
          <p:nvPr/>
        </p:nvSpPr>
        <p:spPr>
          <a:xfrm>
            <a:off x="457200" y="1691640"/>
            <a:ext cx="2559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5f5f5"/>
                </a:solidFill>
                <a:effectLst/>
                <a:uFillTx/>
                <a:latin typeface="Calibri"/>
                <a:ea typeface="Calibri"/>
              </a:rPr>
              <a:t>Binary format, dynamic typing, schema stored separately; supports schema evolution.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35"/>
          <p:cNvSpPr/>
          <p:nvPr/>
        </p:nvSpPr>
        <p:spPr>
          <a:xfrm>
            <a:off x="457200" y="2194560"/>
            <a:ext cx="2559240" cy="63900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6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 62"/>
          <p:cNvSpPr/>
          <p:nvPr/>
        </p:nvSpPr>
        <p:spPr>
          <a:xfrm>
            <a:off x="457200" y="2194560"/>
            <a:ext cx="255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JSON Schema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63"/>
          <p:cNvSpPr/>
          <p:nvPr/>
        </p:nvSpPr>
        <p:spPr>
          <a:xfrm>
            <a:off x="457200" y="2423160"/>
            <a:ext cx="2559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5f5f5"/>
                </a:solidFill>
                <a:effectLst/>
                <a:uFillTx/>
                <a:latin typeface="Calibri"/>
                <a:ea typeface="Calibri"/>
              </a:rPr>
              <a:t>Human-readable, good for APIs; requires careful versioning.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6"/>
          <p:cNvSpPr/>
          <p:nvPr/>
        </p:nvSpPr>
        <p:spPr>
          <a:xfrm>
            <a:off x="457200" y="2926080"/>
            <a:ext cx="2559240" cy="639000"/>
          </a:xfrm>
          <a:prstGeom prst="roundRect">
            <a:avLst>
              <a:gd name="adj" fmla="val 14286"/>
            </a:avLst>
          </a:prstGeom>
          <a:solidFill>
            <a:srgbClr val="a84acb"/>
          </a:solidFill>
          <a:ln w="12600">
            <a:solidFill>
              <a:srgbClr val="a84a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 64"/>
          <p:cNvSpPr/>
          <p:nvPr/>
        </p:nvSpPr>
        <p:spPr>
          <a:xfrm>
            <a:off x="457200" y="2926080"/>
            <a:ext cx="255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Protobuf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65"/>
          <p:cNvSpPr/>
          <p:nvPr/>
        </p:nvSpPr>
        <p:spPr>
          <a:xfrm>
            <a:off x="457200" y="3154680"/>
            <a:ext cx="2559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5f5f5"/>
                </a:solidFill>
                <a:effectLst/>
                <a:uFillTx/>
                <a:latin typeface="Calibri"/>
                <a:ea typeface="Calibri"/>
              </a:rPr>
              <a:t>Compact encoding, code generation for strong typing.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6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1"/>
              </a:rPr>
              <a:t>[1]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2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67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Schema Registry Architecture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7"/>
          <p:cNvSpPr/>
          <p:nvPr/>
        </p:nvSpPr>
        <p:spPr>
          <a:xfrm>
            <a:off x="914400" y="1097280"/>
            <a:ext cx="1461960" cy="547560"/>
          </a:xfrm>
          <a:prstGeom prst="roundRect">
            <a:avLst>
              <a:gd name="adj" fmla="val 16667"/>
            </a:avLst>
          </a:prstGeom>
          <a:solidFill>
            <a:srgbClr val="12b8a6"/>
          </a:solidFill>
          <a:ln w="12600">
            <a:solidFill>
              <a:srgbClr val="12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 68"/>
          <p:cNvSpPr/>
          <p:nvPr/>
        </p:nvSpPr>
        <p:spPr>
          <a:xfrm>
            <a:off x="914400" y="1097280"/>
            <a:ext cx="1461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8"/>
          <p:cNvSpPr/>
          <p:nvPr/>
        </p:nvSpPr>
        <p:spPr>
          <a:xfrm>
            <a:off x="2377440" y="1325880"/>
            <a:ext cx="364680" cy="9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4" name="Shape 39"/>
          <p:cNvSpPr/>
          <p:nvPr/>
        </p:nvSpPr>
        <p:spPr>
          <a:xfrm>
            <a:off x="2743200" y="1097280"/>
            <a:ext cx="1461960" cy="547560"/>
          </a:xfrm>
          <a:prstGeom prst="roundRect">
            <a:avLst>
              <a:gd name="adj" fmla="val 16667"/>
            </a:avLst>
          </a:prstGeom>
          <a:solidFill>
            <a:srgbClr val="a84acb"/>
          </a:solidFill>
          <a:ln w="12600">
            <a:solidFill>
              <a:srgbClr val="a84a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 69"/>
          <p:cNvSpPr/>
          <p:nvPr/>
        </p:nvSpPr>
        <p:spPr>
          <a:xfrm>
            <a:off x="2743200" y="1097280"/>
            <a:ext cx="1461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Schema Registry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0"/>
          <p:cNvSpPr/>
          <p:nvPr/>
        </p:nvSpPr>
        <p:spPr>
          <a:xfrm>
            <a:off x="4206240" y="1325880"/>
            <a:ext cx="364680" cy="9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7" name="Shape 41"/>
          <p:cNvSpPr/>
          <p:nvPr/>
        </p:nvSpPr>
        <p:spPr>
          <a:xfrm>
            <a:off x="4572000" y="1097280"/>
            <a:ext cx="1461960" cy="54756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6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 70"/>
          <p:cNvSpPr/>
          <p:nvPr/>
        </p:nvSpPr>
        <p:spPr>
          <a:xfrm>
            <a:off x="4572000" y="1097280"/>
            <a:ext cx="1461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Kafka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42"/>
          <p:cNvSpPr/>
          <p:nvPr/>
        </p:nvSpPr>
        <p:spPr>
          <a:xfrm>
            <a:off x="6035040" y="1325880"/>
            <a:ext cx="364680" cy="9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126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0" name="Shape 43"/>
          <p:cNvSpPr/>
          <p:nvPr/>
        </p:nvSpPr>
        <p:spPr>
          <a:xfrm>
            <a:off x="6400800" y="1097280"/>
            <a:ext cx="1461960" cy="547560"/>
          </a:xfrm>
          <a:prstGeom prst="roundRect">
            <a:avLst>
              <a:gd name="adj" fmla="val 16667"/>
            </a:avLst>
          </a:prstGeom>
          <a:solidFill>
            <a:srgbClr val="f28482"/>
          </a:solidFill>
          <a:ln w="12600">
            <a:solidFill>
              <a:srgbClr val="f284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 71"/>
          <p:cNvSpPr/>
          <p:nvPr/>
        </p:nvSpPr>
        <p:spPr>
          <a:xfrm>
            <a:off x="6400800" y="1097280"/>
            <a:ext cx="1461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Consumer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72"/>
          <p:cNvSpPr/>
          <p:nvPr/>
        </p:nvSpPr>
        <p:spPr>
          <a:xfrm>
            <a:off x="457200" y="2011680"/>
            <a:ext cx="82285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Producer registers a schema and sends a compact schema ID with serialized data. Consumers obtain the registered schema to deserialize safely. Compatibility checks reject breaking changes before new events reach dependent applications.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Recommended visual reading: Stephane Maarek, "Introduction to Schemas in Apache Kafka with the Confluent Schema Registry," Medium.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73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1"/>
              </a:rPr>
              <a:t>[1]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2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74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Schema Evolution &amp; Compatibility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75"/>
          <p:cNvSpPr/>
          <p:nvPr/>
        </p:nvSpPr>
        <p:spPr>
          <a:xfrm>
            <a:off x="457200" y="7315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Define compatibility levels to prevent incompatible schema changes.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6" name="Table 2"/>
          <p:cNvGraphicFramePr/>
          <p:nvPr/>
        </p:nvGraphicFramePr>
        <p:xfrm>
          <a:off x="457200" y="1371600"/>
          <a:ext cx="8229240" cy="13726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0e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Backward Compatible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12b8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Forward Compatible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 Compatible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a84acb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Add optional field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rgbClr val="12b8a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rgbClr val="00b4d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rgbClr val="a84ac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Remove optional field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rgbClr val="12b8a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 field type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Calibri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7" name="Text 76"/>
          <p:cNvSpPr/>
          <p:nvPr/>
        </p:nvSpPr>
        <p:spPr>
          <a:xfrm>
            <a:off x="457200" y="256032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✓ indicates safe change under the given compatibility mode.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7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1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Topics and partitions decide order and parallelism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4"/>
          <p:cNvSpPr/>
          <p:nvPr/>
        </p:nvSpPr>
        <p:spPr>
          <a:xfrm>
            <a:off x="1005840" y="1234440"/>
            <a:ext cx="1919520" cy="3834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partition 0: order_id=1001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5"/>
          <p:cNvSpPr/>
          <p:nvPr/>
        </p:nvSpPr>
        <p:spPr>
          <a:xfrm>
            <a:off x="3337560" y="1234440"/>
            <a:ext cx="749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create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6"/>
          <p:cNvSpPr/>
          <p:nvPr/>
        </p:nvSpPr>
        <p:spPr>
          <a:xfrm>
            <a:off x="4480560" y="1234440"/>
            <a:ext cx="749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update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7"/>
          <p:cNvSpPr/>
          <p:nvPr/>
        </p:nvSpPr>
        <p:spPr>
          <a:xfrm>
            <a:off x="5623560" y="1234440"/>
            <a:ext cx="749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delete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8"/>
          <p:cNvSpPr/>
          <p:nvPr/>
        </p:nvSpPr>
        <p:spPr>
          <a:xfrm>
            <a:off x="1005840" y="1965960"/>
            <a:ext cx="1919520" cy="3834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partition 1: order_id=1002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9"/>
          <p:cNvSpPr/>
          <p:nvPr/>
        </p:nvSpPr>
        <p:spPr>
          <a:xfrm>
            <a:off x="3337560" y="1965960"/>
            <a:ext cx="749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create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10"/>
          <p:cNvSpPr/>
          <p:nvPr/>
        </p:nvSpPr>
        <p:spPr>
          <a:xfrm>
            <a:off x="4480560" y="1965960"/>
            <a:ext cx="749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update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11"/>
          <p:cNvSpPr/>
          <p:nvPr/>
        </p:nvSpPr>
        <p:spPr>
          <a:xfrm>
            <a:off x="5623560" y="1965960"/>
            <a:ext cx="749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delete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12"/>
          <p:cNvSpPr/>
          <p:nvPr/>
        </p:nvSpPr>
        <p:spPr>
          <a:xfrm>
            <a:off x="1005840" y="2697480"/>
            <a:ext cx="1919520" cy="3834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partition 2: order_id=1003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13"/>
          <p:cNvSpPr/>
          <p:nvPr/>
        </p:nvSpPr>
        <p:spPr>
          <a:xfrm>
            <a:off x="3337560" y="2697480"/>
            <a:ext cx="749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create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14"/>
          <p:cNvSpPr/>
          <p:nvPr/>
        </p:nvSpPr>
        <p:spPr>
          <a:xfrm>
            <a:off x="4480560" y="2697480"/>
            <a:ext cx="749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update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15"/>
          <p:cNvSpPr/>
          <p:nvPr/>
        </p:nvSpPr>
        <p:spPr>
          <a:xfrm>
            <a:off x="5623560" y="2697480"/>
            <a:ext cx="749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delete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16"/>
          <p:cNvSpPr/>
          <p:nvPr/>
        </p:nvSpPr>
        <p:spPr>
          <a:xfrm>
            <a:off x="822960" y="3657600"/>
            <a:ext cx="7588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preserves order inside one partition. It does not preserve a global order across all partitions.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good key keeps events that must be merged together in the same partition.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3"/>
          <p:cNvSpPr/>
          <p:nvPr/>
        </p:nvSpPr>
        <p:spPr>
          <a:xfrm>
            <a:off x="347400" y="530280"/>
            <a:ext cx="845748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Offsets are bookmarks, not row numbers in a database table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4"/>
          <p:cNvSpPr/>
          <p:nvPr/>
        </p:nvSpPr>
        <p:spPr>
          <a:xfrm>
            <a:off x="50292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 148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5"/>
          <p:cNvSpPr/>
          <p:nvPr/>
        </p:nvSpPr>
        <p:spPr>
          <a:xfrm>
            <a:off x="217800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 149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00" name="Connector 6"/>
          <p:cNvCxnSpPr/>
          <p:nvPr/>
        </p:nvCxnSpPr>
        <p:spPr>
          <a:xfrm>
            <a:off x="1940040" y="158184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301" name="Rounded Rectangle 7"/>
          <p:cNvSpPr/>
          <p:nvPr/>
        </p:nvSpPr>
        <p:spPr>
          <a:xfrm>
            <a:off x="385344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 150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2" name="Connector 8"/>
          <p:cNvCxnSpPr/>
          <p:nvPr/>
        </p:nvCxnSpPr>
        <p:spPr>
          <a:xfrm>
            <a:off x="3615480" y="158184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303" name="Rounded Rectangle 9"/>
          <p:cNvSpPr/>
          <p:nvPr/>
        </p:nvSpPr>
        <p:spPr>
          <a:xfrm>
            <a:off x="552852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 151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04" name="Connector 10"/>
          <p:cNvCxnSpPr/>
          <p:nvPr/>
        </p:nvCxnSpPr>
        <p:spPr>
          <a:xfrm>
            <a:off x="5290560" y="158184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305" name="Rounded Rectangle 11"/>
          <p:cNvSpPr/>
          <p:nvPr/>
        </p:nvSpPr>
        <p:spPr>
          <a:xfrm>
            <a:off x="720360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 152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Connector 12"/>
          <p:cNvCxnSpPr/>
          <p:nvPr/>
        </p:nvCxnSpPr>
        <p:spPr>
          <a:xfrm>
            <a:off x="6965640" y="158184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307" name="Rectangle 13"/>
          <p:cNvSpPr/>
          <p:nvPr/>
        </p:nvSpPr>
        <p:spPr>
          <a:xfrm>
            <a:off x="731520" y="2560320"/>
            <a:ext cx="20109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Concept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14"/>
          <p:cNvSpPr/>
          <p:nvPr/>
        </p:nvSpPr>
        <p:spPr>
          <a:xfrm>
            <a:off x="2743200" y="2560320"/>
            <a:ext cx="539424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Meaning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15"/>
          <p:cNvSpPr/>
          <p:nvPr/>
        </p:nvSpPr>
        <p:spPr>
          <a:xfrm>
            <a:off x="731520" y="2944440"/>
            <a:ext cx="2010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Log-end offset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16"/>
          <p:cNvSpPr/>
          <p:nvPr/>
        </p:nvSpPr>
        <p:spPr>
          <a:xfrm>
            <a:off x="2743200" y="2944440"/>
            <a:ext cx="53942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Where the partition has advanced to now.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7"/>
          <p:cNvSpPr/>
          <p:nvPr/>
        </p:nvSpPr>
        <p:spPr>
          <a:xfrm>
            <a:off x="731520" y="3328560"/>
            <a:ext cx="2010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Committed offset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18"/>
          <p:cNvSpPr/>
          <p:nvPr/>
        </p:nvSpPr>
        <p:spPr>
          <a:xfrm>
            <a:off x="2743200" y="3328560"/>
            <a:ext cx="53942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Where the consumer group says durable work is complete.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19"/>
          <p:cNvSpPr/>
          <p:nvPr/>
        </p:nvSpPr>
        <p:spPr>
          <a:xfrm>
            <a:off x="731520" y="3712320"/>
            <a:ext cx="2010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Seek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20"/>
          <p:cNvSpPr/>
          <p:nvPr/>
        </p:nvSpPr>
        <p:spPr>
          <a:xfrm>
            <a:off x="2743200" y="3712320"/>
            <a:ext cx="53942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Move the consumer position for replay or recovery.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21"/>
          <p:cNvSpPr/>
          <p:nvPr/>
        </p:nvSpPr>
        <p:spPr>
          <a:xfrm>
            <a:off x="731520" y="4096440"/>
            <a:ext cx="2010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 timing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22"/>
          <p:cNvSpPr/>
          <p:nvPr/>
        </p:nvSpPr>
        <p:spPr>
          <a:xfrm>
            <a:off x="2743200" y="4096440"/>
            <a:ext cx="53942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Correctness decision: before or after output is durable.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 groups split partitions across workers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4"/>
          <p:cNvSpPr/>
          <p:nvPr/>
        </p:nvSpPr>
        <p:spPr>
          <a:xfrm>
            <a:off x="50292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topic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 partitions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ounded Rectangle 5"/>
          <p:cNvSpPr/>
          <p:nvPr/>
        </p:nvSpPr>
        <p:spPr>
          <a:xfrm>
            <a:off x="259704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group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orders-silver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22" name="Connector 6"/>
          <p:cNvCxnSpPr/>
          <p:nvPr/>
        </p:nvCxnSpPr>
        <p:spPr>
          <a:xfrm>
            <a:off x="2359080" y="171900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323" name="Rounded Rectangle 7"/>
          <p:cNvSpPr/>
          <p:nvPr/>
        </p:nvSpPr>
        <p:spPr>
          <a:xfrm>
            <a:off x="469080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 A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4" name="Connector 8"/>
          <p:cNvCxnSpPr/>
          <p:nvPr/>
        </p:nvCxnSpPr>
        <p:spPr>
          <a:xfrm>
            <a:off x="4452840" y="171900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325" name="Rounded Rectangle 9"/>
          <p:cNvSpPr/>
          <p:nvPr/>
        </p:nvSpPr>
        <p:spPr>
          <a:xfrm>
            <a:off x="678492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 B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26" name="Connector 10"/>
          <p:cNvCxnSpPr/>
          <p:nvPr/>
        </p:nvCxnSpPr>
        <p:spPr>
          <a:xfrm>
            <a:off x="6546960" y="171900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327" name="Rectangle 11"/>
          <p:cNvSpPr/>
          <p:nvPr/>
        </p:nvSpPr>
        <p:spPr>
          <a:xfrm>
            <a:off x="685800" y="2560320"/>
            <a:ext cx="201096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Rule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12"/>
          <p:cNvSpPr/>
          <p:nvPr/>
        </p:nvSpPr>
        <p:spPr>
          <a:xfrm>
            <a:off x="2697480" y="2560320"/>
            <a:ext cx="543996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Implication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13"/>
          <p:cNvSpPr/>
          <p:nvPr/>
        </p:nvSpPr>
        <p:spPr>
          <a:xfrm>
            <a:off x="685800" y="2953440"/>
            <a:ext cx="201096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One partition goes to one consumer in a group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14"/>
          <p:cNvSpPr/>
          <p:nvPr/>
        </p:nvSpPr>
        <p:spPr>
          <a:xfrm>
            <a:off x="2697480" y="2953440"/>
            <a:ext cx="543996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Adding consumers beyond partition count does not add throughput.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15"/>
          <p:cNvSpPr/>
          <p:nvPr/>
        </p:nvSpPr>
        <p:spPr>
          <a:xfrm>
            <a:off x="685800" y="3346560"/>
            <a:ext cx="201096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rebalance moves assignments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16"/>
          <p:cNvSpPr/>
          <p:nvPr/>
        </p:nvSpPr>
        <p:spPr>
          <a:xfrm>
            <a:off x="2697480" y="3346560"/>
            <a:ext cx="543996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Consumers must tolerate duplicate processing after failover.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17"/>
          <p:cNvSpPr/>
          <p:nvPr/>
        </p:nvSpPr>
        <p:spPr>
          <a:xfrm>
            <a:off x="685800" y="3740040"/>
            <a:ext cx="201096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Each group has its own offsets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18"/>
          <p:cNvSpPr/>
          <p:nvPr/>
        </p:nvSpPr>
        <p:spPr>
          <a:xfrm>
            <a:off x="2697480" y="3740040"/>
            <a:ext cx="543996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 writer, Silver processor and audit reader can progress independently.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78"/>
          <p:cNvSpPr/>
          <p:nvPr/>
        </p:nvSpPr>
        <p:spPr>
          <a:xfrm>
            <a:off x="457200" y="27432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Exactly‑Once Semantics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79"/>
          <p:cNvSpPr/>
          <p:nvPr/>
        </p:nvSpPr>
        <p:spPr>
          <a:xfrm>
            <a:off x="457200" y="731520"/>
            <a:ext cx="82285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Idempotent Producers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Enable idempotent.write and set acks=all to ensure the broker deduplicates retries.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Transactions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Kafka producers begin a transaction, send events to multiple topics, then commit or abort. Consumers with read_committed isolation see only committed messages.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Stateful Processing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Exactly‑once is also required when merging streams (e.g., Kafka Streams) to prevent duplicates.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80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81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Late &amp; Out‑of‑Order Events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82"/>
          <p:cNvSpPr/>
          <p:nvPr/>
        </p:nvSpPr>
        <p:spPr>
          <a:xfrm>
            <a:off x="457200" y="7315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Real-world pipelines must handle events arriving late or out of order due to network delays, retries or upstream processing.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4"/>
          <p:cNvSpPr/>
          <p:nvPr/>
        </p:nvSpPr>
        <p:spPr>
          <a:xfrm>
            <a:off x="640080" y="1737360"/>
            <a:ext cx="7771320" cy="17280"/>
          </a:xfrm>
          <a:prstGeom prst="rect">
            <a:avLst/>
          </a:prstGeom>
          <a:solidFill>
            <a:srgbClr val="bbbbbb"/>
          </a:solidFill>
          <a:ln w="1260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1" name="Shape 45"/>
          <p:cNvSpPr/>
          <p:nvPr/>
        </p:nvSpPr>
        <p:spPr>
          <a:xfrm>
            <a:off x="1554480" y="1554480"/>
            <a:ext cx="181800" cy="181800"/>
          </a:xfrm>
          <a:prstGeom prst="ellipse">
            <a:avLst/>
          </a:prstGeom>
          <a:solidFill>
            <a:srgbClr val="12b8a6"/>
          </a:solidFill>
          <a:ln w="12600">
            <a:solidFill>
              <a:srgbClr val="12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 83"/>
          <p:cNvSpPr/>
          <p:nvPr/>
        </p:nvSpPr>
        <p:spPr>
          <a:xfrm>
            <a:off x="1417320" y="178308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On-time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6"/>
          <p:cNvSpPr/>
          <p:nvPr/>
        </p:nvSpPr>
        <p:spPr>
          <a:xfrm>
            <a:off x="2926080" y="1554480"/>
            <a:ext cx="181800" cy="181800"/>
          </a:xfrm>
          <a:prstGeom prst="ellipse">
            <a:avLst/>
          </a:prstGeom>
          <a:solidFill>
            <a:srgbClr val="12b8a6"/>
          </a:solidFill>
          <a:ln w="12600">
            <a:solidFill>
              <a:srgbClr val="12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4" name="Shape 47"/>
          <p:cNvSpPr/>
          <p:nvPr/>
        </p:nvSpPr>
        <p:spPr>
          <a:xfrm>
            <a:off x="4297680" y="1554480"/>
            <a:ext cx="181800" cy="181800"/>
          </a:xfrm>
          <a:prstGeom prst="ellipse">
            <a:avLst/>
          </a:prstGeom>
          <a:solidFill>
            <a:srgbClr val="12b8a6"/>
          </a:solidFill>
          <a:ln w="12600">
            <a:solidFill>
              <a:srgbClr val="12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5" name="Shape 48"/>
          <p:cNvSpPr/>
          <p:nvPr/>
        </p:nvSpPr>
        <p:spPr>
          <a:xfrm>
            <a:off x="6126480" y="1828800"/>
            <a:ext cx="181800" cy="181800"/>
          </a:xfrm>
          <a:prstGeom prst="ellipse">
            <a:avLst/>
          </a:prstGeom>
          <a:solidFill>
            <a:srgbClr val="f28482"/>
          </a:solidFill>
          <a:ln w="12600">
            <a:solidFill>
              <a:srgbClr val="f284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 84"/>
          <p:cNvSpPr/>
          <p:nvPr/>
        </p:nvSpPr>
        <p:spPr>
          <a:xfrm>
            <a:off x="5989320" y="20574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Late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49"/>
          <p:cNvSpPr/>
          <p:nvPr/>
        </p:nvSpPr>
        <p:spPr>
          <a:xfrm>
            <a:off x="5669280" y="1691640"/>
            <a:ext cx="273240" cy="273240"/>
          </a:xfrm>
          <a:prstGeom prst="triangle">
            <a:avLst>
              <a:gd name="adj" fmla="val 50000"/>
            </a:avLst>
          </a:prstGeom>
          <a:solidFill>
            <a:srgbClr val="a84acb"/>
          </a:solidFill>
          <a:ln w="12600">
            <a:solidFill>
              <a:srgbClr val="a84a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 85"/>
          <p:cNvSpPr/>
          <p:nvPr/>
        </p:nvSpPr>
        <p:spPr>
          <a:xfrm>
            <a:off x="5577840" y="205740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Watermark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86"/>
          <p:cNvSpPr/>
          <p:nvPr/>
        </p:nvSpPr>
        <p:spPr>
          <a:xfrm>
            <a:off x="457200" y="246888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Grace period allows late events to be included before final output is emitted.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87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lag is distance from the high watermark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4" name="Connector 4"/>
          <p:cNvCxnSpPr/>
          <p:nvPr/>
        </p:nvCxnSpPr>
        <p:spPr>
          <a:xfrm>
            <a:off x="868680" y="2011680"/>
            <a:ext cx="7407360" cy="720"/>
          </a:xfrm>
          <a:prstGeom prst="straightConnector1">
            <a:avLst/>
          </a:prstGeom>
          <a:ln w="14040">
            <a:solidFill>
              <a:srgbClr val="566374"/>
            </a:solidFill>
            <a:round/>
          </a:ln>
        </p:spPr>
      </p:cxnSp>
      <p:sp>
        <p:nvSpPr>
          <p:cNvPr id="355" name="Rounded Rectangle 5"/>
          <p:cNvSpPr/>
          <p:nvPr/>
        </p:nvSpPr>
        <p:spPr>
          <a:xfrm>
            <a:off x="548640" y="171324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LW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105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Rounded Rectangle 6"/>
          <p:cNvSpPr/>
          <p:nvPr/>
        </p:nvSpPr>
        <p:spPr>
          <a:xfrm>
            <a:off x="4251960" y="1734480"/>
            <a:ext cx="967680" cy="502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150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7"/>
          <p:cNvSpPr/>
          <p:nvPr/>
        </p:nvSpPr>
        <p:spPr>
          <a:xfrm>
            <a:off x="7955280" y="169848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HW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200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8"/>
          <p:cNvSpPr/>
          <p:nvPr/>
        </p:nvSpPr>
        <p:spPr>
          <a:xfrm>
            <a:off x="1005840" y="2834640"/>
            <a:ext cx="73144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= High Watermark Offset - Consumer Committed Offset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ectangle 9"/>
          <p:cNvSpPr/>
          <p:nvPr/>
        </p:nvSpPr>
        <p:spPr>
          <a:xfrm>
            <a:off x="914400" y="3566160"/>
            <a:ext cx="2010960" cy="3283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Watermark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Rectangle 10"/>
          <p:cNvSpPr/>
          <p:nvPr/>
        </p:nvSpPr>
        <p:spPr>
          <a:xfrm>
            <a:off x="2926080" y="3566160"/>
            <a:ext cx="5211360" cy="3283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Meaning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11"/>
          <p:cNvSpPr/>
          <p:nvPr/>
        </p:nvSpPr>
        <p:spPr>
          <a:xfrm>
            <a:off x="914400" y="3895200"/>
            <a:ext cx="2010960" cy="3283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High watermark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ectangle 12"/>
          <p:cNvSpPr/>
          <p:nvPr/>
        </p:nvSpPr>
        <p:spPr>
          <a:xfrm>
            <a:off x="2926080" y="3895200"/>
            <a:ext cx="5211360" cy="3283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Latest fully replicated offset available to consumers.</a:t>
            </a:r>
            <a:endParaRPr lang="en-IN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ectangle 13"/>
          <p:cNvSpPr/>
          <p:nvPr/>
        </p:nvSpPr>
        <p:spPr>
          <a:xfrm>
            <a:off x="914400" y="4224600"/>
            <a:ext cx="2010960" cy="3283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Low watermark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14"/>
          <p:cNvSpPr/>
          <p:nvPr/>
        </p:nvSpPr>
        <p:spPr>
          <a:xfrm>
            <a:off x="2926080" y="4224600"/>
            <a:ext cx="5211360" cy="3283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Earliest retained offset after retention or compaction.</a:t>
            </a:r>
            <a:endParaRPr lang="en-IN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3"/>
          <p:cNvSpPr/>
          <p:nvPr/>
        </p:nvSpPr>
        <p:spPr>
          <a:xfrm>
            <a:off x="347400" y="530280"/>
            <a:ext cx="845748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tells whether the consumer is behind; LW tells whether data is gone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Rectangle 4"/>
          <p:cNvSpPr/>
          <p:nvPr/>
        </p:nvSpPr>
        <p:spPr>
          <a:xfrm>
            <a:off x="777240" y="1097280"/>
            <a:ext cx="2239560" cy="4564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Case</a:t>
            </a:r>
            <a:endParaRPr lang="en-IN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5"/>
          <p:cNvSpPr/>
          <p:nvPr/>
        </p:nvSpPr>
        <p:spPr>
          <a:xfrm>
            <a:off x="3017520" y="1097280"/>
            <a:ext cx="2056680" cy="4564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Calculation</a:t>
            </a:r>
            <a:endParaRPr lang="en-IN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6"/>
          <p:cNvSpPr/>
          <p:nvPr/>
        </p:nvSpPr>
        <p:spPr>
          <a:xfrm>
            <a:off x="5074920" y="1097280"/>
            <a:ext cx="3199680" cy="4564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Interpretation</a:t>
            </a:r>
            <a:endParaRPr lang="en-IN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7"/>
          <p:cNvSpPr/>
          <p:nvPr/>
        </p:nvSpPr>
        <p:spPr>
          <a:xfrm>
            <a:off x="777240" y="1554480"/>
            <a:ext cx="223956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Safe backlog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8"/>
          <p:cNvSpPr/>
          <p:nvPr/>
        </p:nvSpPr>
        <p:spPr>
          <a:xfrm>
            <a:off x="3017520" y="1554480"/>
            <a:ext cx="205668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HW 200 - offset 150 = 50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9"/>
          <p:cNvSpPr/>
          <p:nvPr/>
        </p:nvSpPr>
        <p:spPr>
          <a:xfrm>
            <a:off x="5074920" y="1554480"/>
            <a:ext cx="319968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 is 50 messages behind but still above LW 105.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10"/>
          <p:cNvSpPr/>
          <p:nvPr/>
        </p:nvSpPr>
        <p:spPr>
          <a:xfrm>
            <a:off x="777240" y="2011680"/>
            <a:ext cx="223956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 loss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ectangle 11"/>
          <p:cNvSpPr/>
          <p:nvPr/>
        </p:nvSpPr>
        <p:spPr>
          <a:xfrm>
            <a:off x="3017520" y="2011680"/>
            <a:ext cx="205668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 100 &lt; LW 105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12"/>
          <p:cNvSpPr/>
          <p:nvPr/>
        </p:nvSpPr>
        <p:spPr>
          <a:xfrm>
            <a:off x="5074920" y="2011680"/>
            <a:ext cx="319968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The consumer asks for records that no longer exist.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13"/>
          <p:cNvSpPr/>
          <p:nvPr/>
        </p:nvSpPr>
        <p:spPr>
          <a:xfrm>
            <a:off x="777240" y="2468880"/>
            <a:ext cx="223956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Alert rule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14"/>
          <p:cNvSpPr/>
          <p:nvPr/>
        </p:nvSpPr>
        <p:spPr>
          <a:xfrm>
            <a:off x="3017520" y="2468880"/>
            <a:ext cx="205668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age near retention window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ectangle 15"/>
          <p:cNvSpPr/>
          <p:nvPr/>
        </p:nvSpPr>
        <p:spPr>
          <a:xfrm>
            <a:off x="5074920" y="2468880"/>
            <a:ext cx="319968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Scale or pause before data loss.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16"/>
          <p:cNvSpPr/>
          <p:nvPr/>
        </p:nvSpPr>
        <p:spPr>
          <a:xfrm>
            <a:off x="1234440" y="3246120"/>
            <a:ext cx="6582960" cy="56628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Lag = HW - committed offset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Data loss risk = committed offset &lt; LW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 is a recovery budget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ectangle 4"/>
          <p:cNvSpPr/>
          <p:nvPr/>
        </p:nvSpPr>
        <p:spPr>
          <a:xfrm>
            <a:off x="685800" y="1143000"/>
            <a:ext cx="191952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5"/>
          <p:cNvSpPr/>
          <p:nvPr/>
        </p:nvSpPr>
        <p:spPr>
          <a:xfrm>
            <a:off x="2606040" y="1143000"/>
            <a:ext cx="255960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6"/>
          <p:cNvSpPr/>
          <p:nvPr/>
        </p:nvSpPr>
        <p:spPr>
          <a:xfrm>
            <a:off x="5166360" y="1143000"/>
            <a:ext cx="306252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Design implication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Rectangle 7"/>
          <p:cNvSpPr/>
          <p:nvPr/>
        </p:nvSpPr>
        <p:spPr>
          <a:xfrm>
            <a:off x="685800" y="1554480"/>
            <a:ext cx="1919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Worst outage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8"/>
          <p:cNvSpPr/>
          <p:nvPr/>
        </p:nvSpPr>
        <p:spPr>
          <a:xfrm>
            <a:off x="2606040" y="1554480"/>
            <a:ext cx="255960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12 hours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9"/>
          <p:cNvSpPr/>
          <p:nvPr/>
        </p:nvSpPr>
        <p:spPr>
          <a:xfrm>
            <a:off x="5166360" y="1554480"/>
            <a:ext cx="3062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 must exceed outage plus catch-up time.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ectangle 10"/>
          <p:cNvSpPr/>
          <p:nvPr/>
        </p:nvSpPr>
        <p:spPr>
          <a:xfrm>
            <a:off x="685800" y="1965960"/>
            <a:ext cx="1919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 SLA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11"/>
          <p:cNvSpPr/>
          <p:nvPr/>
        </p:nvSpPr>
        <p:spPr>
          <a:xfrm>
            <a:off x="2606040" y="1965960"/>
            <a:ext cx="255960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7 days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Rectangle 12"/>
          <p:cNvSpPr/>
          <p:nvPr/>
        </p:nvSpPr>
        <p:spPr>
          <a:xfrm>
            <a:off x="5166360" y="1965960"/>
            <a:ext cx="3062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 raw storage often outlives Kafka retention.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13"/>
          <p:cNvSpPr/>
          <p:nvPr/>
        </p:nvSpPr>
        <p:spPr>
          <a:xfrm>
            <a:off x="685800" y="2377440"/>
            <a:ext cx="1919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Backlog size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14"/>
          <p:cNvSpPr/>
          <p:nvPr/>
        </p:nvSpPr>
        <p:spPr>
          <a:xfrm>
            <a:off x="2606040" y="2377440"/>
            <a:ext cx="255960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5M events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Rectangle 15"/>
          <p:cNvSpPr/>
          <p:nvPr/>
        </p:nvSpPr>
        <p:spPr>
          <a:xfrm>
            <a:off x="5166360" y="2377440"/>
            <a:ext cx="3062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Plan temporary consumers and sink capacity.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16"/>
          <p:cNvSpPr/>
          <p:nvPr/>
        </p:nvSpPr>
        <p:spPr>
          <a:xfrm>
            <a:off x="685800" y="2788920"/>
            <a:ext cx="1919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Payload size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17"/>
          <p:cNvSpPr/>
          <p:nvPr/>
        </p:nvSpPr>
        <p:spPr>
          <a:xfrm>
            <a:off x="2606040" y="2788920"/>
            <a:ext cx="255960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Large CDC envelope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18"/>
          <p:cNvSpPr/>
          <p:nvPr/>
        </p:nvSpPr>
        <p:spPr>
          <a:xfrm>
            <a:off x="5166360" y="2788920"/>
            <a:ext cx="3062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Compression and archive policy matter.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3"/>
          <p:cNvSpPr/>
          <p:nvPr/>
        </p:nvSpPr>
        <p:spPr>
          <a:xfrm>
            <a:off x="347400" y="530280"/>
            <a:ext cx="8457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 time and processing time answer different questions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2" name="Connector 4"/>
          <p:cNvCxnSpPr/>
          <p:nvPr/>
        </p:nvCxnSpPr>
        <p:spPr>
          <a:xfrm>
            <a:off x="868680" y="2011680"/>
            <a:ext cx="7407360" cy="720"/>
          </a:xfrm>
          <a:prstGeom prst="straightConnector1">
            <a:avLst/>
          </a:prstGeom>
          <a:ln w="14040">
            <a:solidFill>
              <a:srgbClr val="566374"/>
            </a:solidFill>
            <a:round/>
          </a:ln>
        </p:spPr>
      </p:cxnSp>
      <p:sp>
        <p:nvSpPr>
          <p:cNvPr id="403" name="Rounded Rectangle 5"/>
          <p:cNvSpPr/>
          <p:nvPr/>
        </p:nvSpPr>
        <p:spPr>
          <a:xfrm>
            <a:off x="548640" y="1698480"/>
            <a:ext cx="711000" cy="502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10:00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event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Rounded Rectangle 6"/>
          <p:cNvSpPr/>
          <p:nvPr/>
        </p:nvSpPr>
        <p:spPr>
          <a:xfrm>
            <a:off x="4251960" y="169848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10:05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network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Rounded Rectangle 7"/>
          <p:cNvSpPr/>
          <p:nvPr/>
        </p:nvSpPr>
        <p:spPr>
          <a:xfrm>
            <a:off x="7955280" y="169848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10:07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processed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8"/>
          <p:cNvSpPr/>
          <p:nvPr/>
        </p:nvSpPr>
        <p:spPr>
          <a:xfrm>
            <a:off x="777240" y="2880360"/>
            <a:ext cx="191952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Rectangle 9"/>
          <p:cNvSpPr/>
          <p:nvPr/>
        </p:nvSpPr>
        <p:spPr>
          <a:xfrm>
            <a:off x="2697480" y="2880360"/>
            <a:ext cx="54399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Use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10"/>
          <p:cNvSpPr/>
          <p:nvPr/>
        </p:nvSpPr>
        <p:spPr>
          <a:xfrm>
            <a:off x="777240" y="3264480"/>
            <a:ext cx="19195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 time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ectangle 11"/>
          <p:cNvSpPr/>
          <p:nvPr/>
        </p:nvSpPr>
        <p:spPr>
          <a:xfrm>
            <a:off x="2697480" y="3264480"/>
            <a:ext cx="5439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When the business event happened: order placed, sensor reading taken.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12"/>
          <p:cNvSpPr/>
          <p:nvPr/>
        </p:nvSpPr>
        <p:spPr>
          <a:xfrm>
            <a:off x="777240" y="3648600"/>
            <a:ext cx="19195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Processing time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13"/>
          <p:cNvSpPr/>
          <p:nvPr/>
        </p:nvSpPr>
        <p:spPr>
          <a:xfrm>
            <a:off x="2697480" y="3648600"/>
            <a:ext cx="5439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When the pipeline saw the record.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14"/>
          <p:cNvSpPr/>
          <p:nvPr/>
        </p:nvSpPr>
        <p:spPr>
          <a:xfrm>
            <a:off x="777240" y="4032360"/>
            <a:ext cx="19195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Ingestion time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15"/>
          <p:cNvSpPr/>
          <p:nvPr/>
        </p:nvSpPr>
        <p:spPr>
          <a:xfrm>
            <a:off x="2697480" y="4032360"/>
            <a:ext cx="5439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When Bronze stored the record for audit.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3"/>
          <p:cNvSpPr/>
          <p:nvPr/>
        </p:nvSpPr>
        <p:spPr>
          <a:xfrm>
            <a:off x="347400" y="530280"/>
            <a:ext cx="845748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Late-arriving records are valid events that arrive after their expected window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4"/>
          <p:cNvSpPr/>
          <p:nvPr/>
        </p:nvSpPr>
        <p:spPr>
          <a:xfrm>
            <a:off x="685800" y="1097280"/>
            <a:ext cx="1645200" cy="429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Cause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5"/>
          <p:cNvSpPr/>
          <p:nvPr/>
        </p:nvSpPr>
        <p:spPr>
          <a:xfrm>
            <a:off x="2331720" y="1097280"/>
            <a:ext cx="2285280" cy="429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6"/>
          <p:cNvSpPr/>
          <p:nvPr/>
        </p:nvSpPr>
        <p:spPr>
          <a:xfrm>
            <a:off x="4617720" y="1097280"/>
            <a:ext cx="3656880" cy="429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Pipeline concern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7"/>
          <p:cNvSpPr/>
          <p:nvPr/>
        </p:nvSpPr>
        <p:spPr>
          <a:xfrm>
            <a:off x="685800" y="1527120"/>
            <a:ext cx="164520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Network delay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8"/>
          <p:cNvSpPr/>
          <p:nvPr/>
        </p:nvSpPr>
        <p:spPr>
          <a:xfrm>
            <a:off x="2331720" y="1527120"/>
            <a:ext cx="22852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Sensor reading at 10:00 arrives at 10:07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9"/>
          <p:cNvSpPr/>
          <p:nvPr/>
        </p:nvSpPr>
        <p:spPr>
          <a:xfrm>
            <a:off x="4617720" y="1527120"/>
            <a:ext cx="36568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Window result may already be published.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10"/>
          <p:cNvSpPr/>
          <p:nvPr/>
        </p:nvSpPr>
        <p:spPr>
          <a:xfrm>
            <a:off x="685800" y="1956960"/>
            <a:ext cx="164520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Batching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Rectangle 11"/>
          <p:cNvSpPr/>
          <p:nvPr/>
        </p:nvSpPr>
        <p:spPr>
          <a:xfrm>
            <a:off x="2331720" y="1956960"/>
            <a:ext cx="22852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Files arrive hourly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ectangle 12"/>
          <p:cNvSpPr/>
          <p:nvPr/>
        </p:nvSpPr>
        <p:spPr>
          <a:xfrm>
            <a:off x="4617720" y="1956960"/>
            <a:ext cx="36568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 belongs to earlier business time.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Rectangle 13"/>
          <p:cNvSpPr/>
          <p:nvPr/>
        </p:nvSpPr>
        <p:spPr>
          <a:xfrm>
            <a:off x="685800" y="2386440"/>
            <a:ext cx="164520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Clock skew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14"/>
          <p:cNvSpPr/>
          <p:nvPr/>
        </p:nvSpPr>
        <p:spPr>
          <a:xfrm>
            <a:off x="2331720" y="2386440"/>
            <a:ext cx="22852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Device time differs from server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15"/>
          <p:cNvSpPr/>
          <p:nvPr/>
        </p:nvSpPr>
        <p:spPr>
          <a:xfrm>
            <a:off x="4617720" y="2386440"/>
            <a:ext cx="36568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Ordering by arrival can be wrong.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16"/>
          <p:cNvSpPr/>
          <p:nvPr/>
        </p:nvSpPr>
        <p:spPr>
          <a:xfrm>
            <a:off x="685800" y="2816280"/>
            <a:ext cx="164520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Recovery replay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17"/>
          <p:cNvSpPr/>
          <p:nvPr/>
        </p:nvSpPr>
        <p:spPr>
          <a:xfrm>
            <a:off x="2331720" y="2816280"/>
            <a:ext cx="22852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Old events are reprocessed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18"/>
          <p:cNvSpPr/>
          <p:nvPr/>
        </p:nvSpPr>
        <p:spPr>
          <a:xfrm>
            <a:off x="4617720" y="2816280"/>
            <a:ext cx="36568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Need idempotent updates and correction path.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Grace period trades timeliness for completeness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5" name="Connector 4"/>
          <p:cNvCxnSpPr/>
          <p:nvPr/>
        </p:nvCxnSpPr>
        <p:spPr>
          <a:xfrm>
            <a:off x="868680" y="2148840"/>
            <a:ext cx="7407360" cy="720"/>
          </a:xfrm>
          <a:prstGeom prst="straightConnector1">
            <a:avLst/>
          </a:prstGeom>
          <a:ln w="14040">
            <a:solidFill>
              <a:srgbClr val="566374"/>
            </a:solidFill>
            <a:round/>
          </a:ln>
        </p:spPr>
      </p:cxnSp>
      <p:sp>
        <p:nvSpPr>
          <p:cNvPr id="436" name="Rounded Rectangle 5"/>
          <p:cNvSpPr/>
          <p:nvPr/>
        </p:nvSpPr>
        <p:spPr>
          <a:xfrm>
            <a:off x="548640" y="169164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10:00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start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Rounded Rectangle 6"/>
          <p:cNvSpPr/>
          <p:nvPr/>
        </p:nvSpPr>
        <p:spPr>
          <a:xfrm>
            <a:off x="3017520" y="169164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10:05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window end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Rounded Rectangle 7"/>
          <p:cNvSpPr/>
          <p:nvPr/>
        </p:nvSpPr>
        <p:spPr>
          <a:xfrm>
            <a:off x="5486400" y="169164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10:07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grace end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ounded Rectangle 8"/>
          <p:cNvSpPr/>
          <p:nvPr/>
        </p:nvSpPr>
        <p:spPr>
          <a:xfrm>
            <a:off x="7955280" y="169164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 w="9360">
            <a:solidFill>
              <a:srgbClr val="da525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10:08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too late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9"/>
          <p:cNvSpPr/>
          <p:nvPr/>
        </p:nvSpPr>
        <p:spPr>
          <a:xfrm>
            <a:off x="914400" y="324612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During grace, a late event can still update the window result.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After grace, route the event to a correction path, DLQ/quarantine or a late-fact workflow.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Longer grace improves completeness but delays final answers and keeps more state.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Watermarks estimate event-time progress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ounded Rectangle 4"/>
          <p:cNvSpPr/>
          <p:nvPr/>
        </p:nvSpPr>
        <p:spPr>
          <a:xfrm>
            <a:off x="50292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Events arrive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Rounded Rectangle 5"/>
          <p:cNvSpPr/>
          <p:nvPr/>
        </p:nvSpPr>
        <p:spPr>
          <a:xfrm>
            <a:off x="217800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Stream-time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advances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46" name="Connector 6"/>
          <p:cNvCxnSpPr/>
          <p:nvPr/>
        </p:nvCxnSpPr>
        <p:spPr>
          <a:xfrm>
            <a:off x="19400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447" name="Rounded Rectangle 7"/>
          <p:cNvSpPr/>
          <p:nvPr/>
        </p:nvSpPr>
        <p:spPr>
          <a:xfrm>
            <a:off x="385344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Window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closes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8" name="Connector 8"/>
          <p:cNvCxnSpPr/>
          <p:nvPr/>
        </p:nvCxnSpPr>
        <p:spPr>
          <a:xfrm>
            <a:off x="361548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449" name="Rounded Rectangle 9"/>
          <p:cNvSpPr/>
          <p:nvPr/>
        </p:nvSpPr>
        <p:spPr>
          <a:xfrm>
            <a:off x="552852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Grace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expires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50" name="Connector 10"/>
          <p:cNvCxnSpPr/>
          <p:nvPr/>
        </p:nvCxnSpPr>
        <p:spPr>
          <a:xfrm>
            <a:off x="529056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451" name="Rounded Rectangle 11"/>
          <p:cNvSpPr/>
          <p:nvPr/>
        </p:nvSpPr>
        <p:spPr>
          <a:xfrm>
            <a:off x="720360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Result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final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52" name="Connector 12"/>
          <p:cNvCxnSpPr/>
          <p:nvPr/>
        </p:nvCxnSpPr>
        <p:spPr>
          <a:xfrm>
            <a:off x="69656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453" name="Rectangle 13"/>
          <p:cNvSpPr/>
          <p:nvPr/>
        </p:nvSpPr>
        <p:spPr>
          <a:xfrm>
            <a:off x="685800" y="2606040"/>
            <a:ext cx="20109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Concept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14"/>
          <p:cNvSpPr/>
          <p:nvPr/>
        </p:nvSpPr>
        <p:spPr>
          <a:xfrm>
            <a:off x="2697480" y="2606040"/>
            <a:ext cx="54399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Beginner interpretation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Rectangle 15"/>
          <p:cNvSpPr/>
          <p:nvPr/>
        </p:nvSpPr>
        <p:spPr>
          <a:xfrm>
            <a:off x="685800" y="2990160"/>
            <a:ext cx="2010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Watermark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Rectangle 16"/>
          <p:cNvSpPr/>
          <p:nvPr/>
        </p:nvSpPr>
        <p:spPr>
          <a:xfrm>
            <a:off x="2697480" y="2990160"/>
            <a:ext cx="5439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system estimate that most events up to this event time have arrived.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Rectangle 17"/>
          <p:cNvSpPr/>
          <p:nvPr/>
        </p:nvSpPr>
        <p:spPr>
          <a:xfrm>
            <a:off x="685800" y="3374280"/>
            <a:ext cx="2010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Streams note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18"/>
          <p:cNvSpPr/>
          <p:nvPr/>
        </p:nvSpPr>
        <p:spPr>
          <a:xfrm>
            <a:off x="2697480" y="3374280"/>
            <a:ext cx="5439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Streams uses event time, stream-time and grace; think watermark-like progress, not a separate Kafka broker feature.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Rectangle 19"/>
          <p:cNvSpPr/>
          <p:nvPr/>
        </p:nvSpPr>
        <p:spPr>
          <a:xfrm>
            <a:off x="685800" y="3758040"/>
            <a:ext cx="2010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Design question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Rectangle 20"/>
          <p:cNvSpPr/>
          <p:nvPr/>
        </p:nvSpPr>
        <p:spPr>
          <a:xfrm>
            <a:off x="2697480" y="3758040"/>
            <a:ext cx="54399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How late can business tolerate updates to a result?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2"/>
          <p:cNvSpPr/>
          <p:nvPr/>
        </p:nvSpPr>
        <p:spPr>
          <a:xfrm>
            <a:off x="255960" y="50400"/>
            <a:ext cx="51199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3"/>
          <p:cNvSpPr/>
          <p:nvPr/>
        </p:nvSpPr>
        <p:spPr>
          <a:xfrm>
            <a:off x="384120" y="530280"/>
            <a:ext cx="83660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is a Kafka Dead Letter Queue?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4"/>
          <p:cNvSpPr/>
          <p:nvPr/>
        </p:nvSpPr>
        <p:spPr>
          <a:xfrm>
            <a:off x="594360" y="1143000"/>
            <a:ext cx="3931200" cy="10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DLQ is a dedicated Kafka topic where failed records are routed so the main pipeline can keep processing.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5"/>
          <p:cNvSpPr/>
          <p:nvPr/>
        </p:nvSpPr>
        <p:spPr>
          <a:xfrm>
            <a:off x="621720" y="2148840"/>
            <a:ext cx="374832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Failed record is preserved.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Failure reason is visible.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Operators can inspect and reprocess later.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Good records are not blocked by one bad record.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Rounded Rectangle 6"/>
          <p:cNvSpPr/>
          <p:nvPr/>
        </p:nvSpPr>
        <p:spPr>
          <a:xfrm>
            <a:off x="4892040" y="1170360"/>
            <a:ext cx="1142280" cy="502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topic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Rounded Rectangle 7"/>
          <p:cNvSpPr/>
          <p:nvPr/>
        </p:nvSpPr>
        <p:spPr>
          <a:xfrm>
            <a:off x="6355080" y="1170360"/>
            <a:ext cx="1233720" cy="502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 /</a:t>
            </a:r>
            <a:endParaRPr lang="en-IN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Connector</a:t>
            </a:r>
            <a:endParaRPr lang="en-IN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Rounded Rectangle 8"/>
          <p:cNvSpPr/>
          <p:nvPr/>
        </p:nvSpPr>
        <p:spPr>
          <a:xfrm>
            <a:off x="7818120" y="1170360"/>
            <a:ext cx="959400" cy="502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Sink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69" name="Connector 9"/>
          <p:cNvCxnSpPr/>
          <p:nvPr/>
        </p:nvCxnSpPr>
        <p:spPr>
          <a:xfrm>
            <a:off x="6035040" y="1426320"/>
            <a:ext cx="320760" cy="720"/>
          </a:xfrm>
          <a:prstGeom prst="straightConnector1">
            <a:avLst/>
          </a:prstGeom>
          <a:ln w="13320">
            <a:solidFill>
              <a:srgbClr val="0a1328"/>
            </a:solidFill>
            <a:round/>
          </a:ln>
        </p:spPr>
      </p:cxnSp>
      <p:cxnSp>
        <p:nvCxnSpPr>
          <p:cNvPr id="470" name="Connector 10"/>
          <p:cNvCxnSpPr/>
          <p:nvPr/>
        </p:nvCxnSpPr>
        <p:spPr>
          <a:xfrm>
            <a:off x="7589520" y="1426320"/>
            <a:ext cx="229320" cy="720"/>
          </a:xfrm>
          <a:prstGeom prst="straightConnector1">
            <a:avLst/>
          </a:prstGeom>
          <a:ln w="13320">
            <a:solidFill>
              <a:srgbClr val="0a1328"/>
            </a:solidFill>
            <a:round/>
          </a:ln>
        </p:spPr>
      </p:cxnSp>
      <p:sp>
        <p:nvSpPr>
          <p:cNvPr id="471" name="Rounded Rectangle 11"/>
          <p:cNvSpPr/>
          <p:nvPr/>
        </p:nvSpPr>
        <p:spPr>
          <a:xfrm>
            <a:off x="6355080" y="2240280"/>
            <a:ext cx="1233720" cy="502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Error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handler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Rounded Rectangle 12"/>
          <p:cNvSpPr/>
          <p:nvPr/>
        </p:nvSpPr>
        <p:spPr>
          <a:xfrm>
            <a:off x="7818120" y="2240280"/>
            <a:ext cx="959400" cy="50220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 w="9360">
            <a:solidFill>
              <a:srgbClr val="da525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topic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73" name="Connector 13"/>
          <p:cNvCxnSpPr/>
          <p:nvPr/>
        </p:nvCxnSpPr>
        <p:spPr>
          <a:xfrm>
            <a:off x="6976800" y="1673280"/>
            <a:ext cx="720" cy="567720"/>
          </a:xfrm>
          <a:prstGeom prst="straightConnector1">
            <a:avLst/>
          </a:prstGeom>
          <a:ln w="13320">
            <a:solidFill>
              <a:srgbClr val="da5252"/>
            </a:solidFill>
            <a:round/>
          </a:ln>
        </p:spPr>
      </p:cxnSp>
      <p:cxnSp>
        <p:nvCxnSpPr>
          <p:cNvPr id="474" name="Connector 14"/>
          <p:cNvCxnSpPr/>
          <p:nvPr/>
        </p:nvCxnSpPr>
        <p:spPr>
          <a:xfrm>
            <a:off x="7589520" y="2496240"/>
            <a:ext cx="229320" cy="720"/>
          </a:xfrm>
          <a:prstGeom prst="straightConnector1">
            <a:avLst/>
          </a:prstGeom>
          <a:ln w="13320">
            <a:solidFill>
              <a:srgbClr val="da5252"/>
            </a:solidFill>
            <a:round/>
          </a:ln>
        </p:spPr>
      </p:cxnSp>
      <p:sp>
        <p:nvSpPr>
          <p:cNvPr id="475" name="TextBox 15"/>
          <p:cNvSpPr/>
          <p:nvPr/>
        </p:nvSpPr>
        <p:spPr>
          <a:xfrm>
            <a:off x="4892040" y="3246120"/>
            <a:ext cx="3794040" cy="5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2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Use this pattern when failures are record-specific: schema mismatch, malformed data, validation failure, or processing exception.</a:t>
            </a:r>
            <a:endParaRPr lang="en-IN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16"/>
          <p:cNvSpPr/>
          <p:nvPr/>
        </p:nvSpPr>
        <p:spPr>
          <a:xfrm>
            <a:off x="502920" y="4700160"/>
            <a:ext cx="813744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Reference pattern: Confluent Kafka DLQ guide and Kafka Connect error reporting docs.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TextBox 2"/>
          <p:cNvSpPr/>
          <p:nvPr/>
        </p:nvSpPr>
        <p:spPr>
          <a:xfrm>
            <a:off x="255960" y="50400"/>
            <a:ext cx="51199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3"/>
          <p:cNvSpPr/>
          <p:nvPr/>
        </p:nvSpPr>
        <p:spPr>
          <a:xfrm>
            <a:off x="384120" y="530280"/>
            <a:ext cx="83660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Why a DLQ is required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Rectangle 4"/>
          <p:cNvSpPr/>
          <p:nvPr/>
        </p:nvSpPr>
        <p:spPr>
          <a:xfrm>
            <a:off x="594360" y="1115640"/>
            <a:ext cx="169092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Problem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Rectangle 5"/>
          <p:cNvSpPr/>
          <p:nvPr/>
        </p:nvSpPr>
        <p:spPr>
          <a:xfrm>
            <a:off x="2286000" y="1115640"/>
            <a:ext cx="306252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Without DLQ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6"/>
          <p:cNvSpPr/>
          <p:nvPr/>
        </p:nvSpPr>
        <p:spPr>
          <a:xfrm>
            <a:off x="5349240" y="1115640"/>
            <a:ext cx="324540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With DLQ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Rectangle 7"/>
          <p:cNvSpPr/>
          <p:nvPr/>
        </p:nvSpPr>
        <p:spPr>
          <a:xfrm>
            <a:off x="594360" y="1554480"/>
            <a:ext cx="16909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Bad schema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Rectangle 8"/>
          <p:cNvSpPr/>
          <p:nvPr/>
        </p:nvSpPr>
        <p:spPr>
          <a:xfrm>
            <a:off x="2286000" y="1554480"/>
            <a:ext cx="3062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Connector/consumer may fail or skip without evidence.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9"/>
          <p:cNvSpPr/>
          <p:nvPr/>
        </p:nvSpPr>
        <p:spPr>
          <a:xfrm>
            <a:off x="5349240" y="1554480"/>
            <a:ext cx="32454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Record goes to DLQ with error context.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ectangle 10"/>
          <p:cNvSpPr/>
          <p:nvPr/>
        </p:nvSpPr>
        <p:spPr>
          <a:xfrm>
            <a:off x="594360" y="1993320"/>
            <a:ext cx="16909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Malformed data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Rectangle 11"/>
          <p:cNvSpPr/>
          <p:nvPr/>
        </p:nvSpPr>
        <p:spPr>
          <a:xfrm>
            <a:off x="2286000" y="1993320"/>
            <a:ext cx="3062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One bad event can block a batch or partition.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Rectangle 12"/>
          <p:cNvSpPr/>
          <p:nvPr/>
        </p:nvSpPr>
        <p:spPr>
          <a:xfrm>
            <a:off x="5349240" y="1993320"/>
            <a:ext cx="32454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Good records continue through the pipeline.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ectangle 13"/>
          <p:cNvSpPr/>
          <p:nvPr/>
        </p:nvSpPr>
        <p:spPr>
          <a:xfrm>
            <a:off x="594360" y="2432160"/>
            <a:ext cx="16909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Business validation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Rectangle 14"/>
          <p:cNvSpPr/>
          <p:nvPr/>
        </p:nvSpPr>
        <p:spPr>
          <a:xfrm>
            <a:off x="2286000" y="2432160"/>
            <a:ext cx="3062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Rejected rows disappear into logs.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15"/>
          <p:cNvSpPr/>
          <p:nvPr/>
        </p:nvSpPr>
        <p:spPr>
          <a:xfrm>
            <a:off x="5349240" y="2432160"/>
            <a:ext cx="32454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Rejected row is inspectable and owned.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Rectangle 16"/>
          <p:cNvSpPr/>
          <p:nvPr/>
        </p:nvSpPr>
        <p:spPr>
          <a:xfrm>
            <a:off x="594360" y="2871360"/>
            <a:ext cx="16909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Rectangle 17"/>
          <p:cNvSpPr/>
          <p:nvPr/>
        </p:nvSpPr>
        <p:spPr>
          <a:xfrm>
            <a:off x="2286000" y="2871360"/>
            <a:ext cx="3062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Hard to know which records need repair.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Rectangle 18"/>
          <p:cNvSpPr/>
          <p:nvPr/>
        </p:nvSpPr>
        <p:spPr>
          <a:xfrm>
            <a:off x="5349240" y="2871360"/>
            <a:ext cx="32454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topic is the repair/reprocess queue.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19"/>
          <p:cNvSpPr/>
          <p:nvPr/>
        </p:nvSpPr>
        <p:spPr>
          <a:xfrm>
            <a:off x="777240" y="3657600"/>
            <a:ext cx="758880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6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Important beginner rule: a DLQ is not a trash can. It is an operational recovery path.</a:t>
            </a:r>
            <a:endParaRPr lang="en-IN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6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If nobody monitors or reprocesses it, the DLQ only moves the failure somewhere quieter.</a:t>
            </a:r>
            <a:endParaRPr lang="en-IN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20"/>
          <p:cNvSpPr/>
          <p:nvPr/>
        </p:nvSpPr>
        <p:spPr>
          <a:xfrm>
            <a:off x="502920" y="4700160"/>
            <a:ext cx="813744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Confluent notes that DLQ messages need an inspection/reprocessing process, not just a destination topic.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Box 2"/>
          <p:cNvSpPr/>
          <p:nvPr/>
        </p:nvSpPr>
        <p:spPr>
          <a:xfrm>
            <a:off x="255960" y="50400"/>
            <a:ext cx="51199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3"/>
          <p:cNvSpPr/>
          <p:nvPr/>
        </p:nvSpPr>
        <p:spPr>
          <a:xfrm>
            <a:off x="384120" y="530280"/>
            <a:ext cx="83660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Connect DLQ architecture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4"/>
          <p:cNvSpPr/>
          <p:nvPr/>
        </p:nvSpPr>
        <p:spPr>
          <a:xfrm>
            <a:off x="567000" y="1024200"/>
            <a:ext cx="80460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Source-backed architecture: Kafka Connect sink task + error handling + dedicated DLQ topic + replay path.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Rounded Rectangle 5"/>
          <p:cNvSpPr/>
          <p:nvPr/>
        </p:nvSpPr>
        <p:spPr>
          <a:xfrm>
            <a:off x="594360" y="1600200"/>
            <a:ext cx="1142280" cy="502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 topic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Rounded Rectangle 6"/>
          <p:cNvSpPr/>
          <p:nvPr/>
        </p:nvSpPr>
        <p:spPr>
          <a:xfrm>
            <a:off x="2057400" y="1600200"/>
            <a:ext cx="1142280" cy="502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Converter /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SMT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Rounded Rectangle 7"/>
          <p:cNvSpPr/>
          <p:nvPr/>
        </p:nvSpPr>
        <p:spPr>
          <a:xfrm>
            <a:off x="3520440" y="1600200"/>
            <a:ext cx="1233720" cy="502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Sink connector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task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Rounded Rectangle 8"/>
          <p:cNvSpPr/>
          <p:nvPr/>
        </p:nvSpPr>
        <p:spPr>
          <a:xfrm>
            <a:off x="5074920" y="1600200"/>
            <a:ext cx="1005120" cy="502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Target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sink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05" name="Connector 9"/>
          <p:cNvCxnSpPr/>
          <p:nvPr/>
        </p:nvCxnSpPr>
        <p:spPr>
          <a:xfrm>
            <a:off x="1737360" y="1856160"/>
            <a:ext cx="320760" cy="720"/>
          </a:xfrm>
          <a:prstGeom prst="straightConnector1">
            <a:avLst/>
          </a:prstGeom>
          <a:ln w="13320">
            <a:solidFill>
              <a:srgbClr val="0a1328"/>
            </a:solidFill>
            <a:round/>
          </a:ln>
        </p:spPr>
      </p:cxnSp>
      <p:cxnSp>
        <p:nvCxnSpPr>
          <p:cNvPr id="506" name="Connector 10"/>
          <p:cNvCxnSpPr/>
          <p:nvPr/>
        </p:nvCxnSpPr>
        <p:spPr>
          <a:xfrm>
            <a:off x="3200400" y="1856160"/>
            <a:ext cx="320760" cy="720"/>
          </a:xfrm>
          <a:prstGeom prst="straightConnector1">
            <a:avLst/>
          </a:prstGeom>
          <a:ln w="13320">
            <a:solidFill>
              <a:srgbClr val="0a1328"/>
            </a:solidFill>
            <a:round/>
          </a:ln>
        </p:spPr>
      </p:cxnSp>
      <p:cxnSp>
        <p:nvCxnSpPr>
          <p:cNvPr id="507" name="Connector 11"/>
          <p:cNvCxnSpPr/>
          <p:nvPr/>
        </p:nvCxnSpPr>
        <p:spPr>
          <a:xfrm>
            <a:off x="4754880" y="1856160"/>
            <a:ext cx="320760" cy="720"/>
          </a:xfrm>
          <a:prstGeom prst="straightConnector1">
            <a:avLst/>
          </a:prstGeom>
          <a:ln w="13320">
            <a:solidFill>
              <a:srgbClr val="0a1328"/>
            </a:solidFill>
            <a:round/>
          </a:ln>
        </p:spPr>
      </p:cxnSp>
      <p:sp>
        <p:nvSpPr>
          <p:cNvPr id="508" name="Rounded Rectangle 12"/>
          <p:cNvSpPr/>
          <p:nvPr/>
        </p:nvSpPr>
        <p:spPr>
          <a:xfrm>
            <a:off x="3520440" y="2743200"/>
            <a:ext cx="1233720" cy="502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Connect error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reporter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Rounded Rectangle 13"/>
          <p:cNvSpPr/>
          <p:nvPr/>
        </p:nvSpPr>
        <p:spPr>
          <a:xfrm>
            <a:off x="5074920" y="2743200"/>
            <a:ext cx="1188000" cy="50220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 w="9360">
            <a:solidFill>
              <a:srgbClr val="da525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 topic</a:t>
            </a:r>
            <a:endParaRPr lang="en-IN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my-connector-errors</a:t>
            </a:r>
            <a:endParaRPr lang="en-IN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Rounded Rectangle 14"/>
          <p:cNvSpPr/>
          <p:nvPr/>
        </p:nvSpPr>
        <p:spPr>
          <a:xfrm>
            <a:off x="6583680" y="2743200"/>
            <a:ext cx="1050840" cy="502200"/>
          </a:xfrm>
          <a:prstGeom prst="roundRect">
            <a:avLst>
              <a:gd name="adj" fmla="val 16667"/>
            </a:avLst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monitor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Rounded Rectangle 15"/>
          <p:cNvSpPr/>
          <p:nvPr/>
        </p:nvSpPr>
        <p:spPr>
          <a:xfrm>
            <a:off x="7909560" y="2743200"/>
            <a:ext cx="913680" cy="502200"/>
          </a:xfrm>
          <a:prstGeom prst="roundRect">
            <a:avLst>
              <a:gd name="adj" fmla="val 16667"/>
            </a:avLst>
          </a:prstGeom>
          <a:solidFill>
            <a:srgbClr val="0a1328"/>
          </a:solidFill>
          <a:ln w="9360">
            <a:solidFill>
              <a:srgbClr val="0a132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Replay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job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12" name="Connector 16"/>
          <p:cNvCxnSpPr/>
          <p:nvPr/>
        </p:nvCxnSpPr>
        <p:spPr>
          <a:xfrm>
            <a:off x="4132800" y="2103120"/>
            <a:ext cx="720" cy="640800"/>
          </a:xfrm>
          <a:prstGeom prst="straightConnector1">
            <a:avLst/>
          </a:prstGeom>
          <a:ln w="13320">
            <a:solidFill>
              <a:srgbClr val="da5252"/>
            </a:solidFill>
            <a:round/>
          </a:ln>
        </p:spPr>
      </p:cxnSp>
      <p:cxnSp>
        <p:nvCxnSpPr>
          <p:cNvPr id="513" name="Connector 17"/>
          <p:cNvCxnSpPr/>
          <p:nvPr/>
        </p:nvCxnSpPr>
        <p:spPr>
          <a:xfrm>
            <a:off x="4754880" y="2999160"/>
            <a:ext cx="320760" cy="720"/>
          </a:xfrm>
          <a:prstGeom prst="straightConnector1">
            <a:avLst/>
          </a:prstGeom>
          <a:ln w="13320">
            <a:solidFill>
              <a:srgbClr val="da5252"/>
            </a:solidFill>
            <a:round/>
          </a:ln>
        </p:spPr>
      </p:cxnSp>
      <p:cxnSp>
        <p:nvCxnSpPr>
          <p:cNvPr id="514" name="Connector 18"/>
          <p:cNvCxnSpPr/>
          <p:nvPr/>
        </p:nvCxnSpPr>
        <p:spPr>
          <a:xfrm>
            <a:off x="6263640" y="2999160"/>
            <a:ext cx="320760" cy="720"/>
          </a:xfrm>
          <a:prstGeom prst="straightConnector1">
            <a:avLst/>
          </a:prstGeom>
          <a:ln w="13320">
            <a:solidFill>
              <a:srgbClr val="0a1328"/>
            </a:solidFill>
            <a:round/>
          </a:ln>
        </p:spPr>
      </p:cxnSp>
      <p:cxnSp>
        <p:nvCxnSpPr>
          <p:cNvPr id="515" name="Connector 19"/>
          <p:cNvCxnSpPr/>
          <p:nvPr/>
        </p:nvCxnSpPr>
        <p:spPr>
          <a:xfrm>
            <a:off x="7635240" y="2999160"/>
            <a:ext cx="275040" cy="720"/>
          </a:xfrm>
          <a:prstGeom prst="straightConnector1">
            <a:avLst/>
          </a:prstGeom>
          <a:ln w="13320">
            <a:solidFill>
              <a:srgbClr val="0a1328"/>
            </a:solidFill>
            <a:round/>
          </a:ln>
        </p:spPr>
      </p:cxnSp>
      <p:sp>
        <p:nvSpPr>
          <p:cNvPr id="516" name="TextBox 20"/>
          <p:cNvSpPr/>
          <p:nvPr/>
        </p:nvSpPr>
        <p:spPr>
          <a:xfrm>
            <a:off x="777240" y="3794760"/>
            <a:ext cx="758880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The DLQ record can include original key/value plus context headers such as __connect.errors.* when context headers are enabled.</a:t>
            </a:r>
            <a:endParaRPr lang="en-IN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21"/>
          <p:cNvSpPr/>
          <p:nvPr/>
        </p:nvSpPr>
        <p:spPr>
          <a:xfrm>
            <a:off x="502920" y="4700160"/>
            <a:ext cx="813744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Based on Apache Kafka Connect error reporting and Confluent DLQ architecture components.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9" name="TextBox 2"/>
          <p:cNvSpPr/>
          <p:nvPr/>
        </p:nvSpPr>
        <p:spPr>
          <a:xfrm>
            <a:off x="255960" y="50400"/>
            <a:ext cx="51199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3"/>
          <p:cNvSpPr/>
          <p:nvPr/>
        </p:nvSpPr>
        <p:spPr>
          <a:xfrm>
            <a:off x="384120" y="530280"/>
            <a:ext cx="83660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How to configure a Kafka Connect DLQ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Rectangle 4"/>
          <p:cNvSpPr/>
          <p:nvPr/>
        </p:nvSpPr>
        <p:spPr>
          <a:xfrm>
            <a:off x="594360" y="1078920"/>
            <a:ext cx="4251240" cy="246816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errors.tolerance=all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errors.retry.timeout=600000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errors.retry.delay.max.ms=30000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errors.log.enable=true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errors.log.include.messages=false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errors.deadletterqueue.topic.name=orders-sink-dlq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errors.deadletterqueue.context.headers.enable=true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5"/>
          <p:cNvSpPr/>
          <p:nvPr/>
        </p:nvSpPr>
        <p:spPr>
          <a:xfrm>
            <a:off x="5166360" y="1097280"/>
            <a:ext cx="17823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Property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Rectangle 6"/>
          <p:cNvSpPr/>
          <p:nvPr/>
        </p:nvSpPr>
        <p:spPr>
          <a:xfrm>
            <a:off x="6949440" y="1097280"/>
            <a:ext cx="187380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it matters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Rectangle 7"/>
          <p:cNvSpPr/>
          <p:nvPr/>
        </p:nvSpPr>
        <p:spPr>
          <a:xfrm>
            <a:off x="5166360" y="1481400"/>
            <a:ext cx="17823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errors.tolerance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8"/>
          <p:cNvSpPr/>
          <p:nvPr/>
        </p:nvSpPr>
        <p:spPr>
          <a:xfrm>
            <a:off x="6949440" y="1481400"/>
            <a:ext cx="187380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none fails fast; all skips bad records and reports them.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Rectangle 9"/>
          <p:cNvSpPr/>
          <p:nvPr/>
        </p:nvSpPr>
        <p:spPr>
          <a:xfrm>
            <a:off x="5166360" y="1865520"/>
            <a:ext cx="17823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retry timeout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10"/>
          <p:cNvSpPr/>
          <p:nvPr/>
        </p:nvSpPr>
        <p:spPr>
          <a:xfrm>
            <a:off x="6949440" y="1865520"/>
            <a:ext cx="187380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Retries transient failures before routing to DLQ.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Rectangle 11"/>
          <p:cNvSpPr/>
          <p:nvPr/>
        </p:nvSpPr>
        <p:spPr>
          <a:xfrm>
            <a:off x="5166360" y="2249280"/>
            <a:ext cx="17823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topic name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Rectangle 12"/>
          <p:cNvSpPr/>
          <p:nvPr/>
        </p:nvSpPr>
        <p:spPr>
          <a:xfrm>
            <a:off x="6949440" y="2249280"/>
            <a:ext cx="187380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Dedicated Kafka topic for failed records.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Rectangle 13"/>
          <p:cNvSpPr/>
          <p:nvPr/>
        </p:nvSpPr>
        <p:spPr>
          <a:xfrm>
            <a:off x="5166360" y="2633400"/>
            <a:ext cx="17823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context headers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14"/>
          <p:cNvSpPr/>
          <p:nvPr/>
        </p:nvSpPr>
        <p:spPr>
          <a:xfrm>
            <a:off x="6949440" y="2633400"/>
            <a:ext cx="187380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Adds error details with __connect.errors.* headers.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ectangle 15"/>
          <p:cNvSpPr/>
          <p:nvPr/>
        </p:nvSpPr>
        <p:spPr>
          <a:xfrm>
            <a:off x="5166360" y="3017520"/>
            <a:ext cx="17823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include messages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16"/>
          <p:cNvSpPr/>
          <p:nvPr/>
        </p:nvSpPr>
        <p:spPr>
          <a:xfrm>
            <a:off x="6949440" y="3017520"/>
            <a:ext cx="187380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false if payloads may contain sensitive data.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17"/>
          <p:cNvSpPr/>
          <p:nvPr/>
        </p:nvSpPr>
        <p:spPr>
          <a:xfrm>
            <a:off x="502920" y="4700160"/>
            <a:ext cx="813744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Config keys from Apache Kafka / Confluent Kafka Connect sink connector documentation.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6" name="TextBox 2"/>
          <p:cNvSpPr/>
          <p:nvPr/>
        </p:nvSpPr>
        <p:spPr>
          <a:xfrm>
            <a:off x="255960" y="50400"/>
            <a:ext cx="51199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3"/>
          <p:cNvSpPr/>
          <p:nvPr/>
        </p:nvSpPr>
        <p:spPr>
          <a:xfrm>
            <a:off x="384120" y="530280"/>
            <a:ext cx="83660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Production DLQ best practices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Rectangle 4"/>
          <p:cNvSpPr/>
          <p:nvPr/>
        </p:nvSpPr>
        <p:spPr>
          <a:xfrm>
            <a:off x="594360" y="1078920"/>
            <a:ext cx="1965240" cy="401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Practice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Rectangle 5"/>
          <p:cNvSpPr/>
          <p:nvPr/>
        </p:nvSpPr>
        <p:spPr>
          <a:xfrm>
            <a:off x="2560320" y="1078920"/>
            <a:ext cx="2971080" cy="401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Production rule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Rectangle 6"/>
          <p:cNvSpPr/>
          <p:nvPr/>
        </p:nvSpPr>
        <p:spPr>
          <a:xfrm>
            <a:off x="5532120" y="1078920"/>
            <a:ext cx="2879640" cy="401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Rectangle 7"/>
          <p:cNvSpPr/>
          <p:nvPr/>
        </p:nvSpPr>
        <p:spPr>
          <a:xfrm>
            <a:off x="594360" y="1481400"/>
            <a:ext cx="19652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Retry limit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Rectangle 8"/>
          <p:cNvSpPr/>
          <p:nvPr/>
        </p:nvSpPr>
        <p:spPr>
          <a:xfrm>
            <a:off x="2560320" y="1481400"/>
            <a:ext cx="297108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Retry transient errors with bounded timeout.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9"/>
          <p:cNvSpPr/>
          <p:nvPr/>
        </p:nvSpPr>
        <p:spPr>
          <a:xfrm>
            <a:off x="5532120" y="1481400"/>
            <a:ext cx="28796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Avoid infinite retry loops and stuck tasks.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Rectangle 10"/>
          <p:cNvSpPr/>
          <p:nvPr/>
        </p:nvSpPr>
        <p:spPr>
          <a:xfrm>
            <a:off x="594360" y="1883520"/>
            <a:ext cx="19652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validation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Rectangle 11"/>
          <p:cNvSpPr/>
          <p:nvPr/>
        </p:nvSpPr>
        <p:spPr>
          <a:xfrm>
            <a:off x="2560320" y="1883520"/>
            <a:ext cx="297108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 incompatible records before sink writes.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Rectangle 12"/>
          <p:cNvSpPr/>
          <p:nvPr/>
        </p:nvSpPr>
        <p:spPr>
          <a:xfrm>
            <a:off x="5532120" y="1883520"/>
            <a:ext cx="28796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Prevents bad contracts from spreading.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Rectangle 13"/>
          <p:cNvSpPr/>
          <p:nvPr/>
        </p:nvSpPr>
        <p:spPr>
          <a:xfrm>
            <a:off x="594360" y="2286000"/>
            <a:ext cx="19652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Context headers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Rectangle 14"/>
          <p:cNvSpPr/>
          <p:nvPr/>
        </p:nvSpPr>
        <p:spPr>
          <a:xfrm>
            <a:off x="2560320" y="2286000"/>
            <a:ext cx="297108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Enable error headers and keep source topic/partition/offset.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Rectangle 15"/>
          <p:cNvSpPr/>
          <p:nvPr/>
        </p:nvSpPr>
        <p:spPr>
          <a:xfrm>
            <a:off x="5532120" y="2286000"/>
            <a:ext cx="28796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Makes failures debuggable.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Rectangle 16"/>
          <p:cNvSpPr/>
          <p:nvPr/>
        </p:nvSpPr>
        <p:spPr>
          <a:xfrm>
            <a:off x="594360" y="2688480"/>
            <a:ext cx="19652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Monitoring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Rectangle 17"/>
          <p:cNvSpPr/>
          <p:nvPr/>
        </p:nvSpPr>
        <p:spPr>
          <a:xfrm>
            <a:off x="2560320" y="2688480"/>
            <a:ext cx="297108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Alert on DLQ count, age and reason-code spikes.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Rectangle 18"/>
          <p:cNvSpPr/>
          <p:nvPr/>
        </p:nvSpPr>
        <p:spPr>
          <a:xfrm>
            <a:off x="5532120" y="2688480"/>
            <a:ext cx="28796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quiet DLQ can hide data loss.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19"/>
          <p:cNvSpPr/>
          <p:nvPr/>
        </p:nvSpPr>
        <p:spPr>
          <a:xfrm>
            <a:off x="594360" y="3090600"/>
            <a:ext cx="19652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 process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Rectangle 20"/>
          <p:cNvSpPr/>
          <p:nvPr/>
        </p:nvSpPr>
        <p:spPr>
          <a:xfrm>
            <a:off x="2560320" y="3090600"/>
            <a:ext cx="297108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Define owner, fix path and idempotent replay command.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Rectangle 21"/>
          <p:cNvSpPr/>
          <p:nvPr/>
        </p:nvSpPr>
        <p:spPr>
          <a:xfrm>
            <a:off x="5532120" y="3090600"/>
            <a:ext cx="28796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is useful only when records can be handled.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Rectangle 22"/>
          <p:cNvSpPr/>
          <p:nvPr/>
        </p:nvSpPr>
        <p:spPr>
          <a:xfrm>
            <a:off x="594360" y="3493080"/>
            <a:ext cx="19652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Security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Rectangle 23"/>
          <p:cNvSpPr/>
          <p:nvPr/>
        </p:nvSpPr>
        <p:spPr>
          <a:xfrm>
            <a:off x="2560320" y="3493080"/>
            <a:ext cx="297108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Avoid logging payloads with PII unless masked.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Rectangle 24"/>
          <p:cNvSpPr/>
          <p:nvPr/>
        </p:nvSpPr>
        <p:spPr>
          <a:xfrm>
            <a:off x="5532120" y="3493080"/>
            <a:ext cx="2879640" cy="401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topics often contain the most sensitive failures.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25"/>
          <p:cNvSpPr/>
          <p:nvPr/>
        </p:nvSpPr>
        <p:spPr>
          <a:xfrm>
            <a:off x="822960" y="4005000"/>
            <a:ext cx="7405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Beginner takeaway: configure DLQ only after deciding who monitors it and how records return to the pipeline.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26"/>
          <p:cNvSpPr/>
          <p:nvPr/>
        </p:nvSpPr>
        <p:spPr>
          <a:xfrm>
            <a:off x="502920" y="4700160"/>
            <a:ext cx="813744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Best-practice categories mirror Confluent DLQ guidance: retry limits, schema validation, monitoring and handling.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CDC turns database changes into ordered events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Rounded Rectangle 4"/>
          <p:cNvSpPr/>
          <p:nvPr/>
        </p:nvSpPr>
        <p:spPr>
          <a:xfrm>
            <a:off x="50292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DB log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Rounded Rectangle 5"/>
          <p:cNvSpPr/>
          <p:nvPr/>
        </p:nvSpPr>
        <p:spPr>
          <a:xfrm>
            <a:off x="259704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CDC connector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66" name="Connector 6"/>
          <p:cNvCxnSpPr/>
          <p:nvPr/>
        </p:nvCxnSpPr>
        <p:spPr>
          <a:xfrm>
            <a:off x="2359080" y="171900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567" name="Rounded Rectangle 7"/>
          <p:cNvSpPr/>
          <p:nvPr/>
        </p:nvSpPr>
        <p:spPr>
          <a:xfrm>
            <a:off x="469080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 topic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8" name="Connector 8"/>
          <p:cNvCxnSpPr/>
          <p:nvPr/>
        </p:nvCxnSpPr>
        <p:spPr>
          <a:xfrm>
            <a:off x="4452840" y="171900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569" name="Rounded Rectangle 9"/>
          <p:cNvSpPr/>
          <p:nvPr/>
        </p:nvSpPr>
        <p:spPr>
          <a:xfrm>
            <a:off x="678492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 event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70" name="Connector 10"/>
          <p:cNvCxnSpPr/>
          <p:nvPr/>
        </p:nvCxnSpPr>
        <p:spPr>
          <a:xfrm>
            <a:off x="6546960" y="171900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571" name="Rectangle 11"/>
          <p:cNvSpPr/>
          <p:nvPr/>
        </p:nvSpPr>
        <p:spPr>
          <a:xfrm>
            <a:off x="822960" y="2651760"/>
            <a:ext cx="173664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CDC field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Rectangle 12"/>
          <p:cNvSpPr/>
          <p:nvPr/>
        </p:nvSpPr>
        <p:spPr>
          <a:xfrm>
            <a:off x="2560320" y="2651760"/>
            <a:ext cx="539424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it exists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Rectangle 13"/>
          <p:cNvSpPr/>
          <p:nvPr/>
        </p:nvSpPr>
        <p:spPr>
          <a:xfrm>
            <a:off x="822960" y="3035880"/>
            <a:ext cx="17366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op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Rectangle 14"/>
          <p:cNvSpPr/>
          <p:nvPr/>
        </p:nvSpPr>
        <p:spPr>
          <a:xfrm>
            <a:off x="2560320" y="3035880"/>
            <a:ext cx="53942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Create, update, delete or snapshot.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Rectangle 15"/>
          <p:cNvSpPr/>
          <p:nvPr/>
        </p:nvSpPr>
        <p:spPr>
          <a:xfrm>
            <a:off x="822960" y="3420000"/>
            <a:ext cx="17366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before/after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16"/>
          <p:cNvSpPr/>
          <p:nvPr/>
        </p:nvSpPr>
        <p:spPr>
          <a:xfrm>
            <a:off x="2560320" y="3420000"/>
            <a:ext cx="53942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Shows what changed and how to merge state.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Rectangle 17"/>
          <p:cNvSpPr/>
          <p:nvPr/>
        </p:nvSpPr>
        <p:spPr>
          <a:xfrm>
            <a:off x="822960" y="3803760"/>
            <a:ext cx="17366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source_lsn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Rectangle 18"/>
          <p:cNvSpPr/>
          <p:nvPr/>
        </p:nvSpPr>
        <p:spPr>
          <a:xfrm>
            <a:off x="2560320" y="3803760"/>
            <a:ext cx="53942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Deterministic source position for replay and ordering.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Rectangle 19"/>
          <p:cNvSpPr/>
          <p:nvPr/>
        </p:nvSpPr>
        <p:spPr>
          <a:xfrm>
            <a:off x="822960" y="4187880"/>
            <a:ext cx="17366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transaction time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Rectangle 20"/>
          <p:cNvSpPr/>
          <p:nvPr/>
        </p:nvSpPr>
        <p:spPr>
          <a:xfrm>
            <a:off x="2560320" y="4187880"/>
            <a:ext cx="53942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Helps audit source behavior.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2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3"/>
          <p:cNvSpPr/>
          <p:nvPr/>
        </p:nvSpPr>
        <p:spPr>
          <a:xfrm>
            <a:off x="347400" y="530280"/>
            <a:ext cx="845748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CDC envelopes keep audit context that flat rows lose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Rectangle 4"/>
          <p:cNvSpPr/>
          <p:nvPr/>
        </p:nvSpPr>
        <p:spPr>
          <a:xfrm>
            <a:off x="685800" y="1143000"/>
            <a:ext cx="169092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Format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Rectangle 5"/>
          <p:cNvSpPr/>
          <p:nvPr/>
        </p:nvSpPr>
        <p:spPr>
          <a:xfrm>
            <a:off x="2377440" y="1143000"/>
            <a:ext cx="278820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Best for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Rectangle 6"/>
          <p:cNvSpPr/>
          <p:nvPr/>
        </p:nvSpPr>
        <p:spPr>
          <a:xfrm>
            <a:off x="5166360" y="1143000"/>
            <a:ext cx="306252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Tradeoff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7"/>
          <p:cNvSpPr/>
          <p:nvPr/>
        </p:nvSpPr>
        <p:spPr>
          <a:xfrm>
            <a:off x="685800" y="1581840"/>
            <a:ext cx="16909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Envelope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Rectangle 8"/>
          <p:cNvSpPr/>
          <p:nvPr/>
        </p:nvSpPr>
        <p:spPr>
          <a:xfrm>
            <a:off x="2377440" y="1581840"/>
            <a:ext cx="27882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Audit, replay, deletes, SCD logic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Rectangle 9"/>
          <p:cNvSpPr/>
          <p:nvPr/>
        </p:nvSpPr>
        <p:spPr>
          <a:xfrm>
            <a:off x="5166360" y="1581840"/>
            <a:ext cx="3062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More fields and more parsing.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Rectangle 10"/>
          <p:cNvSpPr/>
          <p:nvPr/>
        </p:nvSpPr>
        <p:spPr>
          <a:xfrm>
            <a:off x="685800" y="2020680"/>
            <a:ext cx="16909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Flat row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Rectangle 11"/>
          <p:cNvSpPr/>
          <p:nvPr/>
        </p:nvSpPr>
        <p:spPr>
          <a:xfrm>
            <a:off x="2377440" y="2020680"/>
            <a:ext cx="27882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Simple warehouse sink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Rectangle 12"/>
          <p:cNvSpPr/>
          <p:nvPr/>
        </p:nvSpPr>
        <p:spPr>
          <a:xfrm>
            <a:off x="5166360" y="2020680"/>
            <a:ext cx="3062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hide operation and source metadata.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Rectangle 13"/>
          <p:cNvSpPr/>
          <p:nvPr/>
        </p:nvSpPr>
        <p:spPr>
          <a:xfrm>
            <a:off x="685800" y="2459880"/>
            <a:ext cx="16909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Hybrid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14"/>
          <p:cNvSpPr/>
          <p:nvPr/>
        </p:nvSpPr>
        <p:spPr>
          <a:xfrm>
            <a:off x="2377440" y="2459880"/>
            <a:ext cx="278820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Flat plus __op and __source fields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Rectangle 15"/>
          <p:cNvSpPr/>
          <p:nvPr/>
        </p:nvSpPr>
        <p:spPr>
          <a:xfrm>
            <a:off x="5166360" y="2459880"/>
            <a:ext cx="30625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Needs consistent transform rules.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Rectangle 16"/>
          <p:cNvSpPr/>
          <p:nvPr/>
        </p:nvSpPr>
        <p:spPr>
          <a:xfrm>
            <a:off x="1280160" y="3063240"/>
            <a:ext cx="6217200" cy="65772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{"op":"u","before":{...},"after":{...},"source":{"lsn":104}}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Registry is a contract gate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Rounded Rectangle 4"/>
          <p:cNvSpPr/>
          <p:nvPr/>
        </p:nvSpPr>
        <p:spPr>
          <a:xfrm>
            <a:off x="502920" y="146304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Producer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Rounded Rectangle 5"/>
          <p:cNvSpPr/>
          <p:nvPr/>
        </p:nvSpPr>
        <p:spPr>
          <a:xfrm>
            <a:off x="2178000" y="146304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Schema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Registry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02" name="Connector 6"/>
          <p:cNvCxnSpPr/>
          <p:nvPr/>
        </p:nvCxnSpPr>
        <p:spPr>
          <a:xfrm>
            <a:off x="1940040" y="171900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603" name="Rounded Rectangle 7"/>
          <p:cNvSpPr/>
          <p:nvPr/>
        </p:nvSpPr>
        <p:spPr>
          <a:xfrm>
            <a:off x="3853440" y="146304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4" name="Connector 8"/>
          <p:cNvCxnSpPr/>
          <p:nvPr/>
        </p:nvCxnSpPr>
        <p:spPr>
          <a:xfrm>
            <a:off x="3615480" y="171900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605" name="Rounded Rectangle 9"/>
          <p:cNvSpPr/>
          <p:nvPr/>
        </p:nvSpPr>
        <p:spPr>
          <a:xfrm>
            <a:off x="5528520" y="146304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06" name="Connector 10"/>
          <p:cNvCxnSpPr/>
          <p:nvPr/>
        </p:nvCxnSpPr>
        <p:spPr>
          <a:xfrm>
            <a:off x="5290560" y="171900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607" name="Rounded Rectangle 11"/>
          <p:cNvSpPr/>
          <p:nvPr/>
        </p:nvSpPr>
        <p:spPr>
          <a:xfrm>
            <a:off x="7203600" y="146304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Reject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breaking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08" name="Connector 12"/>
          <p:cNvCxnSpPr/>
          <p:nvPr/>
        </p:nvCxnSpPr>
        <p:spPr>
          <a:xfrm>
            <a:off x="6965640" y="171900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609" name="TextBox 13"/>
          <p:cNvSpPr/>
          <p:nvPr/>
        </p:nvSpPr>
        <p:spPr>
          <a:xfrm>
            <a:off x="822960" y="2834640"/>
            <a:ext cx="7451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Producers validate or register schemas before events spread.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Compatibility policy defines which old/new producers and consumers can coexist.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Breaking changes should fail fast during deploy, not during dashboard refresh.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1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evolution should read like code review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Rectangle 4"/>
          <p:cNvSpPr/>
          <p:nvPr/>
        </p:nvSpPr>
        <p:spPr>
          <a:xfrm>
            <a:off x="685800" y="1143000"/>
            <a:ext cx="3382560" cy="429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Change</a:t>
            </a:r>
            <a:endParaRPr lang="en-IN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Rectangle 5"/>
          <p:cNvSpPr/>
          <p:nvPr/>
        </p:nvSpPr>
        <p:spPr>
          <a:xfrm>
            <a:off x="4069080" y="1143000"/>
            <a:ext cx="1325160" cy="429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Decision</a:t>
            </a:r>
            <a:endParaRPr lang="en-IN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Rectangle 6"/>
          <p:cNvSpPr/>
          <p:nvPr/>
        </p:nvSpPr>
        <p:spPr>
          <a:xfrm>
            <a:off x="5394960" y="1143000"/>
            <a:ext cx="2742480" cy="429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Rectangle 7"/>
          <p:cNvSpPr/>
          <p:nvPr/>
        </p:nvSpPr>
        <p:spPr>
          <a:xfrm>
            <a:off x="685800" y="1572840"/>
            <a:ext cx="338256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 optional customer_tier with default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Rectangle 8"/>
          <p:cNvSpPr/>
          <p:nvPr/>
        </p:nvSpPr>
        <p:spPr>
          <a:xfrm>
            <a:off x="4069080" y="1572840"/>
            <a:ext cx="132516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Accept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Rectangle 9"/>
          <p:cNvSpPr/>
          <p:nvPr/>
        </p:nvSpPr>
        <p:spPr>
          <a:xfrm>
            <a:off x="5394960" y="1572840"/>
            <a:ext cx="27424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Old consumers can ignore it.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Rectangle 10"/>
          <p:cNvSpPr/>
          <p:nvPr/>
        </p:nvSpPr>
        <p:spPr>
          <a:xfrm>
            <a:off x="685800" y="2002680"/>
            <a:ext cx="338256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Rename order_id to id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Rectangle 11"/>
          <p:cNvSpPr/>
          <p:nvPr/>
        </p:nvSpPr>
        <p:spPr>
          <a:xfrm>
            <a:off x="4069080" y="2002680"/>
            <a:ext cx="132516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Rectangle 12"/>
          <p:cNvSpPr/>
          <p:nvPr/>
        </p:nvSpPr>
        <p:spPr>
          <a:xfrm>
            <a:off x="5394960" y="2002680"/>
            <a:ext cx="27424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Field names are part of the contract.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Rectangle 13"/>
          <p:cNvSpPr/>
          <p:nvPr/>
        </p:nvSpPr>
        <p:spPr>
          <a:xfrm>
            <a:off x="685800" y="2432160"/>
            <a:ext cx="338256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Change amount decimal to string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Rectangle 14"/>
          <p:cNvSpPr/>
          <p:nvPr/>
        </p:nvSpPr>
        <p:spPr>
          <a:xfrm>
            <a:off x="4069080" y="2432160"/>
            <a:ext cx="132516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Rectangle 15"/>
          <p:cNvSpPr/>
          <p:nvPr/>
        </p:nvSpPr>
        <p:spPr>
          <a:xfrm>
            <a:off x="5394960" y="2432160"/>
            <a:ext cx="27424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Type semantics break consumers.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Rectangle 16"/>
          <p:cNvSpPr/>
          <p:nvPr/>
        </p:nvSpPr>
        <p:spPr>
          <a:xfrm>
            <a:off x="685800" y="2862000"/>
            <a:ext cx="338256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Remove optional coupon_code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Rectangle 17"/>
          <p:cNvSpPr/>
          <p:nvPr/>
        </p:nvSpPr>
        <p:spPr>
          <a:xfrm>
            <a:off x="4069080" y="2862000"/>
            <a:ext cx="132516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Review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Rectangle 18"/>
          <p:cNvSpPr/>
          <p:nvPr/>
        </p:nvSpPr>
        <p:spPr>
          <a:xfrm>
            <a:off x="5394960" y="2862000"/>
            <a:ext cx="27424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Depends on consumer expectations.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9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Box 3"/>
          <p:cNvSpPr/>
          <p:nvPr/>
        </p:nvSpPr>
        <p:spPr>
          <a:xfrm>
            <a:off x="347400" y="530280"/>
            <a:ext cx="845748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Avro, JSON Schema and Protobuf are contract choices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Rectangle 4"/>
          <p:cNvSpPr/>
          <p:nvPr/>
        </p:nvSpPr>
        <p:spPr>
          <a:xfrm>
            <a:off x="594360" y="1143000"/>
            <a:ext cx="141660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Format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Rectangle 5"/>
          <p:cNvSpPr/>
          <p:nvPr/>
        </p:nvSpPr>
        <p:spPr>
          <a:xfrm>
            <a:off x="2011680" y="1143000"/>
            <a:ext cx="205668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Strength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Rectangle 6"/>
          <p:cNvSpPr/>
          <p:nvPr/>
        </p:nvSpPr>
        <p:spPr>
          <a:xfrm>
            <a:off x="4069080" y="1143000"/>
            <a:ext cx="205668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Tradeoff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Rectangle 7"/>
          <p:cNvSpPr/>
          <p:nvPr/>
        </p:nvSpPr>
        <p:spPr>
          <a:xfrm>
            <a:off x="6126480" y="1143000"/>
            <a:ext cx="214812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Good fit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Rectangle 8"/>
          <p:cNvSpPr/>
          <p:nvPr/>
        </p:nvSpPr>
        <p:spPr>
          <a:xfrm>
            <a:off x="594360" y="1563480"/>
            <a:ext cx="141660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Avro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Rectangle 9"/>
          <p:cNvSpPr/>
          <p:nvPr/>
        </p:nvSpPr>
        <p:spPr>
          <a:xfrm>
            <a:off x="2011680" y="1563480"/>
            <a:ext cx="20566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Compact, schema evolution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Rectangle 10"/>
          <p:cNvSpPr/>
          <p:nvPr/>
        </p:nvSpPr>
        <p:spPr>
          <a:xfrm>
            <a:off x="4069080" y="1563480"/>
            <a:ext cx="20566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Less human-readable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Rectangle 11"/>
          <p:cNvSpPr/>
          <p:nvPr/>
        </p:nvSpPr>
        <p:spPr>
          <a:xfrm>
            <a:off x="6126480" y="1563480"/>
            <a:ext cx="214812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data platforms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Rectangle 12"/>
          <p:cNvSpPr/>
          <p:nvPr/>
        </p:nvSpPr>
        <p:spPr>
          <a:xfrm>
            <a:off x="594360" y="1984320"/>
            <a:ext cx="141660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JSON Schema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Rectangle 13"/>
          <p:cNvSpPr/>
          <p:nvPr/>
        </p:nvSpPr>
        <p:spPr>
          <a:xfrm>
            <a:off x="2011680" y="1984320"/>
            <a:ext cx="20566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Readable, API-friendly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Rectangle 14"/>
          <p:cNvSpPr/>
          <p:nvPr/>
        </p:nvSpPr>
        <p:spPr>
          <a:xfrm>
            <a:off x="4069080" y="1984320"/>
            <a:ext cx="20566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Larger payloads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Rectangle 15"/>
          <p:cNvSpPr/>
          <p:nvPr/>
        </p:nvSpPr>
        <p:spPr>
          <a:xfrm>
            <a:off x="6126480" y="1984320"/>
            <a:ext cx="214812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App/API integration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Rectangle 16"/>
          <p:cNvSpPr/>
          <p:nvPr/>
        </p:nvSpPr>
        <p:spPr>
          <a:xfrm>
            <a:off x="594360" y="2404800"/>
            <a:ext cx="141660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Protobuf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Rectangle 17"/>
          <p:cNvSpPr/>
          <p:nvPr/>
        </p:nvSpPr>
        <p:spPr>
          <a:xfrm>
            <a:off x="2011680" y="2404800"/>
            <a:ext cx="20566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Strong typing, codegen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Rectangle 18"/>
          <p:cNvSpPr/>
          <p:nvPr/>
        </p:nvSpPr>
        <p:spPr>
          <a:xfrm>
            <a:off x="4069080" y="2404800"/>
            <a:ext cx="20566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Requires .proto discipline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Rectangle 19"/>
          <p:cNvSpPr/>
          <p:nvPr/>
        </p:nvSpPr>
        <p:spPr>
          <a:xfrm>
            <a:off x="6126480" y="2404800"/>
            <a:ext cx="214812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Service contracts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8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Producer settings are durability choices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4"/>
          <p:cNvSpPr/>
          <p:nvPr/>
        </p:nvSpPr>
        <p:spPr>
          <a:xfrm>
            <a:off x="685800" y="1143000"/>
            <a:ext cx="182808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Setting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Rectangle 5"/>
          <p:cNvSpPr/>
          <p:nvPr/>
        </p:nvSpPr>
        <p:spPr>
          <a:xfrm>
            <a:off x="2514600" y="1143000"/>
            <a:ext cx="283392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it exists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Rectangle 6"/>
          <p:cNvSpPr/>
          <p:nvPr/>
        </p:nvSpPr>
        <p:spPr>
          <a:xfrm>
            <a:off x="5349240" y="1143000"/>
            <a:ext cx="274248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Beginner note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Rectangle 7"/>
          <p:cNvSpPr/>
          <p:nvPr/>
        </p:nvSpPr>
        <p:spPr>
          <a:xfrm>
            <a:off x="685800" y="156348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acks=all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Rectangle 8"/>
          <p:cNvSpPr/>
          <p:nvPr/>
        </p:nvSpPr>
        <p:spPr>
          <a:xfrm>
            <a:off x="2514600" y="1563480"/>
            <a:ext cx="283392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Wait for replicated acknowledgement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Rectangle 9"/>
          <p:cNvSpPr/>
          <p:nvPr/>
        </p:nvSpPr>
        <p:spPr>
          <a:xfrm>
            <a:off x="5349240" y="156348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Safer than leader-only acknowledgement.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Rectangle 10"/>
          <p:cNvSpPr/>
          <p:nvPr/>
        </p:nvSpPr>
        <p:spPr>
          <a:xfrm>
            <a:off x="685800" y="198432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enable.idempotence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Rectangle 11"/>
          <p:cNvSpPr/>
          <p:nvPr/>
        </p:nvSpPr>
        <p:spPr>
          <a:xfrm>
            <a:off x="2514600" y="1984320"/>
            <a:ext cx="283392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Avoid duplicates from retries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Rectangle 12"/>
          <p:cNvSpPr/>
          <p:nvPr/>
        </p:nvSpPr>
        <p:spPr>
          <a:xfrm>
            <a:off x="5349240" y="198432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 with stable keys and retries.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Rectangle 13"/>
          <p:cNvSpPr/>
          <p:nvPr/>
        </p:nvSpPr>
        <p:spPr>
          <a:xfrm>
            <a:off x="685800" y="240480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delivery callback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Rectangle 14"/>
          <p:cNvSpPr/>
          <p:nvPr/>
        </p:nvSpPr>
        <p:spPr>
          <a:xfrm>
            <a:off x="2514600" y="2404800"/>
            <a:ext cx="283392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Know if produce failed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Rectangle 15"/>
          <p:cNvSpPr/>
          <p:nvPr/>
        </p:nvSpPr>
        <p:spPr>
          <a:xfrm>
            <a:off x="5349240" y="240480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Never ignore failed sends.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Rectangle 16"/>
          <p:cNvSpPr/>
          <p:nvPr/>
        </p:nvSpPr>
        <p:spPr>
          <a:xfrm>
            <a:off x="685800" y="282564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linger/batch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Rectangle 17"/>
          <p:cNvSpPr/>
          <p:nvPr/>
        </p:nvSpPr>
        <p:spPr>
          <a:xfrm>
            <a:off x="2514600" y="2825640"/>
            <a:ext cx="283392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Trade latency for throughput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Rectangle 18"/>
          <p:cNvSpPr/>
          <p:nvPr/>
        </p:nvSpPr>
        <p:spPr>
          <a:xfrm>
            <a:off x="5349240" y="282564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Useful during backlog catch-up.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6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Consumers should commit after durable work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Rounded Rectangle 4"/>
          <p:cNvSpPr/>
          <p:nvPr/>
        </p:nvSpPr>
        <p:spPr>
          <a:xfrm>
            <a:off x="50292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Poll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Rounded Rectangle 5"/>
          <p:cNvSpPr/>
          <p:nvPr/>
        </p:nvSpPr>
        <p:spPr>
          <a:xfrm>
            <a:off x="217800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70" name="Connector 6"/>
          <p:cNvCxnSpPr/>
          <p:nvPr/>
        </p:nvCxnSpPr>
        <p:spPr>
          <a:xfrm>
            <a:off x="1940040" y="158184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671" name="Rounded Rectangle 7"/>
          <p:cNvSpPr/>
          <p:nvPr/>
        </p:nvSpPr>
        <p:spPr>
          <a:xfrm>
            <a:off x="385344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Write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output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2" name="Connector 8"/>
          <p:cNvCxnSpPr/>
          <p:nvPr/>
        </p:nvCxnSpPr>
        <p:spPr>
          <a:xfrm>
            <a:off x="3615480" y="158184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673" name="Rounded Rectangle 9"/>
          <p:cNvSpPr/>
          <p:nvPr/>
        </p:nvSpPr>
        <p:spPr>
          <a:xfrm>
            <a:off x="552852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Commit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74" name="Connector 10"/>
          <p:cNvCxnSpPr/>
          <p:nvPr/>
        </p:nvCxnSpPr>
        <p:spPr>
          <a:xfrm>
            <a:off x="5290560" y="158184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675" name="Rounded Rectangle 11"/>
          <p:cNvSpPr/>
          <p:nvPr/>
        </p:nvSpPr>
        <p:spPr>
          <a:xfrm>
            <a:off x="720360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Next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poll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76" name="Connector 12"/>
          <p:cNvCxnSpPr/>
          <p:nvPr/>
        </p:nvCxnSpPr>
        <p:spPr>
          <a:xfrm>
            <a:off x="6965640" y="158184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677" name="Rectangle 13"/>
          <p:cNvSpPr/>
          <p:nvPr/>
        </p:nvSpPr>
        <p:spPr>
          <a:xfrm>
            <a:off x="731520" y="2560320"/>
            <a:ext cx="187380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Pattern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Rectangle 14"/>
          <p:cNvSpPr/>
          <p:nvPr/>
        </p:nvSpPr>
        <p:spPr>
          <a:xfrm>
            <a:off x="2606040" y="2560320"/>
            <a:ext cx="191952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Meaning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Rectangle 15"/>
          <p:cNvSpPr/>
          <p:nvPr/>
        </p:nvSpPr>
        <p:spPr>
          <a:xfrm>
            <a:off x="4526280" y="2560320"/>
            <a:ext cx="356544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Tradeoff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Rectangle 16"/>
          <p:cNvSpPr/>
          <p:nvPr/>
        </p:nvSpPr>
        <p:spPr>
          <a:xfrm>
            <a:off x="731520" y="2944440"/>
            <a:ext cx="187380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 before write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Rectangle 17"/>
          <p:cNvSpPr/>
          <p:nvPr/>
        </p:nvSpPr>
        <p:spPr>
          <a:xfrm>
            <a:off x="2606040" y="2944440"/>
            <a:ext cx="19195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Fast but unsafe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Rectangle 18"/>
          <p:cNvSpPr/>
          <p:nvPr/>
        </p:nvSpPr>
        <p:spPr>
          <a:xfrm>
            <a:off x="4526280" y="2944440"/>
            <a:ext cx="35654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Crash can lose an event.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Rectangle 19"/>
          <p:cNvSpPr/>
          <p:nvPr/>
        </p:nvSpPr>
        <p:spPr>
          <a:xfrm>
            <a:off x="731520" y="3328560"/>
            <a:ext cx="187380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 after write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Rectangle 20"/>
          <p:cNvSpPr/>
          <p:nvPr/>
        </p:nvSpPr>
        <p:spPr>
          <a:xfrm>
            <a:off x="2606040" y="3328560"/>
            <a:ext cx="19195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Safer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Rectangle 21"/>
          <p:cNvSpPr/>
          <p:nvPr/>
        </p:nvSpPr>
        <p:spPr>
          <a:xfrm>
            <a:off x="4526280" y="3328560"/>
            <a:ext cx="35654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Crash can replay; output must be idempotent.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Rectangle 22"/>
          <p:cNvSpPr/>
          <p:nvPr/>
        </p:nvSpPr>
        <p:spPr>
          <a:xfrm>
            <a:off x="731520" y="3712320"/>
            <a:ext cx="187380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Transaction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Rectangle 23"/>
          <p:cNvSpPr/>
          <p:nvPr/>
        </p:nvSpPr>
        <p:spPr>
          <a:xfrm>
            <a:off x="2606040" y="3712320"/>
            <a:ext cx="19195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Strongest Kafka path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Rectangle 24"/>
          <p:cNvSpPr/>
          <p:nvPr/>
        </p:nvSpPr>
        <p:spPr>
          <a:xfrm>
            <a:off x="4526280" y="3712320"/>
            <a:ext cx="356544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 for atomic Kafka read/write flows.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0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Delivery semantics are failure tradeoffs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Rectangle 4"/>
          <p:cNvSpPr/>
          <p:nvPr/>
        </p:nvSpPr>
        <p:spPr>
          <a:xfrm>
            <a:off x="640080" y="1143000"/>
            <a:ext cx="1508040" cy="429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Semantic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Rectangle 5"/>
          <p:cNvSpPr/>
          <p:nvPr/>
        </p:nvSpPr>
        <p:spPr>
          <a:xfrm>
            <a:off x="2148840" y="1143000"/>
            <a:ext cx="2742480" cy="429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Meaning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Rectangle 6"/>
          <p:cNvSpPr/>
          <p:nvPr/>
        </p:nvSpPr>
        <p:spPr>
          <a:xfrm>
            <a:off x="4892040" y="1143000"/>
            <a:ext cx="3474000" cy="429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Typical control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Rectangle 7"/>
          <p:cNvSpPr/>
          <p:nvPr/>
        </p:nvSpPr>
        <p:spPr>
          <a:xfrm>
            <a:off x="640080" y="1572840"/>
            <a:ext cx="150804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At-most-once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Rectangle 8"/>
          <p:cNvSpPr/>
          <p:nvPr/>
        </p:nvSpPr>
        <p:spPr>
          <a:xfrm>
            <a:off x="2148840" y="1572840"/>
            <a:ext cx="27424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May lose records, avoids duplicates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Rectangle 9"/>
          <p:cNvSpPr/>
          <p:nvPr/>
        </p:nvSpPr>
        <p:spPr>
          <a:xfrm>
            <a:off x="4892040" y="1572840"/>
            <a:ext cx="347400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 before processing.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Rectangle 10"/>
          <p:cNvSpPr/>
          <p:nvPr/>
        </p:nvSpPr>
        <p:spPr>
          <a:xfrm>
            <a:off x="640080" y="2002680"/>
            <a:ext cx="150804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At-least-once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Rectangle 11"/>
          <p:cNvSpPr/>
          <p:nvPr/>
        </p:nvSpPr>
        <p:spPr>
          <a:xfrm>
            <a:off x="2148840" y="2002680"/>
            <a:ext cx="27424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 loss, may duplicate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Rectangle 12"/>
          <p:cNvSpPr/>
          <p:nvPr/>
        </p:nvSpPr>
        <p:spPr>
          <a:xfrm>
            <a:off x="4892040" y="2002680"/>
            <a:ext cx="347400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 after idempotent output.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Rectangle 13"/>
          <p:cNvSpPr/>
          <p:nvPr/>
        </p:nvSpPr>
        <p:spPr>
          <a:xfrm>
            <a:off x="640080" y="2432160"/>
            <a:ext cx="150804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Exactly-once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Rectangle 14"/>
          <p:cNvSpPr/>
          <p:nvPr/>
        </p:nvSpPr>
        <p:spPr>
          <a:xfrm>
            <a:off x="2148840" y="2432160"/>
            <a:ext cx="27424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Atomic Kafka read/write path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Rectangle 15"/>
          <p:cNvSpPr/>
          <p:nvPr/>
        </p:nvSpPr>
        <p:spPr>
          <a:xfrm>
            <a:off x="4892040" y="2432160"/>
            <a:ext cx="347400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Transactions and read_committed.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Rectangle 16"/>
          <p:cNvSpPr/>
          <p:nvPr/>
        </p:nvSpPr>
        <p:spPr>
          <a:xfrm>
            <a:off x="640080" y="2862000"/>
            <a:ext cx="150804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External sink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Rectangle 17"/>
          <p:cNvSpPr/>
          <p:nvPr/>
        </p:nvSpPr>
        <p:spPr>
          <a:xfrm>
            <a:off x="2148840" y="2862000"/>
            <a:ext cx="274248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EOS may not cover DB/API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Rectangle 18"/>
          <p:cNvSpPr/>
          <p:nvPr/>
        </p:nvSpPr>
        <p:spPr>
          <a:xfrm>
            <a:off x="4892040" y="2862000"/>
            <a:ext cx="3474000" cy="429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Idempotent writes still required.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8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Box 3"/>
          <p:cNvSpPr/>
          <p:nvPr/>
        </p:nvSpPr>
        <p:spPr>
          <a:xfrm>
            <a:off x="347400" y="530280"/>
            <a:ext cx="8457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Backpressure appears as lag before it appears as failure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Rounded Rectangle 4"/>
          <p:cNvSpPr/>
          <p:nvPr/>
        </p:nvSpPr>
        <p:spPr>
          <a:xfrm>
            <a:off x="502920" y="150876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Producer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fast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Rounded Rectangle 5"/>
          <p:cNvSpPr/>
          <p:nvPr/>
        </p:nvSpPr>
        <p:spPr>
          <a:xfrm>
            <a:off x="2597040" y="150876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buffer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12" name="Connector 6"/>
          <p:cNvCxnSpPr/>
          <p:nvPr/>
        </p:nvCxnSpPr>
        <p:spPr>
          <a:xfrm>
            <a:off x="2359080" y="176472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13" name="Rounded Rectangle 7"/>
          <p:cNvSpPr/>
          <p:nvPr/>
        </p:nvSpPr>
        <p:spPr>
          <a:xfrm>
            <a:off x="4690800" y="150876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slow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4" name="Connector 8"/>
          <p:cNvCxnSpPr/>
          <p:nvPr/>
        </p:nvCxnSpPr>
        <p:spPr>
          <a:xfrm>
            <a:off x="4452840" y="176472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15" name="Rounded Rectangle 9"/>
          <p:cNvSpPr/>
          <p:nvPr/>
        </p:nvSpPr>
        <p:spPr>
          <a:xfrm>
            <a:off x="6784920" y="150876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Sink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slower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16" name="Connector 10"/>
          <p:cNvCxnSpPr/>
          <p:nvPr/>
        </p:nvCxnSpPr>
        <p:spPr>
          <a:xfrm>
            <a:off x="6546960" y="176472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17" name="TextBox 11"/>
          <p:cNvSpPr/>
          <p:nvPr/>
        </p:nvSpPr>
        <p:spPr>
          <a:xfrm>
            <a:off x="822960" y="2788920"/>
            <a:ext cx="74973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absorbs temporary bursts, but it does not remove downstream capacity limits.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rising while error count is zero means the system is alive but falling behind.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 turns long backpressure into a data-loss risk.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9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Two sources can disagree even when both are valid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Rounded Rectangle 4"/>
          <p:cNvSpPr/>
          <p:nvPr/>
        </p:nvSpPr>
        <p:spPr>
          <a:xfrm>
            <a:off x="914400" y="1417320"/>
            <a:ext cx="221832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Orders CDC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Rounded Rectangle 5"/>
          <p:cNvSpPr/>
          <p:nvPr/>
        </p:nvSpPr>
        <p:spPr>
          <a:xfrm>
            <a:off x="3371040" y="1417320"/>
            <a:ext cx="221832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Logistics CSV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23" name="Connector 6"/>
          <p:cNvCxnSpPr/>
          <p:nvPr/>
        </p:nvCxnSpPr>
        <p:spPr>
          <a:xfrm>
            <a:off x="313308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24" name="Rounded Rectangle 7"/>
          <p:cNvSpPr/>
          <p:nvPr/>
        </p:nvSpPr>
        <p:spPr>
          <a:xfrm>
            <a:off x="5827680" y="1417320"/>
            <a:ext cx="221832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 merge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order_id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5" name="Connector 8"/>
          <p:cNvCxnSpPr/>
          <p:nvPr/>
        </p:nvCxnSpPr>
        <p:spPr>
          <a:xfrm>
            <a:off x="558972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26" name="Rectangle 9"/>
          <p:cNvSpPr/>
          <p:nvPr/>
        </p:nvSpPr>
        <p:spPr>
          <a:xfrm>
            <a:off x="914400" y="2606040"/>
            <a:ext cx="191952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Clash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Rectangle 10"/>
          <p:cNvSpPr/>
          <p:nvPr/>
        </p:nvSpPr>
        <p:spPr>
          <a:xfrm>
            <a:off x="2834640" y="2606040"/>
            <a:ext cx="525708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Rule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Rectangle 11"/>
          <p:cNvSpPr/>
          <p:nvPr/>
        </p:nvSpPr>
        <p:spPr>
          <a:xfrm>
            <a:off x="914400" y="2990160"/>
            <a:ext cx="19195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Different status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Rectangle 12"/>
          <p:cNvSpPr/>
          <p:nvPr/>
        </p:nvSpPr>
        <p:spPr>
          <a:xfrm>
            <a:off x="2834640" y="2990160"/>
            <a:ext cx="52570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Orders owns payment state; logistics owns shipment state.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Rectangle 13"/>
          <p:cNvSpPr/>
          <p:nvPr/>
        </p:nvSpPr>
        <p:spPr>
          <a:xfrm>
            <a:off x="914400" y="3374280"/>
            <a:ext cx="19195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CSV before order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Rectangle 14"/>
          <p:cNvSpPr/>
          <p:nvPr/>
        </p:nvSpPr>
        <p:spPr>
          <a:xfrm>
            <a:off x="2834640" y="3374280"/>
            <a:ext cx="52570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Put in pending reference; replay after order arrives.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Rectangle 15"/>
          <p:cNvSpPr/>
          <p:nvPr/>
        </p:nvSpPr>
        <p:spPr>
          <a:xfrm>
            <a:off x="914400" y="3758040"/>
            <a:ext cx="19195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Duplicate CDC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Rectangle 16"/>
          <p:cNvSpPr/>
          <p:nvPr/>
        </p:nvSpPr>
        <p:spPr>
          <a:xfrm>
            <a:off x="2834640" y="3758040"/>
            <a:ext cx="52570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Dedupe by event_id or source_lsn plus key.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Rectangle 17"/>
          <p:cNvSpPr/>
          <p:nvPr/>
        </p:nvSpPr>
        <p:spPr>
          <a:xfrm>
            <a:off x="914400" y="4142160"/>
            <a:ext cx="19195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Time disagreement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Rectangle 18"/>
          <p:cNvSpPr/>
          <p:nvPr/>
        </p:nvSpPr>
        <p:spPr>
          <a:xfrm>
            <a:off x="2834640" y="4142160"/>
            <a:ext cx="52570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event time and ingestion time separately.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7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Pending references prevent false data loss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Rounded Rectangle 4"/>
          <p:cNvSpPr/>
          <p:nvPr/>
        </p:nvSpPr>
        <p:spPr>
          <a:xfrm>
            <a:off x="502920" y="150876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Logistics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row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Rounded Rectangle 5"/>
          <p:cNvSpPr/>
          <p:nvPr/>
        </p:nvSpPr>
        <p:spPr>
          <a:xfrm>
            <a:off x="2597040" y="150876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order_id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41" name="Connector 6"/>
          <p:cNvCxnSpPr/>
          <p:nvPr/>
        </p:nvCxnSpPr>
        <p:spPr>
          <a:xfrm>
            <a:off x="2359080" y="176472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42" name="Rounded Rectangle 7"/>
          <p:cNvSpPr/>
          <p:nvPr/>
        </p:nvSpPr>
        <p:spPr>
          <a:xfrm>
            <a:off x="4690800" y="150876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Pending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reference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3" name="Connector 8"/>
          <p:cNvCxnSpPr/>
          <p:nvPr/>
        </p:nvCxnSpPr>
        <p:spPr>
          <a:xfrm>
            <a:off x="4452840" y="176472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44" name="Rounded Rectangle 9"/>
          <p:cNvSpPr/>
          <p:nvPr/>
        </p:nvSpPr>
        <p:spPr>
          <a:xfrm>
            <a:off x="6784920" y="150876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Replay after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 arrives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45" name="Connector 10"/>
          <p:cNvCxnSpPr/>
          <p:nvPr/>
        </p:nvCxnSpPr>
        <p:spPr>
          <a:xfrm>
            <a:off x="6546960" y="176472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46" name="TextBox 11"/>
          <p:cNvSpPr/>
          <p:nvPr/>
        </p:nvSpPr>
        <p:spPr>
          <a:xfrm>
            <a:off x="868680" y="2971800"/>
            <a:ext cx="731448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missing dimension or parent row can be a timing issue, not a bad event.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Hold the child row with reason and age, then replay it when the parent appears.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8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Box 3"/>
          <p:cNvSpPr/>
          <p:nvPr/>
        </p:nvSpPr>
        <p:spPr>
          <a:xfrm>
            <a:off x="347400" y="530280"/>
            <a:ext cx="845748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Idempotency means replay does not change the answer incorrectly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Rectangle 4"/>
          <p:cNvSpPr/>
          <p:nvPr/>
        </p:nvSpPr>
        <p:spPr>
          <a:xfrm>
            <a:off x="685800" y="1143000"/>
            <a:ext cx="182808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Technique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Rectangle 5"/>
          <p:cNvSpPr/>
          <p:nvPr/>
        </p:nvSpPr>
        <p:spPr>
          <a:xfrm>
            <a:off x="2514600" y="1143000"/>
            <a:ext cx="274248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Use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Rectangle 6"/>
          <p:cNvSpPr/>
          <p:nvPr/>
        </p:nvSpPr>
        <p:spPr>
          <a:xfrm>
            <a:off x="5257800" y="1143000"/>
            <a:ext cx="292536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Rectangle 7"/>
          <p:cNvSpPr/>
          <p:nvPr/>
        </p:nvSpPr>
        <p:spPr>
          <a:xfrm>
            <a:off x="685800" y="156348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event_id dedupe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Rectangle 8"/>
          <p:cNvSpPr/>
          <p:nvPr/>
        </p:nvSpPr>
        <p:spPr>
          <a:xfrm>
            <a:off x="2514600" y="156348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 exact duplicate events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Rectangle 9"/>
          <p:cNvSpPr/>
          <p:nvPr/>
        </p:nvSpPr>
        <p:spPr>
          <a:xfrm>
            <a:off x="5257800" y="1563480"/>
            <a:ext cx="29253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Same CDC event retried by producer.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Rectangle 10"/>
          <p:cNvSpPr/>
          <p:nvPr/>
        </p:nvSpPr>
        <p:spPr>
          <a:xfrm>
            <a:off x="685800" y="198432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merge by key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Rectangle 11"/>
          <p:cNvSpPr/>
          <p:nvPr/>
        </p:nvSpPr>
        <p:spPr>
          <a:xfrm>
            <a:off x="2514600" y="198432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latest valid state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Rectangle 12"/>
          <p:cNvSpPr/>
          <p:nvPr/>
        </p:nvSpPr>
        <p:spPr>
          <a:xfrm>
            <a:off x="5257800" y="1984320"/>
            <a:ext cx="29253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Upsert current order by order_id.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Rectangle 13"/>
          <p:cNvSpPr/>
          <p:nvPr/>
        </p:nvSpPr>
        <p:spPr>
          <a:xfrm>
            <a:off x="685800" y="240480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deterministic output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Rectangle 14"/>
          <p:cNvSpPr/>
          <p:nvPr/>
        </p:nvSpPr>
        <p:spPr>
          <a:xfrm>
            <a:off x="2514600" y="240480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Recompute same result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Rectangle 15"/>
          <p:cNvSpPr/>
          <p:nvPr/>
        </p:nvSpPr>
        <p:spPr>
          <a:xfrm>
            <a:off x="5257800" y="2404800"/>
            <a:ext cx="29253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Gold revenue from accepted Silver facts.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Rectangle 16"/>
          <p:cNvSpPr/>
          <p:nvPr/>
        </p:nvSpPr>
        <p:spPr>
          <a:xfrm>
            <a:off x="685800" y="282564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 audit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Rectangle 17"/>
          <p:cNvSpPr/>
          <p:nvPr/>
        </p:nvSpPr>
        <p:spPr>
          <a:xfrm>
            <a:off x="2514600" y="282564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Prove recovery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Rectangle 18"/>
          <p:cNvSpPr/>
          <p:nvPr/>
        </p:nvSpPr>
        <p:spPr>
          <a:xfrm>
            <a:off x="5257800" y="2825640"/>
            <a:ext cx="29253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Before/after counts and totals match.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6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Box 3"/>
          <p:cNvSpPr/>
          <p:nvPr/>
        </p:nvSpPr>
        <p:spPr>
          <a:xfrm>
            <a:off x="347400" y="530280"/>
            <a:ext cx="845748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Data quality rules are contracts, not cleanup wishes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Rectangle 4"/>
          <p:cNvSpPr/>
          <p:nvPr/>
        </p:nvSpPr>
        <p:spPr>
          <a:xfrm>
            <a:off x="685800" y="1143000"/>
            <a:ext cx="182808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Rule type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Rectangle 5"/>
          <p:cNvSpPr/>
          <p:nvPr/>
        </p:nvSpPr>
        <p:spPr>
          <a:xfrm>
            <a:off x="2514600" y="1143000"/>
            <a:ext cx="274248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Rectangle 6"/>
          <p:cNvSpPr/>
          <p:nvPr/>
        </p:nvSpPr>
        <p:spPr>
          <a:xfrm>
            <a:off x="5257800" y="1143000"/>
            <a:ext cx="292536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Failure path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Rectangle 7"/>
          <p:cNvSpPr/>
          <p:nvPr/>
        </p:nvSpPr>
        <p:spPr>
          <a:xfrm>
            <a:off x="685800" y="156348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Shape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Rectangle 8"/>
          <p:cNvSpPr/>
          <p:nvPr/>
        </p:nvSpPr>
        <p:spPr>
          <a:xfrm>
            <a:off x="2514600" y="156348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Required field exists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Rectangle 9"/>
          <p:cNvSpPr/>
          <p:nvPr/>
        </p:nvSpPr>
        <p:spPr>
          <a:xfrm>
            <a:off x="5257800" y="1563480"/>
            <a:ext cx="29253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parse/schema failure.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Rectangle 10"/>
          <p:cNvSpPr/>
          <p:nvPr/>
        </p:nvSpPr>
        <p:spPr>
          <a:xfrm>
            <a:off x="685800" y="198432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Referential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Rectangle 11"/>
          <p:cNvSpPr/>
          <p:nvPr/>
        </p:nvSpPr>
        <p:spPr>
          <a:xfrm>
            <a:off x="2514600" y="198432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shipment.order_id exists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Rectangle 12"/>
          <p:cNvSpPr/>
          <p:nvPr/>
        </p:nvSpPr>
        <p:spPr>
          <a:xfrm>
            <a:off x="5257800" y="1984320"/>
            <a:ext cx="29253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Pending reference or quarantine.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Rectangle 13"/>
          <p:cNvSpPr/>
          <p:nvPr/>
        </p:nvSpPr>
        <p:spPr>
          <a:xfrm>
            <a:off x="685800" y="240480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Business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Rectangle 14"/>
          <p:cNvSpPr/>
          <p:nvPr/>
        </p:nvSpPr>
        <p:spPr>
          <a:xfrm>
            <a:off x="2514600" y="240480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amount &gt;= 0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Rectangle 15"/>
          <p:cNvSpPr/>
          <p:nvPr/>
        </p:nvSpPr>
        <p:spPr>
          <a:xfrm>
            <a:off x="5257800" y="2404800"/>
            <a:ext cx="29253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Quarantine with owner.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Rectangle 16"/>
          <p:cNvSpPr/>
          <p:nvPr/>
        </p:nvSpPr>
        <p:spPr>
          <a:xfrm>
            <a:off x="685800" y="2825640"/>
            <a:ext cx="18280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Freshness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Rectangle 17"/>
          <p:cNvSpPr/>
          <p:nvPr/>
        </p:nvSpPr>
        <p:spPr>
          <a:xfrm>
            <a:off x="2514600" y="2825640"/>
            <a:ext cx="274248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source_lsn reaches expected point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Rectangle 18"/>
          <p:cNvSpPr/>
          <p:nvPr/>
        </p:nvSpPr>
        <p:spPr>
          <a:xfrm>
            <a:off x="5257800" y="2825640"/>
            <a:ext cx="29253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Hold Gold publish.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4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Box 3"/>
          <p:cNvSpPr/>
          <p:nvPr/>
        </p:nvSpPr>
        <p:spPr>
          <a:xfrm>
            <a:off x="347400" y="530280"/>
            <a:ext cx="8457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Observability connects Kafka health to medallion outputs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Rounded Rectangle 4"/>
          <p:cNvSpPr/>
          <p:nvPr/>
        </p:nvSpPr>
        <p:spPr>
          <a:xfrm>
            <a:off x="50292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lag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Rounded Rectangle 5"/>
          <p:cNvSpPr/>
          <p:nvPr/>
        </p:nvSpPr>
        <p:spPr>
          <a:xfrm>
            <a:off x="217800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Connector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status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88" name="Connector 6"/>
          <p:cNvCxnSpPr/>
          <p:nvPr/>
        </p:nvCxnSpPr>
        <p:spPr>
          <a:xfrm>
            <a:off x="19400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89" name="Rounded Rectangle 7"/>
          <p:cNvSpPr/>
          <p:nvPr/>
        </p:nvSpPr>
        <p:spPr>
          <a:xfrm>
            <a:off x="385344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counts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0" name="Connector 8"/>
          <p:cNvCxnSpPr/>
          <p:nvPr/>
        </p:nvCxnSpPr>
        <p:spPr>
          <a:xfrm>
            <a:off x="361548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91" name="Rounded Rectangle 9"/>
          <p:cNvSpPr/>
          <p:nvPr/>
        </p:nvSpPr>
        <p:spPr>
          <a:xfrm>
            <a:off x="552852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DQ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92" name="Connector 10"/>
          <p:cNvCxnSpPr/>
          <p:nvPr/>
        </p:nvCxnSpPr>
        <p:spPr>
          <a:xfrm>
            <a:off x="529056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93" name="Rounded Rectangle 11"/>
          <p:cNvSpPr/>
          <p:nvPr/>
        </p:nvSpPr>
        <p:spPr>
          <a:xfrm>
            <a:off x="720360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freshness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94" name="Connector 12"/>
          <p:cNvCxnSpPr/>
          <p:nvPr/>
        </p:nvCxnSpPr>
        <p:spPr>
          <a:xfrm>
            <a:off x="69656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795" name="Rectangle 13"/>
          <p:cNvSpPr/>
          <p:nvPr/>
        </p:nvSpPr>
        <p:spPr>
          <a:xfrm>
            <a:off x="914400" y="2743200"/>
            <a:ext cx="2010960" cy="3466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Signal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Rectangle 14"/>
          <p:cNvSpPr/>
          <p:nvPr/>
        </p:nvSpPr>
        <p:spPr>
          <a:xfrm>
            <a:off x="2926080" y="2743200"/>
            <a:ext cx="5119920" cy="3466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Rectangle 15"/>
          <p:cNvSpPr/>
          <p:nvPr/>
        </p:nvSpPr>
        <p:spPr>
          <a:xfrm>
            <a:off x="914400" y="3090600"/>
            <a:ext cx="201096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records-lag-max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Rectangle 16"/>
          <p:cNvSpPr/>
          <p:nvPr/>
        </p:nvSpPr>
        <p:spPr>
          <a:xfrm>
            <a:off x="2926080" y="3090600"/>
            <a:ext cx="511992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Are consumers catching up before retention risk?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Rectangle 17"/>
          <p:cNvSpPr/>
          <p:nvPr/>
        </p:nvSpPr>
        <p:spPr>
          <a:xfrm>
            <a:off x="914400" y="3438000"/>
            <a:ext cx="201096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count by reason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Rectangle 18"/>
          <p:cNvSpPr/>
          <p:nvPr/>
        </p:nvSpPr>
        <p:spPr>
          <a:xfrm>
            <a:off x="2926080" y="3438000"/>
            <a:ext cx="511992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Which source contract is failing?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Rectangle 19"/>
          <p:cNvSpPr/>
          <p:nvPr/>
        </p:nvSpPr>
        <p:spPr>
          <a:xfrm>
            <a:off x="914400" y="3785760"/>
            <a:ext cx="201096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Gold freshness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Rectangle 20"/>
          <p:cNvSpPr/>
          <p:nvPr/>
        </p:nvSpPr>
        <p:spPr>
          <a:xfrm>
            <a:off x="2926080" y="3785760"/>
            <a:ext cx="511992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the report publish?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4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Tool choice starts with semantics, not popularity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Rectangle 4"/>
          <p:cNvSpPr/>
          <p:nvPr/>
        </p:nvSpPr>
        <p:spPr>
          <a:xfrm>
            <a:off x="594360" y="1143000"/>
            <a:ext cx="155376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Need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Rectangle 5"/>
          <p:cNvSpPr/>
          <p:nvPr/>
        </p:nvSpPr>
        <p:spPr>
          <a:xfrm>
            <a:off x="2148840" y="1143000"/>
            <a:ext cx="265104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Good fit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Rectangle 6"/>
          <p:cNvSpPr/>
          <p:nvPr/>
        </p:nvSpPr>
        <p:spPr>
          <a:xfrm>
            <a:off x="4800600" y="1143000"/>
            <a:ext cx="3336840" cy="419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Rectangle 7"/>
          <p:cNvSpPr/>
          <p:nvPr/>
        </p:nvSpPr>
        <p:spPr>
          <a:xfrm>
            <a:off x="594360" y="1563480"/>
            <a:ext cx="15537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SaaS/API sync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Rectangle 8"/>
          <p:cNvSpPr/>
          <p:nvPr/>
        </p:nvSpPr>
        <p:spPr>
          <a:xfrm>
            <a:off x="2148840" y="1563480"/>
            <a:ext cx="265104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Managed ELT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Rectangle 9"/>
          <p:cNvSpPr/>
          <p:nvPr/>
        </p:nvSpPr>
        <p:spPr>
          <a:xfrm>
            <a:off x="4800600" y="1563480"/>
            <a:ext cx="333684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Connector maintenance is the main work.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Rectangle 10"/>
          <p:cNvSpPr/>
          <p:nvPr/>
        </p:nvSpPr>
        <p:spPr>
          <a:xfrm>
            <a:off x="594360" y="1984320"/>
            <a:ext cx="15537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Replayable events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Rectangle 11"/>
          <p:cNvSpPr/>
          <p:nvPr/>
        </p:nvSpPr>
        <p:spPr>
          <a:xfrm>
            <a:off x="2148840" y="1984320"/>
            <a:ext cx="265104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Kafka/Redpanda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Rectangle 12"/>
          <p:cNvSpPr/>
          <p:nvPr/>
        </p:nvSpPr>
        <p:spPr>
          <a:xfrm>
            <a:off x="4800600" y="1984320"/>
            <a:ext cx="333684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Offsets, partitions, retention and many consumers.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Rectangle 13"/>
          <p:cNvSpPr/>
          <p:nvPr/>
        </p:nvSpPr>
        <p:spPr>
          <a:xfrm>
            <a:off x="594360" y="2404800"/>
            <a:ext cx="15537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App workflow queue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Rectangle 14"/>
          <p:cNvSpPr/>
          <p:nvPr/>
        </p:nvSpPr>
        <p:spPr>
          <a:xfrm>
            <a:off x="2148840" y="2404800"/>
            <a:ext cx="265104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Redis Streams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Rectangle 15"/>
          <p:cNvSpPr/>
          <p:nvPr/>
        </p:nvSpPr>
        <p:spPr>
          <a:xfrm>
            <a:off x="4800600" y="2404800"/>
            <a:ext cx="333684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Fast lightweight coordination.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Rectangle 16"/>
          <p:cNvSpPr/>
          <p:nvPr/>
        </p:nvSpPr>
        <p:spPr>
          <a:xfrm>
            <a:off x="594360" y="2825640"/>
            <a:ext cx="155376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Multi-tenant messaging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Rectangle 17"/>
          <p:cNvSpPr/>
          <p:nvPr/>
        </p:nvSpPr>
        <p:spPr>
          <a:xfrm>
            <a:off x="2148840" y="2825640"/>
            <a:ext cx="265104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Pulsar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Rectangle 18"/>
          <p:cNvSpPr/>
          <p:nvPr/>
        </p:nvSpPr>
        <p:spPr>
          <a:xfrm>
            <a:off x="4800600" y="2825640"/>
            <a:ext cx="3336840" cy="419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Different broker/storage model and tenancy features.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2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Box 3"/>
          <p:cNvSpPr/>
          <p:nvPr/>
        </p:nvSpPr>
        <p:spPr>
          <a:xfrm>
            <a:off x="347400" y="530280"/>
            <a:ext cx="8457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Fivetran-like tools reduce connector work, not design work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Rectangle 4"/>
          <p:cNvSpPr/>
          <p:nvPr/>
        </p:nvSpPr>
        <p:spPr>
          <a:xfrm>
            <a:off x="548640" y="1097280"/>
            <a:ext cx="146232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Family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Rectangle 5"/>
          <p:cNvSpPr/>
          <p:nvPr/>
        </p:nvSpPr>
        <p:spPr>
          <a:xfrm>
            <a:off x="2011680" y="1097280"/>
            <a:ext cx="205668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Examples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Rectangle 6"/>
          <p:cNvSpPr/>
          <p:nvPr/>
        </p:nvSpPr>
        <p:spPr>
          <a:xfrm>
            <a:off x="4069080" y="1097280"/>
            <a:ext cx="214812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Best fit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Rectangle 7"/>
          <p:cNvSpPr/>
          <p:nvPr/>
        </p:nvSpPr>
        <p:spPr>
          <a:xfrm>
            <a:off x="6217920" y="1097280"/>
            <a:ext cx="191952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Still your job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Rectangle 8"/>
          <p:cNvSpPr/>
          <p:nvPr/>
        </p:nvSpPr>
        <p:spPr>
          <a:xfrm>
            <a:off x="548640" y="1508760"/>
            <a:ext cx="14623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Managed ELT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Rectangle 9"/>
          <p:cNvSpPr/>
          <p:nvPr/>
        </p:nvSpPr>
        <p:spPr>
          <a:xfrm>
            <a:off x="2011680" y="1508760"/>
            <a:ext cx="20566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Fivetran, Matillion, Informatica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Rectangle 10"/>
          <p:cNvSpPr/>
          <p:nvPr/>
        </p:nvSpPr>
        <p:spPr>
          <a:xfrm>
            <a:off x="4069080" y="1508760"/>
            <a:ext cx="21481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SaaS/API/database sync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Rectangle 11"/>
          <p:cNvSpPr/>
          <p:nvPr/>
        </p:nvSpPr>
        <p:spPr>
          <a:xfrm>
            <a:off x="6217920" y="1508760"/>
            <a:ext cx="1919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Freshness, quality, cost.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Rectangle 12"/>
          <p:cNvSpPr/>
          <p:nvPr/>
        </p:nvSpPr>
        <p:spPr>
          <a:xfrm>
            <a:off x="548640" y="1920240"/>
            <a:ext cx="14623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Open-source ELT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Rectangle 13"/>
          <p:cNvSpPr/>
          <p:nvPr/>
        </p:nvSpPr>
        <p:spPr>
          <a:xfrm>
            <a:off x="2011680" y="1920240"/>
            <a:ext cx="20566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Airbyte, Meltano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Rectangle 14"/>
          <p:cNvSpPr/>
          <p:nvPr/>
        </p:nvSpPr>
        <p:spPr>
          <a:xfrm>
            <a:off x="4069080" y="1920240"/>
            <a:ext cx="21481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Self-hosted connectors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Rectangle 15"/>
          <p:cNvSpPr/>
          <p:nvPr/>
        </p:nvSpPr>
        <p:spPr>
          <a:xfrm>
            <a:off x="6217920" y="1920240"/>
            <a:ext cx="1919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Upgrades and operations.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Rectangle 16"/>
          <p:cNvSpPr/>
          <p:nvPr/>
        </p:nvSpPr>
        <p:spPr>
          <a:xfrm>
            <a:off x="548640" y="2331720"/>
            <a:ext cx="14623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CDC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Rectangle 17"/>
          <p:cNvSpPr/>
          <p:nvPr/>
        </p:nvSpPr>
        <p:spPr>
          <a:xfrm>
            <a:off x="2011680" y="2331720"/>
            <a:ext cx="20566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Debezium, Estuary Flow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Rectangle 18"/>
          <p:cNvSpPr/>
          <p:nvPr/>
        </p:nvSpPr>
        <p:spPr>
          <a:xfrm>
            <a:off x="4069080" y="2331720"/>
            <a:ext cx="21481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Database changes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Rectangle 19"/>
          <p:cNvSpPr/>
          <p:nvPr/>
        </p:nvSpPr>
        <p:spPr>
          <a:xfrm>
            <a:off x="6217920" y="2331720"/>
            <a:ext cx="1919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Deletes and schema evolution.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Rectangle 20"/>
          <p:cNvSpPr/>
          <p:nvPr/>
        </p:nvSpPr>
        <p:spPr>
          <a:xfrm>
            <a:off x="548640" y="2743200"/>
            <a:ext cx="14623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Streaming log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Rectangle 21"/>
          <p:cNvSpPr/>
          <p:nvPr/>
        </p:nvSpPr>
        <p:spPr>
          <a:xfrm>
            <a:off x="2011680" y="2743200"/>
            <a:ext cx="20566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Kafka, Redpanda, Pulsar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Rectangle 22"/>
          <p:cNvSpPr/>
          <p:nvPr/>
        </p:nvSpPr>
        <p:spPr>
          <a:xfrm>
            <a:off x="4069080" y="2743200"/>
            <a:ext cx="21481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 history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Rectangle 23"/>
          <p:cNvSpPr/>
          <p:nvPr/>
        </p:nvSpPr>
        <p:spPr>
          <a:xfrm>
            <a:off x="6217920" y="2743200"/>
            <a:ext cx="19195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Lag, retention, DLQ.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5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alternatives are evaluated by workload fit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Rectangle 4"/>
          <p:cNvSpPr/>
          <p:nvPr/>
        </p:nvSpPr>
        <p:spPr>
          <a:xfrm>
            <a:off x="685800" y="1143000"/>
            <a:ext cx="1553760" cy="47484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Tool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Rectangle 5"/>
          <p:cNvSpPr/>
          <p:nvPr/>
        </p:nvSpPr>
        <p:spPr>
          <a:xfrm>
            <a:off x="2240280" y="1143000"/>
            <a:ext cx="2833920" cy="47484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Strong fit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Rectangle 6"/>
          <p:cNvSpPr/>
          <p:nvPr/>
        </p:nvSpPr>
        <p:spPr>
          <a:xfrm>
            <a:off x="5074920" y="1143000"/>
            <a:ext cx="3062520" cy="47484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Course caution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Rectangle 7"/>
          <p:cNvSpPr/>
          <p:nvPr/>
        </p:nvSpPr>
        <p:spPr>
          <a:xfrm>
            <a:off x="685800" y="1618560"/>
            <a:ext cx="1553760" cy="4748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Redpanda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Rectangle 8"/>
          <p:cNvSpPr/>
          <p:nvPr/>
        </p:nvSpPr>
        <p:spPr>
          <a:xfrm>
            <a:off x="2240280" y="1618560"/>
            <a:ext cx="2833920" cy="4748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API compatibility with different operations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Rectangle 9"/>
          <p:cNvSpPr/>
          <p:nvPr/>
        </p:nvSpPr>
        <p:spPr>
          <a:xfrm>
            <a:off x="5074920" y="1618560"/>
            <a:ext cx="3062520" cy="4748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Pilot exact clients, Connect and monitoring path.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Rectangle 10"/>
          <p:cNvSpPr/>
          <p:nvPr/>
        </p:nvSpPr>
        <p:spPr>
          <a:xfrm>
            <a:off x="685800" y="2094120"/>
            <a:ext cx="1553760" cy="4748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Redis Streams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Rectangle 11"/>
          <p:cNvSpPr/>
          <p:nvPr/>
        </p:nvSpPr>
        <p:spPr>
          <a:xfrm>
            <a:off x="2240280" y="2094120"/>
            <a:ext cx="2833920" cy="4748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Fast app queues and lightweight streams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Rectangle 12"/>
          <p:cNvSpPr/>
          <p:nvPr/>
        </p:nvSpPr>
        <p:spPr>
          <a:xfrm>
            <a:off x="5074920" y="2094120"/>
            <a:ext cx="3062520" cy="4748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Not the same replay/connector lakehouse ecosystem.</a:t>
            </a:r>
            <a:endParaRPr lang="en-IN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Rectangle 13"/>
          <p:cNvSpPr/>
          <p:nvPr/>
        </p:nvSpPr>
        <p:spPr>
          <a:xfrm>
            <a:off x="685800" y="2569320"/>
            <a:ext cx="1553760" cy="4748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Apache Pulsar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Rectangle 14"/>
          <p:cNvSpPr/>
          <p:nvPr/>
        </p:nvSpPr>
        <p:spPr>
          <a:xfrm>
            <a:off x="2240280" y="2569320"/>
            <a:ext cx="2833920" cy="4748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Multi-tenancy and tiered storage patterns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Rectangle 15"/>
          <p:cNvSpPr/>
          <p:nvPr/>
        </p:nvSpPr>
        <p:spPr>
          <a:xfrm>
            <a:off x="5074920" y="2569320"/>
            <a:ext cx="3062520" cy="4748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Different concepts and operational model.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0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Python clients need the same production habits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Rectangle 4"/>
          <p:cNvSpPr/>
          <p:nvPr/>
        </p:nvSpPr>
        <p:spPr>
          <a:xfrm>
            <a:off x="685800" y="1143000"/>
            <a:ext cx="3656880" cy="187380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producer.produce(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topic,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key=str(order_id),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value=payload,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callback=delivery_report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producer.flush()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Box 5"/>
          <p:cNvSpPr/>
          <p:nvPr/>
        </p:nvSpPr>
        <p:spPr>
          <a:xfrm>
            <a:off x="4709160" y="1234440"/>
            <a:ext cx="3565440" cy="7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Set keys intentionally.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Handle delivery callbacks.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Do not commit before durable output.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Batch deliberately, not accidentally.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5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source inventory now maps back to theory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Rectangle 4"/>
          <p:cNvSpPr/>
          <p:nvPr/>
        </p:nvSpPr>
        <p:spPr>
          <a:xfrm>
            <a:off x="594360" y="1143000"/>
            <a:ext cx="146232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Rectangle 5"/>
          <p:cNvSpPr/>
          <p:nvPr/>
        </p:nvSpPr>
        <p:spPr>
          <a:xfrm>
            <a:off x="2057400" y="1143000"/>
            <a:ext cx="141660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Pattern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Rectangle 6"/>
          <p:cNvSpPr/>
          <p:nvPr/>
        </p:nvSpPr>
        <p:spPr>
          <a:xfrm>
            <a:off x="3474720" y="1143000"/>
            <a:ext cx="127944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Key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Rectangle 7"/>
          <p:cNvSpPr/>
          <p:nvPr/>
        </p:nvSpPr>
        <p:spPr>
          <a:xfrm>
            <a:off x="4754880" y="1143000"/>
            <a:ext cx="3656880" cy="41076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Theory concept exercised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Rectangle 8"/>
          <p:cNvSpPr/>
          <p:nvPr/>
        </p:nvSpPr>
        <p:spPr>
          <a:xfrm>
            <a:off x="594360" y="1554480"/>
            <a:ext cx="14623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Orders DB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Rectangle 9"/>
          <p:cNvSpPr/>
          <p:nvPr/>
        </p:nvSpPr>
        <p:spPr>
          <a:xfrm>
            <a:off x="2057400" y="1554480"/>
            <a:ext cx="141660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CDC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Rectangle 10"/>
          <p:cNvSpPr/>
          <p:nvPr/>
        </p:nvSpPr>
        <p:spPr>
          <a:xfrm>
            <a:off x="3474720" y="1554480"/>
            <a:ext cx="127944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order_id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Rectangle 11"/>
          <p:cNvSpPr/>
          <p:nvPr/>
        </p:nvSpPr>
        <p:spPr>
          <a:xfrm>
            <a:off x="4754880" y="1554480"/>
            <a:ext cx="36568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Envelope, ordering, idempotent merge.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Rectangle 12"/>
          <p:cNvSpPr/>
          <p:nvPr/>
        </p:nvSpPr>
        <p:spPr>
          <a:xfrm>
            <a:off x="594360" y="1965960"/>
            <a:ext cx="14623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Logistics CSV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Rectangle 13"/>
          <p:cNvSpPr/>
          <p:nvPr/>
        </p:nvSpPr>
        <p:spPr>
          <a:xfrm>
            <a:off x="2057400" y="1965960"/>
            <a:ext cx="141660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Batch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Rectangle 14"/>
          <p:cNvSpPr/>
          <p:nvPr/>
        </p:nvSpPr>
        <p:spPr>
          <a:xfrm>
            <a:off x="3474720" y="1965960"/>
            <a:ext cx="127944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order_id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Rectangle 15"/>
          <p:cNvSpPr/>
          <p:nvPr/>
        </p:nvSpPr>
        <p:spPr>
          <a:xfrm>
            <a:off x="4754880" y="1965960"/>
            <a:ext cx="36568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Pending references and quarantine.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Rectangle 16"/>
          <p:cNvSpPr/>
          <p:nvPr/>
        </p:nvSpPr>
        <p:spPr>
          <a:xfrm>
            <a:off x="594360" y="2377440"/>
            <a:ext cx="14623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Clickstream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Rectangle 17"/>
          <p:cNvSpPr/>
          <p:nvPr/>
        </p:nvSpPr>
        <p:spPr>
          <a:xfrm>
            <a:off x="2057400" y="2377440"/>
            <a:ext cx="141660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Rectangle 18"/>
          <p:cNvSpPr/>
          <p:nvPr/>
        </p:nvSpPr>
        <p:spPr>
          <a:xfrm>
            <a:off x="3474720" y="2377440"/>
            <a:ext cx="127944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user_id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Rectangle 19"/>
          <p:cNvSpPr/>
          <p:nvPr/>
        </p:nvSpPr>
        <p:spPr>
          <a:xfrm>
            <a:off x="4754880" y="2377440"/>
            <a:ext cx="36568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Late records and event-time windows.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Rectangle 20"/>
          <p:cNvSpPr/>
          <p:nvPr/>
        </p:nvSpPr>
        <p:spPr>
          <a:xfrm>
            <a:off x="594360" y="2788920"/>
            <a:ext cx="146232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proposals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Rectangle 21"/>
          <p:cNvSpPr/>
          <p:nvPr/>
        </p:nvSpPr>
        <p:spPr>
          <a:xfrm>
            <a:off x="2057400" y="2788920"/>
            <a:ext cx="141660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Config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Rectangle 22"/>
          <p:cNvSpPr/>
          <p:nvPr/>
        </p:nvSpPr>
        <p:spPr>
          <a:xfrm>
            <a:off x="3474720" y="2788920"/>
            <a:ext cx="127944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subject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Rectangle 23"/>
          <p:cNvSpPr/>
          <p:nvPr/>
        </p:nvSpPr>
        <p:spPr>
          <a:xfrm>
            <a:off x="4754880" y="2788920"/>
            <a:ext cx="3656880" cy="41076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Compatibility and contract review.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8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Box 3"/>
          <p:cNvSpPr/>
          <p:nvPr/>
        </p:nvSpPr>
        <p:spPr>
          <a:xfrm>
            <a:off x="347400" y="530280"/>
            <a:ext cx="845748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Reference architecture: theory controls placed in the pipeline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Rounded Rectangle 4"/>
          <p:cNvSpPr/>
          <p:nvPr/>
        </p:nvSpPr>
        <p:spPr>
          <a:xfrm>
            <a:off x="502920" y="1417320"/>
            <a:ext cx="115740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Rounded Rectangle 5"/>
          <p:cNvSpPr/>
          <p:nvPr/>
        </p:nvSpPr>
        <p:spPr>
          <a:xfrm>
            <a:off x="1899000" y="1417320"/>
            <a:ext cx="115740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92" name="Connector 6"/>
          <p:cNvCxnSpPr/>
          <p:nvPr/>
        </p:nvCxnSpPr>
        <p:spPr>
          <a:xfrm>
            <a:off x="166104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893" name="Rounded Rectangle 7"/>
          <p:cNvSpPr/>
          <p:nvPr/>
        </p:nvSpPr>
        <p:spPr>
          <a:xfrm>
            <a:off x="3294720" y="1417320"/>
            <a:ext cx="115740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4" name="Connector 8"/>
          <p:cNvCxnSpPr/>
          <p:nvPr/>
        </p:nvCxnSpPr>
        <p:spPr>
          <a:xfrm>
            <a:off x="305712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895" name="Rounded Rectangle 9"/>
          <p:cNvSpPr/>
          <p:nvPr/>
        </p:nvSpPr>
        <p:spPr>
          <a:xfrm>
            <a:off x="4690800" y="1417320"/>
            <a:ext cx="115740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96" name="Connector 10"/>
          <p:cNvCxnSpPr/>
          <p:nvPr/>
        </p:nvCxnSpPr>
        <p:spPr>
          <a:xfrm>
            <a:off x="44528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897" name="Rounded Rectangle 11"/>
          <p:cNvSpPr/>
          <p:nvPr/>
        </p:nvSpPr>
        <p:spPr>
          <a:xfrm>
            <a:off x="6086880" y="1417320"/>
            <a:ext cx="1157400" cy="511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98" name="Connector 12"/>
          <p:cNvCxnSpPr/>
          <p:nvPr/>
        </p:nvCxnSpPr>
        <p:spPr>
          <a:xfrm>
            <a:off x="584892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899" name="Rounded Rectangle 13"/>
          <p:cNvSpPr/>
          <p:nvPr/>
        </p:nvSpPr>
        <p:spPr>
          <a:xfrm>
            <a:off x="7482960" y="1417320"/>
            <a:ext cx="1157400" cy="51120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 w="9360">
            <a:solidFill>
              <a:srgbClr val="da525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BI/API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00" name="Connector 14"/>
          <p:cNvCxnSpPr/>
          <p:nvPr/>
        </p:nvCxnSpPr>
        <p:spPr>
          <a:xfrm>
            <a:off x="724500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901" name="Rounded Rectangle 15"/>
          <p:cNvSpPr/>
          <p:nvPr/>
        </p:nvSpPr>
        <p:spPr>
          <a:xfrm>
            <a:off x="3520440" y="2331720"/>
            <a:ext cx="1142280" cy="50220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 w="9360">
            <a:solidFill>
              <a:srgbClr val="da525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 /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quarantine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02" name="Connector 16"/>
          <p:cNvCxnSpPr/>
          <p:nvPr/>
        </p:nvCxnSpPr>
        <p:spPr>
          <a:xfrm>
            <a:off x="2651760" y="1691640"/>
            <a:ext cx="1143720" cy="640800"/>
          </a:xfrm>
          <a:prstGeom prst="straightConnector1">
            <a:avLst/>
          </a:prstGeom>
          <a:ln w="14040">
            <a:solidFill>
              <a:srgbClr val="da5252"/>
            </a:solidFill>
            <a:round/>
          </a:ln>
        </p:spPr>
      </p:cxnSp>
      <p:sp>
        <p:nvSpPr>
          <p:cNvPr id="903" name="TextBox 17"/>
          <p:cNvSpPr/>
          <p:nvPr/>
        </p:nvSpPr>
        <p:spPr>
          <a:xfrm>
            <a:off x="822960" y="3246120"/>
            <a:ext cx="74059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 stores evidence. Silver applies trust rules. Gold publishes only reconciled outputs.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DLQ/quarantine, schema gates, lag alerts and replay runbooks are controls, not side notes.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5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Box 3"/>
          <p:cNvSpPr/>
          <p:nvPr/>
        </p:nvSpPr>
        <p:spPr>
          <a:xfrm>
            <a:off x="347400" y="530280"/>
            <a:ext cx="8457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Runtime stack: optional full stack plus fast proof runner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Rectangle 4"/>
          <p:cNvSpPr/>
          <p:nvPr/>
        </p:nvSpPr>
        <p:spPr>
          <a:xfrm>
            <a:off x="685800" y="1143000"/>
            <a:ext cx="155376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Runtime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Rectangle 5"/>
          <p:cNvSpPr/>
          <p:nvPr/>
        </p:nvSpPr>
        <p:spPr>
          <a:xfrm>
            <a:off x="2240280" y="1143000"/>
            <a:ext cx="219384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Component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Rectangle 6"/>
          <p:cNvSpPr/>
          <p:nvPr/>
        </p:nvSpPr>
        <p:spPr>
          <a:xfrm>
            <a:off x="4434840" y="1143000"/>
            <a:ext cx="370260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Day 5 role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Rectangle 7"/>
          <p:cNvSpPr/>
          <p:nvPr/>
        </p:nvSpPr>
        <p:spPr>
          <a:xfrm>
            <a:off x="685800" y="1536120"/>
            <a:ext cx="155376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Docker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Rectangle 8"/>
          <p:cNvSpPr/>
          <p:nvPr/>
        </p:nvSpPr>
        <p:spPr>
          <a:xfrm>
            <a:off x="2240280" y="1536120"/>
            <a:ext cx="219384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broker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Rectangle 9"/>
          <p:cNvSpPr/>
          <p:nvPr/>
        </p:nvSpPr>
        <p:spPr>
          <a:xfrm>
            <a:off x="4434840" y="1536120"/>
            <a:ext cx="37026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Topics, partitions, offsets and retained event history.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Rectangle 10"/>
          <p:cNvSpPr/>
          <p:nvPr/>
        </p:nvSpPr>
        <p:spPr>
          <a:xfrm>
            <a:off x="685800" y="1929240"/>
            <a:ext cx="155376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Docker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Rectangle 11"/>
          <p:cNvSpPr/>
          <p:nvPr/>
        </p:nvSpPr>
        <p:spPr>
          <a:xfrm>
            <a:off x="2240280" y="1929240"/>
            <a:ext cx="219384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Connect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Rectangle 12"/>
          <p:cNvSpPr/>
          <p:nvPr/>
        </p:nvSpPr>
        <p:spPr>
          <a:xfrm>
            <a:off x="4434840" y="1929240"/>
            <a:ext cx="37026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Connector lifecycle and source task status.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Rectangle 13"/>
          <p:cNvSpPr/>
          <p:nvPr/>
        </p:nvSpPr>
        <p:spPr>
          <a:xfrm>
            <a:off x="685800" y="2322720"/>
            <a:ext cx="155376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Docker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Rectangle 14"/>
          <p:cNvSpPr/>
          <p:nvPr/>
        </p:nvSpPr>
        <p:spPr>
          <a:xfrm>
            <a:off x="2240280" y="2322720"/>
            <a:ext cx="219384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Registry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Rectangle 15"/>
          <p:cNvSpPr/>
          <p:nvPr/>
        </p:nvSpPr>
        <p:spPr>
          <a:xfrm>
            <a:off x="4434840" y="2322720"/>
            <a:ext cx="37026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versions and compatibility gates.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Rectangle 16"/>
          <p:cNvSpPr/>
          <p:nvPr/>
        </p:nvSpPr>
        <p:spPr>
          <a:xfrm>
            <a:off x="685800" y="2715840"/>
            <a:ext cx="155376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Python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Rectangle 17"/>
          <p:cNvSpPr/>
          <p:nvPr/>
        </p:nvSpPr>
        <p:spPr>
          <a:xfrm>
            <a:off x="2240280" y="2715840"/>
            <a:ext cx="219384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Proof runner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Rectangle 18"/>
          <p:cNvSpPr/>
          <p:nvPr/>
        </p:nvSpPr>
        <p:spPr>
          <a:xfrm>
            <a:off x="4434840" y="2715840"/>
            <a:ext cx="37026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Validates medallion logic without full stack startup.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3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Box 3"/>
          <p:cNvSpPr/>
          <p:nvPr/>
        </p:nvSpPr>
        <p:spPr>
          <a:xfrm>
            <a:off x="347400" y="530280"/>
            <a:ext cx="8457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Connect lifecycle: register, run, inspect, restart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Rounded Rectangle 4"/>
          <p:cNvSpPr/>
          <p:nvPr/>
        </p:nvSpPr>
        <p:spPr>
          <a:xfrm>
            <a:off x="50292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POST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config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Rounded Rectangle 5"/>
          <p:cNvSpPr/>
          <p:nvPr/>
        </p:nvSpPr>
        <p:spPr>
          <a:xfrm>
            <a:off x="217800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Connector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27" name="Connector 6"/>
          <p:cNvCxnSpPr/>
          <p:nvPr/>
        </p:nvCxnSpPr>
        <p:spPr>
          <a:xfrm>
            <a:off x="1940040" y="158184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928" name="Rounded Rectangle 7"/>
          <p:cNvSpPr/>
          <p:nvPr/>
        </p:nvSpPr>
        <p:spPr>
          <a:xfrm>
            <a:off x="385344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Task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9" name="Connector 8"/>
          <p:cNvCxnSpPr/>
          <p:nvPr/>
        </p:nvCxnSpPr>
        <p:spPr>
          <a:xfrm>
            <a:off x="3615480" y="158184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930" name="Rounded Rectangle 9"/>
          <p:cNvSpPr/>
          <p:nvPr/>
        </p:nvSpPr>
        <p:spPr>
          <a:xfrm>
            <a:off x="552852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records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31" name="Connector 10"/>
          <p:cNvCxnSpPr/>
          <p:nvPr/>
        </p:nvCxnSpPr>
        <p:spPr>
          <a:xfrm>
            <a:off x="5290560" y="158184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932" name="Rounded Rectangle 11"/>
          <p:cNvSpPr/>
          <p:nvPr/>
        </p:nvSpPr>
        <p:spPr>
          <a:xfrm>
            <a:off x="7203600" y="132588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topic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33" name="Connector 12"/>
          <p:cNvCxnSpPr/>
          <p:nvPr/>
        </p:nvCxnSpPr>
        <p:spPr>
          <a:xfrm>
            <a:off x="6965640" y="158184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934" name="Rectangle 13"/>
          <p:cNvSpPr/>
          <p:nvPr/>
        </p:nvSpPr>
        <p:spPr>
          <a:xfrm>
            <a:off x="1005840" y="2423160"/>
            <a:ext cx="6948720" cy="86796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curl -X POST http://localhost:8083/connectors   -H "Content-Type: application/json"   --data @connectors/orders-cdc.json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6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Connector status tells whether ingestion is alive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Rectangle 4"/>
          <p:cNvSpPr/>
          <p:nvPr/>
        </p:nvSpPr>
        <p:spPr>
          <a:xfrm>
            <a:off x="685800" y="1143000"/>
            <a:ext cx="3565440" cy="127944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{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"name": "orders-cdc",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"connector": {"state": "RUNNING"},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"tasks": [{"id": 0, "state": "RUNNING"}]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}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Rectangle 5"/>
          <p:cNvSpPr/>
          <p:nvPr/>
        </p:nvSpPr>
        <p:spPr>
          <a:xfrm>
            <a:off x="4617720" y="1143000"/>
            <a:ext cx="123372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State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Rectangle 6"/>
          <p:cNvSpPr/>
          <p:nvPr/>
        </p:nvSpPr>
        <p:spPr>
          <a:xfrm>
            <a:off x="5852160" y="1143000"/>
            <a:ext cx="251388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Action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Rectangle 7"/>
          <p:cNvSpPr/>
          <p:nvPr/>
        </p:nvSpPr>
        <p:spPr>
          <a:xfrm>
            <a:off x="4617720" y="1527120"/>
            <a:ext cx="12337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RUNNING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Rectangle 8"/>
          <p:cNvSpPr/>
          <p:nvPr/>
        </p:nvSpPr>
        <p:spPr>
          <a:xfrm>
            <a:off x="5852160" y="1527120"/>
            <a:ext cx="25138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Check lag and output topics.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Rectangle 9"/>
          <p:cNvSpPr/>
          <p:nvPr/>
        </p:nvSpPr>
        <p:spPr>
          <a:xfrm>
            <a:off x="4617720" y="1911240"/>
            <a:ext cx="12337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FAILED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Rectangle 10"/>
          <p:cNvSpPr/>
          <p:nvPr/>
        </p:nvSpPr>
        <p:spPr>
          <a:xfrm>
            <a:off x="5852160" y="1911240"/>
            <a:ext cx="25138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Read trace and connector logs.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Rectangle 11"/>
          <p:cNvSpPr/>
          <p:nvPr/>
        </p:nvSpPr>
        <p:spPr>
          <a:xfrm>
            <a:off x="4617720" y="2295000"/>
            <a:ext cx="12337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PAUSED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Rectangle 12"/>
          <p:cNvSpPr/>
          <p:nvPr/>
        </p:nvSpPr>
        <p:spPr>
          <a:xfrm>
            <a:off x="5852160" y="2295000"/>
            <a:ext cx="25138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Resume only after reason is known.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Rectangle 13"/>
          <p:cNvSpPr/>
          <p:nvPr/>
        </p:nvSpPr>
        <p:spPr>
          <a:xfrm>
            <a:off x="4617720" y="2679120"/>
            <a:ext cx="12337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RESTARTING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Rectangle 14"/>
          <p:cNvSpPr/>
          <p:nvPr/>
        </p:nvSpPr>
        <p:spPr>
          <a:xfrm>
            <a:off x="5852160" y="2679120"/>
            <a:ext cx="25138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Watch repeated failures.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0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Box 3"/>
          <p:cNvSpPr/>
          <p:nvPr/>
        </p:nvSpPr>
        <p:spPr>
          <a:xfrm>
            <a:off x="347400" y="530280"/>
            <a:ext cx="8457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 map: every topic has an owner and recovery purpose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Rectangle 4"/>
          <p:cNvSpPr/>
          <p:nvPr/>
        </p:nvSpPr>
        <p:spPr>
          <a:xfrm>
            <a:off x="594360" y="1143000"/>
            <a:ext cx="228528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Topic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Rectangle 5"/>
          <p:cNvSpPr/>
          <p:nvPr/>
        </p:nvSpPr>
        <p:spPr>
          <a:xfrm>
            <a:off x="2880360" y="1143000"/>
            <a:ext cx="123372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Key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4" name="Rectangle 6"/>
          <p:cNvSpPr/>
          <p:nvPr/>
        </p:nvSpPr>
        <p:spPr>
          <a:xfrm>
            <a:off x="4114800" y="1143000"/>
            <a:ext cx="4159800" cy="392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Rectangle 7"/>
          <p:cNvSpPr/>
          <p:nvPr/>
        </p:nvSpPr>
        <p:spPr>
          <a:xfrm>
            <a:off x="594360" y="1536120"/>
            <a:ext cx="22852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northstar.orders.cdc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Rectangle 8"/>
          <p:cNvSpPr/>
          <p:nvPr/>
        </p:nvSpPr>
        <p:spPr>
          <a:xfrm>
            <a:off x="2880360" y="1536120"/>
            <a:ext cx="12337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order_id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Rectangle 9"/>
          <p:cNvSpPr/>
          <p:nvPr/>
        </p:nvSpPr>
        <p:spPr>
          <a:xfrm>
            <a:off x="4114800" y="1536120"/>
            <a:ext cx="41598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Preserve state changes per order.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Rectangle 10"/>
          <p:cNvSpPr/>
          <p:nvPr/>
        </p:nvSpPr>
        <p:spPr>
          <a:xfrm>
            <a:off x="594360" y="1929240"/>
            <a:ext cx="22852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northstar.inventory.cdc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Rectangle 11"/>
          <p:cNvSpPr/>
          <p:nvPr/>
        </p:nvSpPr>
        <p:spPr>
          <a:xfrm>
            <a:off x="2880360" y="1929240"/>
            <a:ext cx="12337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sku_id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Rectangle 12"/>
          <p:cNvSpPr/>
          <p:nvPr/>
        </p:nvSpPr>
        <p:spPr>
          <a:xfrm>
            <a:off x="4114800" y="1929240"/>
            <a:ext cx="41598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stock updates ordered by SKU.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Rectangle 13"/>
          <p:cNvSpPr/>
          <p:nvPr/>
        </p:nvSpPr>
        <p:spPr>
          <a:xfrm>
            <a:off x="594360" y="2322720"/>
            <a:ext cx="22852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northstar.clickstream.events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Rectangle 14"/>
          <p:cNvSpPr/>
          <p:nvPr/>
        </p:nvSpPr>
        <p:spPr>
          <a:xfrm>
            <a:off x="2880360" y="2322720"/>
            <a:ext cx="12337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user_id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Rectangle 15"/>
          <p:cNvSpPr/>
          <p:nvPr/>
        </p:nvSpPr>
        <p:spPr>
          <a:xfrm>
            <a:off x="4114800" y="2322720"/>
            <a:ext cx="41598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Group session behavior by user.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Rectangle 16"/>
          <p:cNvSpPr/>
          <p:nvPr/>
        </p:nvSpPr>
        <p:spPr>
          <a:xfrm>
            <a:off x="594360" y="2715840"/>
            <a:ext cx="22852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northstar.logistics.batch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Rectangle 17"/>
          <p:cNvSpPr/>
          <p:nvPr/>
        </p:nvSpPr>
        <p:spPr>
          <a:xfrm>
            <a:off x="2880360" y="2715840"/>
            <a:ext cx="12337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order_id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Rectangle 18"/>
          <p:cNvSpPr/>
          <p:nvPr/>
        </p:nvSpPr>
        <p:spPr>
          <a:xfrm>
            <a:off x="4114800" y="2715840"/>
            <a:ext cx="41598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Join shipment rows to order state.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Rectangle 19"/>
          <p:cNvSpPr/>
          <p:nvPr/>
        </p:nvSpPr>
        <p:spPr>
          <a:xfrm>
            <a:off x="594360" y="3108960"/>
            <a:ext cx="228528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northstar.ingestion.dlq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Rectangle 20"/>
          <p:cNvSpPr/>
          <p:nvPr/>
        </p:nvSpPr>
        <p:spPr>
          <a:xfrm>
            <a:off x="2880360" y="3108960"/>
            <a:ext cx="123372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source+error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Rectangle 21"/>
          <p:cNvSpPr/>
          <p:nvPr/>
        </p:nvSpPr>
        <p:spPr>
          <a:xfrm>
            <a:off x="4114800" y="3108960"/>
            <a:ext cx="4159800" cy="392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Debug bad records without blocking valid flow.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1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path: CDC to Bronze keeps envelope evidence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Rounded Rectangle 4"/>
          <p:cNvSpPr/>
          <p:nvPr/>
        </p:nvSpPr>
        <p:spPr>
          <a:xfrm>
            <a:off x="502920" y="141732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DB log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4" name="Rounded Rectangle 5"/>
          <p:cNvSpPr/>
          <p:nvPr/>
        </p:nvSpPr>
        <p:spPr>
          <a:xfrm>
            <a:off x="2597040" y="141732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Debezium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75" name="Connector 6"/>
          <p:cNvCxnSpPr/>
          <p:nvPr/>
        </p:nvCxnSpPr>
        <p:spPr>
          <a:xfrm>
            <a:off x="235908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976" name="Rounded Rectangle 7"/>
          <p:cNvSpPr/>
          <p:nvPr/>
        </p:nvSpPr>
        <p:spPr>
          <a:xfrm>
            <a:off x="4690800" y="141732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CDC topic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7" name="Connector 8"/>
          <p:cNvCxnSpPr/>
          <p:nvPr/>
        </p:nvCxnSpPr>
        <p:spPr>
          <a:xfrm>
            <a:off x="44528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978" name="Rounded Rectangle 9"/>
          <p:cNvSpPr/>
          <p:nvPr/>
        </p:nvSpPr>
        <p:spPr>
          <a:xfrm>
            <a:off x="6784920" y="141732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raw event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79" name="Connector 10"/>
          <p:cNvCxnSpPr/>
          <p:nvPr/>
        </p:nvCxnSpPr>
        <p:spPr>
          <a:xfrm>
            <a:off x="654696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980" name="Rectangle 11"/>
          <p:cNvSpPr/>
          <p:nvPr/>
        </p:nvSpPr>
        <p:spPr>
          <a:xfrm>
            <a:off x="914400" y="2743200"/>
            <a:ext cx="1828080" cy="3466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Envelope part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Rectangle 12"/>
          <p:cNvSpPr/>
          <p:nvPr/>
        </p:nvSpPr>
        <p:spPr>
          <a:xfrm>
            <a:off x="2743200" y="2743200"/>
            <a:ext cx="5302800" cy="3466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keep it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2" name="Rectangle 13"/>
          <p:cNvSpPr/>
          <p:nvPr/>
        </p:nvSpPr>
        <p:spPr>
          <a:xfrm>
            <a:off x="914400" y="3090600"/>
            <a:ext cx="182808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before/after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Rectangle 14"/>
          <p:cNvSpPr/>
          <p:nvPr/>
        </p:nvSpPr>
        <p:spPr>
          <a:xfrm>
            <a:off x="2743200" y="3090600"/>
            <a:ext cx="530280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Audit, SCD and delete interpretation.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Rectangle 15"/>
          <p:cNvSpPr/>
          <p:nvPr/>
        </p:nvSpPr>
        <p:spPr>
          <a:xfrm>
            <a:off x="914400" y="3438000"/>
            <a:ext cx="182808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source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Rectangle 16"/>
          <p:cNvSpPr/>
          <p:nvPr/>
        </p:nvSpPr>
        <p:spPr>
          <a:xfrm>
            <a:off x="2743200" y="3438000"/>
            <a:ext cx="530280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DB/table/LSN metadata for replay.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Rectangle 17"/>
          <p:cNvSpPr/>
          <p:nvPr/>
        </p:nvSpPr>
        <p:spPr>
          <a:xfrm>
            <a:off x="914400" y="3785760"/>
            <a:ext cx="182808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op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Rectangle 18"/>
          <p:cNvSpPr/>
          <p:nvPr/>
        </p:nvSpPr>
        <p:spPr>
          <a:xfrm>
            <a:off x="2743200" y="3785760"/>
            <a:ext cx="530280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Snapshot, create, update and delete semantics.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9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 layout supports replay and cost control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Rectangle 4"/>
          <p:cNvSpPr/>
          <p:nvPr/>
        </p:nvSpPr>
        <p:spPr>
          <a:xfrm>
            <a:off x="685800" y="1143000"/>
            <a:ext cx="242244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Path idea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Rectangle 5"/>
          <p:cNvSpPr/>
          <p:nvPr/>
        </p:nvSpPr>
        <p:spPr>
          <a:xfrm>
            <a:off x="3108960" y="1143000"/>
            <a:ext cx="246816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Rectangle 6"/>
          <p:cNvSpPr/>
          <p:nvPr/>
        </p:nvSpPr>
        <p:spPr>
          <a:xfrm>
            <a:off x="5577840" y="1143000"/>
            <a:ext cx="265104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Rectangle 7"/>
          <p:cNvSpPr/>
          <p:nvPr/>
        </p:nvSpPr>
        <p:spPr>
          <a:xfrm>
            <a:off x="685800" y="1581840"/>
            <a:ext cx="24224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source=orders/date=...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Rectangle 8"/>
          <p:cNvSpPr/>
          <p:nvPr/>
        </p:nvSpPr>
        <p:spPr>
          <a:xfrm>
            <a:off x="3108960" y="1581840"/>
            <a:ext cx="246816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 by source/day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Rectangle 9"/>
          <p:cNvSpPr/>
          <p:nvPr/>
        </p:nvSpPr>
        <p:spPr>
          <a:xfrm>
            <a:off x="5577840" y="1581840"/>
            <a:ext cx="26510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orders/2026-06-01/*.jsonl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Rectangle 10"/>
          <p:cNvSpPr/>
          <p:nvPr/>
        </p:nvSpPr>
        <p:spPr>
          <a:xfrm>
            <a:off x="685800" y="2020680"/>
            <a:ext cx="24224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topic/partition/offset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Rectangle 11"/>
          <p:cNvSpPr/>
          <p:nvPr/>
        </p:nvSpPr>
        <p:spPr>
          <a:xfrm>
            <a:off x="3108960" y="2020680"/>
            <a:ext cx="246816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Trace to Kafka position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Rectangle 12"/>
          <p:cNvSpPr/>
          <p:nvPr/>
        </p:nvSpPr>
        <p:spPr>
          <a:xfrm>
            <a:off x="5577840" y="2020680"/>
            <a:ext cx="26510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orders/partition=1/offset=150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Rectangle 13"/>
          <p:cNvSpPr/>
          <p:nvPr/>
        </p:nvSpPr>
        <p:spPr>
          <a:xfrm>
            <a:off x="685800" y="2459880"/>
            <a:ext cx="24224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raw plus metadata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Rectangle 14"/>
          <p:cNvSpPr/>
          <p:nvPr/>
        </p:nvSpPr>
        <p:spPr>
          <a:xfrm>
            <a:off x="3108960" y="2459880"/>
            <a:ext cx="246816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Audit and debugging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Rectangle 15"/>
          <p:cNvSpPr/>
          <p:nvPr/>
        </p:nvSpPr>
        <p:spPr>
          <a:xfrm>
            <a:off x="5577840" y="2459880"/>
            <a:ext cx="26510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payload plus load fields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Rectangle 16"/>
          <p:cNvSpPr/>
          <p:nvPr/>
        </p:nvSpPr>
        <p:spPr>
          <a:xfrm>
            <a:off x="685800" y="2898720"/>
            <a:ext cx="24224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 policy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Rectangle 17"/>
          <p:cNvSpPr/>
          <p:nvPr/>
        </p:nvSpPr>
        <p:spPr>
          <a:xfrm>
            <a:off x="3108960" y="2898720"/>
            <a:ext cx="246816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Avoid unmanaged growth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Rectangle 18"/>
          <p:cNvSpPr/>
          <p:nvPr/>
        </p:nvSpPr>
        <p:spPr>
          <a:xfrm>
            <a:off x="5577840" y="2898720"/>
            <a:ext cx="26510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Archive after SLA window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7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Silver applies the theory as deterministic rules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Rounded Rectangle 4"/>
          <p:cNvSpPr/>
          <p:nvPr/>
        </p:nvSpPr>
        <p:spPr>
          <a:xfrm>
            <a:off x="502920" y="137160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Parse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Rounded Rectangle 5"/>
          <p:cNvSpPr/>
          <p:nvPr/>
        </p:nvSpPr>
        <p:spPr>
          <a:xfrm>
            <a:off x="2178000" y="137160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11" name="Connector 6"/>
          <p:cNvCxnSpPr/>
          <p:nvPr/>
        </p:nvCxnSpPr>
        <p:spPr>
          <a:xfrm>
            <a:off x="1940040" y="162756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12" name="Rounded Rectangle 7"/>
          <p:cNvSpPr/>
          <p:nvPr/>
        </p:nvSpPr>
        <p:spPr>
          <a:xfrm>
            <a:off x="3853440" y="137160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Dedupe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3" name="Connector 8"/>
          <p:cNvCxnSpPr/>
          <p:nvPr/>
        </p:nvCxnSpPr>
        <p:spPr>
          <a:xfrm>
            <a:off x="3615480" y="162756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14" name="Rounded Rectangle 9"/>
          <p:cNvSpPr/>
          <p:nvPr/>
        </p:nvSpPr>
        <p:spPr>
          <a:xfrm>
            <a:off x="5528520" y="137160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Merge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15" name="Connector 10"/>
          <p:cNvCxnSpPr/>
          <p:nvPr/>
        </p:nvCxnSpPr>
        <p:spPr>
          <a:xfrm>
            <a:off x="5290560" y="162756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16" name="Rounded Rectangle 11"/>
          <p:cNvSpPr/>
          <p:nvPr/>
        </p:nvSpPr>
        <p:spPr>
          <a:xfrm>
            <a:off x="7203600" y="137160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Quarantine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17" name="Connector 12"/>
          <p:cNvCxnSpPr/>
          <p:nvPr/>
        </p:nvCxnSpPr>
        <p:spPr>
          <a:xfrm>
            <a:off x="6965640" y="162756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18" name="Rectangle 13"/>
          <p:cNvSpPr/>
          <p:nvPr/>
        </p:nvSpPr>
        <p:spPr>
          <a:xfrm>
            <a:off x="868680" y="2423160"/>
            <a:ext cx="7314480" cy="86796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if missing_required_field: write_dlq(record, reason)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elif duplicate_event: ignore_safely(record)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elif op == "d": remove current_state[order_id]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else: upsert current_state[order_id] = after_image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0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Box 3"/>
          <p:cNvSpPr/>
          <p:nvPr/>
        </p:nvSpPr>
        <p:spPr>
          <a:xfrm>
            <a:off x="347400" y="530280"/>
            <a:ext cx="845748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Gold is reportable only when it reconciles backward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Rounded Rectangle 4"/>
          <p:cNvSpPr/>
          <p:nvPr/>
        </p:nvSpPr>
        <p:spPr>
          <a:xfrm>
            <a:off x="50292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 CDC events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3" name="Rounded Rectangle 5"/>
          <p:cNvSpPr/>
          <p:nvPr/>
        </p:nvSpPr>
        <p:spPr>
          <a:xfrm>
            <a:off x="259704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 current orders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24" name="Connector 6"/>
          <p:cNvCxnSpPr/>
          <p:nvPr/>
        </p:nvCxnSpPr>
        <p:spPr>
          <a:xfrm>
            <a:off x="2359080" y="171900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25" name="Rounded Rectangle 7"/>
          <p:cNvSpPr/>
          <p:nvPr/>
        </p:nvSpPr>
        <p:spPr>
          <a:xfrm>
            <a:off x="469080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195.50 revenue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6" name="Connector 8"/>
          <p:cNvCxnSpPr/>
          <p:nvPr/>
        </p:nvCxnSpPr>
        <p:spPr>
          <a:xfrm>
            <a:off x="4452840" y="171900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27" name="Rounded Rectangle 9"/>
          <p:cNvSpPr/>
          <p:nvPr/>
        </p:nvSpPr>
        <p:spPr>
          <a:xfrm>
            <a:off x="6784920" y="146304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Report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Daily KPI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28" name="Connector 10"/>
          <p:cNvCxnSpPr/>
          <p:nvPr/>
        </p:nvCxnSpPr>
        <p:spPr>
          <a:xfrm>
            <a:off x="6546960" y="171900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29" name="TextBox 11"/>
          <p:cNvSpPr/>
          <p:nvPr/>
        </p:nvSpPr>
        <p:spPr>
          <a:xfrm>
            <a:off x="868680" y="2834640"/>
            <a:ext cx="73602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Gold should not hide duplicates, deletes or rejected records.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KPI is trusted only when it traces back to accepted Silver records and raw Bronze evidence.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1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merge: orders and logistics collide on order_id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Rounded Rectangle 4"/>
          <p:cNvSpPr/>
          <p:nvPr/>
        </p:nvSpPr>
        <p:spPr>
          <a:xfrm>
            <a:off x="50292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Orders CDC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Rounded Rectangle 5"/>
          <p:cNvSpPr/>
          <p:nvPr/>
        </p:nvSpPr>
        <p:spPr>
          <a:xfrm>
            <a:off x="217800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Logistics CSV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35" name="Connector 6"/>
          <p:cNvCxnSpPr/>
          <p:nvPr/>
        </p:nvCxnSpPr>
        <p:spPr>
          <a:xfrm>
            <a:off x="19400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36" name="Rounded Rectangle 7"/>
          <p:cNvSpPr/>
          <p:nvPr/>
        </p:nvSpPr>
        <p:spPr>
          <a:xfrm>
            <a:off x="385344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Pending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reference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7" name="Connector 8"/>
          <p:cNvCxnSpPr/>
          <p:nvPr/>
        </p:nvCxnSpPr>
        <p:spPr>
          <a:xfrm>
            <a:off x="361548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38" name="Rounded Rectangle 9"/>
          <p:cNvSpPr/>
          <p:nvPr/>
        </p:nvSpPr>
        <p:spPr>
          <a:xfrm>
            <a:off x="552852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 merge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39" name="Connector 10"/>
          <p:cNvCxnSpPr/>
          <p:nvPr/>
        </p:nvCxnSpPr>
        <p:spPr>
          <a:xfrm>
            <a:off x="529056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40" name="Rounded Rectangle 11"/>
          <p:cNvSpPr/>
          <p:nvPr/>
        </p:nvSpPr>
        <p:spPr>
          <a:xfrm>
            <a:off x="720360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Gold KPI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41" name="Connector 12"/>
          <p:cNvCxnSpPr/>
          <p:nvPr/>
        </p:nvCxnSpPr>
        <p:spPr>
          <a:xfrm>
            <a:off x="69656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042" name="Rectangle 13"/>
          <p:cNvSpPr/>
          <p:nvPr/>
        </p:nvSpPr>
        <p:spPr>
          <a:xfrm>
            <a:off x="822960" y="2651760"/>
            <a:ext cx="1919520" cy="36504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Situation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Rectangle 14"/>
          <p:cNvSpPr/>
          <p:nvPr/>
        </p:nvSpPr>
        <p:spPr>
          <a:xfrm>
            <a:off x="2743200" y="2651760"/>
            <a:ext cx="5211360" cy="36504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Expected lab behavior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Rectangle 15"/>
          <p:cNvSpPr/>
          <p:nvPr/>
        </p:nvSpPr>
        <p:spPr>
          <a:xfrm>
            <a:off x="822960" y="3017520"/>
            <a:ext cx="191952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Logistics for existing order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Rectangle 16"/>
          <p:cNvSpPr/>
          <p:nvPr/>
        </p:nvSpPr>
        <p:spPr>
          <a:xfrm>
            <a:off x="2743200" y="3017520"/>
            <a:ext cx="521136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Join shipment to current order.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Rectangle 17"/>
          <p:cNvSpPr/>
          <p:nvPr/>
        </p:nvSpPr>
        <p:spPr>
          <a:xfrm>
            <a:off x="822960" y="3383280"/>
            <a:ext cx="191952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Logistics before order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Rectangle 18"/>
          <p:cNvSpPr/>
          <p:nvPr/>
        </p:nvSpPr>
        <p:spPr>
          <a:xfrm>
            <a:off x="2743200" y="3383280"/>
            <a:ext cx="521136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Quarantine/pending reference, then replay.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Rectangle 19"/>
          <p:cNvSpPr/>
          <p:nvPr/>
        </p:nvSpPr>
        <p:spPr>
          <a:xfrm>
            <a:off x="822960" y="3749040"/>
            <a:ext cx="191952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Duplicate CDC event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Rectangle 20"/>
          <p:cNvSpPr/>
          <p:nvPr/>
        </p:nvSpPr>
        <p:spPr>
          <a:xfrm>
            <a:off x="2743200" y="3749040"/>
            <a:ext cx="521136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Dedupe without changing Gold twice.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1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TextBox 3"/>
          <p:cNvSpPr/>
          <p:nvPr/>
        </p:nvSpPr>
        <p:spPr>
          <a:xfrm>
            <a:off x="347400" y="530280"/>
            <a:ext cx="8457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design for late records: do not order by arrival blindly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3" name="Connector 4"/>
          <p:cNvCxnSpPr/>
          <p:nvPr/>
        </p:nvCxnSpPr>
        <p:spPr>
          <a:xfrm>
            <a:off x="868680" y="2057400"/>
            <a:ext cx="7407360" cy="720"/>
          </a:xfrm>
          <a:prstGeom prst="straightConnector1">
            <a:avLst/>
          </a:prstGeom>
          <a:ln w="14040">
            <a:solidFill>
              <a:srgbClr val="566374"/>
            </a:solidFill>
            <a:round/>
          </a:ln>
        </p:spPr>
      </p:cxnSp>
      <p:sp>
        <p:nvSpPr>
          <p:cNvPr id="1054" name="Rounded Rectangle 5"/>
          <p:cNvSpPr/>
          <p:nvPr/>
        </p:nvSpPr>
        <p:spPr>
          <a:xfrm>
            <a:off x="548640" y="160020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event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Rounded Rectangle 6"/>
          <p:cNvSpPr/>
          <p:nvPr/>
        </p:nvSpPr>
        <p:spPr>
          <a:xfrm>
            <a:off x="2400120" y="160020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delay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6" name="Rounded Rectangle 7"/>
          <p:cNvSpPr/>
          <p:nvPr/>
        </p:nvSpPr>
        <p:spPr>
          <a:xfrm>
            <a:off x="4251960" y="160020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ingest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Rounded Rectangle 8"/>
          <p:cNvSpPr/>
          <p:nvPr/>
        </p:nvSpPr>
        <p:spPr>
          <a:xfrm>
            <a:off x="6103800" y="160020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window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8" name="Rounded Rectangle 9"/>
          <p:cNvSpPr/>
          <p:nvPr/>
        </p:nvSpPr>
        <p:spPr>
          <a:xfrm>
            <a:off x="7955280" y="1600200"/>
            <a:ext cx="639360" cy="502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correction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TextBox 10"/>
          <p:cNvSpPr/>
          <p:nvPr/>
        </p:nvSpPr>
        <p:spPr>
          <a:xfrm>
            <a:off x="914400" y="297180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 event_time for business windows and ingestion_time for audit.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late rows visible in quality metrics.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Decide whether too-late records update a correction table, DLQ, or quarantine path.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1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commands are easier after the HW/LW theory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Rectangle 4"/>
          <p:cNvSpPr/>
          <p:nvPr/>
        </p:nvSpPr>
        <p:spPr>
          <a:xfrm>
            <a:off x="685800" y="1143000"/>
            <a:ext cx="7680240" cy="95940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kafka-consumer-groups.sh --bootstrap-server localhost:9092   --describe --group silver-orders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# Read CURRENT-OFFSET, LOG-END-OFFSET and LAG together.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Rectangle 5"/>
          <p:cNvSpPr/>
          <p:nvPr/>
        </p:nvSpPr>
        <p:spPr>
          <a:xfrm>
            <a:off x="914400" y="2880360"/>
            <a:ext cx="2102400" cy="3283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Column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Rectangle 6"/>
          <p:cNvSpPr/>
          <p:nvPr/>
        </p:nvSpPr>
        <p:spPr>
          <a:xfrm>
            <a:off x="3017520" y="2880360"/>
            <a:ext cx="5211360" cy="3283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6" name="Rectangle 7"/>
          <p:cNvSpPr/>
          <p:nvPr/>
        </p:nvSpPr>
        <p:spPr>
          <a:xfrm>
            <a:off x="914400" y="3209400"/>
            <a:ext cx="2102400" cy="3283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CURRENT-OFFSET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Rectangle 8"/>
          <p:cNvSpPr/>
          <p:nvPr/>
        </p:nvSpPr>
        <p:spPr>
          <a:xfrm>
            <a:off x="3017520" y="3209400"/>
            <a:ext cx="5211360" cy="3283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has this group committed?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Rectangle 9"/>
          <p:cNvSpPr/>
          <p:nvPr/>
        </p:nvSpPr>
        <p:spPr>
          <a:xfrm>
            <a:off x="914400" y="3538800"/>
            <a:ext cx="2102400" cy="3283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LOG-END-OFFSET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Rectangle 10"/>
          <p:cNvSpPr/>
          <p:nvPr/>
        </p:nvSpPr>
        <p:spPr>
          <a:xfrm>
            <a:off x="3017520" y="3538800"/>
            <a:ext cx="5211360" cy="3283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How far has the partition advanced?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Rectangle 11"/>
          <p:cNvSpPr/>
          <p:nvPr/>
        </p:nvSpPr>
        <p:spPr>
          <a:xfrm>
            <a:off x="914400" y="3867840"/>
            <a:ext cx="2102400" cy="3283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Rectangle 12"/>
          <p:cNvSpPr/>
          <p:nvPr/>
        </p:nvSpPr>
        <p:spPr>
          <a:xfrm>
            <a:off x="3017520" y="3867840"/>
            <a:ext cx="5211360" cy="3283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we catch up before retention removes old records?</a:t>
            </a:r>
            <a:endParaRPr lang="en-IN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3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Producer lab settings support the durability theory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Rectangle 4"/>
          <p:cNvSpPr/>
          <p:nvPr/>
        </p:nvSpPr>
        <p:spPr>
          <a:xfrm>
            <a:off x="731520" y="1143000"/>
            <a:ext cx="3656880" cy="150804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producer_config = {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"acks": "all",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"enable.idempotence": True,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"retries": 5,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}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Rectangle 5"/>
          <p:cNvSpPr/>
          <p:nvPr/>
        </p:nvSpPr>
        <p:spPr>
          <a:xfrm>
            <a:off x="4754880" y="1143000"/>
            <a:ext cx="146232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Risk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7" name="Rectangle 6"/>
          <p:cNvSpPr/>
          <p:nvPr/>
        </p:nvSpPr>
        <p:spPr>
          <a:xfrm>
            <a:off x="6217920" y="1143000"/>
            <a:ext cx="2468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Control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8" name="Rectangle 7"/>
          <p:cNvSpPr/>
          <p:nvPr/>
        </p:nvSpPr>
        <p:spPr>
          <a:xfrm>
            <a:off x="4754880" y="1527120"/>
            <a:ext cx="14623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Lost write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Rectangle 8"/>
          <p:cNvSpPr/>
          <p:nvPr/>
        </p:nvSpPr>
        <p:spPr>
          <a:xfrm>
            <a:off x="6217920" y="1527120"/>
            <a:ext cx="24681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acks=all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Rectangle 9"/>
          <p:cNvSpPr/>
          <p:nvPr/>
        </p:nvSpPr>
        <p:spPr>
          <a:xfrm>
            <a:off x="4754880" y="1911240"/>
            <a:ext cx="14623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Duplicate retry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Rectangle 10"/>
          <p:cNvSpPr/>
          <p:nvPr/>
        </p:nvSpPr>
        <p:spPr>
          <a:xfrm>
            <a:off x="6217920" y="1911240"/>
            <a:ext cx="24681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idempotence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Rectangle 11"/>
          <p:cNvSpPr/>
          <p:nvPr/>
        </p:nvSpPr>
        <p:spPr>
          <a:xfrm>
            <a:off x="4754880" y="2295000"/>
            <a:ext cx="14623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Silent failure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Rectangle 12"/>
          <p:cNvSpPr/>
          <p:nvPr/>
        </p:nvSpPr>
        <p:spPr>
          <a:xfrm>
            <a:off x="6217920" y="2295000"/>
            <a:ext cx="24681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delivery callback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Rectangle 13"/>
          <p:cNvSpPr/>
          <p:nvPr/>
        </p:nvSpPr>
        <p:spPr>
          <a:xfrm>
            <a:off x="4754880" y="2679120"/>
            <a:ext cx="146232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Hot key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Rectangle 14"/>
          <p:cNvSpPr/>
          <p:nvPr/>
        </p:nvSpPr>
        <p:spPr>
          <a:xfrm>
            <a:off x="6217920" y="2679120"/>
            <a:ext cx="24681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review partition key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7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 lab commits only after durable output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Rectangle 4"/>
          <p:cNvSpPr/>
          <p:nvPr/>
        </p:nvSpPr>
        <p:spPr>
          <a:xfrm>
            <a:off x="685800" y="1097280"/>
            <a:ext cx="3656880" cy="182808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for msg in consumer: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  result = transform(msg)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  write_silver(result)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  consumer.commit(msg)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Rectangle 5"/>
          <p:cNvSpPr/>
          <p:nvPr/>
        </p:nvSpPr>
        <p:spPr>
          <a:xfrm>
            <a:off x="4617720" y="1143000"/>
            <a:ext cx="132516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Risk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Rectangle 6"/>
          <p:cNvSpPr/>
          <p:nvPr/>
        </p:nvSpPr>
        <p:spPr>
          <a:xfrm>
            <a:off x="5943600" y="1143000"/>
            <a:ext cx="2513880" cy="38340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Control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2" name="Rectangle 7"/>
          <p:cNvSpPr/>
          <p:nvPr/>
        </p:nvSpPr>
        <p:spPr>
          <a:xfrm>
            <a:off x="4617720" y="1527120"/>
            <a:ext cx="13251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Rectangle 8"/>
          <p:cNvSpPr/>
          <p:nvPr/>
        </p:nvSpPr>
        <p:spPr>
          <a:xfrm>
            <a:off x="5943600" y="1527120"/>
            <a:ext cx="25138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Idempotent write by event_id.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Rectangle 9"/>
          <p:cNvSpPr/>
          <p:nvPr/>
        </p:nvSpPr>
        <p:spPr>
          <a:xfrm>
            <a:off x="4617720" y="1911240"/>
            <a:ext cx="13251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Poison row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Rectangle 10"/>
          <p:cNvSpPr/>
          <p:nvPr/>
        </p:nvSpPr>
        <p:spPr>
          <a:xfrm>
            <a:off x="5943600" y="1911240"/>
            <a:ext cx="25138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with reason.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Rectangle 11"/>
          <p:cNvSpPr/>
          <p:nvPr/>
        </p:nvSpPr>
        <p:spPr>
          <a:xfrm>
            <a:off x="4617720" y="2295000"/>
            <a:ext cx="13251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Slow sink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Rectangle 12"/>
          <p:cNvSpPr/>
          <p:nvPr/>
        </p:nvSpPr>
        <p:spPr>
          <a:xfrm>
            <a:off x="5943600" y="2295000"/>
            <a:ext cx="25138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Batch or async writes.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Rectangle 13"/>
          <p:cNvSpPr/>
          <p:nvPr/>
        </p:nvSpPr>
        <p:spPr>
          <a:xfrm>
            <a:off x="4617720" y="2679120"/>
            <a:ext cx="132516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Bad schema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Rectangle 14"/>
          <p:cNvSpPr/>
          <p:nvPr/>
        </p:nvSpPr>
        <p:spPr>
          <a:xfrm>
            <a:off x="5943600" y="2679120"/>
            <a:ext cx="2513880" cy="38340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 before commit.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1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TextBox 3"/>
          <p:cNvSpPr/>
          <p:nvPr/>
        </p:nvSpPr>
        <p:spPr>
          <a:xfrm>
            <a:off x="347400" y="530280"/>
            <a:ext cx="845748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lab: bad records stay observable and replayable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Rounded Rectangle 4"/>
          <p:cNvSpPr/>
          <p:nvPr/>
        </p:nvSpPr>
        <p:spPr>
          <a:xfrm>
            <a:off x="50292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Input files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Rounded Rectangle 5"/>
          <p:cNvSpPr/>
          <p:nvPr/>
        </p:nvSpPr>
        <p:spPr>
          <a:xfrm>
            <a:off x="217800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05" name="Connector 6"/>
          <p:cNvCxnSpPr/>
          <p:nvPr/>
        </p:nvCxnSpPr>
        <p:spPr>
          <a:xfrm>
            <a:off x="19400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106" name="Rounded Rectangle 7"/>
          <p:cNvSpPr/>
          <p:nvPr/>
        </p:nvSpPr>
        <p:spPr>
          <a:xfrm>
            <a:off x="385344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bad rows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7" name="Connector 8"/>
          <p:cNvCxnSpPr/>
          <p:nvPr/>
        </p:nvCxnSpPr>
        <p:spPr>
          <a:xfrm>
            <a:off x="361548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108" name="Rounded Rectangle 9"/>
          <p:cNvSpPr/>
          <p:nvPr/>
        </p:nvSpPr>
        <p:spPr>
          <a:xfrm>
            <a:off x="552852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Fix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09" name="Connector 10"/>
          <p:cNvCxnSpPr/>
          <p:nvPr/>
        </p:nvCxnSpPr>
        <p:spPr>
          <a:xfrm>
            <a:off x="529056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110" name="Rounded Rectangle 11"/>
          <p:cNvSpPr/>
          <p:nvPr/>
        </p:nvSpPr>
        <p:spPr>
          <a:xfrm>
            <a:off x="7203600" y="1417320"/>
            <a:ext cx="1436760" cy="51120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 w="9360">
            <a:solidFill>
              <a:srgbClr val="914e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Replay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11" name="Connector 12"/>
          <p:cNvCxnSpPr/>
          <p:nvPr/>
        </p:nvCxnSpPr>
        <p:spPr>
          <a:xfrm>
            <a:off x="69656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112" name="Rectangle 13"/>
          <p:cNvSpPr/>
          <p:nvPr/>
        </p:nvSpPr>
        <p:spPr>
          <a:xfrm>
            <a:off x="822960" y="2651760"/>
            <a:ext cx="1919520" cy="36504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 record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Rectangle 14"/>
          <p:cNvSpPr/>
          <p:nvPr/>
        </p:nvSpPr>
        <p:spPr>
          <a:xfrm>
            <a:off x="2743200" y="2651760"/>
            <a:ext cx="5211360" cy="36504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4" name="Rectangle 15"/>
          <p:cNvSpPr/>
          <p:nvPr/>
        </p:nvSpPr>
        <p:spPr>
          <a:xfrm>
            <a:off x="822960" y="3017520"/>
            <a:ext cx="191952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shipment missing shipment_id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Rectangle 16"/>
          <p:cNvSpPr/>
          <p:nvPr/>
        </p:nvSpPr>
        <p:spPr>
          <a:xfrm>
            <a:off x="2743200" y="3017520"/>
            <a:ext cx="521136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Parser/required-field failure.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Rectangle 17"/>
          <p:cNvSpPr/>
          <p:nvPr/>
        </p:nvSpPr>
        <p:spPr>
          <a:xfrm>
            <a:off x="822960" y="3383280"/>
            <a:ext cx="191952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shipment references order_id=9999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Rectangle 18"/>
          <p:cNvSpPr/>
          <p:nvPr/>
        </p:nvSpPr>
        <p:spPr>
          <a:xfrm>
            <a:off x="2743200" y="3383280"/>
            <a:ext cx="521136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Pending reference or quarantine.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Rectangle 19"/>
          <p:cNvSpPr/>
          <p:nvPr/>
        </p:nvSpPr>
        <p:spPr>
          <a:xfrm>
            <a:off x="822960" y="3749040"/>
            <a:ext cx="191952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rename order_id to id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Rectangle 20"/>
          <p:cNvSpPr/>
          <p:nvPr/>
        </p:nvSpPr>
        <p:spPr>
          <a:xfrm>
            <a:off x="2743200" y="3749040"/>
            <a:ext cx="5211360" cy="36504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Contract failure.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1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Box 3"/>
          <p:cNvSpPr/>
          <p:nvPr/>
        </p:nvSpPr>
        <p:spPr>
          <a:xfrm>
            <a:off x="347400" y="530280"/>
            <a:ext cx="845748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lab: students review compatibility before running data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Rectangle 4"/>
          <p:cNvSpPr/>
          <p:nvPr/>
        </p:nvSpPr>
        <p:spPr>
          <a:xfrm>
            <a:off x="685800" y="1143000"/>
            <a:ext cx="3474000" cy="4564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Change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4" name="Rectangle 5"/>
          <p:cNvSpPr/>
          <p:nvPr/>
        </p:nvSpPr>
        <p:spPr>
          <a:xfrm>
            <a:off x="4160520" y="1143000"/>
            <a:ext cx="1233720" cy="4564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Expected decision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Rectangle 6"/>
          <p:cNvSpPr/>
          <p:nvPr/>
        </p:nvSpPr>
        <p:spPr>
          <a:xfrm>
            <a:off x="5394960" y="1143000"/>
            <a:ext cx="2742480" cy="4564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Rectangle 7"/>
          <p:cNvSpPr/>
          <p:nvPr/>
        </p:nvSpPr>
        <p:spPr>
          <a:xfrm>
            <a:off x="685800" y="1600200"/>
            <a:ext cx="347400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 optional customer_tier with default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Rectangle 8"/>
          <p:cNvSpPr/>
          <p:nvPr/>
        </p:nvSpPr>
        <p:spPr>
          <a:xfrm>
            <a:off x="4160520" y="1600200"/>
            <a:ext cx="123372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ACCEPT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Rectangle 9"/>
          <p:cNvSpPr/>
          <p:nvPr/>
        </p:nvSpPr>
        <p:spPr>
          <a:xfrm>
            <a:off x="5394960" y="1600200"/>
            <a:ext cx="274248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Backward-compatible.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Rectangle 10"/>
          <p:cNvSpPr/>
          <p:nvPr/>
        </p:nvSpPr>
        <p:spPr>
          <a:xfrm>
            <a:off x="685800" y="2057400"/>
            <a:ext cx="347400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Rename order_id to 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Rectangle 11"/>
          <p:cNvSpPr/>
          <p:nvPr/>
        </p:nvSpPr>
        <p:spPr>
          <a:xfrm>
            <a:off x="4160520" y="2057400"/>
            <a:ext cx="123372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Rectangle 12"/>
          <p:cNvSpPr/>
          <p:nvPr/>
        </p:nvSpPr>
        <p:spPr>
          <a:xfrm>
            <a:off x="5394960" y="2057400"/>
            <a:ext cx="274248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Breaks consumers.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Rectangle 13"/>
          <p:cNvSpPr/>
          <p:nvPr/>
        </p:nvSpPr>
        <p:spPr>
          <a:xfrm>
            <a:off x="685800" y="2514600"/>
            <a:ext cx="347400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Remove optional coupon_code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Rectangle 14"/>
          <p:cNvSpPr/>
          <p:nvPr/>
        </p:nvSpPr>
        <p:spPr>
          <a:xfrm>
            <a:off x="4160520" y="2514600"/>
            <a:ext cx="123372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ACCEPT/REVIEW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Rectangle 15"/>
          <p:cNvSpPr/>
          <p:nvPr/>
        </p:nvSpPr>
        <p:spPr>
          <a:xfrm>
            <a:off x="5394960" y="2514600"/>
            <a:ext cx="2742480" cy="4564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Depends on active readers.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6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Deployment checklist before a new source goes live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Rectangle 4"/>
          <p:cNvSpPr/>
          <p:nvPr/>
        </p:nvSpPr>
        <p:spPr>
          <a:xfrm>
            <a:off x="594360" y="1051560"/>
            <a:ext cx="2056680" cy="3466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Area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9" name="Rectangle 5"/>
          <p:cNvSpPr/>
          <p:nvPr/>
        </p:nvSpPr>
        <p:spPr>
          <a:xfrm>
            <a:off x="2651760" y="1051560"/>
            <a:ext cx="5622840" cy="34668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Check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0" name="Rectangle 6"/>
          <p:cNvSpPr/>
          <p:nvPr/>
        </p:nvSpPr>
        <p:spPr>
          <a:xfrm>
            <a:off x="594360" y="1398960"/>
            <a:ext cx="205668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Contract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Rectangle 7"/>
          <p:cNvSpPr/>
          <p:nvPr/>
        </p:nvSpPr>
        <p:spPr>
          <a:xfrm>
            <a:off x="2651760" y="1398960"/>
            <a:ext cx="562284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registered; compatibility policy selected.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Rectangle 8"/>
          <p:cNvSpPr/>
          <p:nvPr/>
        </p:nvSpPr>
        <p:spPr>
          <a:xfrm>
            <a:off x="594360" y="1746360"/>
            <a:ext cx="205668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Rectangle 9"/>
          <p:cNvSpPr/>
          <p:nvPr/>
        </p:nvSpPr>
        <p:spPr>
          <a:xfrm>
            <a:off x="2651760" y="1746360"/>
            <a:ext cx="562284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Retention, partitions, cleanup policy and ownership documented.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Rectangle 10"/>
          <p:cNvSpPr/>
          <p:nvPr/>
        </p:nvSpPr>
        <p:spPr>
          <a:xfrm>
            <a:off x="594360" y="2094120"/>
            <a:ext cx="205668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Rectangle 11"/>
          <p:cNvSpPr/>
          <p:nvPr/>
        </p:nvSpPr>
        <p:spPr>
          <a:xfrm>
            <a:off x="2651760" y="2094120"/>
            <a:ext cx="562284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 commit strategy and idempotent output tested.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Rectangle 12"/>
          <p:cNvSpPr/>
          <p:nvPr/>
        </p:nvSpPr>
        <p:spPr>
          <a:xfrm>
            <a:off x="594360" y="2441520"/>
            <a:ext cx="205668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Rectangle 13"/>
          <p:cNvSpPr/>
          <p:nvPr/>
        </p:nvSpPr>
        <p:spPr>
          <a:xfrm>
            <a:off x="2651760" y="2441520"/>
            <a:ext cx="562284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Error payload, owner, alert and replay runbook exist.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Rectangle 14"/>
          <p:cNvSpPr/>
          <p:nvPr/>
        </p:nvSpPr>
        <p:spPr>
          <a:xfrm>
            <a:off x="594360" y="2788920"/>
            <a:ext cx="205668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Medallion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Rectangle 15"/>
          <p:cNvSpPr/>
          <p:nvPr/>
        </p:nvSpPr>
        <p:spPr>
          <a:xfrm>
            <a:off x="2651760" y="2788920"/>
            <a:ext cx="562284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Bronze/Silver/Gold lineage and quality thresholds defined.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Rectangle 16"/>
          <p:cNvSpPr/>
          <p:nvPr/>
        </p:nvSpPr>
        <p:spPr>
          <a:xfrm>
            <a:off x="594360" y="3136320"/>
            <a:ext cx="205668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Operations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Rectangle 17"/>
          <p:cNvSpPr/>
          <p:nvPr/>
        </p:nvSpPr>
        <p:spPr>
          <a:xfrm>
            <a:off x="2651760" y="3136320"/>
            <a:ext cx="5622840" cy="34668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Lag, DLQ, connector status and freshness alerts configured.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3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architecture: fast proof plus optional full stack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Rounded Rectangle 4"/>
          <p:cNvSpPr/>
          <p:nvPr/>
        </p:nvSpPr>
        <p:spPr>
          <a:xfrm>
            <a:off x="502920" y="141732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 w="9360">
            <a:solidFill>
              <a:srgbClr val="00a99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Input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files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6" name="Rounded Rectangle 5"/>
          <p:cNvSpPr/>
          <p:nvPr/>
        </p:nvSpPr>
        <p:spPr>
          <a:xfrm>
            <a:off x="2597040" y="141732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 w="9360">
            <a:solidFill>
              <a:srgbClr val="2d79d3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Python proof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runner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57" name="Connector 6"/>
          <p:cNvCxnSpPr/>
          <p:nvPr/>
        </p:nvCxnSpPr>
        <p:spPr>
          <a:xfrm>
            <a:off x="235908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158" name="Rounded Rectangle 7"/>
          <p:cNvSpPr/>
          <p:nvPr/>
        </p:nvSpPr>
        <p:spPr>
          <a:xfrm>
            <a:off x="4690800" y="141732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 /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 / Gold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9" name="Connector 8"/>
          <p:cNvCxnSpPr/>
          <p:nvPr/>
        </p:nvCxnSpPr>
        <p:spPr>
          <a:xfrm>
            <a:off x="4452840" y="1673280"/>
            <a:ext cx="23868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160" name="Rounded Rectangle 9"/>
          <p:cNvSpPr/>
          <p:nvPr/>
        </p:nvSpPr>
        <p:spPr>
          <a:xfrm>
            <a:off x="6784920" y="1417320"/>
            <a:ext cx="1855440" cy="51120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 w="9360">
            <a:solidFill>
              <a:srgbClr val="2b91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61" name="Connector 10"/>
          <p:cNvCxnSpPr/>
          <p:nvPr/>
        </p:nvCxnSpPr>
        <p:spPr>
          <a:xfrm>
            <a:off x="6546960" y="1673280"/>
            <a:ext cx="238320" cy="720"/>
          </a:xfrm>
          <a:prstGeom prst="straightConnector1">
            <a:avLst/>
          </a:prstGeom>
          <a:ln w="14040">
            <a:solidFill>
              <a:srgbClr val="0a1328"/>
            </a:solidFill>
            <a:round/>
          </a:ln>
        </p:spPr>
      </p:cxnSp>
      <p:sp>
        <p:nvSpPr>
          <p:cNvPr id="1162" name="Rounded Rectangle 11"/>
          <p:cNvSpPr/>
          <p:nvPr/>
        </p:nvSpPr>
        <p:spPr>
          <a:xfrm>
            <a:off x="2057400" y="2743200"/>
            <a:ext cx="1096560" cy="45648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 w="9360">
            <a:solidFill>
              <a:srgbClr val="f2a43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Docker</a:t>
            </a:r>
            <a:endParaRPr lang="en-IN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Rounded Rectangle 12"/>
          <p:cNvSpPr/>
          <p:nvPr/>
        </p:nvSpPr>
        <p:spPr>
          <a:xfrm>
            <a:off x="3749040" y="2743200"/>
            <a:ext cx="1096560" cy="45648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 w="9360">
            <a:solidFill>
              <a:srgbClr val="da525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Schema</a:t>
            </a:r>
            <a:endParaRPr lang="en-IN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Registry</a:t>
            </a:r>
            <a:endParaRPr lang="en-IN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4" name="TextBox 13"/>
          <p:cNvSpPr/>
          <p:nvPr/>
        </p:nvSpPr>
        <p:spPr>
          <a:xfrm>
            <a:off x="822960" y="3657600"/>
            <a:ext cx="7405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Automated proof validates medallion logic; optional stack validates integration.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6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Proof commands should be boring and repeatable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Rectangle 4"/>
          <p:cNvSpPr/>
          <p:nvPr/>
        </p:nvSpPr>
        <p:spPr>
          <a:xfrm>
            <a:off x="685800" y="1143000"/>
            <a:ext cx="7497360" cy="1508040"/>
          </a:xfrm>
          <a:prstGeom prst="rect">
            <a:avLst/>
          </a:prstGeom>
          <a:solidFill>
            <a:srgbClr val="ebf0f5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cd Day_05/Lab_Files_Client_Ready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python run_day5_lab_tests.py --qa-dir ../../outputs/day5_client_ready_qa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# Expected: PASS Bronze, Silver, DLQ, Gold revenue and schema decisions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0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TextBox 4"/>
          <p:cNvSpPr/>
          <p:nvPr/>
        </p:nvSpPr>
        <p:spPr>
          <a:xfrm>
            <a:off x="777240" y="1143000"/>
            <a:ext cx="758880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does Schema Registry help prevent?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a) Broker shutdown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b) Consumer failure due to unexpected message structure changes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c) Topic creation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d) Kafka installation errors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Rectangle 45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4" name="TextBox 2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Box 2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TextBox 24"/>
          <p:cNvSpPr/>
          <p:nvPr/>
        </p:nvSpPr>
        <p:spPr>
          <a:xfrm>
            <a:off x="777240" y="1143000"/>
            <a:ext cx="7588800" cy="11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Answer: b) Consumer failure due to unexpected message structure changes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Rectangle 46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8" name="TextBox 27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TextBox 28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Box 29"/>
          <p:cNvSpPr/>
          <p:nvPr/>
        </p:nvSpPr>
        <p:spPr>
          <a:xfrm>
            <a:off x="777240" y="1143000"/>
            <a:ext cx="7588800" cy="23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Which compatibility mode allows adding optional fields?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a) Backward compatibility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b) Forward compatibility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c) No compatibility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d) Full incompatibility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Rectangle 48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2" name="TextBox 33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TextBox 34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TextBox 35"/>
          <p:cNvSpPr/>
          <p:nvPr/>
        </p:nvSpPr>
        <p:spPr>
          <a:xfrm>
            <a:off x="777240" y="1143000"/>
            <a:ext cx="7588800" cy="6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Answer: a) Backward compatibility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Rectangle 47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6" name="TextBox 30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TextBox 31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TextBox 32"/>
          <p:cNvSpPr/>
          <p:nvPr/>
        </p:nvSpPr>
        <p:spPr>
          <a:xfrm>
            <a:off x="777240" y="1179000"/>
            <a:ext cx="7588800" cy="23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happens if a producer sends data with an incompatible schema?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a) Kafka automatically deletes the topic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b) Schema Registry may reject the schema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c) Consumer group is deleted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d) Broker becomes leader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Rectangle 49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0" name="TextBox 36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TextBox 37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TextBox 38"/>
          <p:cNvSpPr/>
          <p:nvPr/>
        </p:nvSpPr>
        <p:spPr>
          <a:xfrm>
            <a:off x="777240" y="1179000"/>
            <a:ext cx="758880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Answer: b) Schema Registry may reject the schema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Rectangle 50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4" name="TextBox 39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Box 40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Box 41"/>
          <p:cNvSpPr/>
          <p:nvPr/>
        </p:nvSpPr>
        <p:spPr>
          <a:xfrm>
            <a:off x="777240" y="1179000"/>
            <a:ext cx="7588800" cy="23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happens if a producer sends data with an incompatible schema?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a) Kafka automatically deletes the topic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b) Schema Registry may reject the schema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c) Consumer group is deleted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d) Broker becomes leader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Rectangle 44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8" name="TextBox 7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TextBox 12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Mini exercise: lag and retention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TextBox 18"/>
          <p:cNvSpPr/>
          <p:nvPr/>
        </p:nvSpPr>
        <p:spPr>
          <a:xfrm>
            <a:off x="777240" y="1143000"/>
            <a:ext cx="7588800" cy="8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Given LW=105, HW=200 and committed offset=150: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1. Calculate lag.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2. Is the consumer safe or unrecoverable?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3. What changes if committed offset=100?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2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Answer: lag and retention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TextBox 4"/>
          <p:cNvSpPr/>
          <p:nvPr/>
        </p:nvSpPr>
        <p:spPr>
          <a:xfrm>
            <a:off x="777240" y="1143000"/>
            <a:ext cx="7588800" cy="8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= 200 - 150 = 50.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 150 is safe because it is above LW 105.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 100 is below LW 105, so records 100-104 are gone.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This is data loss risk, not only high lag.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6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Mini exercise: schema review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Rectangle 4"/>
          <p:cNvSpPr/>
          <p:nvPr/>
        </p:nvSpPr>
        <p:spPr>
          <a:xfrm>
            <a:off x="685800" y="1143000"/>
            <a:ext cx="402264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Change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9" name="Rectangle 5"/>
          <p:cNvSpPr/>
          <p:nvPr/>
        </p:nvSpPr>
        <p:spPr>
          <a:xfrm>
            <a:off x="4709160" y="1143000"/>
            <a:ext cx="182808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Accept?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0" name="Rectangle 6"/>
          <p:cNvSpPr/>
          <p:nvPr/>
        </p:nvSpPr>
        <p:spPr>
          <a:xfrm>
            <a:off x="6537960" y="1143000"/>
            <a:ext cx="182808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Why?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1" name="Rectangle 7"/>
          <p:cNvSpPr/>
          <p:nvPr/>
        </p:nvSpPr>
        <p:spPr>
          <a:xfrm>
            <a:off x="685800" y="1581840"/>
            <a:ext cx="40226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 optional customer_tier with default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Rectangle 8"/>
          <p:cNvSpPr/>
          <p:nvPr/>
        </p:nvSpPr>
        <p:spPr>
          <a:xfrm>
            <a:off x="4709160" y="1581840"/>
            <a:ext cx="1828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Rectangle 9"/>
          <p:cNvSpPr/>
          <p:nvPr/>
        </p:nvSpPr>
        <p:spPr>
          <a:xfrm>
            <a:off x="6537960" y="1581840"/>
            <a:ext cx="1828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Rectangle 10"/>
          <p:cNvSpPr/>
          <p:nvPr/>
        </p:nvSpPr>
        <p:spPr>
          <a:xfrm>
            <a:off x="685800" y="2020680"/>
            <a:ext cx="40226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Rename order_id to 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Rectangle 11"/>
          <p:cNvSpPr/>
          <p:nvPr/>
        </p:nvSpPr>
        <p:spPr>
          <a:xfrm>
            <a:off x="4709160" y="2020680"/>
            <a:ext cx="1828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Rectangle 12"/>
          <p:cNvSpPr/>
          <p:nvPr/>
        </p:nvSpPr>
        <p:spPr>
          <a:xfrm>
            <a:off x="6537960" y="2020680"/>
            <a:ext cx="1828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Rectangle 13"/>
          <p:cNvSpPr/>
          <p:nvPr/>
        </p:nvSpPr>
        <p:spPr>
          <a:xfrm>
            <a:off x="685800" y="2459880"/>
            <a:ext cx="40226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Change amount decimal to string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Rectangle 14"/>
          <p:cNvSpPr/>
          <p:nvPr/>
        </p:nvSpPr>
        <p:spPr>
          <a:xfrm>
            <a:off x="4709160" y="2459880"/>
            <a:ext cx="1828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Rectangle 15"/>
          <p:cNvSpPr/>
          <p:nvPr/>
        </p:nvSpPr>
        <p:spPr>
          <a:xfrm>
            <a:off x="6537960" y="2459880"/>
            <a:ext cx="1828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Rectangle 16"/>
          <p:cNvSpPr/>
          <p:nvPr/>
        </p:nvSpPr>
        <p:spPr>
          <a:xfrm>
            <a:off x="685800" y="2898720"/>
            <a:ext cx="40226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Remove optional coupon_code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Rectangle 17"/>
          <p:cNvSpPr/>
          <p:nvPr/>
        </p:nvSpPr>
        <p:spPr>
          <a:xfrm>
            <a:off x="4709160" y="2898720"/>
            <a:ext cx="1828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Rectangle 18"/>
          <p:cNvSpPr/>
          <p:nvPr/>
        </p:nvSpPr>
        <p:spPr>
          <a:xfrm>
            <a:off x="6537960" y="2898720"/>
            <a:ext cx="182808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4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Answer: schema review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Rectangle 4"/>
          <p:cNvSpPr/>
          <p:nvPr/>
        </p:nvSpPr>
        <p:spPr>
          <a:xfrm>
            <a:off x="685800" y="1143000"/>
            <a:ext cx="402264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Change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7" name="Rectangle 5"/>
          <p:cNvSpPr/>
          <p:nvPr/>
        </p:nvSpPr>
        <p:spPr>
          <a:xfrm>
            <a:off x="4709160" y="1143000"/>
            <a:ext cx="127944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Decision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8" name="Rectangle 6"/>
          <p:cNvSpPr/>
          <p:nvPr/>
        </p:nvSpPr>
        <p:spPr>
          <a:xfrm>
            <a:off x="5989320" y="1143000"/>
            <a:ext cx="2376720" cy="438120"/>
          </a:xfrm>
          <a:prstGeom prst="rect">
            <a:avLst/>
          </a:prstGeom>
          <a:solidFill>
            <a:srgbClr val="0a1328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9" name="Rectangle 7"/>
          <p:cNvSpPr/>
          <p:nvPr/>
        </p:nvSpPr>
        <p:spPr>
          <a:xfrm>
            <a:off x="685800" y="1581840"/>
            <a:ext cx="40226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 optional customer_tier with default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Rectangle 8"/>
          <p:cNvSpPr/>
          <p:nvPr/>
        </p:nvSpPr>
        <p:spPr>
          <a:xfrm>
            <a:off x="4709160" y="1581840"/>
            <a:ext cx="12794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Accept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Rectangle 9"/>
          <p:cNvSpPr/>
          <p:nvPr/>
        </p:nvSpPr>
        <p:spPr>
          <a:xfrm>
            <a:off x="5989320" y="1581840"/>
            <a:ext cx="23767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Backward-compatible.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Rectangle 10"/>
          <p:cNvSpPr/>
          <p:nvPr/>
        </p:nvSpPr>
        <p:spPr>
          <a:xfrm>
            <a:off x="685800" y="2020680"/>
            <a:ext cx="40226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Rename order_id to 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Rectangle 11"/>
          <p:cNvSpPr/>
          <p:nvPr/>
        </p:nvSpPr>
        <p:spPr>
          <a:xfrm>
            <a:off x="4709160" y="2020680"/>
            <a:ext cx="12794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Rectangle 12"/>
          <p:cNvSpPr/>
          <p:nvPr/>
        </p:nvSpPr>
        <p:spPr>
          <a:xfrm>
            <a:off x="5989320" y="2020680"/>
            <a:ext cx="23767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Field names are contract.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Rectangle 13"/>
          <p:cNvSpPr/>
          <p:nvPr/>
        </p:nvSpPr>
        <p:spPr>
          <a:xfrm>
            <a:off x="685800" y="2459880"/>
            <a:ext cx="40226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Change amount decimal to string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Rectangle 14"/>
          <p:cNvSpPr/>
          <p:nvPr/>
        </p:nvSpPr>
        <p:spPr>
          <a:xfrm>
            <a:off x="4709160" y="2459880"/>
            <a:ext cx="12794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Rectangle 15"/>
          <p:cNvSpPr/>
          <p:nvPr/>
        </p:nvSpPr>
        <p:spPr>
          <a:xfrm>
            <a:off x="5989320" y="2459880"/>
            <a:ext cx="23767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Type semantics break.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Rectangle 16"/>
          <p:cNvSpPr/>
          <p:nvPr/>
        </p:nvSpPr>
        <p:spPr>
          <a:xfrm>
            <a:off x="685800" y="2898720"/>
            <a:ext cx="40226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Remove optional coupon_code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Rectangle 17"/>
          <p:cNvSpPr/>
          <p:nvPr/>
        </p:nvSpPr>
        <p:spPr>
          <a:xfrm>
            <a:off x="4709160" y="2898720"/>
            <a:ext cx="127944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Review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Rectangle 18"/>
          <p:cNvSpPr/>
          <p:nvPr/>
        </p:nvSpPr>
        <p:spPr>
          <a:xfrm>
            <a:off x="5989320" y="2898720"/>
            <a:ext cx="2376720" cy="438120"/>
          </a:xfrm>
          <a:prstGeom prst="rect">
            <a:avLst/>
          </a:prstGeom>
          <a:solidFill>
            <a:srgbClr val="ffffff"/>
          </a:solidFill>
          <a:ln w="9360">
            <a:solidFill>
              <a:srgbClr val="d5de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Depends on readers.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Text 88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Knowledge Check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Text 89"/>
          <p:cNvSpPr/>
          <p:nvPr/>
        </p:nvSpPr>
        <p:spPr>
          <a:xfrm>
            <a:off x="457200" y="8229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1. What ingestion principle prevents a customer from being charged twice if the same event is processed again?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Text 90"/>
          <p:cNvSpPr/>
          <p:nvPr/>
        </p:nvSpPr>
        <p:spPr>
          <a:xfrm>
            <a:off x="731520" y="105156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A) Ordering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Text 91"/>
          <p:cNvSpPr/>
          <p:nvPr/>
        </p:nvSpPr>
        <p:spPr>
          <a:xfrm>
            <a:off x="731520" y="121608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B) Idempotency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Text 92"/>
          <p:cNvSpPr/>
          <p:nvPr/>
        </p:nvSpPr>
        <p:spPr>
          <a:xfrm>
            <a:off x="731520" y="138060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C) Replayability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Text 93"/>
          <p:cNvSpPr/>
          <p:nvPr/>
        </p:nvSpPr>
        <p:spPr>
          <a:xfrm>
            <a:off x="731520" y="154548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D) Deduplication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7" name="Text 94"/>
          <p:cNvSpPr/>
          <p:nvPr/>
        </p:nvSpPr>
        <p:spPr>
          <a:xfrm>
            <a:off x="343080" y="16538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2. Which schema change is backward compatible under BACKWARD compatibility mode?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Text 95"/>
          <p:cNvSpPr/>
          <p:nvPr/>
        </p:nvSpPr>
        <p:spPr>
          <a:xfrm>
            <a:off x="731520" y="191196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A) Changing field type from INTEGER to STRING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Text 96"/>
          <p:cNvSpPr/>
          <p:nvPr/>
        </p:nvSpPr>
        <p:spPr>
          <a:xfrm>
            <a:off x="731520" y="209448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B) Adding a new required field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Text 97"/>
          <p:cNvSpPr/>
          <p:nvPr/>
        </p:nvSpPr>
        <p:spPr>
          <a:xfrm>
            <a:off x="731520" y="227700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C) Removing an optional field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Text 98"/>
          <p:cNvSpPr/>
          <p:nvPr/>
        </p:nvSpPr>
        <p:spPr>
          <a:xfrm>
            <a:off x="731520" y="245952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D) Renaming a field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Text 99"/>
          <p:cNvSpPr/>
          <p:nvPr/>
        </p:nvSpPr>
        <p:spPr>
          <a:xfrm>
            <a:off x="540000" y="26060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3. What does a Dead Letter Queue (DLQ) do?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Text 100"/>
          <p:cNvSpPr/>
          <p:nvPr/>
        </p:nvSpPr>
        <p:spPr>
          <a:xfrm>
            <a:off x="720000" y="287748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A) Sends messages to all consumers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Text 101"/>
          <p:cNvSpPr/>
          <p:nvPr/>
        </p:nvSpPr>
        <p:spPr>
          <a:xfrm>
            <a:off x="720000" y="306000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B) Stores valid messages only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Text 102"/>
          <p:cNvSpPr/>
          <p:nvPr/>
        </p:nvSpPr>
        <p:spPr>
          <a:xfrm>
            <a:off x="721080" y="324252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C) Stores invalid or poison messages for later inspection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Text 103"/>
          <p:cNvSpPr/>
          <p:nvPr/>
        </p:nvSpPr>
        <p:spPr>
          <a:xfrm>
            <a:off x="720000" y="342000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D) Encrypts messages at rest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Text 104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Text 105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Knowledge Check (cont.)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Text 106"/>
          <p:cNvSpPr/>
          <p:nvPr/>
        </p:nvSpPr>
        <p:spPr>
          <a:xfrm>
            <a:off x="457200" y="8229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4. Which delivery guarantee retries sending events until they are acknowledged, potentially creating duplicates?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Text 107"/>
          <p:cNvSpPr/>
          <p:nvPr/>
        </p:nvSpPr>
        <p:spPr>
          <a:xfrm>
            <a:off x="731520" y="105156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A) At‑Most‑Once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 108"/>
          <p:cNvSpPr/>
          <p:nvPr/>
        </p:nvSpPr>
        <p:spPr>
          <a:xfrm>
            <a:off x="731520" y="121608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B) At‑Least‑Once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Text 109"/>
          <p:cNvSpPr/>
          <p:nvPr/>
        </p:nvSpPr>
        <p:spPr>
          <a:xfrm>
            <a:off x="731520" y="138060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C) Exactly‑Once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Text 110"/>
          <p:cNvSpPr/>
          <p:nvPr/>
        </p:nvSpPr>
        <p:spPr>
          <a:xfrm>
            <a:off x="731520" y="154548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D) None of the above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Text 111"/>
          <p:cNvSpPr/>
          <p:nvPr/>
        </p:nvSpPr>
        <p:spPr>
          <a:xfrm>
            <a:off x="457200" y="16545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5. What is the purpose of a grace period in windowed processing?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 112"/>
          <p:cNvSpPr/>
          <p:nvPr/>
        </p:nvSpPr>
        <p:spPr>
          <a:xfrm>
            <a:off x="731520" y="192960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A) To speed up processing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 113"/>
          <p:cNvSpPr/>
          <p:nvPr/>
        </p:nvSpPr>
        <p:spPr>
          <a:xfrm>
            <a:off x="720000" y="211212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B) To allow late events to be included before final output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 114"/>
          <p:cNvSpPr/>
          <p:nvPr/>
        </p:nvSpPr>
        <p:spPr>
          <a:xfrm>
            <a:off x="731520" y="229464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C) To enforce at-most-once delivery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 115"/>
          <p:cNvSpPr/>
          <p:nvPr/>
        </p:nvSpPr>
        <p:spPr>
          <a:xfrm>
            <a:off x="720000" y="245952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D) To specify the schema registry URL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Text 116"/>
          <p:cNvSpPr/>
          <p:nvPr/>
        </p:nvSpPr>
        <p:spPr>
          <a:xfrm>
            <a:off x="445680" y="26060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6. In a multi-source ingestion pipeline, why might you use a dedicated topic for invalid messages?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Text 117"/>
          <p:cNvSpPr/>
          <p:nvPr/>
        </p:nvSpPr>
        <p:spPr>
          <a:xfrm>
            <a:off x="720000" y="287748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A) To scale the pipeline horizontally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Text 118"/>
          <p:cNvSpPr/>
          <p:nvPr/>
        </p:nvSpPr>
        <p:spPr>
          <a:xfrm>
            <a:off x="720000" y="306000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B) To perform near-real-time analytics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Text 119"/>
          <p:cNvSpPr/>
          <p:nvPr/>
        </p:nvSpPr>
        <p:spPr>
          <a:xfrm>
            <a:off x="720000" y="323748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C) To isolate errors for monitoring and reprocessing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Text 120"/>
          <p:cNvSpPr/>
          <p:nvPr/>
        </p:nvSpPr>
        <p:spPr>
          <a:xfrm>
            <a:off x="720000" y="3417480"/>
            <a:ext cx="7954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D) To reduce storage costs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Text 121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Text 122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Knowledge Check Answers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 123"/>
          <p:cNvSpPr/>
          <p:nvPr/>
        </p:nvSpPr>
        <p:spPr>
          <a:xfrm>
            <a:off x="457200" y="82296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1. Idempotency — ensures a repeated event doesn’t cause duplicate side effects.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Text 124"/>
          <p:cNvSpPr/>
          <p:nvPr/>
        </p:nvSpPr>
        <p:spPr>
          <a:xfrm>
            <a:off x="457200" y="107892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2. Under BACKWARD, a new consumer schema may remove a field that was optional or had a default in the previous schema; adding a defaulted optional field is also a common compatible evolution. Verify against your selected format and policy.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Text 125"/>
          <p:cNvSpPr/>
          <p:nvPr/>
        </p:nvSpPr>
        <p:spPr>
          <a:xfrm>
            <a:off x="457200" y="133488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3. A DLQ stores invalid or poison messages for inspection and replay.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 126"/>
          <p:cNvSpPr/>
          <p:nvPr/>
        </p:nvSpPr>
        <p:spPr>
          <a:xfrm>
            <a:off x="457200" y="159120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4. At‑Least‑Once — duplicates may occur but events aren’t lost.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Text 127"/>
          <p:cNvSpPr/>
          <p:nvPr/>
        </p:nvSpPr>
        <p:spPr>
          <a:xfrm>
            <a:off x="457200" y="184716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5. It allows late events to be included before the window is closed.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 128"/>
          <p:cNvSpPr/>
          <p:nvPr/>
        </p:nvSpPr>
        <p:spPr>
          <a:xfrm>
            <a:off x="457200" y="210312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6. To isolate errors for monitoring and reprocessing.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Text 129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Text 13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Recap &amp; Next Steps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Text 131"/>
          <p:cNvSpPr/>
          <p:nvPr/>
        </p:nvSpPr>
        <p:spPr>
          <a:xfrm>
            <a:off x="457200" y="731520"/>
            <a:ext cx="82285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Today you learned how to design resilient ingestion pipelines using CDC, streaming and batch sources.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172a"/>
                </a:solidFill>
                <a:effectLst/>
                <a:uFillTx/>
                <a:latin typeface="Calibri"/>
                <a:ea typeface="Calibri"/>
              </a:rPr>
              <a:t>Key takeaways: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Apply idempotency, ordering, deduplication and replayability to your pipelines.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Combine multi-source data with a unified Kafka ingestion layer.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Use Schema Registry and compatibility rules to evolve contracts safely.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Route bad data to DLQs and monitor/replay failures.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• Choose appropriate delivery guarantees and handle late events with watermarks.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 132"/>
          <p:cNvSpPr/>
          <p:nvPr/>
        </p:nvSpPr>
        <p:spPr>
          <a:xfrm>
            <a:off x="457200" y="3931920"/>
            <a:ext cx="82285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Next up: Day 6 – Data Transformation with Apache Hop. We’ll build pipelines to clean, deduplicate and enrich data, and load it into the Silver layer.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Text 133"/>
          <p:cNvSpPr/>
          <p:nvPr/>
        </p:nvSpPr>
        <p:spPr>
          <a:xfrm>
            <a:off x="457200" y="48862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1"/>
              </a:rPr>
              <a:t>[1]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2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Rectangle 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rgbClr val="0a132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8" name="TextBox 2"/>
          <p:cNvSpPr/>
          <p:nvPr/>
        </p:nvSpPr>
        <p:spPr>
          <a:xfrm>
            <a:off x="255960" y="50400"/>
            <a:ext cx="5302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TextBox 3"/>
          <p:cNvSpPr/>
          <p:nvPr/>
        </p:nvSpPr>
        <p:spPr>
          <a:xfrm>
            <a:off x="347400" y="530280"/>
            <a:ext cx="8457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Knowledge check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TextBox 4"/>
          <p:cNvSpPr/>
          <p:nvPr/>
        </p:nvSpPr>
        <p:spPr>
          <a:xfrm>
            <a:off x="777240" y="1051560"/>
            <a:ext cx="7680240" cy="10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1. What does a DLQ preserve that a log message usually does not?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2. Why can a low watermark make lag unrecoverable?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3. Why should a late-arriving record be judged by event time?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4. Why is Kafka not replaced by Redis Streams in this course design?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5. Why should Bronze keep raw CDC envelopes?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2026-06-05T10:12:40Z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