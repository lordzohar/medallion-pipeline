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309" r:id="rId58"/>
    <p:sldId id="259" r:id="rId7"/>
    <p:sldId id="260" r:id="rId8"/>
    <p:sldId id="261" r:id="rId9"/>
    <p:sldId id="310" r:id="rId59"/>
    <p:sldId id="311" r:id="rId60"/>
    <p:sldId id="262" r:id="rId10"/>
    <p:sldId id="337" r:id="rId86"/>
    <p:sldId id="263" r:id="rId11"/>
    <p:sldId id="312" r:id="rId61"/>
    <p:sldId id="264" r:id="rId12"/>
    <p:sldId id="265" r:id="rId13"/>
    <p:sldId id="313" r:id="rId62"/>
    <p:sldId id="266" r:id="rId14"/>
    <p:sldId id="314" r:id="rId63"/>
    <p:sldId id="267" r:id="rId15"/>
    <p:sldId id="268" r:id="rId16"/>
    <p:sldId id="269" r:id="rId17"/>
    <p:sldId id="315" r:id="rId64"/>
    <p:sldId id="270" r:id="rId18"/>
    <p:sldId id="316" r:id="rId65"/>
    <p:sldId id="271" r:id="rId19"/>
    <p:sldId id="317" r:id="rId66"/>
    <p:sldId id="272" r:id="rId20"/>
    <p:sldId id="273" r:id="rId21"/>
    <p:sldId id="338" r:id="rId87"/>
    <p:sldId id="274" r:id="rId22"/>
    <p:sldId id="318" r:id="rId67"/>
    <p:sldId id="275" r:id="rId23"/>
    <p:sldId id="276" r:id="rId24"/>
    <p:sldId id="319" r:id="rId68"/>
    <p:sldId id="277" r:id="rId25"/>
    <p:sldId id="320" r:id="rId69"/>
    <p:sldId id="339" r:id="rId88"/>
    <p:sldId id="278" r:id="rId26"/>
    <p:sldId id="340" r:id="rId89"/>
    <p:sldId id="279" r:id="rId27"/>
    <p:sldId id="321" r:id="rId70"/>
    <p:sldId id="280" r:id="rId28"/>
    <p:sldId id="281" r:id="rId29"/>
    <p:sldId id="322" r:id="rId71"/>
    <p:sldId id="282" r:id="rId30"/>
    <p:sldId id="283" r:id="rId31"/>
    <p:sldId id="323" r:id="rId72"/>
    <p:sldId id="284" r:id="rId32"/>
    <p:sldId id="285" r:id="rId33"/>
    <p:sldId id="341" r:id="rId90"/>
    <p:sldId id="286" r:id="rId34"/>
    <p:sldId id="324" r:id="rId73"/>
    <p:sldId id="287" r:id="rId35"/>
    <p:sldId id="288" r:id="rId36"/>
    <p:sldId id="289" r:id="rId37"/>
    <p:sldId id="342" r:id="rId91"/>
    <p:sldId id="290" r:id="rId38"/>
    <p:sldId id="291" r:id="rId39"/>
    <p:sldId id="325" r:id="rId74"/>
    <p:sldId id="292" r:id="rId40"/>
    <p:sldId id="326" r:id="rId75"/>
    <p:sldId id="327" r:id="rId76"/>
    <p:sldId id="293" r:id="rId41"/>
    <p:sldId id="343" r:id="rId92"/>
    <p:sldId id="294" r:id="rId42"/>
    <p:sldId id="328" r:id="rId77"/>
    <p:sldId id="329" r:id="rId78"/>
    <p:sldId id="330" r:id="rId79"/>
    <p:sldId id="295" r:id="rId43"/>
    <p:sldId id="331" r:id="rId80"/>
    <p:sldId id="332" r:id="rId81"/>
    <p:sldId id="296" r:id="rId44"/>
    <p:sldId id="333" r:id="rId82"/>
    <p:sldId id="297" r:id="rId45"/>
    <p:sldId id="334" r:id="rId83"/>
    <p:sldId id="298" r:id="rId46"/>
    <p:sldId id="344" r:id="rId93"/>
    <p:sldId id="299" r:id="rId47"/>
    <p:sldId id="300" r:id="rId48"/>
    <p:sldId id="335" r:id="rId84"/>
    <p:sldId id="301" r:id="rId49"/>
    <p:sldId id="302" r:id="rId50"/>
    <p:sldId id="336" r:id="rId85"/>
    <p:sldId id="303" r:id="rId51"/>
    <p:sldId id="304" r:id="rId52"/>
    <p:sldId id="345" r:id="rId94"/>
    <p:sldId id="305" r:id="rId53"/>
    <p:sldId id="346" r:id="rId95"/>
    <p:sldId id="306" r:id="rId54"/>
    <p:sldId id="307" r:id="rId55"/>
    <p:sldId id="308" r:id="rId56"/>
  </p:sldIdLst>
  <p:sldSz cx="9144000" cy="5148263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2.xml"/><Relationship Id="rId19" Type="http://schemas.openxmlformats.org/officeDocument/2006/relationships/slide" Target="slides/slide24.xml"/><Relationship Id="rId20" Type="http://schemas.openxmlformats.org/officeDocument/2006/relationships/slide" Target="slides/slide26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33.xml"/><Relationship Id="rId26" Type="http://schemas.openxmlformats.org/officeDocument/2006/relationships/slide" Target="slides/slide35.xml"/><Relationship Id="rId27" Type="http://schemas.openxmlformats.org/officeDocument/2006/relationships/slide" Target="slides/slide36.xml"/><Relationship Id="rId28" Type="http://schemas.openxmlformats.org/officeDocument/2006/relationships/slide" Target="slides/slide38.xml"/><Relationship Id="rId29" Type="http://schemas.openxmlformats.org/officeDocument/2006/relationships/slide" Target="slides/slide39.xml"/><Relationship Id="rId30" Type="http://schemas.openxmlformats.org/officeDocument/2006/relationships/slide" Target="slides/slide41.xml"/><Relationship Id="rId31" Type="http://schemas.openxmlformats.org/officeDocument/2006/relationships/slide" Target="slides/slide42.xml"/><Relationship Id="rId32" Type="http://schemas.openxmlformats.org/officeDocument/2006/relationships/slide" Target="slides/slide44.xml"/><Relationship Id="rId33" Type="http://schemas.openxmlformats.org/officeDocument/2006/relationships/slide" Target="slides/slide45.xml"/><Relationship Id="rId34" Type="http://schemas.openxmlformats.org/officeDocument/2006/relationships/slide" Target="slides/slide46.xml"/><Relationship Id="rId35" Type="http://schemas.openxmlformats.org/officeDocument/2006/relationships/slide" Target="slides/slide48.xml"/><Relationship Id="rId36" Type="http://schemas.openxmlformats.org/officeDocument/2006/relationships/slide" Target="slides/slide49.xml"/><Relationship Id="rId37" Type="http://schemas.openxmlformats.org/officeDocument/2006/relationships/slide" Target="slides/slide50.xml"/><Relationship Id="rId38" Type="http://schemas.openxmlformats.org/officeDocument/2006/relationships/slide" Target="slides/slide51.xml"/><Relationship Id="rId39" Type="http://schemas.openxmlformats.org/officeDocument/2006/relationships/slide" Target="slides/slide52.xml"/><Relationship Id="rId40" Type="http://schemas.openxmlformats.org/officeDocument/2006/relationships/slide" Target="slides/slide54.xml"/><Relationship Id="rId41" Type="http://schemas.openxmlformats.org/officeDocument/2006/relationships/slide" Target="slides/slide57.xml"/><Relationship Id="rId42" Type="http://schemas.openxmlformats.org/officeDocument/2006/relationships/slide" Target="slides/slide58.xml"/><Relationship Id="rId43" Type="http://schemas.openxmlformats.org/officeDocument/2006/relationships/slide" Target="slides/slide62.xml"/><Relationship Id="rId44" Type="http://schemas.openxmlformats.org/officeDocument/2006/relationships/slide" Target="slides/slide65.xml"/><Relationship Id="rId45" Type="http://schemas.openxmlformats.org/officeDocument/2006/relationships/slide" Target="slides/slide67.xml"/><Relationship Id="rId46" Type="http://schemas.openxmlformats.org/officeDocument/2006/relationships/slide" Target="slides/slide69.xml"/><Relationship Id="rId47" Type="http://schemas.openxmlformats.org/officeDocument/2006/relationships/slide" Target="slides/slide70.xml"/><Relationship Id="rId48" Type="http://schemas.openxmlformats.org/officeDocument/2006/relationships/slide" Target="slides/slide71.xml"/><Relationship Id="rId49" Type="http://schemas.openxmlformats.org/officeDocument/2006/relationships/slide" Target="slides/slide73.xml"/><Relationship Id="rId50" Type="http://schemas.openxmlformats.org/officeDocument/2006/relationships/slide" Target="slides/slide74.xml"/><Relationship Id="rId51" Type="http://schemas.openxmlformats.org/officeDocument/2006/relationships/slide" Target="slides/slide76.xml"/><Relationship Id="rId52" Type="http://schemas.openxmlformats.org/officeDocument/2006/relationships/slide" Target="slides/slide77.xml"/><Relationship Id="rId53" Type="http://schemas.openxmlformats.org/officeDocument/2006/relationships/slide" Target="slides/slide78.xml"/><Relationship Id="rId54" Type="http://schemas.openxmlformats.org/officeDocument/2006/relationships/slide" Target="slides/slide79.xml"/><Relationship Id="rId55" Type="http://schemas.openxmlformats.org/officeDocument/2006/relationships/slide" Target="slides/slide80.xml"/><Relationship Id="rId56" Type="http://schemas.openxmlformats.org/officeDocument/2006/relationships/slide" Target="slides/slide81.xml"/><Relationship Id="rId57" Type="http://schemas.openxmlformats.org/officeDocument/2006/relationships/presProps" Target="presProps.xml"/><Relationship Id="rId58" Type="http://schemas.openxmlformats.org/officeDocument/2006/relationships/slide" Target="slides/slide4.xml"/><Relationship Id="rId59" Type="http://schemas.openxmlformats.org/officeDocument/2006/relationships/slide" Target="slides/slide8.xml"/><Relationship Id="rId60" Type="http://schemas.openxmlformats.org/officeDocument/2006/relationships/slide" Target="slides/slide9.xml"/><Relationship Id="rId61" Type="http://schemas.openxmlformats.org/officeDocument/2006/relationships/slide" Target="slides/slide12.xml"/><Relationship Id="rId62" Type="http://schemas.openxmlformats.org/officeDocument/2006/relationships/slide" Target="slides/slide15.xml"/><Relationship Id="rId63" Type="http://schemas.openxmlformats.org/officeDocument/2006/relationships/slide" Target="slides/slide17.xml"/><Relationship Id="rId64" Type="http://schemas.openxmlformats.org/officeDocument/2006/relationships/slide" Target="slides/slide21.xml"/><Relationship Id="rId65" Type="http://schemas.openxmlformats.org/officeDocument/2006/relationships/slide" Target="slides/slide23.xml"/><Relationship Id="rId66" Type="http://schemas.openxmlformats.org/officeDocument/2006/relationships/slide" Target="slides/slide25.xml"/><Relationship Id="rId67" Type="http://schemas.openxmlformats.org/officeDocument/2006/relationships/slide" Target="slides/slide29.xml"/><Relationship Id="rId68" Type="http://schemas.openxmlformats.org/officeDocument/2006/relationships/slide" Target="slides/slide32.xml"/><Relationship Id="rId69" Type="http://schemas.openxmlformats.org/officeDocument/2006/relationships/slide" Target="slides/slide34.xml"/><Relationship Id="rId70" Type="http://schemas.openxmlformats.org/officeDocument/2006/relationships/slide" Target="slides/slide37.xml"/><Relationship Id="rId71" Type="http://schemas.openxmlformats.org/officeDocument/2006/relationships/slide" Target="slides/slide40.xml"/><Relationship Id="rId72" Type="http://schemas.openxmlformats.org/officeDocument/2006/relationships/slide" Target="slides/slide43.xml"/><Relationship Id="rId73" Type="http://schemas.openxmlformats.org/officeDocument/2006/relationships/slide" Target="slides/slide47.xml"/><Relationship Id="rId74" Type="http://schemas.openxmlformats.org/officeDocument/2006/relationships/slide" Target="slides/slide53.xml"/><Relationship Id="rId75" Type="http://schemas.openxmlformats.org/officeDocument/2006/relationships/slide" Target="slides/slide55.xml"/><Relationship Id="rId76" Type="http://schemas.openxmlformats.org/officeDocument/2006/relationships/slide" Target="slides/slide56.xml"/><Relationship Id="rId77" Type="http://schemas.openxmlformats.org/officeDocument/2006/relationships/slide" Target="slides/slide59.xml"/><Relationship Id="rId78" Type="http://schemas.openxmlformats.org/officeDocument/2006/relationships/slide" Target="slides/slide60.xml"/><Relationship Id="rId79" Type="http://schemas.openxmlformats.org/officeDocument/2006/relationships/slide" Target="slides/slide61.xml"/><Relationship Id="rId80" Type="http://schemas.openxmlformats.org/officeDocument/2006/relationships/slide" Target="slides/slide63.xml"/><Relationship Id="rId81" Type="http://schemas.openxmlformats.org/officeDocument/2006/relationships/slide" Target="slides/slide64.xml"/><Relationship Id="rId82" Type="http://schemas.openxmlformats.org/officeDocument/2006/relationships/slide" Target="slides/slide66.xml"/><Relationship Id="rId83" Type="http://schemas.openxmlformats.org/officeDocument/2006/relationships/slide" Target="slides/slide68.xml"/><Relationship Id="rId84" Type="http://schemas.openxmlformats.org/officeDocument/2006/relationships/slide" Target="slides/slide72.xml"/><Relationship Id="rId85" Type="http://schemas.openxmlformats.org/officeDocument/2006/relationships/slide" Target="slides/slide75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1" Type="http://schemas.openxmlformats.org/officeDocument/2006/relationships/slide" Target="slides/slide87.xml"/><Relationship Id="rId92" Type="http://schemas.openxmlformats.org/officeDocument/2006/relationships/slide" Target="slides/slide88.xml"/><Relationship Id="rId93" Type="http://schemas.openxmlformats.org/officeDocument/2006/relationships/slide" Target="slides/slide89.xml"/><Relationship Id="rId94" Type="http://schemas.openxmlformats.org/officeDocument/2006/relationships/slide" Target="slides/slide90.xml"/><Relationship Id="rId95" Type="http://schemas.openxmlformats.org/officeDocument/2006/relationships/slide" Target="slides/slide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2CC0B0-14C7-4F53-8263-D92DB4BDEF22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913320" y="1143000"/>
            <a:ext cx="7308000" cy="308556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913320" y="4400640"/>
            <a:ext cx="730800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1"/>
          </p:nvPr>
        </p:nvSpPr>
        <p:spPr>
          <a:xfrm>
            <a:off x="5175000" y="8685360"/>
            <a:ext cx="395820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4E2CF3-E9FA-4A55-9CE5-17A9572DEB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6AAA3-DD8F-4008-817D-F06AA98CAA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913320" y="1143000"/>
            <a:ext cx="730836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913320" y="4400640"/>
            <a:ext cx="730836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5"/>
          </p:nvPr>
        </p:nvSpPr>
        <p:spPr>
          <a:xfrm>
            <a:off x="5175000" y="8685360"/>
            <a:ext cx="395856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3B7BEB-146F-4335-8366-06C30C110D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913320" y="1143000"/>
            <a:ext cx="730836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913320" y="4400640"/>
            <a:ext cx="730836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6"/>
          </p:nvPr>
        </p:nvSpPr>
        <p:spPr>
          <a:xfrm>
            <a:off x="5175000" y="8685360"/>
            <a:ext cx="395856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C1A6B-B78E-41D2-A5D8-2A6359E2D9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hyperlink" Target="file:///C:/Users/Gamer/Downloads/Training/Week1/Day%202/slides/&#12304;673597612005892&#8224;L37-L43&#12305;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673597612005892&#8224;L37-L43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file:///C:/Users/Gamer/Downloads/Old%20T/Day%202/&#12304;672673436079528&#8224;L163-L170&#12305;" TargetMode="External"/><Relationship Id="rId3" Type="http://schemas.openxmlformats.org/officeDocument/2006/relationships/hyperlink" Target="file:///C:/Users/Gamer/Downloads/Old%20T/Day%202/&#12304;154439817660870&#8224;L116-L129&#12305;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file:///C:/Users/Gamer/Downloads/Training/Week1/Day%202/slides/&#12304;830786155811747&#8224;L34-L61&#12305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hyperlink" Target="file:///C:/Users/Gamer/Downloads/Old%20T/Day%202/&#12304;645518690862239&#8224;L139-L173&#12305;" TargetMode="External"/><Relationship Id="rId4" Type="http://schemas.openxmlformats.org/officeDocument/2006/relationships/hyperlink" Target="file:///C:/Users/Gamer/Downloads/Old%20T/Day%202/&#12304;645518690862239&#8224;L213-L232&#12305;" TargetMode="External"/><Relationship Id="rId5" Type="http://schemas.openxmlformats.org/officeDocument/2006/relationships/hyperlink" Target="file:///C:/Users/Gamer/Downloads/Old%20T/Day%202/&#12304;645518690862239&#8224;L284-L293&#12305;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Old%20T/Day%202/&#12304;645518690862239&#8224;L139-L173&#12305;" TargetMode="External"/><Relationship Id="rId2" Type="http://schemas.openxmlformats.org/officeDocument/2006/relationships/hyperlink" Target="file:///C:/Users/Gamer/Downloads/Old%20T/Day%202/&#12304;645518690862239&#8224;L175-L210&#12305;" TargetMode="External"/><Relationship Id="rId3" Type="http://schemas.openxmlformats.org/officeDocument/2006/relationships/hyperlink" Target="file:///C:/Users/Gamer/Downloads/Old%20T/Day%202/&#12304;645518690862239&#8224;L213-L232&#12305;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Old%20T/Day%202/&#12304;645518690862239&#8224;L284-L296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hyperlink" Target="file:///C:/Users/Gamer/Downloads/Training/Week1/Day%202/slides/&#12304;830786155811747&#8224;L34-L61&#12305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hyperlink" Target="file:///C:/Users/Gamer/Downloads/Training/Week1/Day%202/slides/&#12304;830786155811747&#8224;L34-L61&#12305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22-L13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787459060714621&#8224;L124-L145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22-L13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673597612005892&#8224;L37-L43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hyperlink" Target="file:///C:/Users/Gamer/Downloads/Training/Week1/Day%202/slides/&#12304;787459060714621&#8224;L124-L145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/>
          <p:cNvSpPr/>
          <p:nvPr/>
        </p:nvSpPr>
        <p:spPr>
          <a:xfrm>
            <a:off x="540000" y="417240"/>
            <a:ext cx="809928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Day 2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Apache Kafka Fundamentals on Ubuntu + Windows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Events, Topics, Partitions, Brokers and Hands-on Labs</a:t>
            </a:r>
          </a:p>
        </p:txBody>
      </p:sp>
      <p:sp>
        <p:nvSpPr>
          <p:cNvPr id="11" name="Text 2"/>
          <p:cNvSpPr/>
          <p:nvPr/>
        </p:nvSpPr>
        <p:spPr>
          <a:xfrm>
            <a:off x="548640" y="3291840"/>
            <a:ext cx="4388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Data Engineering Workshop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Week 1 | Eight-hour instructor-led day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36576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Learning Objectives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/>
          <p:cNvPicPr/>
          <p:nvPr/>
        </p:nvPicPr>
        <p:blipFill>
          <a:blip r:embed="rId1"/>
          <a:stretch/>
        </p:blipFill>
        <p:spPr>
          <a:xfrm>
            <a:off x="548640" y="9601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1"/>
          <p:cNvSpPr/>
          <p:nvPr/>
        </p:nvSpPr>
        <p:spPr>
          <a:xfrm>
            <a:off x="1005840" y="9144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Explain event streaming in plain language and identify a useful event.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/>
          <p:cNvPicPr/>
          <p:nvPr/>
        </p:nvPicPr>
        <p:blipFill>
          <a:blip r:embed="rId2"/>
          <a:stretch/>
        </p:blipFill>
        <p:spPr>
          <a:xfrm>
            <a:off x="548640" y="14173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2"/>
          <p:cNvSpPr/>
          <p:nvPr/>
        </p:nvSpPr>
        <p:spPr>
          <a:xfrm>
            <a:off x="1005840" y="13716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Trace a record from producer to topic, partition, broker and consumer.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2"/>
          <p:cNvPicPr/>
          <p:nvPr/>
        </p:nvPicPr>
        <p:blipFill>
          <a:blip r:embed="rId3"/>
          <a:stretch/>
        </p:blipFill>
        <p:spPr>
          <a:xfrm>
            <a:off x="548640" y="18745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3"/>
          <p:cNvSpPr/>
          <p:nvPr/>
        </p:nvSpPr>
        <p:spPr>
          <a:xfrm>
            <a:off x="1005840" y="18288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Predict ordering and parallelism when keys and partitions change.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3"/>
          <p:cNvPicPr/>
          <p:nvPr/>
        </p:nvPicPr>
        <p:blipFill>
          <a:blip r:embed="rId4"/>
          <a:stretch/>
        </p:blipFill>
        <p:spPr>
          <a:xfrm>
            <a:off x="548640" y="23317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4"/>
          <p:cNvSpPr/>
          <p:nvPr/>
        </p:nvSpPr>
        <p:spPr>
          <a:xfrm>
            <a:off x="1005840" y="22860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Run a single-broker Kafka KRaft environment on an Ubuntu host.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4"/>
          <p:cNvPicPr/>
          <p:nvPr/>
        </p:nvPicPr>
        <p:blipFill>
          <a:blip r:embed="rId5"/>
          <a:stretch/>
        </p:blipFill>
        <p:spPr>
          <a:xfrm>
            <a:off x="548640" y="27889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5"/>
          <p:cNvSpPr/>
          <p:nvPr/>
        </p:nvSpPr>
        <p:spPr>
          <a:xfrm>
            <a:off x="1005840" y="27432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Create topics and prove message flow with CLI and Python clients.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5"/>
          <p:cNvPicPr/>
          <p:nvPr/>
        </p:nvPicPr>
        <p:blipFill>
          <a:blip r:embed="rId6"/>
          <a:stretch/>
        </p:blipFill>
        <p:spPr>
          <a:xfrm>
            <a:off x="548640" y="32461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6"/>
          <p:cNvSpPr/>
          <p:nvPr/>
        </p:nvSpPr>
        <p:spPr>
          <a:xfrm>
            <a:off x="1005840" y="32004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Compare batch collection with real-time ingestion before Day 3.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7"/>
              </a:rPr>
              <a:t>[1] Course roadmap;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Agenda | Eight-Hour Teaching Plan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4389120" y="914400"/>
            <a:ext cx="35640" cy="347364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4316040" y="100584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48640" y="91440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09:00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Recap + events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Kafka exists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4316040" y="155448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548640" y="146304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10:00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Architecture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Topics and partitions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4316040" y="210312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548640" y="201168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11:30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Deployment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+ KRaft lab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4316040" y="265176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548640" y="256032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13:30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CLI labs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 and consume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4316040" y="320040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48640" y="310896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15:00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Python labs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Keys and JSON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4316040" y="374904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48640" y="365760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16:30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Challenge + recap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and handoff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Includes short breaks and guided mini exercises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Kafka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Start with a visual system before definitions.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Confluent documentation</a:t>
            </a:r>
          </a:p>
        </p:txBody>
      </p:sp>
      <p:pic>
        <p:nvPicPr>
          <p:cNvPr id="5" name="Picture 4" descr="kafka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18" y="987552"/>
            <a:ext cx="4935563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987552"/>
            <a:ext cx="2606040" cy="34747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Producers publish records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Kafka stores streams durably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Many apps can consume independently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Kafka can sit between apps, databases and data lakes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Recap: What Changed Since Day 1?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1 batch file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A saved file captures a completed set.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The reader waits for the next file.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Good for scheduled movement.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2 event stream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A new record can arrive now.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Readers can react continuously.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Good for changing operational facts.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Events Begin With a Human Question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fact that changed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order-104 was paid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shipment-88 departed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sensor-17 exceeded threshold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 event record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what happened + when + business key + values needed by a reader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Tightly Coupled vs Loosely Coupled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Direct call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Checkout calls inventory now.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If inventory is down, checkout waits or fails.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Event handoff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Checkout publishes OrderPaid.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Inventory reacts when ready; Kafka holds the fact.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Producer to Consumer: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as the main architecture picture before touching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417320" cy="9601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1. Checkout service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creates 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417320"/>
            <a:ext cx="1417320" cy="9601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2. Producer API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serializes + sends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417320"/>
            <a:ext cx="1417320" cy="960120"/>
          </a:xfrm>
          <a:prstGeom prst="rect">
            <a:avLst/>
          </a:prstGeom>
          <a:solidFill>
            <a:srgbClr val="F2EC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3. Broker stores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record in partition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1417320"/>
            <a:ext cx="1417320" cy="9601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4. Consumer API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fetches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417320"/>
            <a:ext cx="1417320" cy="9601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5. Notification service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reacts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901952"/>
            <a:ext cx="320040" cy="0"/>
          </a:xfrm>
          <a:prstGeom prst="line">
            <a:avLst/>
          </a:prstGeom>
          <a:ln w="254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1901952"/>
            <a:ext cx="320040" cy="0"/>
          </a:xfrm>
          <a:prstGeom prst="line">
            <a:avLst/>
          </a:prstGeom>
          <a:ln w="254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1901952"/>
            <a:ext cx="320039" cy="0"/>
          </a:xfrm>
          <a:prstGeom prst="line">
            <a:avLst/>
          </a:prstGeom>
          <a:ln w="254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40880" y="1901952"/>
            <a:ext cx="320040" cy="0"/>
          </a:xfrm>
          <a:prstGeom prst="line">
            <a:avLst/>
          </a:prstGeom>
          <a:ln w="254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4360" y="2971800"/>
            <a:ext cx="7772400" cy="822960"/>
          </a:xfrm>
          <a:prstGeom prst="rect">
            <a:avLst/>
          </a:prstGeom>
          <a:solidFill>
            <a:srgbClr val="FFF9E6"/>
          </a:solidFill>
          <a:ln>
            <a:solidFill>
              <a:srgbClr val="ECC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Key teaching sentence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Kafka is not the business application. It is the event bus between applications: it accepts records, stores them durably, and lets consumers read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Queue vs Event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distinction is the first freshers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Queue mental model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one worker usually takes a message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message often disappears after processing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good for distributing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Kafka event bus mental model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events are retained for a period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multiple services can read same event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late consumers can replay retained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1: Is It an Event?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pairs, classify each item: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Daily customer.csv export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PaymentReceived at 10:03:04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Weekly report PDF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TruckArrived at gate 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Then write one event name of your own.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Which two items deserve immediate consumers?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What business key would you put on each event?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8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Pub Sub Architecture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57200" y="914400"/>
            <a:ext cx="42055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Applications that send records to Kafka topics. Producers serialise data, choose partitions, batch records and specify delivery guarantees.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Applications that read records from topics. Consumers maintain offsets, support manual or automatic commits, and coordinate within consumer groups for parallelism.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6" descr="preencoded.png"/>
          <p:cNvPicPr/>
          <p:nvPr/>
        </p:nvPicPr>
        <p:blipFill>
          <a:blip r:embed="rId1"/>
          <a:srcRect l="0" t="0" r="0" b="7751"/>
          <a:stretch/>
        </p:blipFill>
        <p:spPr>
          <a:xfrm>
            <a:off x="4937760" y="914400"/>
            <a:ext cx="3748320" cy="214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2"/>
          <p:cNvSpPr/>
          <p:nvPr/>
        </p:nvSpPr>
        <p:spPr>
          <a:xfrm>
            <a:off x="457200" y="49377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Architecture Deep Dive: Storage +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is the map for the rest of Day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Confluent Developer architecture course</a:t>
            </a:r>
          </a:p>
        </p:txBody>
      </p:sp>
      <p:pic>
        <p:nvPicPr>
          <p:cNvPr id="5" name="Picture 4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24" y="987552"/>
            <a:ext cx="4939552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987552"/>
            <a:ext cx="2606040" cy="34747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Storage layer keeps event logs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Producer API writes events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Consumer API reads events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Higher APIs build on the basics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Read Kafka From the Message Perspective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57200" y="1097280"/>
            <a:ext cx="47538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producer publishes a record. Kafka stores it in a durable log. A consumer reads it later or continuously.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Beginner rule: Kafka is not a phone call; the stored event remains available according to retention.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/>
          <p:cNvPicPr/>
          <p:nvPr/>
        </p:nvPicPr>
        <p:blipFill>
          <a:blip r:embed="rId1"/>
          <a:stretch/>
        </p:blipFill>
        <p:spPr>
          <a:xfrm>
            <a:off x="5486400" y="1097280"/>
            <a:ext cx="319932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 Hodges, Medium, 1 Apr 2024;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Kafka Record Has Data and Delivery Metadata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Payload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{"order_id": 104,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 "status": "PAID",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 "total": 850.00}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Metadata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 | partition | offset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key | timestamp | headers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broker assigns position in a partition.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Record Deep Dive: Timestamp, Key, Value, Headers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A Kafka message is more than JSON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Confluent Developer architecture course</a:t>
            </a:r>
          </a:p>
        </p:txBody>
      </p:sp>
      <p:pic>
        <p:nvPicPr>
          <p:cNvPr id="5" name="Picture 4" descr="event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8030"/>
            <a:ext cx="5166360" cy="22337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987552"/>
            <a:ext cx="2606040" cy="34747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timestamp says when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key helps ordering and placement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value is the business payload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headers carry small metadata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28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Serialization Fundamentals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457200" y="914400"/>
            <a:ext cx="4297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serialise?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Kafka transports records as bytes. Producers must convert objects (e.g. JSON, Avro) into bytes, and consumers must interpret them. The choice of format impacts performance, compatibility and evolvability.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registry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schema registry stores versioned schemas centrally. Producers embed a schema ID in each message; consumers fetch the correct schema to deserialise data. Compatibility modes (backward, forward, full) govern how schemas evolve.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7" descr="preencoded.png"/>
          <p:cNvPicPr/>
          <p:nvPr/>
        </p:nvPicPr>
        <p:blipFill>
          <a:blip r:embed="rId1"/>
          <a:stretch/>
        </p:blipFill>
        <p:spPr>
          <a:xfrm>
            <a:off x="4937760" y="1097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6"/>
          <p:cNvSpPr/>
          <p:nvPr/>
        </p:nvSpPr>
        <p:spPr>
          <a:xfrm>
            <a:off x="5577840" y="12344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Record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6492240" y="1325880"/>
            <a:ext cx="54828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8" descr="preencoded.png"/>
          <p:cNvPicPr/>
          <p:nvPr/>
        </p:nvPicPr>
        <p:blipFill>
          <a:blip r:embed="rId2"/>
          <a:stretch/>
        </p:blipFill>
        <p:spPr>
          <a:xfrm>
            <a:off x="7223760" y="1097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7"/>
          <p:cNvSpPr/>
          <p:nvPr/>
        </p:nvSpPr>
        <p:spPr>
          <a:xfrm>
            <a:off x="7772400" y="12344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Registry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4"/>
              </a:rPr>
              <a:t>[2]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5"/>
              </a:rPr>
              <a:t>[3]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Serialization: Kafka Stores Bytes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explains why serializers exist in producer.py.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Confluent Developer architecture course</a:t>
            </a:r>
          </a:p>
        </p:txBody>
      </p:sp>
      <p:pic>
        <p:nvPicPr>
          <p:cNvPr id="5" name="Picture 4" descr="key_value_by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6109"/>
            <a:ext cx="5166360" cy="23376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987552"/>
            <a:ext cx="2606040" cy="34747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producer serializes key and value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broker stores bytes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consumer deserializes bytes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JSON is readable for this lab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19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Comparing Serialization Formats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457200" y="914400"/>
            <a:ext cx="2559960" cy="2011320"/>
          </a:xfrm>
          <a:prstGeom prst="roundRect">
            <a:avLst>
              <a:gd name="adj" fmla="val 4545"/>
            </a:avLst>
          </a:prstGeom>
          <a:solidFill>
            <a:srgbClr val="fff2cc"/>
          </a:solidFill>
          <a:ln w="12700">
            <a:solidFill>
              <a:srgbClr val="c5c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3"/>
          <p:cNvSpPr/>
          <p:nvPr/>
        </p:nvSpPr>
        <p:spPr>
          <a:xfrm>
            <a:off x="548640" y="960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Avro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4"/>
          <p:cNvSpPr/>
          <p:nvPr/>
        </p:nvSpPr>
        <p:spPr>
          <a:xfrm>
            <a:off x="548640" y="1280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Binary encoding; small messages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5"/>
          <p:cNvSpPr/>
          <p:nvPr/>
        </p:nvSpPr>
        <p:spPr>
          <a:xfrm>
            <a:off x="548640" y="1554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stored separately; dynamic typing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6"/>
          <p:cNvSpPr/>
          <p:nvPr/>
        </p:nvSpPr>
        <p:spPr>
          <a:xfrm>
            <a:off x="548640" y="1828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Excellent schema evolution support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7"/>
          <p:cNvSpPr/>
          <p:nvPr/>
        </p:nvSpPr>
        <p:spPr>
          <a:xfrm>
            <a:off x="548640" y="2103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Popular in analytical lakes &amp; Kafka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3291840" y="914400"/>
            <a:ext cx="2559960" cy="2011320"/>
          </a:xfrm>
          <a:prstGeom prst="roundRect">
            <a:avLst>
              <a:gd name="adj" fmla="val 4545"/>
            </a:avLst>
          </a:prstGeom>
          <a:solidFill>
            <a:srgbClr val="e2f0d9"/>
          </a:solidFill>
          <a:ln w="12700">
            <a:solidFill>
              <a:srgbClr val="c5c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8"/>
          <p:cNvSpPr/>
          <p:nvPr/>
        </p:nvSpPr>
        <p:spPr>
          <a:xfrm>
            <a:off x="3383280" y="960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Protobuf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9"/>
          <p:cNvSpPr/>
          <p:nvPr/>
        </p:nvSpPr>
        <p:spPr>
          <a:xfrm>
            <a:off x="3383280" y="1280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Compact binary encoding with field numbers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0"/>
          <p:cNvSpPr/>
          <p:nvPr/>
        </p:nvSpPr>
        <p:spPr>
          <a:xfrm>
            <a:off x="3383280" y="1554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Code generation provides strong typing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1"/>
          <p:cNvSpPr/>
          <p:nvPr/>
        </p:nvSpPr>
        <p:spPr>
          <a:xfrm>
            <a:off x="3383280" y="1828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evolution via reserved field numbers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2"/>
          <p:cNvSpPr/>
          <p:nvPr/>
        </p:nvSpPr>
        <p:spPr>
          <a:xfrm>
            <a:off x="3383280" y="2103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Great for microservices and multi‑language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6126480" y="914400"/>
            <a:ext cx="2559960" cy="2011320"/>
          </a:xfrm>
          <a:prstGeom prst="roundRect">
            <a:avLst>
              <a:gd name="adj" fmla="val 4545"/>
            </a:avLst>
          </a:prstGeom>
          <a:solidFill>
            <a:srgbClr val="d9e1f2"/>
          </a:solidFill>
          <a:ln w="12700">
            <a:solidFill>
              <a:srgbClr val="c5c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3"/>
          <p:cNvSpPr/>
          <p:nvPr/>
        </p:nvSpPr>
        <p:spPr>
          <a:xfrm>
            <a:off x="6217920" y="960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JSON Schema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4"/>
          <p:cNvSpPr/>
          <p:nvPr/>
        </p:nvSpPr>
        <p:spPr>
          <a:xfrm>
            <a:off x="6217920" y="1280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Human‑readable data and schema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5"/>
          <p:cNvSpPr/>
          <p:nvPr/>
        </p:nvSpPr>
        <p:spPr>
          <a:xfrm>
            <a:off x="6217920" y="1554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Rich validation capabilities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6"/>
          <p:cNvSpPr/>
          <p:nvPr/>
        </p:nvSpPr>
        <p:spPr>
          <a:xfrm>
            <a:off x="6217920" y="1828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Less efficient; larger messages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7"/>
          <p:cNvSpPr/>
          <p:nvPr/>
        </p:nvSpPr>
        <p:spPr>
          <a:xfrm>
            <a:off x="6217920" y="2103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Useful for APIs and configuration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8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1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2"/>
              </a:rPr>
              <a:t>[2]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3"/>
              </a:rPr>
              <a:t>[3]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2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Evolution &amp; Compatibility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457200" y="914400"/>
            <a:ext cx="4297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Backward compatibility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Consumers using new schema can read data produced with an older schema. Typically upgrade consumers first.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Forward compatibility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Consumers using old schema can read data produced with a newer schema. Producers upgrade first.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Full compatibility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Both backward and forward compatible. Adds restrictions to ensure both directions work.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4937760" y="2103120"/>
            <a:ext cx="3200400" cy="360"/>
          </a:xfrm>
          <a:prstGeom prst="line">
            <a:avLst/>
          </a:prstGeom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4892040" y="20574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4389120" y="2167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Producer v1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6492240" y="20574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5989320" y="2167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change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8092440" y="20574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4"/>
          <p:cNvSpPr/>
          <p:nvPr/>
        </p:nvSpPr>
        <p:spPr>
          <a:xfrm>
            <a:off x="7589520" y="2167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Producer v2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0"/>
          <p:cNvSpPr/>
          <p:nvPr/>
        </p:nvSpPr>
        <p:spPr>
          <a:xfrm>
            <a:off x="4937760" y="2788920"/>
            <a:ext cx="3200400" cy="360"/>
          </a:xfrm>
          <a:prstGeom prst="line">
            <a:avLst/>
          </a:prstGeom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4892040" y="27432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4389120" y="2853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 v1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2"/>
          <p:cNvSpPr/>
          <p:nvPr/>
        </p:nvSpPr>
        <p:spPr>
          <a:xfrm>
            <a:off x="6492240" y="27432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5989320" y="2853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Upgrade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8092440" y="27432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7"/>
          <p:cNvSpPr/>
          <p:nvPr/>
        </p:nvSpPr>
        <p:spPr>
          <a:xfrm>
            <a:off x="7589520" y="2853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 v2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1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= A Named Stream of Related Events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57200" y="1097280"/>
            <a:ext cx="47538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topic lets a consumer subscribe to useful events rather than inspect everything.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Examples: order-paid, shipment-status, inventory-adjusted.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/>
          <p:cNvPicPr/>
          <p:nvPr/>
        </p:nvPicPr>
        <p:blipFill>
          <a:blip r:embed="rId1"/>
          <a:stretch/>
        </p:blipFill>
        <p:spPr>
          <a:xfrm>
            <a:off x="5486400" y="1097280"/>
            <a:ext cx="319932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 Hodges, Medium, 1 Apr 2024;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Topic Deep Dive: Append-Only Event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makes --from-beginning understandable.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Confluent Developer architecture course</a:t>
            </a:r>
          </a:p>
        </p:txBody>
      </p:sp>
      <p:pic>
        <p:nvPicPr>
          <p:cNvPr id="5" name="Picture 4" descr="topic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7179"/>
            <a:ext cx="5166360" cy="15154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987552"/>
            <a:ext cx="2606040" cy="34747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topic groups related events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new records append to the end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offset identifies position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consumer can read old retained records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Partition = One Ordered Lane Inside a Topic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57200" y="1097280"/>
            <a:ext cx="47538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Partitions increase parallel throughput. Records are ordered inside one partition, not globally across every partition.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That single sentence prevents many design mistakes.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/>
          <p:cNvPicPr/>
          <p:nvPr/>
        </p:nvPicPr>
        <p:blipFill>
          <a:blip r:embed="rId1"/>
          <a:stretch/>
        </p:blipFill>
        <p:spPr>
          <a:xfrm>
            <a:off x="5486400" y="1097280"/>
            <a:ext cx="319932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 Hodges, Medium, 1 Apr 2024;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Partition Deep Dive: Storage and Parallelism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makes key selection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Confluent Developer architecture course</a:t>
            </a:r>
          </a:p>
        </p:txBody>
      </p:sp>
      <p:pic>
        <p:nvPicPr>
          <p:cNvPr id="5" name="Picture 4" descr="topic_partitions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316"/>
            <a:ext cx="5166360" cy="22791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987552"/>
            <a:ext cx="2606040" cy="34747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topic is split into partitions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partitions can live on brokers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partition is the ordering lane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- partition is also a parallelism unit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Ordering: What Kafka Guarantees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Guaranteed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Within partition 0: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offset 0 -&gt; offset 1 -&gt; offset 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Consumers read that lane in order.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Not guaranteed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Partition 0 and partition 1 may be processed at different speeds.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No global event order across lanes.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Partitions Are Lanes, Offsets Are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picture helps beginners separate topic, partition, key and offset.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046720" cy="50292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400" b="0">
                <a:solidFill>
                  <a:srgbClr val="1F2937"/>
                </a:solidFill>
                <a:latin typeface="Calibri"/>
              </a:defRPr>
            </a:pPr>
            <a:r>
              <a:t>Topic: order-events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97280" cy="438912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Partition 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69164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9164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69164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69164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97280" cy="438912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Partition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51460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51460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51460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51460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37560"/>
            <a:ext cx="1097280" cy="438912"/>
          </a:xfrm>
          <a:prstGeom prst="rect">
            <a:avLst/>
          </a:prstGeom>
          <a:solidFill>
            <a:srgbClr val="F2EC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Partition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33756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33756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33756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3337560"/>
            <a:ext cx="914400" cy="438912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offset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60520"/>
            <a:ext cx="7498079" cy="457200"/>
          </a:xfrm>
          <a:prstGeom prst="rect">
            <a:avLst/>
          </a:prstGeom>
          <a:solidFill>
            <a:srgbClr val="FFF9E6"/>
          </a:solidFill>
          <a:ln>
            <a:solidFill>
              <a:srgbClr val="ECC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Ordering is guaranteed inside one lane. Kafka does not promise one global order across all lanes.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Keys Keep Related Changes in One Lane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Key = order_id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All updates for order-104 hash to the same partition.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PAID -&gt; PACKED -&gt; SHIPPED stays ordered.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No useful key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Records can spread for throughput.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Updates for one entity may be observed in different lanes.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2: Predict the Partition Decision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shipment-status has 3 partitions.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Events carry keys: SHIP-01, SHIP-02, SHIP-01, SHIP-03.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Sketch three lanes and place the events conceptually.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Must both SHIP-01 records share a partition?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Can you claim SHIP-02 happened before SHIP-03 globally?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Explain in one sentence.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Deployment View: From Clients to a Broker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 message view explains records. The deployment view explains where records live.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today's lab, one broker is enough to observe mechanics.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:9092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partitions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7246080" y="1809000"/>
            <a:ext cx="181800" cy="242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7282080" y="2615760"/>
            <a:ext cx="181800" cy="273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7282080" y="3438720"/>
            <a:ext cx="181800" cy="304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documentation; Day 3 continues availability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Broker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A broker is the Kafka server; producers and consumers are application clients.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Broker responsibilities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accept produce requests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store partition log segments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serve fetch requests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return metadata to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Client responsibilities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serialize data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choose key/partition behavior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retry or fail sends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deserialize and process events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Broker Is the Kafka Server Students Touch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responsibility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Accept producer records.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Store topic partition log segments.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Serve consumer fetch requests.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Client responsibility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Producer serializes and sends.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Consumer deserializes and reads.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Clients use bootstrap address localhost:9092.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KRaft: Cluster Metadata Without ZooKeeper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this Ubuntu lab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One container acts as broker and controller.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KRaft maintains Kafka metadata.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Client listener: 9092.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only one broker?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It exposes concepts with less setup.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It is not a resilience design.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Replication and failure tests are Day 3.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KRaft in the Day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 why the compose file has broker and controller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What KRaft does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stores Kafka metadata without ZooKeeper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controller manages cluster metadata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broker handles client reads/writes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single container can run both roles for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What our lab is not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not highly available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not a production cluster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not a replication/failure exercise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Topology: Ubuntu Host to Kafka and Back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You will start one KRaft broker with Docker Compose, create order-events, produce records, and consume them.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Then Python scripts add JSON values and keys.</a:t>
            </a:r>
          </a:p>
        </p:txBody>
      </p:sp>
      <p:sp>
        <p:nvSpPr>
          <p:cNvPr id="192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Ubuntu terminal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day2_kafka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order-events</a:t>
            </a:r>
          </a:p>
        </p:txBody>
      </p:sp>
      <p:sp>
        <p:nvSpPr>
          <p:cNvPr id="198" name="Shape 8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CLI / Python reader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7246080" y="1764000"/>
            <a:ext cx="181800" cy="359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7282080" y="2559960"/>
            <a:ext cx="181800" cy="36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7318080" y="3402720"/>
            <a:ext cx="181800" cy="43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Lab Architecture on Windows or Ubuntu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No separate Windows lab track is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Same lab flow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PowerShell or Bash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Docker Compose starts day2_kafka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clients connect to localhost:9092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topic is order-events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Only shell syntax changes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Windows uses py -3 and .venv\Scripts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Ubuntu uses python3 and source .venv/bin/activate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 commands inside container are the same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3: Label the Architecture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Draw the lab route on paper before typing commands: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Host terminal -&gt; container -&gt; broker -&gt; topic -&gt; partition -&gt; consumer.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Mark where the record is durable.</a:t>
            </a:r>
          </a:p>
        </p:txBody>
      </p:sp>
      <p:sp>
        <p:nvSpPr>
          <p:cNvPr id="206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What runs on port 9092?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Where does a topic live?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Which component prints the record?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Checkpoint Before the Lab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Know before you run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topic: order-events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partitions: 3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broker endpoint: localhost:9092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container: day2_kafka</a:t>
            </a:r>
          </a:p>
        </p:txBody>
      </p:sp>
      <p:sp>
        <p:nvSpPr>
          <p:cNvPr id="213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to capture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running container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 description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produced records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consumed records with metadata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CLI Flags Students Must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Important points to note what each command flag means, not just copy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3703320" cy="123444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73152" tIns="91440" bIns="73152"/>
          <a:lstStyle/>
          <a:p>
            <a:pPr>
              <a:defRPr sz="1000">
                <a:solidFill>
                  <a:srgbClr val="EEF2F7"/>
                </a:solidFill>
                <a:latin typeface="Consolas"/>
              </a:defRPr>
            </a:pPr>
            <a:r>
              <a:t>kafka-topics --bootstrap-server localhost:9092 \</a:t>
            </a:r>
          </a:p>
          <a:p>
            <a:pPr>
              <a:defRPr sz="1000">
                <a:solidFill>
                  <a:srgbClr val="EEF2F7"/>
                </a:solidFill>
                <a:latin typeface="Consolas"/>
              </a:defRPr>
            </a:pPr>
            <a:r>
              <a:t>  --create --if-not-exists \</a:t>
            </a:r>
          </a:p>
          <a:p>
            <a:pPr>
              <a:defRPr sz="1000">
                <a:solidFill>
                  <a:srgbClr val="EEF2F7"/>
                </a:solidFill>
                <a:latin typeface="Consolas"/>
              </a:defRPr>
            </a:pPr>
            <a:r>
              <a:t>  --topic order-events \</a:t>
            </a:r>
          </a:p>
          <a:p>
            <a:pPr>
              <a:defRPr sz="1000">
                <a:solidFill>
                  <a:srgbClr val="EEF2F7"/>
                </a:solidFill>
                <a:latin typeface="Consolas"/>
              </a:defRPr>
            </a:pPr>
            <a:r>
              <a:t>  --partitions 3 --replication-factor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960120"/>
            <a:ext cx="4023360" cy="12344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Topic flags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--bootstrap-server: broker to contact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--create: create topic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--if-not-exists: safe rerun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--partitions: number of lanes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--replication-factor: copies per partition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3703320" cy="105156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73152" tIns="91440" bIns="73152"/>
          <a:lstStyle/>
          <a:p>
            <a:pPr>
              <a:defRPr sz="1000">
                <a:solidFill>
                  <a:srgbClr val="EEF2F7"/>
                </a:solidFill>
                <a:latin typeface="Consolas"/>
              </a:defRPr>
            </a:pPr>
            <a:r>
              <a:t>kafka-console-consumer --topic order-events \</a:t>
            </a:r>
          </a:p>
          <a:p>
            <a:pPr>
              <a:defRPr sz="1000">
                <a:solidFill>
                  <a:srgbClr val="EEF2F7"/>
                </a:solidFill>
                <a:latin typeface="Consolas"/>
              </a:defRPr>
            </a:pPr>
            <a:r>
              <a:t>  --from-beginning --max-messages 5 \</a:t>
            </a:r>
          </a:p>
          <a:p>
            <a:pPr>
              <a:defRPr sz="1000">
                <a:solidFill>
                  <a:srgbClr val="EEF2F7"/>
                </a:solidFill>
                <a:latin typeface="Consolas"/>
              </a:defRPr>
            </a:pPr>
            <a:r>
              <a:t>  --property print.key=true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606040"/>
            <a:ext cx="4023360" cy="105156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Consumer flags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--from-beginning: read old retained events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--max-messages: stop after N messages</a:t>
            </a:r>
          </a:p>
          <a:p>
            <a:pPr>
              <a:defRPr sz="900" b="0">
                <a:solidFill>
                  <a:srgbClr val="1F2937"/>
                </a:solidFill>
                <a:latin typeface="Calibri"/>
              </a:defRPr>
            </a:pPr>
            <a:r>
              <a:t>- print.key=true: show business key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Lab 1: Verify the Lab Host</a:t>
            </a:r>
          </a:p>
        </p:txBody>
      </p:sp>
      <p:sp>
        <p:nvSpPr>
          <p:cNvPr id="218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Run in the supplied lab-code folder: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1. docker --version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2. docker compose version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3. dir / ls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4. Confirm docker-compose.yml, producer.py and consumer.py exist.</a:t>
            </a:r>
          </a:p>
        </p:txBody>
      </p:sp>
      <p:sp>
        <p:nvSpPr>
          <p:cNvPr id="219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Success Evidence: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Record the Docker versions and the visible three supplied files.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Do not start Kafka until this check passes.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2: Understand the Compose File Before Starting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This supplied configuration starts one Kafka node in KRaft mode. Read the listener and role settings first.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services: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kafka: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container_name: day2_kafka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environment: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KAFKA_PROCESS_ROLES: 'broker,controller'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KAFKA_LISTENERS: 'PLAINTEXT://0.0.0.0:9092,CONTROLLER://0.0.0.0:9093'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KAFKA_ADVERTISED_LISTENERS: 'PLAINTEXT://localhost:9092'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Read docker-compose.yml Like an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is the first architecture lab, not just a startup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Kafka listener settings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KAFKA_LISTENERS binds inside container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KAFKA_ADVERTISED_LISTENERS tells clients how to connect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ports maps host 9092 to container 9092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KRaft settings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KAFKA_PROCESS_ROLES broker,controller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KAFKA_NODE_ID identifies the node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KAFKA_CONTROLLER_QUORUM_VOTERS defines controller quorum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3: Start One Kafka Broker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Start the service and prove the container is running before creating a topic.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cd "Week1/Day 2/lab-code"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compose up -d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ps --filter name=day2_kafka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logs day2_kafka --tail 30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4: Create a Topic With Three Ordered Lanes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three partitions give us visible parallel lanes while keeping the lab small.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docker exec day2_kafka kafka-topics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--bootstrap-server localhost:9092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--create --if-not-exists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--topic order-events --partitions 3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--replication-factor 1</a:t>
            </a:r>
          </a:p>
        </p:txBody>
      </p:sp>
      <p:sp>
        <p:nvSpPr>
          <p:cNvPr id="23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Topic Creation Flags: Why Each One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Students should not copy commands blindly.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Command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--bootstrap-server localhost:9092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--create --if-not-exists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--topic order-events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--partitions 3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--replication-factor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Meaning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which broker to ask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safe create operation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named event stream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three ordering lanes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one copy because lab has one broker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5: Ask Kafka What Was Created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 description turns configuration into observable evidence. Read partition count before continuing.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docker exec day2_kafka kafka-topics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--bootstrap-server localhost:9092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--describe --topic order-events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Expected observation: PartitionCount: 3, ReplicationFactor: 1</a:t>
            </a:r>
          </a:p>
        </p:txBody>
      </p:sp>
      <p:sp>
        <p:nvSpPr>
          <p:cNvPr id="24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4: Read a Topic Description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457200" y="822960"/>
            <a:ext cx="493668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Circle the evidence in your terminal output: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Topic name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Partition count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Replication factor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One line per partition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Why is replication factor 1 acceptable for this learning lab but not a production availability pattern?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Production clusters use more brokers and separate failure testing.</a:t>
            </a:r>
          </a:p>
        </p:txBody>
      </p:sp>
      <p:sp>
        <p:nvSpPr>
          <p:cNvPr id="24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6: Produce Human-Readable Records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Open a terminal producer, type these records, then press Ctrl+C when complete.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docker exec -it day2_kafka kafka-console-producer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--bootstrap-server localhost:9092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--topic order-events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{"order_id":104,"status":"PAID"}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{"order_id":105,"status":"PAID"}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{"order_id":104,"status":"PACKED"}</a:t>
            </a:r>
          </a:p>
        </p:txBody>
      </p:sp>
      <p:sp>
        <p:nvSpPr>
          <p:cNvPr id="25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Console Producer and Consumer: The Fastest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is why we do CLI before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Producer proves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a record can be sent to Kafka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topic accepts business JSON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broker stores the 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Consumer proves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a separate client can read later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--from-beginning replays retained records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 decouples sender and reader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7: Consume From the Beginning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Read the records stored in the topic. A consumer can arrive after the producer has finished.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docker exec day2_kafka kafka-console-consumer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--bootstrap-server localhost:9092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--topic order-events --from-beginning \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--max-messages 3</a:t>
            </a:r>
          </a:p>
        </p:txBody>
      </p:sp>
      <p:sp>
        <p:nvSpPr>
          <p:cNvPr id="25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Check: Prove Kafka Stored the Events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Collect evidence in this order: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Running broker container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Topic description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Three producer inputs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Three consumer outputs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A sentence explaining why late reading worked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Explain Before Moving 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 consumer could read after production because Kafka retains records in a log.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screenshot of commands alone is not evidence of message movement.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5: Observe Parallel Lanes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Create a second topic named keyed-orders with three partitions. Produce a few keyed records using the console producer key options or the Python lab later.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Predict First: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If every record uses key order-104, should the lane stay stable?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Write your prediction before observing output.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Concept Check: Topic, Partition or Broker?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Match each definition: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A. Named stream a reader subscribes to.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B. Ordered lane with offsets.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C. Server storing log segments.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D. Application sending records.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Answers: A topic; B partition; C broker; D producer.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Then explain why increasing partitions can increase concurrent work.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Serialization: Kafka Moves Bytes, Applications Supply Meaning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Text or JSON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Readable in beginner labs.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JSON record exposes fields such as order_id and status.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preview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As teams evolve fields, contracts matter.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Formal schema evolution is taught later, not in today's lab.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Feature Deep Dive: Kafka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Day 2 names the features; later days operate them deeply.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Core features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durable event log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publish/subscribe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retention and replay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partition parallelism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ordering within partition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Operational features to name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acknowledgements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batching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compression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client retries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metadata discovery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JSON Event Anatomy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useful event is explicit enough that another team can interpret it without asking the producer.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"event_type": "OrderPaid",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"event_time": "2026-05-26T10:03:04Z",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"order_id": 104,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"customer_id": 38,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"amount": 850.00,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"currency": "INR"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Producer Flags in This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These settings make the Python producer easier to reason about.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bootstrap_servers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9601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Where the producer first connects: localhost:9092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client_id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6459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Human-readable producer name in logs and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key_serializer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23317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Converts order_id string to bytes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value_serializer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175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Converts event dict to JSON bytes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033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acks='all'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37033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Waits for broker acknowledgement; safest setting in this one-broker lab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9601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linger_ms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9601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Small wait to form batches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6459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batch_size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16459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Maximum bytes to collect per partition 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3317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compression_type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79" y="23317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Compresses records before sending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30175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retries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79" y="30175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Retries transient send failures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703320"/>
            <a:ext cx="1645920" cy="45720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request_timeout_ms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79" y="3703320"/>
            <a:ext cx="2057400" cy="45720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How long to wait for broker response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Consumer Flags in This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The consumer shows how applications read from the event bus.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bootstrap_servers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39" y="114300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Broker endpoint the consumer 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client_id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39" y="192024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Readable client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group_id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39" y="269748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Logical subscriber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auto_offset_reset='earliest'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347472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Begin at old records when no previous position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14300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enable_auto_commit=True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14300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Let client periodically store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92024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key_deserializer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92024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Turns key bytes back into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69748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value_deserializer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69748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Turns JSON bytes back into dict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474720"/>
            <a:ext cx="1783080" cy="50292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consumer_timeout_ms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474720"/>
            <a:ext cx="1920240" cy="50292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850" b="0">
                <a:solidFill>
                  <a:srgbClr val="1F2937"/>
                </a:solidFill>
                <a:latin typeface="Calibri"/>
              </a:defRPr>
            </a:pPr>
            <a:r>
              <a:t>Stops the beginner lab after quiet time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6: Improve a Weak Event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Weak record: {"id":104,"done":true}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Rewrite it so a fulfilment consumer understands what changed, when it changed and which entity changed.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Minimum fields: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event_type, event_time, entity key and useful business value.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Which field should become the Kafka key?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8: The Supplied Python Producer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The producer serializes business order events as JSON and sends keyed records to order-events.</a:t>
            </a:r>
          </a:p>
        </p:txBody>
      </p:sp>
      <p:sp>
        <p:nvSpPr>
          <p:cNvPr id="292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producer = KafkaProducer(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bootstrap_servers=["localhost:9092"],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value_serializer=json_serializer,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key_serializer=lambda k: k.encode("utf-8"),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acks="all")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key = order_id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producer.send("order-events", key=key, value=value)</a:t>
            </a:r>
          </a:p>
        </p:txBody>
      </p:sp>
      <p:sp>
        <p:nvSpPr>
          <p:cNvPr id="29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Producer Code: Create a Business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The slide uses the actual Day 2 lab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257800" cy="361188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73152" tIns="91440" bIns="73152"/>
          <a:lstStyle/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def build_order_event(order_id: str, status: str, amount: float) -&gt; dict[str, Any]: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"""Create one event-bus message payload."""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return {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"event_type": "OrderStatusChanged",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"event_time": utc_now(),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"order_id": order_id,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"status": status,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"amount": amount,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"currency": "INR",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"source_system": "checkout-service",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}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2514600" cy="361188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Instructor explanation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event_type names the fact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event_time makes timing explicit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order_id is the key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source_system helps lineage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Producer Code: Configure KafkaProducer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The slide uses the actual Day 2 lab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257800" cy="361188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73152" tIns="91440" bIns="73152"/>
          <a:lstStyle/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producer = KafkaProducer(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bootstrap_servers=["localhost:9092"],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client_id="checkout-service-producer",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key_serializer=key_serializer,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value_serializer=json_serializer,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acks="all",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linger_ms=10,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batch_size=32_768,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compression_type="gzip",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retries=5,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retry_backoff_ms=200,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request_timeout_ms=30_000,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2514600" cy="361188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Instructor explanation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bootstrap_servers finds broker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serializers convert to bytes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acks and retries affect reliability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batching and compression affect throughput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Producer Code: send() and Delivery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The slide uses the actual Day 2 lab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257800" cy="361188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73152" tIns="91440" bIns="73152"/>
          <a:lstStyle/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future = producer.send(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TOPIC_NAME,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key=order_id,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value=event,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headers=[("event_type", event["event_type"].encode("utf-8"))],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)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report_delivery(future, order_id)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2514600" cy="361188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Instructor explanation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topic is order-events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key controls partition lane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value is JSON event payload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future.get reveals partition and offset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9: The Supplied Python Consumer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reader prints partition and offset so students can observe where records landed. Offset management remains Day 3.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consumer = KafkaConsumer(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"order-events",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bootstrap_servers=["localhost:9092"],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group_id="demo-group",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  auto_offset_reset="earliest")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print(message.partition, message.offset, message.value)</a:t>
            </a:r>
          </a:p>
        </p:txBody>
      </p:sp>
      <p:sp>
        <p:nvSpPr>
          <p:cNvPr id="29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Consumer Code: Configure KafkaConsumer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The slide uses the actual Day 2 lab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257800" cy="361188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73152" tIns="91440" bIns="73152"/>
          <a:lstStyle/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consumer = KafkaConsumer(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TOPIC_NAME,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bootstrap_servers=["localhost:9092"],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client_id="order-notification-client",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group_id="order-notification-service",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auto_offset_reset="earliest",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enable_auto_commit=True,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key_deserializer=key_deserializer,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value_deserializer=json_deserializer,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consumer_timeout_ms=15_000,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2514600" cy="361188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Instructor explanation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subscribes to order-events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group_id names logical subscriber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deserializers turn bytes back into data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timeout lets the lab finish cleanly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Consumer Code: Read Business Data and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The slide uses the actual Day 2 lab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257800" cy="361188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73152" tIns="91440" bIns="73152"/>
          <a:lstStyle/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for message in consumer: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event = message.value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print(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"received",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f"event_type={event['event_type']}",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f"order_id={event['order_id']}",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f"status={event['status']}",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f"key={message.key}",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f"topic={message.topic}",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f"partition={message.partition}",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    f"offset={message.offset}",</a:t>
            </a:r>
          </a:p>
          <a:p>
            <a:pPr>
              <a:defRPr sz="869">
                <a:solidFill>
                  <a:srgbClr val="EEF2F7"/>
                </a:solidFill>
                <a:latin typeface="Consolas"/>
              </a:defRPr>
            </a:pPr>
            <a:r>
              <a:t>            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2514600" cy="361188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Instructor explanation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message.value is the event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message.key is the business key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topic/partition/offset are Kafka metadata</a:t>
            </a:r>
          </a:p>
          <a:p>
            <a:pPr>
              <a:defRPr sz="950" b="0">
                <a:solidFill>
                  <a:srgbClr val="1F2937"/>
                </a:solidFill>
                <a:latin typeface="Calibri"/>
              </a:defRPr>
            </a:pPr>
            <a:r>
              <a:t>- service reacts without calling checkout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10: Run the Python Round Trip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the lab-code folder: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python -m pip install kafka-python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Run python consumer.py in terminal A.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Run python producer.py in terminal B.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Capture records printed by the consumer.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Required: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Order events printed with partition and offset.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Annotate which fields came from the app and which came from Kafka.</a:t>
            </a:r>
          </a:p>
        </p:txBody>
      </p:sp>
      <p:sp>
        <p:nvSpPr>
          <p:cNvPr id="30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Python Round Trip: What Students Should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connects code to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Producer terminal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published order_id=ORD-1001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topic=order-events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partition=N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offset=N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Consumer terminal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received event_type=OrderStatusChanged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order_id and status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key=ORD-1001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same topic/partition/offset metadata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11: Change Keys and Observe Placement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Run A: keep key = order_id.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Run B: add different order_id values.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Compare observed partition values after each producer run.</a:t>
            </a:r>
          </a:p>
        </p:txBody>
      </p:sp>
      <p:sp>
        <p:nvSpPr>
          <p:cNvPr id="307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Reasoning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stable key keeps related changes together.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Multiple keys may spread work, but ordering is only within each key's partition lane.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Key Experiment: Make Ordering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is the cleanest beginner partition exercise.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Same order_id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ORD-1001 PAID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ORD-1001 PACKED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ORD-1001 SHIPPED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should stay in one partition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Different order_id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ORD-1002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ORD-1003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can be placed in other partitions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gives parallel lanes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7: Explain the Output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Your consumer output contains value, key, partition and offset. In pairs, label which items are business payload and which are Kafka delivery metadata.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is an offset not an order number?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Why should a consumer not assume two partitions are globally ordered?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Batch Path vs Streaming Path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Batch reads a completed collection on a schedule. Streaming responds as events arrive.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Both paths can end in medallion layers; the difference is arrival and processing rhythm.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Saved file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Scheduled ingest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Bronze table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8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Downstream use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7498080" y="1828800"/>
            <a:ext cx="181800" cy="547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7498080" y="2651760"/>
            <a:ext cx="181800" cy="547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2"/>
          <p:cNvSpPr/>
          <p:nvPr/>
        </p:nvSpPr>
        <p:spPr>
          <a:xfrm>
            <a:off x="7498080" y="3474720"/>
            <a:ext cx="181800" cy="547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Course medallion pipeline;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Where Kafka Fits in a Medallion Pipeline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transports raw event records. Bronze persists received facts; Silver cleans and validates; Gold answers analytical questions.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is transport and retention, not the entire lakehouse.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topic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Bronze raw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Silver clean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6841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6841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Gold metric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7210080" y="1792800"/>
            <a:ext cx="181800" cy="273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7246080" y="2579760"/>
            <a:ext cx="181800" cy="299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7282080" y="3402720"/>
            <a:ext cx="181800" cy="376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Medallion pipeline curriculum;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Kafka to Medallion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Explain the handoff without building the whole pipeline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Today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 transports order events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topic retains raw facts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partition/offset identify location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consumer proves data can be 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Later pipeline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Bronze stores raw events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Silver validates and cleans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Gold aggregates for BI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same event can feed many downstream systems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Troubleshooting From the First Broken Boundary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457200" y="822960"/>
            <a:ext cx="493668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Diagnostic route: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docker ps: broker running?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docker logs day2_kafka: startup error?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kafka-topics --describe: topic present?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Producer output: send succeeds?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Consumer output: records visible?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Incident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5669280" y="1097280"/>
            <a:ext cx="3199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is running, but no consumer records appear.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First confirm the topic name and run a from-beginning consumer before changing code.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Challenge: Design order-events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pairs: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Choose a topic name.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Choose number of partitions for the lab.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Choose a key and defend ordering.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Produce three JSON events.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Consume and capture evidence.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Submission Rubric: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described; records readable; key rationale stated; consumed output visible; one batch-versus-stream sentence.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321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Client Story Exercise: Design payment-events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This becomes a human story, not a dry definition.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840480" cy="3291840"/>
          </a:xfrm>
          <a:prstGeom prst="rect">
            <a:avLst/>
          </a:prstGeom>
          <a:solidFill>
            <a:srgbClr val="F6F8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Event contract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event_type: PaymentCaptured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key: payment_id or order_id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value: amount, currency, event_time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headers: source or event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78992"/>
            <a:ext cx="3886200" cy="329184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Kafka decision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topic name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partition count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key choice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evidence command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Challenge Debrief: Evidence Beats Definitions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Share in two minutes: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Your topic and key.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The partition observation.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One event payload.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One command that proves movement.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Instructor Listen-For: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Students distinguish topic from partition; payload from metadata; a learning broker from production availability.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Knowledge Check 1: The Message View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 without notes: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What does a producer do?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Why create topics?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Where is ordering guaranteed?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What purpose does a key serve?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Model answers: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Publish; select relevant stream; within one partition; keep related records in a stable lane.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Knowledge Check 2: The Deployment View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457200" y="822960"/>
            <a:ext cx="493668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 on paper: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What does the broker store?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What endpoint did clients use today?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Why use KRaft in the Ubuntu lab?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Why is replication factor 1 only a learning setup?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Partition logs; localhost:9092; metadata without ZooKeeper; one broker cannot demonstrate fault tolerance.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Replication and recovery testing require a multi-broker production-style setup.</a:t>
            </a:r>
          </a:p>
        </p:txBody>
      </p:sp>
      <p:sp>
        <p:nvSpPr>
          <p:cNvPr id="367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3 Preview: What We Deliberately Did Not Teach Yet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Today: fundamentals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Events, topics, partitions, broker, KRaft start-up, producing, consuming, JSON and keys.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Tomorrow: operations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 groups, committed offsets, lag, replication, failure tolerance and Kafka Connect.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Recap: Five Sentences to Carry Forward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457200" y="1097280"/>
            <a:ext cx="86857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Today you learned: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Kafka stores event records so producers and consumers do not need to operate in lockstep.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 topic is a named stream; a partition is an ordered lane.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 useful key keeps related changes in the same lane.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 broker stores partition logs; our Ubuntu lab uses one KRaft broker.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CLI and Python evidence proved produce -&gt; store -&gt; consume flow.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Tomorrow (Day 3): groups, offsets, replicas, recovery and Connect.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documentation; supplied Ubuntu lab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Exit Ticket and Lab Evidence Pack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457200" y="822960"/>
            <a:ext cx="493668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Submit before leaving: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1. Topic description for order-events.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2. CLI consumed JSON output.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3. Python output showing partition and offset.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4. Key experiment observation.</a:t>
            </a:r>
          </a:p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5. A four-sentence batch-versus-stream comparison.</a:t>
            </a:r>
          </a:p>
        </p:txBody>
      </p:sp>
      <p:sp>
        <p:nvSpPr>
          <p:cNvPr id="381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Final Question: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"/>
          <p:cNvSpPr/>
          <p:nvPr/>
        </p:nvSpPr>
        <p:spPr>
          <a:xfrm>
            <a:off x="5669280" y="1097280"/>
            <a:ext cx="3199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Your consumer is restarted tomorrow. What state might matter for resuming work?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Do not solve it today; bring the question to Day 3 when we learn offsets.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defRPr>
                <a:solidFill>
                  <a:srgbClr val="1F2937"/>
                </a:solidFill>
                <a:latin typeface="Calibri"/>
              </a:defRPr>
            </a:pPr>
            <a:r>
              <a:t>[1] Supplied KRaft lab files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Is It an Event?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Daily customer.csv export: batch file, not an immediate event.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PaymentReceived at 10:03:04: event; key could be payment_id or order_id.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Weekly report PDF: report artifact, not a stream event.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TruckArrived at gate 2: event; key could be truck_id or shipment_id.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use an event when something happened and another system may need to react quickly.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Partition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Both SHIP-01 records must map to the same partition when the same key is used.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SHIP-02 and SHIP-03 may map to different partitions.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You cannot claim one global order across different partitions.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You can only trust order inside one partition lane.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key choice protects ordering for one business entity.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Kafka UI Demo: See Topics and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Kafka UI when the class needs a visual checkpoint.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3840480" cy="338328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Open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Start Docker Compose.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Open http://localhost:8080.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Select cluster day2-local.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Open Topics -&gt; order-events.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View messages after producer.py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960120"/>
            <a:ext cx="3840480" cy="132588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82296" bIns="73152"/>
          <a:lstStyle/>
          <a:p>
            <a:pPr>
              <a:defRPr sz="1100">
                <a:solidFill>
                  <a:srgbClr val="EEF2F7"/>
                </a:solidFill>
                <a:latin typeface="Consolas"/>
              </a:defRPr>
            </a:pPr>
            <a:r>
              <a:t>docker compose up -d</a:t>
            </a:r>
          </a:p>
          <a:p>
            <a:pPr>
              <a:defRPr sz="1100">
                <a:solidFill>
                  <a:srgbClr val="EEF2F7"/>
                </a:solidFill>
                <a:latin typeface="Consolas"/>
              </a:defRPr>
            </a:pPr>
            <a:r>
              <a:t>docker ps --filter name=day2_</a:t>
            </a:r>
          </a:p>
          <a:p>
            <a:pPr>
              <a:defRPr sz="1100">
                <a:solidFill>
                  <a:srgbClr val="EEF2F7"/>
                </a:solidFill>
                <a:latin typeface="Consolas"/>
              </a:defRPr>
            </a:pPr>
            <a:r>
              <a:t># Browser:</a:t>
            </a:r>
          </a:p>
          <a:p>
            <a:pPr>
              <a:defRPr sz="1100">
                <a:solidFill>
                  <a:srgbClr val="EEF2F7"/>
                </a:solidFill>
                <a:latin typeface="Consolas"/>
              </a:defRPr>
            </a:pPr>
            <a:r>
              <a:t>http://localhost:8080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2560320"/>
            <a:ext cx="3840480" cy="1783080"/>
          </a:xfrm>
          <a:prstGeom prst="rect">
            <a:avLst/>
          </a:prstGeom>
          <a:solidFill>
            <a:srgbClr val="E6F6E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Demo talking points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- Topics tab shows streams.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- Messages view shows key and value.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- Partitions make lanes visible.</a:t>
            </a:r>
          </a:p>
          <a:p>
            <a:pPr>
              <a:defRPr sz="1000" b="0">
                <a:solidFill>
                  <a:srgbClr val="1F2937"/>
                </a:solidFill>
                <a:latin typeface="Calibri"/>
              </a:defRPr>
            </a:pPr>
            <a:r>
              <a:t>- This is for learning visibility, not a replacement for CLI evidence.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Label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Host terminal runs Docker and Kafka CLI/Python commands.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day2_kafka container runs the Kafka broker.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order-events is stored as topic partition logs inside Kafka.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Consumer or Python code prints the record after reading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clients send and read; the broker stores.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Topic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Topic name proves the stream exists.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Partition count proves the number of ordered lanes.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Replication factor 1 is acceptable only because this is a one-broker learning setup.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One line per partition shows Kafka created separate lanes.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topic description is configuration evidence.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Parallel 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If every record uses key order-104, the lane should stay stable.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Stable key placement protects order for that order_id.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A constant key for every record is a bad design because it overloads one lane.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Different keys can spread records across partitions.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keys trade off ordering and distribution.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Improve a Weak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Better event: {"event_type":"OrderStatusChanged","event_time":"2026-06-01T10:03:04Z","order_id":104,"status":"PAID"}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Use order_id as the Kafka key if order lifecycle ordering matters.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event_type tells what happened.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event_time tells when it happened.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a useful event can be understood by another team without asking the producer.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Explain 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Business payload: event_type, order_id, status, amount, currency.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 key: the routing/business key used for partition choice.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Kafka metadata: topic, partition, offset and timestamp.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Offset is a log position, not an order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separate business facts from transport metadata.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Message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Producer publishes records to a topic.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Topics group related events so consumers can subscribe to the right stream.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Ordering is guaranteed within one partition.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A key keeps related records in a stable partition lane.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the message view follows producer -&gt; topic -&gt; partition -&gt; consumer.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2200" b="1">
                <a:solidFill>
                  <a:srgbClr val="18202C"/>
                </a:solidFill>
                <a:latin typeface="Calibri"/>
              </a:defRPr>
            </a:pPr>
            <a:r>
              <a:t>Solution: Deployment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046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1100" b="0">
                <a:solidFill>
                  <a:srgbClr val="5B687C"/>
                </a:solidFill>
                <a:latin typeface="Calibri"/>
              </a:defRPr>
            </a:pPr>
            <a:r>
              <a:t>Use this immediately after the activity so the class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defRPr sz="700" b="0">
                <a:solidFill>
                  <a:srgbClr val="5B687C"/>
                </a:solidFill>
                <a:latin typeface="Calibri"/>
              </a:defRPr>
            </a:pPr>
            <a:r>
              <a:t>[1] Apache Kafka documentation; Confluent Developer; kafka-python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120640" cy="3337560"/>
          </a:xfrm>
          <a:prstGeom prst="rect">
            <a:avLst/>
          </a:prstGeom>
          <a:solidFill>
            <a:srgbClr val="E8F1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Answer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The broker stores partition logs.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Clients used localhost:9092 from the host machine.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KRaft manages Kafka metadata without ZooKeeper.</a:t>
            </a:r>
          </a:p>
          <a:p>
            <a:pPr>
              <a:defRPr sz="1100" b="0">
                <a:solidFill>
                  <a:srgbClr val="1F2937"/>
                </a:solidFill>
                <a:latin typeface="Calibri"/>
              </a:defRPr>
            </a:pPr>
            <a:r>
              <a:t>- Replication factor 1 is only a learning setup because one broker cannot tolerate broker failure.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377440" cy="3337560"/>
          </a:xfrm>
          <a:prstGeom prst="rect">
            <a:avLst/>
          </a:prstGeom>
          <a:solidFill>
            <a:srgbClr val="FFF9E6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>
              <a:defRPr sz="1300" b="1">
                <a:solidFill>
                  <a:srgbClr val="1F2937"/>
                </a:solidFill>
                <a:latin typeface="Calibri"/>
              </a:defRPr>
            </a:pPr>
            <a:r>
              <a:t>Remember</a:t>
            </a:r>
          </a:p>
          <a:p>
            <a:pPr>
              <a:defRPr sz="1200" b="0">
                <a:solidFill>
                  <a:srgbClr val="1F2937"/>
                </a:solidFill>
                <a:latin typeface="Calibri"/>
              </a:defRPr>
            </a:pPr>
            <a:r>
              <a:t>Rule: the deployment view explains where records live and how clients connect.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2026-05-25T22:06:33Z</dcterms:created>
  <dc:creator>Walnut Exporter</dc:creator>
  <dc:description/>
  <dc:language>en-IN</dc:language>
  <cp:lastModifiedBy/>
  <dcterms:modified xsi:type="dcterms:W3CDTF">2026-05-26T04:07:33Z</dcterms:modified>
  <cp:revision>3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