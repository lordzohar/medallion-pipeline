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2.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3.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328" r:id="rId13"/>
    <p:sldId id="329" r:id="rId14"/>
    <p:sldId id="330" r:id="rId15"/>
    <p:sldId id="331" r:id="rId16"/>
    <p:sldId id="332" r:id="rId17"/>
    <p:sldId id="267" r:id="rId18"/>
    <p:sldId id="334"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9144000" cy="514826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10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Throughput (msg/sec)</c:v>
                </c:pt>
              </c:strCache>
            </c:strRef>
          </c:tx>
          <c:spPr>
            <a:solidFill>
              <a:srgbClr val="92CDDC"/>
            </a:solidFill>
            <a:ln w="0">
              <a:noFill/>
            </a:ln>
          </c:spPr>
          <c:invertIfNegative val="0"/>
          <c:dLbls>
            <c:spPr>
              <a:noFill/>
              <a:ln>
                <a:noFill/>
              </a:ln>
              <a:effectLst/>
            </c:spPr>
            <c:txPr>
              <a:bodyPr wrap="square"/>
              <a:lstStyle/>
              <a:p>
                <a:pPr>
                  <a:defRPr sz="1200" b="0" u="none" strike="noStrike">
                    <a:solidFill>
                      <a:srgbClr val="000000"/>
                    </a:solidFill>
                    <a:uFillTx/>
                    <a:latin typeface="Arial"/>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3"/>
                <c:pt idx="0">
                  <c:v>Round‑Robin</c:v>
                </c:pt>
                <c:pt idx="1">
                  <c:v>Key‑Based</c:v>
                </c:pt>
                <c:pt idx="2">
                  <c:v>Sticky</c:v>
                </c:pt>
              </c:strCache>
            </c:strRef>
          </c:cat>
          <c:val>
            <c:numRef>
              <c:f>0</c:f>
              <c:numCache>
                <c:formatCode>General</c:formatCode>
                <c:ptCount val="3"/>
                <c:pt idx="0">
                  <c:v>15000</c:v>
                </c:pt>
                <c:pt idx="1">
                  <c:v>18000</c:v>
                </c:pt>
                <c:pt idx="2">
                  <c:v>22000</c:v>
                </c:pt>
              </c:numCache>
            </c:numRef>
          </c:val>
          <c:extLst>
            <c:ext xmlns:c16="http://schemas.microsoft.com/office/drawing/2014/chart" uri="{C3380CC4-5D6E-409C-BE32-E72D297353CC}">
              <c16:uniqueId val="{00000000-5241-4515-A036-F989AAE03134}"/>
            </c:ext>
          </c:extLst>
        </c:ser>
        <c:dLbls>
          <c:showLegendKey val="0"/>
          <c:showVal val="0"/>
          <c:showCatName val="0"/>
          <c:showSerName val="0"/>
          <c:showPercent val="0"/>
          <c:showBubbleSize val="0"/>
        </c:dLbls>
        <c:gapWidth val="150"/>
        <c:axId val="49457844"/>
        <c:axId val="65263047"/>
      </c:barChart>
      <c:catAx>
        <c:axId val="49457844"/>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200" b="0" u="none" strike="noStrike">
                <a:solidFill>
                  <a:srgbClr val="385170"/>
                </a:solidFill>
                <a:uFillTx/>
                <a:latin typeface="Arial"/>
              </a:defRPr>
            </a:pPr>
            <a:endParaRPr lang="en-US"/>
          </a:p>
        </c:txPr>
        <c:crossAx val="65263047"/>
        <c:crosses val="autoZero"/>
        <c:auto val="1"/>
        <c:lblAlgn val="ctr"/>
        <c:lblOffset val="100"/>
        <c:noMultiLvlLbl val="0"/>
      </c:catAx>
      <c:valAx>
        <c:axId val="65263047"/>
        <c:scaling>
          <c:orientation val="minMax"/>
          <c:max val="25000"/>
          <c:min val="0"/>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1200" b="0" u="none" strike="noStrike">
                <a:solidFill>
                  <a:srgbClr val="385170"/>
                </a:solidFill>
                <a:uFillTx/>
                <a:latin typeface="Arial"/>
              </a:defRPr>
            </a:pPr>
            <a:endParaRPr lang="en-US"/>
          </a:p>
        </c:txPr>
        <c:crossAx val="49457844"/>
        <c:crosses val="autoZero"/>
        <c:crossBetween val="between"/>
        <c:majorUnit val="5000"/>
      </c:valAx>
      <c:spPr>
        <a:noFill/>
        <a:ln w="0">
          <a:noFill/>
        </a:ln>
      </c:spPr>
    </c:plotArea>
    <c:plotVisOnly val="1"/>
    <c:dispBlanksAs val="span"/>
    <c:showDLblsOverMax val="1"/>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Failures Tolerated</c:v>
                </c:pt>
              </c:strCache>
            </c:strRef>
          </c:tx>
          <c:spPr>
            <a:solidFill>
              <a:srgbClr val="4F81BD"/>
            </a:solidFill>
            <a:ln w="0">
              <a:noFill/>
            </a:ln>
          </c:spPr>
          <c:invertIfNegative val="0"/>
          <c:dLbls>
            <c:spPr>
              <a:noFill/>
              <a:ln>
                <a:noFill/>
              </a:ln>
              <a:effectLst/>
            </c:spPr>
            <c:txPr>
              <a:bodyPr wrap="square"/>
              <a:lstStyle/>
              <a:p>
                <a:pPr>
                  <a:defRPr sz="1200" b="0" u="none" strike="noStrike">
                    <a:solidFill>
                      <a:srgbClr val="000000"/>
                    </a:solidFill>
                    <a:uFillTx/>
                    <a:latin typeface="Arial"/>
                    <a:ea typeface="Arial"/>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3"/>
                <c:pt idx="0">
                  <c:v>RF=3, ISR=2</c:v>
                </c:pt>
                <c:pt idx="1">
                  <c:v>RF=3, ISR=1</c:v>
                </c:pt>
                <c:pt idx="2">
                  <c:v>RF=5, ISR=3</c:v>
                </c:pt>
              </c:strCache>
            </c:strRef>
          </c:cat>
          <c:val>
            <c:numRef>
              <c:f>0</c:f>
              <c:numCache>
                <c:formatCode>General</c:formatCode>
                <c:ptCount val="3"/>
                <c:pt idx="0">
                  <c:v>1</c:v>
                </c:pt>
                <c:pt idx="1">
                  <c:v>0</c:v>
                </c:pt>
                <c:pt idx="2">
                  <c:v>2</c:v>
                </c:pt>
              </c:numCache>
            </c:numRef>
          </c:val>
          <c:extLst>
            <c:ext xmlns:c16="http://schemas.microsoft.com/office/drawing/2014/chart" uri="{C3380CC4-5D6E-409C-BE32-E72D297353CC}">
              <c16:uniqueId val="{00000000-5622-4C19-A593-C14C4C270707}"/>
            </c:ext>
          </c:extLst>
        </c:ser>
        <c:dLbls>
          <c:showLegendKey val="0"/>
          <c:showVal val="0"/>
          <c:showCatName val="0"/>
          <c:showSerName val="0"/>
          <c:showPercent val="0"/>
          <c:showBubbleSize val="0"/>
        </c:dLbls>
        <c:gapWidth val="150"/>
        <c:axId val="11778897"/>
        <c:axId val="11901571"/>
      </c:barChart>
      <c:catAx>
        <c:axId val="11778897"/>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385170"/>
                </a:solidFill>
                <a:uFillTx/>
                <a:latin typeface="Arial"/>
                <a:ea typeface="Arial"/>
              </a:defRPr>
            </a:pPr>
            <a:endParaRPr lang="en-US"/>
          </a:p>
        </c:txPr>
        <c:crossAx val="11901571"/>
        <c:crosses val="autoZero"/>
        <c:auto val="1"/>
        <c:lblAlgn val="ctr"/>
        <c:lblOffset val="100"/>
        <c:noMultiLvlLbl val="0"/>
      </c:catAx>
      <c:valAx>
        <c:axId val="11901571"/>
        <c:scaling>
          <c:orientation val="minMax"/>
          <c:max val="3"/>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385170"/>
                </a:solidFill>
                <a:uFillTx/>
                <a:latin typeface="Arial"/>
                <a:ea typeface="Arial"/>
              </a:defRPr>
            </a:pPr>
            <a:endParaRPr lang="en-US"/>
          </a:p>
        </c:txPr>
        <c:crossAx val="11778897"/>
        <c:crosses val="autoZero"/>
        <c:crossBetween val="between"/>
      </c:valAx>
      <c:spPr>
        <a:noFill/>
        <a:ln w="0">
          <a:noFill/>
        </a:ln>
      </c:spPr>
    </c:plotArea>
    <c:plotVisOnly val="1"/>
    <c:dispBlanksAs val="zero"/>
    <c:showDLblsOverMax val="1"/>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Operations</c:v>
                </c:pt>
              </c:strCache>
            </c:strRef>
          </c:tx>
          <c:spPr>
            <a:solidFill>
              <a:srgbClr val="4F81BD"/>
            </a:solidFill>
            <a:ln w="0">
              <a:noFill/>
            </a:ln>
          </c:spPr>
          <c:invertIfNegative val="0"/>
          <c:dLbls>
            <c:spPr>
              <a:noFill/>
              <a:ln>
                <a:noFill/>
              </a:ln>
              <a:effectLst/>
            </c:spPr>
            <c:txPr>
              <a:bodyPr wrap="square"/>
              <a:lstStyle/>
              <a:p>
                <a:pPr>
                  <a:defRPr sz="1200" b="0" u="none" strike="noStrike">
                    <a:solidFill>
                      <a:srgbClr val="000000"/>
                    </a:solidFill>
                    <a:uFillTx/>
                    <a:latin typeface="Arial"/>
                    <a:ea typeface="Arial"/>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5"/>
                <c:pt idx="0">
                  <c:v>Map</c:v>
                </c:pt>
                <c:pt idx="1">
                  <c:v>Filter</c:v>
                </c:pt>
                <c:pt idx="2">
                  <c:v>Aggregate</c:v>
                </c:pt>
                <c:pt idx="3">
                  <c:v>Join</c:v>
                </c:pt>
                <c:pt idx="4">
                  <c:v>Window</c:v>
                </c:pt>
              </c:strCache>
            </c:strRef>
          </c:cat>
          <c:val>
            <c:numRef>
              <c:f>0</c:f>
              <c:numCache>
                <c:formatCode>General</c:formatCode>
                <c:ptCount val="5"/>
                <c:pt idx="0">
                  <c:v>10</c:v>
                </c:pt>
                <c:pt idx="1">
                  <c:v>8</c:v>
                </c:pt>
                <c:pt idx="2">
                  <c:v>6</c:v>
                </c:pt>
                <c:pt idx="3">
                  <c:v>5</c:v>
                </c:pt>
                <c:pt idx="4">
                  <c:v>4</c:v>
                </c:pt>
              </c:numCache>
            </c:numRef>
          </c:val>
          <c:extLst>
            <c:ext xmlns:c16="http://schemas.microsoft.com/office/drawing/2014/chart" uri="{C3380CC4-5D6E-409C-BE32-E72D297353CC}">
              <c16:uniqueId val="{00000000-030F-4036-B8FF-95CA36DE33DD}"/>
            </c:ext>
          </c:extLst>
        </c:ser>
        <c:dLbls>
          <c:showLegendKey val="0"/>
          <c:showVal val="0"/>
          <c:showCatName val="0"/>
          <c:showSerName val="0"/>
          <c:showPercent val="0"/>
          <c:showBubbleSize val="0"/>
        </c:dLbls>
        <c:gapWidth val="150"/>
        <c:axId val="24454093"/>
        <c:axId val="73624251"/>
      </c:barChart>
      <c:catAx>
        <c:axId val="24454093"/>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800" b="0" u="none" strike="noStrike">
                <a:solidFill>
                  <a:srgbClr val="000000"/>
                </a:solidFill>
                <a:uFillTx/>
                <a:latin typeface="Arial"/>
                <a:ea typeface="Arial"/>
              </a:defRPr>
            </a:pPr>
            <a:endParaRPr lang="en-US"/>
          </a:p>
        </c:txPr>
        <c:crossAx val="73624251"/>
        <c:crosses val="autoZero"/>
        <c:auto val="1"/>
        <c:lblAlgn val="ctr"/>
        <c:lblOffset val="100"/>
        <c:noMultiLvlLbl val="0"/>
      </c:catAx>
      <c:valAx>
        <c:axId val="73624251"/>
        <c:scaling>
          <c:orientation val="minMax"/>
          <c:max val="12"/>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800" b="0" u="none" strike="noStrike">
                <a:solidFill>
                  <a:srgbClr val="000000"/>
                </a:solidFill>
                <a:uFillTx/>
                <a:latin typeface="Arial"/>
                <a:ea typeface="Arial"/>
              </a:defRPr>
            </a:pPr>
            <a:endParaRPr lang="en-US"/>
          </a:p>
        </c:txPr>
        <c:crossAx val="24454093"/>
        <c:crosses val="autoZero"/>
        <c:crossBetween val="between"/>
      </c:valAx>
      <c:spPr>
        <a:noFill/>
        <a:ln w="0">
          <a:noFill/>
        </a:ln>
      </c:spPr>
    </c:plotArea>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D8E03C10-9E0F-473E-8F4D-3CC6CB0D26D6}"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0" y="0"/>
            <a:ext cx="0" cy="0"/>
          </a:xfrm>
          <a:prstGeom prst="rect">
            <a:avLst/>
          </a:prstGeom>
          <a:ln w="0">
            <a:noFill/>
          </a:ln>
        </p:spPr>
      </p:sp>
      <p:sp>
        <p:nvSpPr>
          <p:cNvPr id="4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495"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0" y="0"/>
            <a:ext cx="0" cy="0"/>
          </a:xfrm>
          <a:prstGeom prst="rect">
            <a:avLst/>
          </a:prstGeom>
          <a:ln w="0">
            <a:noFill/>
          </a:ln>
        </p:spPr>
      </p:sp>
      <p:sp>
        <p:nvSpPr>
          <p:cNvPr id="4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498"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0" y="0"/>
            <a:ext cx="0" cy="0"/>
          </a:xfrm>
          <a:prstGeom prst="rect">
            <a:avLst/>
          </a:prstGeom>
          <a:ln w="0">
            <a:noFill/>
          </a:ln>
        </p:spPr>
      </p:sp>
      <p:sp>
        <p:nvSpPr>
          <p:cNvPr id="5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01"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0" y="0"/>
            <a:ext cx="0" cy="0"/>
          </a:xfrm>
          <a:prstGeom prst="rect">
            <a:avLst/>
          </a:prstGeom>
          <a:ln w="0">
            <a:noFill/>
          </a:ln>
        </p:spPr>
      </p:sp>
      <p:sp>
        <p:nvSpPr>
          <p:cNvPr id="5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04"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0" y="0"/>
            <a:ext cx="0" cy="0"/>
          </a:xfrm>
          <a:prstGeom prst="rect">
            <a:avLst/>
          </a:prstGeom>
          <a:ln w="0">
            <a:noFill/>
          </a:ln>
        </p:spPr>
      </p:sp>
      <p:sp>
        <p:nvSpPr>
          <p:cNvPr id="5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07"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0" y="0"/>
            <a:ext cx="0" cy="0"/>
          </a:xfrm>
          <a:prstGeom prst="rect">
            <a:avLst/>
          </a:prstGeom>
          <a:ln w="0">
            <a:noFill/>
          </a:ln>
        </p:spPr>
      </p:sp>
      <p:sp>
        <p:nvSpPr>
          <p:cNvPr id="5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10"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noRot="1" noChangeAspect="1"/>
          </p:cNvSpPr>
          <p:nvPr>
            <p:ph type="sldImg"/>
          </p:nvPr>
        </p:nvSpPr>
        <p:spPr>
          <a:xfrm>
            <a:off x="688975" y="1143000"/>
            <a:ext cx="5480050" cy="3086100"/>
          </a:xfrm>
          <a:prstGeom prst="rect">
            <a:avLst/>
          </a:prstGeom>
          <a:ln w="0">
            <a:noFill/>
          </a:ln>
        </p:spPr>
      </p:sp>
      <p:sp>
        <p:nvSpPr>
          <p:cNvPr id="5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513"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29163B-48A8-4DF2-8A42-7BC12B5D87D0}" type="slidenum">
              <a:rPr lang="en-US" sz="1200" b="0" u="none" strike="noStrike">
                <a:solidFill>
                  <a:schemeClr val="dk1"/>
                </a:solidFill>
                <a:effectLst/>
                <a:uFillTx/>
                <a:latin typeface="+mn-lt"/>
                <a:ea typeface="+mn-ea"/>
              </a:rPr>
              <a:t>9</a:t>
            </a:fld>
            <a:endParaRPr lang="en-IN"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noRot="1" noChangeAspect="1"/>
          </p:cNvSpPr>
          <p:nvPr>
            <p:ph type="sldImg"/>
          </p:nvPr>
        </p:nvSpPr>
        <p:spPr>
          <a:xfrm>
            <a:off x="0" y="0"/>
            <a:ext cx="0" cy="0"/>
          </a:xfrm>
          <a:prstGeom prst="rect">
            <a:avLst/>
          </a:prstGeom>
          <a:ln w="0">
            <a:noFill/>
          </a:ln>
        </p:spPr>
      </p:sp>
      <p:sp>
        <p:nvSpPr>
          <p:cNvPr id="5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16"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0" y="0"/>
            <a:ext cx="0" cy="0"/>
          </a:xfrm>
          <a:prstGeom prst="rect">
            <a:avLst/>
          </a:prstGeom>
          <a:ln w="0">
            <a:noFill/>
          </a:ln>
        </p:spPr>
      </p:sp>
      <p:sp>
        <p:nvSpPr>
          <p:cNvPr id="5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19"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423F3-3C91-0350-98C2-6236C4C1CCB1}"/>
            </a:ext>
          </a:extLst>
        </p:cNvPr>
        <p:cNvGrpSpPr/>
        <p:nvPr/>
      </p:nvGrpSpPr>
      <p:grpSpPr>
        <a:xfrm>
          <a:off x="0" y="0"/>
          <a:ext cx="0" cy="0"/>
          <a:chOff x="0" y="0"/>
          <a:chExt cx="0" cy="0"/>
        </a:xfrm>
      </p:grpSpPr>
      <p:sp>
        <p:nvSpPr>
          <p:cNvPr id="517" name="PlaceHolder 1">
            <a:extLst>
              <a:ext uri="{FF2B5EF4-FFF2-40B4-BE49-F238E27FC236}">
                <a16:creationId xmlns:a16="http://schemas.microsoft.com/office/drawing/2014/main" id="{EF9988C4-F84A-2E60-6D98-FCB92D9FB714}"/>
              </a:ext>
            </a:extLst>
          </p:cNvPr>
          <p:cNvSpPr>
            <a:spLocks noGrp="1" noRot="1" noChangeAspect="1"/>
          </p:cNvSpPr>
          <p:nvPr>
            <p:ph type="sldImg"/>
          </p:nvPr>
        </p:nvSpPr>
        <p:spPr>
          <a:xfrm>
            <a:off x="0" y="0"/>
            <a:ext cx="0" cy="0"/>
          </a:xfrm>
          <a:prstGeom prst="rect">
            <a:avLst/>
          </a:prstGeom>
          <a:ln w="0">
            <a:noFill/>
          </a:ln>
        </p:spPr>
      </p:sp>
      <p:sp>
        <p:nvSpPr>
          <p:cNvPr id="518" name="PlaceHolder 2">
            <a:extLst>
              <a:ext uri="{FF2B5EF4-FFF2-40B4-BE49-F238E27FC236}">
                <a16:creationId xmlns:a16="http://schemas.microsoft.com/office/drawing/2014/main" id="{AB46FFD0-EBE8-D1B6-EEE5-BEB658190EC7}"/>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19" name="PlaceHolder 3">
            <a:extLst>
              <a:ext uri="{FF2B5EF4-FFF2-40B4-BE49-F238E27FC236}">
                <a16:creationId xmlns:a16="http://schemas.microsoft.com/office/drawing/2014/main" id="{14C06C1C-F709-030B-C82D-C6288887CD3A}"/>
              </a:ext>
            </a:extLst>
          </p:cNvPr>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extLst>
      <p:ext uri="{BB962C8B-B14F-4D97-AF65-F5344CB8AC3E}">
        <p14:creationId xmlns:p14="http://schemas.microsoft.com/office/powerpoint/2010/main" val="3010105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PlaceHolder 1"/>
          <p:cNvSpPr>
            <a:spLocks noGrp="1" noRot="1" noChangeAspect="1"/>
          </p:cNvSpPr>
          <p:nvPr>
            <p:ph type="sldImg"/>
          </p:nvPr>
        </p:nvSpPr>
        <p:spPr>
          <a:xfrm>
            <a:off x="688975" y="1143000"/>
            <a:ext cx="5480050" cy="3086100"/>
          </a:xfrm>
          <a:prstGeom prst="rect">
            <a:avLst/>
          </a:prstGeom>
          <a:ln w="0">
            <a:noFill/>
          </a:ln>
        </p:spPr>
      </p:sp>
      <p:sp>
        <p:nvSpPr>
          <p:cNvPr id="5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522"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2A1797C-6DBE-4979-851B-0C293D6034DA}" type="slidenum">
              <a:rPr lang="en-US" sz="1200" b="0" u="none" strike="noStrike">
                <a:solidFill>
                  <a:schemeClr val="dk1"/>
                </a:solidFill>
                <a:effectLst/>
                <a:uFillTx/>
                <a:latin typeface="+mn-lt"/>
                <a:ea typeface="+mn-ea"/>
              </a:rPr>
              <a:t>19</a:t>
            </a:fld>
            <a:endParaRPr lang="en-IN"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noRot="1" noChangeAspect="1"/>
          </p:cNvSpPr>
          <p:nvPr>
            <p:ph type="sldImg"/>
          </p:nvPr>
        </p:nvSpPr>
        <p:spPr>
          <a:xfrm>
            <a:off x="0" y="0"/>
            <a:ext cx="0" cy="0"/>
          </a:xfrm>
          <a:prstGeom prst="rect">
            <a:avLst/>
          </a:prstGeom>
          <a:ln w="0">
            <a:noFill/>
          </a:ln>
        </p:spPr>
      </p:sp>
      <p:sp>
        <p:nvSpPr>
          <p:cNvPr id="5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25"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PlaceHolder 1"/>
          <p:cNvSpPr>
            <a:spLocks noGrp="1" noRot="1" noChangeAspect="1"/>
          </p:cNvSpPr>
          <p:nvPr>
            <p:ph type="sldImg"/>
          </p:nvPr>
        </p:nvSpPr>
        <p:spPr>
          <a:xfrm>
            <a:off x="0" y="0"/>
            <a:ext cx="0" cy="0"/>
          </a:xfrm>
          <a:prstGeom prst="rect">
            <a:avLst/>
          </a:prstGeom>
          <a:ln w="0">
            <a:noFill/>
          </a:ln>
        </p:spPr>
      </p:sp>
      <p:sp>
        <p:nvSpPr>
          <p:cNvPr id="52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28"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PlaceHolder 1"/>
          <p:cNvSpPr>
            <a:spLocks noGrp="1" noRot="1" noChangeAspect="1"/>
          </p:cNvSpPr>
          <p:nvPr>
            <p:ph type="sldImg"/>
          </p:nvPr>
        </p:nvSpPr>
        <p:spPr>
          <a:xfrm>
            <a:off x="0" y="0"/>
            <a:ext cx="0" cy="0"/>
          </a:xfrm>
          <a:prstGeom prst="rect">
            <a:avLst/>
          </a:prstGeom>
          <a:ln w="0">
            <a:noFill/>
          </a:ln>
        </p:spPr>
      </p:sp>
      <p:sp>
        <p:nvSpPr>
          <p:cNvPr id="53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31"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noRot="1" noChangeAspect="1"/>
          </p:cNvSpPr>
          <p:nvPr>
            <p:ph type="sldImg"/>
          </p:nvPr>
        </p:nvSpPr>
        <p:spPr>
          <a:xfrm>
            <a:off x="0" y="0"/>
            <a:ext cx="0" cy="0"/>
          </a:xfrm>
          <a:prstGeom prst="rect">
            <a:avLst/>
          </a:prstGeom>
          <a:ln w="0">
            <a:noFill/>
          </a:ln>
        </p:spPr>
      </p:sp>
      <p:sp>
        <p:nvSpPr>
          <p:cNvPr id="53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34"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PlaceHolder 1"/>
          <p:cNvSpPr>
            <a:spLocks noGrp="1" noRot="1" noChangeAspect="1"/>
          </p:cNvSpPr>
          <p:nvPr>
            <p:ph type="sldImg"/>
          </p:nvPr>
        </p:nvSpPr>
        <p:spPr>
          <a:xfrm>
            <a:off x="0" y="0"/>
            <a:ext cx="0" cy="0"/>
          </a:xfrm>
          <a:prstGeom prst="rect">
            <a:avLst/>
          </a:prstGeom>
          <a:ln w="0">
            <a:noFill/>
          </a:ln>
        </p:spPr>
      </p:sp>
      <p:sp>
        <p:nvSpPr>
          <p:cNvPr id="53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37"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PlaceHolder 1"/>
          <p:cNvSpPr>
            <a:spLocks noGrp="1" noRot="1" noChangeAspect="1"/>
          </p:cNvSpPr>
          <p:nvPr>
            <p:ph type="sldImg"/>
          </p:nvPr>
        </p:nvSpPr>
        <p:spPr>
          <a:xfrm>
            <a:off x="0" y="0"/>
            <a:ext cx="0" cy="0"/>
          </a:xfrm>
          <a:prstGeom prst="rect">
            <a:avLst/>
          </a:prstGeom>
          <a:ln w="0">
            <a:noFill/>
          </a:ln>
        </p:spPr>
      </p:sp>
      <p:sp>
        <p:nvSpPr>
          <p:cNvPr id="53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40"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PlaceHolder 1"/>
          <p:cNvSpPr>
            <a:spLocks noGrp="1" noRot="1" noChangeAspect="1"/>
          </p:cNvSpPr>
          <p:nvPr>
            <p:ph type="sldImg"/>
          </p:nvPr>
        </p:nvSpPr>
        <p:spPr>
          <a:xfrm>
            <a:off x="0" y="0"/>
            <a:ext cx="0" cy="0"/>
          </a:xfrm>
          <a:prstGeom prst="rect">
            <a:avLst/>
          </a:prstGeom>
          <a:ln w="0">
            <a:noFill/>
          </a:ln>
        </p:spPr>
      </p:sp>
      <p:sp>
        <p:nvSpPr>
          <p:cNvPr id="54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43"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PlaceHolder 1"/>
          <p:cNvSpPr>
            <a:spLocks noGrp="1" noRot="1" noChangeAspect="1"/>
          </p:cNvSpPr>
          <p:nvPr>
            <p:ph type="sldImg"/>
          </p:nvPr>
        </p:nvSpPr>
        <p:spPr>
          <a:xfrm>
            <a:off x="0" y="0"/>
            <a:ext cx="0" cy="0"/>
          </a:xfrm>
          <a:prstGeom prst="rect">
            <a:avLst/>
          </a:prstGeom>
          <a:ln w="0">
            <a:noFill/>
          </a:ln>
        </p:spPr>
      </p:sp>
      <p:sp>
        <p:nvSpPr>
          <p:cNvPr id="54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46"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PlaceHolder 1"/>
          <p:cNvSpPr>
            <a:spLocks noGrp="1" noRot="1" noChangeAspect="1"/>
          </p:cNvSpPr>
          <p:nvPr>
            <p:ph type="sldImg"/>
          </p:nvPr>
        </p:nvSpPr>
        <p:spPr>
          <a:xfrm>
            <a:off x="0" y="0"/>
            <a:ext cx="0" cy="0"/>
          </a:xfrm>
          <a:prstGeom prst="rect">
            <a:avLst/>
          </a:prstGeom>
          <a:ln w="0">
            <a:noFill/>
          </a:ln>
        </p:spPr>
      </p:sp>
      <p:sp>
        <p:nvSpPr>
          <p:cNvPr id="54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49"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noRot="1" noChangeAspect="1"/>
          </p:cNvSpPr>
          <p:nvPr>
            <p:ph type="sldImg"/>
          </p:nvPr>
        </p:nvSpPr>
        <p:spPr>
          <a:xfrm>
            <a:off x="0" y="0"/>
            <a:ext cx="0" cy="0"/>
          </a:xfrm>
          <a:prstGeom prst="rect">
            <a:avLst/>
          </a:prstGeom>
          <a:ln w="0">
            <a:noFill/>
          </a:ln>
        </p:spPr>
      </p:sp>
      <p:sp>
        <p:nvSpPr>
          <p:cNvPr id="55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52"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noRot="1" noChangeAspect="1"/>
          </p:cNvSpPr>
          <p:nvPr>
            <p:ph type="sldImg"/>
          </p:nvPr>
        </p:nvSpPr>
        <p:spPr>
          <a:xfrm>
            <a:off x="0" y="0"/>
            <a:ext cx="0" cy="0"/>
          </a:xfrm>
          <a:prstGeom prst="rect">
            <a:avLst/>
          </a:prstGeom>
          <a:ln w="0">
            <a:noFill/>
          </a:ln>
        </p:spPr>
      </p:sp>
      <p:sp>
        <p:nvSpPr>
          <p:cNvPr id="55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55"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noRot="1" noChangeAspect="1"/>
          </p:cNvSpPr>
          <p:nvPr>
            <p:ph type="sldImg"/>
          </p:nvPr>
        </p:nvSpPr>
        <p:spPr>
          <a:xfrm>
            <a:off x="0" y="0"/>
            <a:ext cx="0" cy="0"/>
          </a:xfrm>
          <a:prstGeom prst="rect">
            <a:avLst/>
          </a:prstGeom>
          <a:ln w="0">
            <a:noFill/>
          </a:ln>
        </p:spPr>
      </p:sp>
      <p:sp>
        <p:nvSpPr>
          <p:cNvPr id="55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58"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noRot="1" noChangeAspect="1"/>
          </p:cNvSpPr>
          <p:nvPr>
            <p:ph type="sldImg"/>
          </p:nvPr>
        </p:nvSpPr>
        <p:spPr>
          <a:xfrm>
            <a:off x="0" y="0"/>
            <a:ext cx="0" cy="0"/>
          </a:xfrm>
          <a:prstGeom prst="rect">
            <a:avLst/>
          </a:prstGeom>
          <a:ln w="0">
            <a:noFill/>
          </a:ln>
        </p:spPr>
      </p:sp>
      <p:sp>
        <p:nvSpPr>
          <p:cNvPr id="5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61"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noRot="1" noChangeAspect="1"/>
          </p:cNvSpPr>
          <p:nvPr>
            <p:ph type="sldImg"/>
          </p:nvPr>
        </p:nvSpPr>
        <p:spPr>
          <a:xfrm>
            <a:off x="0" y="0"/>
            <a:ext cx="0" cy="0"/>
          </a:xfrm>
          <a:prstGeom prst="rect">
            <a:avLst/>
          </a:prstGeom>
          <a:ln w="0">
            <a:noFill/>
          </a:ln>
        </p:spPr>
      </p:sp>
      <p:sp>
        <p:nvSpPr>
          <p:cNvPr id="5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64"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0" y="0"/>
            <a:ext cx="0" cy="0"/>
          </a:xfrm>
          <a:prstGeom prst="rect">
            <a:avLst/>
          </a:prstGeom>
          <a:ln w="0">
            <a:noFill/>
          </a:ln>
        </p:spPr>
      </p:sp>
      <p:sp>
        <p:nvSpPr>
          <p:cNvPr id="5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67"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noRot="1" noChangeAspect="1"/>
          </p:cNvSpPr>
          <p:nvPr>
            <p:ph type="sldImg"/>
          </p:nvPr>
        </p:nvSpPr>
        <p:spPr>
          <a:xfrm>
            <a:off x="0" y="0"/>
            <a:ext cx="0" cy="0"/>
          </a:xfrm>
          <a:prstGeom prst="rect">
            <a:avLst/>
          </a:prstGeom>
          <a:ln w="0">
            <a:noFill/>
          </a:ln>
        </p:spPr>
      </p:sp>
      <p:sp>
        <p:nvSpPr>
          <p:cNvPr id="5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70"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PlaceHolder 1"/>
          <p:cNvSpPr>
            <a:spLocks noGrp="1" noRot="1" noChangeAspect="1"/>
          </p:cNvSpPr>
          <p:nvPr>
            <p:ph type="sldImg"/>
          </p:nvPr>
        </p:nvSpPr>
        <p:spPr>
          <a:xfrm>
            <a:off x="0" y="0"/>
            <a:ext cx="0" cy="0"/>
          </a:xfrm>
          <a:prstGeom prst="rect">
            <a:avLst/>
          </a:prstGeom>
          <a:ln w="0">
            <a:noFill/>
          </a:ln>
        </p:spPr>
      </p:sp>
      <p:sp>
        <p:nvSpPr>
          <p:cNvPr id="5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73"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0" y="0"/>
            <a:ext cx="0" cy="0"/>
          </a:xfrm>
          <a:prstGeom prst="rect">
            <a:avLst/>
          </a:prstGeom>
          <a:ln w="0">
            <a:noFill/>
          </a:ln>
        </p:spPr>
      </p:sp>
      <p:sp>
        <p:nvSpPr>
          <p:cNvPr id="57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76" name="PlaceHolder 3"/>
          <p:cNvSpPr>
            <a:spLocks noGrp="1"/>
          </p:cNvSpPr>
          <p:nvPr>
            <p:ph type="sldNum" idx="31"/>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0" y="0"/>
            <a:ext cx="0" cy="0"/>
          </a:xfrm>
          <a:prstGeom prst="rect">
            <a:avLst/>
          </a:prstGeom>
          <a:ln w="0">
            <a:noFill/>
          </a:ln>
        </p:spPr>
      </p:sp>
      <p:sp>
        <p:nvSpPr>
          <p:cNvPr id="57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79" name="PlaceHolder 3"/>
          <p:cNvSpPr>
            <a:spLocks noGrp="1"/>
          </p:cNvSpPr>
          <p:nvPr>
            <p:ph type="sldNum" idx="32"/>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laceHolder 1"/>
          <p:cNvSpPr>
            <a:spLocks noGrp="1" noRot="1" noChangeAspect="1"/>
          </p:cNvSpPr>
          <p:nvPr>
            <p:ph type="sldImg"/>
          </p:nvPr>
        </p:nvSpPr>
        <p:spPr>
          <a:xfrm>
            <a:off x="0" y="0"/>
            <a:ext cx="0" cy="0"/>
          </a:xfrm>
          <a:prstGeom prst="rect">
            <a:avLst/>
          </a:prstGeom>
          <a:ln w="0">
            <a:noFill/>
          </a:ln>
        </p:spPr>
      </p:sp>
      <p:sp>
        <p:nvSpPr>
          <p:cNvPr id="5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82" name="PlaceHolder 3"/>
          <p:cNvSpPr>
            <a:spLocks noGrp="1"/>
          </p:cNvSpPr>
          <p:nvPr>
            <p:ph type="sldNum" idx="33"/>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noRot="1" noChangeAspect="1"/>
          </p:cNvSpPr>
          <p:nvPr>
            <p:ph type="sldImg"/>
          </p:nvPr>
        </p:nvSpPr>
        <p:spPr>
          <a:xfrm>
            <a:off x="0" y="0"/>
            <a:ext cx="0" cy="0"/>
          </a:xfrm>
          <a:prstGeom prst="rect">
            <a:avLst/>
          </a:prstGeom>
          <a:ln w="0">
            <a:noFill/>
          </a:ln>
        </p:spPr>
      </p:sp>
      <p:sp>
        <p:nvSpPr>
          <p:cNvPr id="5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85" name="PlaceHolder 3"/>
          <p:cNvSpPr>
            <a:spLocks noGrp="1"/>
          </p:cNvSpPr>
          <p:nvPr>
            <p:ph type="sldNum" idx="34"/>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noRot="1" noChangeAspect="1"/>
          </p:cNvSpPr>
          <p:nvPr>
            <p:ph type="sldImg"/>
          </p:nvPr>
        </p:nvSpPr>
        <p:spPr>
          <a:xfrm>
            <a:off x="0" y="0"/>
            <a:ext cx="0" cy="0"/>
          </a:xfrm>
          <a:prstGeom prst="rect">
            <a:avLst/>
          </a:prstGeom>
          <a:ln w="0">
            <a:noFill/>
          </a:ln>
        </p:spPr>
      </p:sp>
      <p:sp>
        <p:nvSpPr>
          <p:cNvPr id="5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88" name="PlaceHolder 3"/>
          <p:cNvSpPr>
            <a:spLocks noGrp="1"/>
          </p:cNvSpPr>
          <p:nvPr>
            <p:ph type="sldNum" idx="35"/>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PlaceHolder 1"/>
          <p:cNvSpPr>
            <a:spLocks noGrp="1" noRot="1" noChangeAspect="1"/>
          </p:cNvSpPr>
          <p:nvPr>
            <p:ph type="sldImg"/>
          </p:nvPr>
        </p:nvSpPr>
        <p:spPr>
          <a:xfrm>
            <a:off x="0" y="0"/>
            <a:ext cx="0" cy="0"/>
          </a:xfrm>
          <a:prstGeom prst="rect">
            <a:avLst/>
          </a:prstGeom>
          <a:ln w="0">
            <a:noFill/>
          </a:ln>
        </p:spPr>
      </p:sp>
      <p:sp>
        <p:nvSpPr>
          <p:cNvPr id="59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91" name="PlaceHolder 3"/>
          <p:cNvSpPr>
            <a:spLocks noGrp="1"/>
          </p:cNvSpPr>
          <p:nvPr>
            <p:ph type="sldNum" idx="36"/>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0" y="0"/>
            <a:ext cx="0" cy="0"/>
          </a:xfrm>
          <a:prstGeom prst="rect">
            <a:avLst/>
          </a:prstGeom>
          <a:ln w="0">
            <a:noFill/>
          </a:ln>
        </p:spPr>
      </p:sp>
      <p:sp>
        <p:nvSpPr>
          <p:cNvPr id="59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94"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PlaceHolder 1"/>
          <p:cNvSpPr>
            <a:spLocks noGrp="1" noRot="1" noChangeAspect="1"/>
          </p:cNvSpPr>
          <p:nvPr>
            <p:ph type="sldImg"/>
          </p:nvPr>
        </p:nvSpPr>
        <p:spPr>
          <a:xfrm>
            <a:off x="0" y="0"/>
            <a:ext cx="0" cy="0"/>
          </a:xfrm>
          <a:prstGeom prst="rect">
            <a:avLst/>
          </a:prstGeom>
          <a:ln w="0">
            <a:noFill/>
          </a:ln>
        </p:spPr>
      </p:sp>
      <p:sp>
        <p:nvSpPr>
          <p:cNvPr id="59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597"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noRot="1" noChangeAspect="1"/>
          </p:cNvSpPr>
          <p:nvPr>
            <p:ph type="sldImg"/>
          </p:nvPr>
        </p:nvSpPr>
        <p:spPr>
          <a:xfrm>
            <a:off x="0" y="0"/>
            <a:ext cx="0" cy="0"/>
          </a:xfrm>
          <a:prstGeom prst="rect">
            <a:avLst/>
          </a:prstGeom>
          <a:ln w="0">
            <a:noFill/>
          </a:ln>
        </p:spPr>
      </p:sp>
      <p:sp>
        <p:nvSpPr>
          <p:cNvPr id="5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00"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0" y="0"/>
            <a:ext cx="0" cy="0"/>
          </a:xfrm>
          <a:prstGeom prst="rect">
            <a:avLst/>
          </a:prstGeom>
          <a:ln w="0">
            <a:noFill/>
          </a:ln>
        </p:spPr>
      </p:sp>
      <p:sp>
        <p:nvSpPr>
          <p:cNvPr id="6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03"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noRot="1" noChangeAspect="1"/>
          </p:cNvSpPr>
          <p:nvPr>
            <p:ph type="sldImg"/>
          </p:nvPr>
        </p:nvSpPr>
        <p:spPr>
          <a:xfrm>
            <a:off x="0" y="0"/>
            <a:ext cx="0" cy="0"/>
          </a:xfrm>
          <a:prstGeom prst="rect">
            <a:avLst/>
          </a:prstGeom>
          <a:ln w="0">
            <a:noFill/>
          </a:ln>
        </p:spPr>
      </p:sp>
      <p:sp>
        <p:nvSpPr>
          <p:cNvPr id="6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06"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0" y="0"/>
            <a:ext cx="0" cy="0"/>
          </a:xfrm>
          <a:prstGeom prst="rect">
            <a:avLst/>
          </a:prstGeom>
          <a:ln w="0">
            <a:noFill/>
          </a:ln>
        </p:spPr>
      </p:sp>
      <p:sp>
        <p:nvSpPr>
          <p:cNvPr id="6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09"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 name="PlaceHolder 1"/>
          <p:cNvSpPr>
            <a:spLocks noGrp="1" noRot="1" noChangeAspect="1"/>
          </p:cNvSpPr>
          <p:nvPr>
            <p:ph type="sldImg"/>
          </p:nvPr>
        </p:nvSpPr>
        <p:spPr>
          <a:xfrm>
            <a:off x="0" y="0"/>
            <a:ext cx="0" cy="0"/>
          </a:xfrm>
          <a:prstGeom prst="rect">
            <a:avLst/>
          </a:prstGeom>
          <a:ln w="0">
            <a:noFill/>
          </a:ln>
        </p:spPr>
      </p:sp>
      <p:sp>
        <p:nvSpPr>
          <p:cNvPr id="61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12"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PlaceHolder 1"/>
          <p:cNvSpPr>
            <a:spLocks noGrp="1" noRot="1" noChangeAspect="1"/>
          </p:cNvSpPr>
          <p:nvPr>
            <p:ph type="sldImg"/>
          </p:nvPr>
        </p:nvSpPr>
        <p:spPr>
          <a:xfrm>
            <a:off x="0" y="0"/>
            <a:ext cx="0" cy="0"/>
          </a:xfrm>
          <a:prstGeom prst="rect">
            <a:avLst/>
          </a:prstGeom>
          <a:ln w="0">
            <a:noFill/>
          </a:ln>
        </p:spPr>
      </p:sp>
      <p:sp>
        <p:nvSpPr>
          <p:cNvPr id="61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15"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 name="PlaceHolder 1"/>
          <p:cNvSpPr>
            <a:spLocks noGrp="1" noRot="1" noChangeAspect="1"/>
          </p:cNvSpPr>
          <p:nvPr>
            <p:ph type="sldImg"/>
          </p:nvPr>
        </p:nvSpPr>
        <p:spPr>
          <a:xfrm>
            <a:off x="0" y="0"/>
            <a:ext cx="0" cy="0"/>
          </a:xfrm>
          <a:prstGeom prst="rect">
            <a:avLst/>
          </a:prstGeom>
          <a:ln w="0">
            <a:noFill/>
          </a:ln>
        </p:spPr>
      </p:sp>
      <p:sp>
        <p:nvSpPr>
          <p:cNvPr id="61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18" name="PlaceHolder 3"/>
          <p:cNvSpPr>
            <a:spLocks noGrp="1"/>
          </p:cNvSpPr>
          <p:nvPr>
            <p:ph type="sldNum" idx="45"/>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noRot="1" noChangeAspect="1"/>
          </p:cNvSpPr>
          <p:nvPr>
            <p:ph type="sldImg"/>
          </p:nvPr>
        </p:nvSpPr>
        <p:spPr>
          <a:xfrm>
            <a:off x="0" y="0"/>
            <a:ext cx="0" cy="0"/>
          </a:xfrm>
          <a:prstGeom prst="rect">
            <a:avLst/>
          </a:prstGeom>
          <a:ln w="0">
            <a:noFill/>
          </a:ln>
        </p:spPr>
      </p:sp>
      <p:sp>
        <p:nvSpPr>
          <p:cNvPr id="62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21" name="PlaceHolder 3"/>
          <p:cNvSpPr>
            <a:spLocks noGrp="1"/>
          </p:cNvSpPr>
          <p:nvPr>
            <p:ph type="sldNum" idx="46"/>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0" y="0"/>
            <a:ext cx="0" cy="0"/>
          </a:xfrm>
          <a:prstGeom prst="rect">
            <a:avLst/>
          </a:prstGeom>
          <a:ln w="0">
            <a:noFill/>
          </a:ln>
        </p:spPr>
      </p:sp>
      <p:sp>
        <p:nvSpPr>
          <p:cNvPr id="62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24"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0" y="0"/>
            <a:ext cx="0" cy="0"/>
          </a:xfrm>
          <a:prstGeom prst="rect">
            <a:avLst/>
          </a:prstGeom>
          <a:ln w="0">
            <a:noFill/>
          </a:ln>
        </p:spPr>
      </p:sp>
      <p:sp>
        <p:nvSpPr>
          <p:cNvPr id="62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en-IN" sz="1800" b="0" u="none" strike="noStrike">
              <a:solidFill>
                <a:srgbClr val="000000"/>
              </a:solidFill>
              <a:effectLst/>
              <a:uFillTx/>
              <a:latin typeface="Arial"/>
            </a:endParaRPr>
          </a:p>
        </p:txBody>
      </p:sp>
      <p:sp>
        <p:nvSpPr>
          <p:cNvPr id="627"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lstStyle/>
          <a:p>
            <a:pPr indent="0">
              <a:buNone/>
            </a:pPr>
            <a:endParaRPr lang="en-IN" sz="1400" b="0" u="none" strike="noStrike">
              <a:solidFill>
                <a:srgbClr val="000000"/>
              </a:solidFill>
              <a:effectLst/>
              <a:uFillTx/>
              <a:latin typeface="Times New Roman"/>
              <a:ea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932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457200" y="1204560"/>
            <a:ext cx="8229240" cy="29854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
        <p:nvSpPr>
          <p:cNvPr id="5" name="TextBox 4">
            <a:extLst>
              <a:ext uri="{FF2B5EF4-FFF2-40B4-BE49-F238E27FC236}">
                <a16:creationId xmlns:a16="http://schemas.microsoft.com/office/drawing/2014/main" id="{744442BD-EBB7-F331-BEFF-E2D14683FF4A}"/>
              </a:ext>
            </a:extLst>
          </p:cNvPr>
          <p:cNvSpPr txBox="1"/>
          <p:nvPr userDrawn="1">
            <p:extLst>
              <p:ext uri="{1162E1C5-73C7-4A58-AE30-91384D911F3F}">
                <p184:classification xmlns:p184="http://schemas.microsoft.com/office/powerpoint/2018/4/main" val="ftr"/>
              </p:ext>
            </p:extLst>
          </p:nvPr>
        </p:nvSpPr>
        <p:spPr>
          <a:xfrm>
            <a:off x="3992563" y="4962843"/>
            <a:ext cx="1187450" cy="121920"/>
          </a:xfrm>
          <a:prstGeom prst="rect">
            <a:avLst/>
          </a:prstGeom>
        </p:spPr>
        <p:txBody>
          <a:bodyPr horzOverflow="overflow" lIns="0" tIns="0" rIns="0" bIns="0">
            <a:spAutoFit/>
          </a:bodyPr>
          <a:lstStyle/>
          <a:p>
            <a:pPr algn="l"/>
            <a:r>
              <a:rPr lang="en-US" sz="800">
                <a:solidFill>
                  <a:srgbClr val="2E404D">
                    <a:alpha val="50000"/>
                  </a:srgbClr>
                </a:solidFill>
                <a:latin typeface="Arial" panose="020B0604020202020204" pitchFamily="34" charset="0"/>
                <a:cs typeface="Arial" panose="020B0604020202020204" pitchFamily="34" charset="0"/>
              </a:rPr>
              <a:t>Sensitivity Label: General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file:///C:\Users\Gamer\Downloads\Training\Week1\Day%203\&#12304;673597612005892&#8224;L37-L43&#1230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file:///C:\Users\Gamer\Downloads\Training\Week1\Day%203\&#12304;673597612005892&#8224;L37-L43&#12305;"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file:///C:\Users\Gamer\Downloads\Training\Week1\Day%203\&#12304;673597612005892&#8224;L37-L43&#1230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file:///C:\Users\Gamer\Downloads\Training\Week1\Day%203\&#12304;109569185708490&#8224;L122-L131&#1230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34-L61&#12305;"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63-L181&#12305;"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file:///C:\Users\Gamer\Downloads\Training\Week1\Day%203\&#12304;109569185708490&#8224;L189-L208&#12305;" TargetMode="Externa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file:///C:\Users\Gamer\Downloads\Old%20T\Day%202\&#12304;525385649920661&#8224;L157-L184&#12305;" TargetMode="External"/><Relationship Id="rId4" Type="http://schemas.openxmlformats.org/officeDocument/2006/relationships/hyperlink" Target="file:///C:\Users\Gamer\Downloads\Old%20T\Day%202\&#12304;154439817660870&#8224;L147-L158&#12305;"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file:///C:\Users\Gamer\Downloads\Training\Week1\Day%203\&#12304;994208945390217&#8224;L900-L929&#12305;"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file:///C:\Users\Gamer\Downloads\Training\Week1\Day%203\&#12304;109569185708490&#8224;L226-L236&#12305;" TargetMode="External"/><Relationship Id="rId4" Type="http://schemas.openxmlformats.org/officeDocument/2006/relationships/hyperlink" Target="file:///C:\Users\Gamer\Downloads\Training\Week1\Day%203\&#12304;994208945390217&#8224;L836-L857&#12305;"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328-L339&#12305;"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328-L339&#12305;"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file:///C:\Users\Gamer\Downloads\Old%20T\Day%202\&#12304;154439817660870&#8224;L136-L160&#12305;"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file:///C:\Users\Gamer\Downloads\Old%20T\Day%202\&#12304;154439817660870&#8224;L174-L194&#1230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328-L339&#12305;"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file:///C:\Users\Gamer\Downloads\Training\Week1\Day%203\&#12304;787459060714621&#8224;L216-L226&#1230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63-L181&#12305;"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file:///C:\Users\Gamer\Downloads\Training\Week1\Day%203\&#12304;109569185708490&#8224;L226-L236&#12305;"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328-L339&#12305;"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114-L118&#12305;"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34-L61&#12305;" TargetMode="External"/></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file:///C:\Users\Gamer\Downloads\Training\Week1\Day%203\&#12304;787459060714621&#8224;L130-L145&#12305;"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147-L190&#12305;"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216-L226&#12305;"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file:///C:\Users\Gamer\Downloads\Training\Week1\Day%203\&#12304;787459060714621&#8224;L251-L269&#12305;" TargetMode="External"/><Relationship Id="rId4" Type="http://schemas.openxmlformats.org/officeDocument/2006/relationships/hyperlink" Target="file:///C:\Users\Gamer\Downloads\Training\Week1\Day%203\&#12304;787459060714621&#8224;L239-L245&#12305;"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205-L214&#12305;"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file:///C:\Users\Gamer\Downloads\Training\Week1\Day%203\&#12304;787459060714621&#8224;L251-L269&#12305;"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124-L145&#12305;"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file:///C:\Users\Gamer\Downloads\Training\Week1\Day%203\&#12304;787459060714621&#8224;L205-L214&#12305;"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76-L98&#12305;"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121-L139&#12305;"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53-L61&#12305;"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128-L160&#12305;"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76-L98&#12305;"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53-L61&#12305;"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128-L160&#12305;"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128-L160&#12305;"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76-L98&#1230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file:///C:\Users\Gamer\Downloads\Training\Week1\Day%203\&#12304;830786155811747&#8224;L34-L61&#12305;"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hyperlink" Target="file:///C:\Users\Gamer\Downloads\Training\Week1\Day%203\&#12304;830786155811747&#8224;L76-L98&#12305;"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hyperlink" Target="file:///C:\Users\Gamer\Downloads\Training\Week1\Day%203\&#12304;109569185708490&#8224;L122-L131&#12305;"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hyperlink" Target="file:///C:\Users\Gamer\Downloads\Training\Week1\Day%203\&#12304;787459060714621&#8224;L124-L145&#12305;"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hyperlink" Target="file:///C:\Users\Gamer\Downloads\Training\Week1\Day%203\&#12304;787459060714621&#8224;L205-L214&#12305;"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hyperlink" Target="file:///C:\Users\Gamer\Downloads\Training\Week1\Day%203\&#12304;864486615328870&#8224;L24-L38&#12305;"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hyperlink" Target="file:///C:\Users\Gamer\Downloads\Training\Week1\Day%203\&#12304;864486615328870&#8224;L56-L67&#12305;"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file:///C:\Users\Gamer\Downloads\Training\Week1\Day%203\&#12304;290847093815069&#8224;L46-L54&#12305;" TargetMode="External"/><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hyperlink" Target="file:///C:\Users\Gamer\Downloads\Training\Week1\Day%203\&#12304;290847093815069&#8224;L66-L98&#12305;"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file:///C:\Users\Gamer\Downloads\Training\Week1\Day%203\&#12304;923825948979014&#8224;L837-L857&#12305;"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hyperlink" Target="file:///C:\Users\Gamer\Downloads\Training\Week1\Day%203\&#12304;923825948979014&#8224;L859-L875&#12305;"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file:///C:\Users\Gamer\Downloads\Training\Week1\Day%203\&#12304;343877329506281&#8224;L39-L61&#12305;" TargetMode="External"/><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file:///C:\Users\Gamer\Downloads\Training\Week1\Day%203\&#12304;343877329506281&#8224;L84-L100&#12305;"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file:///C:\Users\Gamer\Downloads\Training\Week1\Day%203\&#12304;864486615328870&#8224;L24-L38&#12305;" TargetMode="External"/><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hyperlink" Target="file:///C:\Users\Gamer\Downloads\Training\Week1\Day%203\&#12304;343877329506281&#8224;L39-L61&#12305;" TargetMode="External"/><Relationship Id="rId5" Type="http://schemas.openxmlformats.org/officeDocument/2006/relationships/hyperlink" Target="file:///C:\Users\Gamer\Downloads\Training\Week1\Day%203\&#12304;923825948979014&#8224;L837-L857&#12305;" TargetMode="External"/><Relationship Id="rId4" Type="http://schemas.openxmlformats.org/officeDocument/2006/relationships/hyperlink" Target="file:///C:\Users\Gamer\Downloads\Training\Week1\Day%203\&#12304;290847093815069&#8224;L46-L54&#12305;"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hyperlink" Target="file:///C:\Users\Gamer\Downloads\Training\Week1\Day%203\&#12304;673597612005892&#8224;L37-L43&#12305;"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0" name="Shape 0"/>
          <p:cNvSpPr/>
          <p:nvPr/>
        </p:nvSpPr>
        <p:spPr>
          <a:xfrm>
            <a:off x="274320" y="457200"/>
            <a:ext cx="8005320" cy="3474000"/>
          </a:xfrm>
          <a:prstGeom prst="rect">
            <a:avLst/>
          </a:prstGeom>
          <a:solidFill>
            <a:srgbClr val="FFFFFF">
              <a:alpha val="80000"/>
            </a:srgbClr>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11" name="Text 1"/>
          <p:cNvSpPr/>
          <p:nvPr/>
        </p:nvSpPr>
        <p:spPr>
          <a:xfrm>
            <a:off x="548640" y="1005840"/>
            <a:ext cx="4388400" cy="210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3400" b="1" u="none" strike="noStrike">
                <a:solidFill>
                  <a:srgbClr val="2F5597"/>
                </a:solidFill>
                <a:effectLst/>
                <a:uFillTx/>
                <a:latin typeface="Calibri"/>
              </a:rPr>
              <a:t>Day 3</a:t>
            </a:r>
            <a:endParaRPr lang="en-IN" sz="3400" b="0" u="none" strike="noStrike">
              <a:solidFill>
                <a:srgbClr val="000000"/>
              </a:solidFill>
              <a:effectLst/>
              <a:uFillTx/>
              <a:latin typeface="Arial"/>
            </a:endParaRPr>
          </a:p>
          <a:p>
            <a:pPr defTabSz="914400">
              <a:lnSpc>
                <a:spcPct val="100000"/>
              </a:lnSpc>
            </a:pPr>
            <a:r>
              <a:rPr lang="en-US" sz="2200" b="1" u="none" strike="noStrike">
                <a:solidFill>
                  <a:srgbClr val="2F5597"/>
                </a:solidFill>
                <a:effectLst/>
                <a:uFillTx/>
                <a:latin typeface="Calibri"/>
              </a:rPr>
              <a:t>Kafka Advanced Concepts &amp; Tools</a:t>
            </a:r>
            <a:endParaRPr lang="en-IN" sz="2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385170"/>
                </a:solidFill>
                <a:effectLst/>
                <a:uFillTx/>
                <a:latin typeface="Calibri"/>
              </a:rPr>
              <a:t>Consumer Groups · Replication · Connect · Ecosystem</a:t>
            </a:r>
            <a:endParaRPr lang="en-IN" sz="1200" b="0" u="none" strike="noStrike">
              <a:solidFill>
                <a:srgbClr val="000000"/>
              </a:solidFill>
              <a:effectLst/>
              <a:uFillTx/>
              <a:latin typeface="Arial"/>
            </a:endParaRPr>
          </a:p>
        </p:txBody>
      </p:sp>
      <p:sp>
        <p:nvSpPr>
          <p:cNvPr id="12" name="Text 2"/>
          <p:cNvSpPr/>
          <p:nvPr/>
        </p:nvSpPr>
        <p:spPr>
          <a:xfrm>
            <a:off x="548640" y="3291840"/>
            <a:ext cx="438840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0" i="1" u="none" strike="noStrike">
                <a:solidFill>
                  <a:srgbClr val="5A7BB5"/>
                </a:solidFill>
                <a:effectLst/>
                <a:uFillTx/>
                <a:latin typeface="Calibri"/>
              </a:rPr>
              <a:t>Data Engineering Workshop</a:t>
            </a:r>
            <a:endParaRPr lang="en-IN" sz="10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5A7BB5"/>
                </a:solidFill>
                <a:effectLst/>
                <a:uFillTx/>
                <a:latin typeface="Calibri"/>
              </a:rPr>
              <a:t>May 2026</a:t>
            </a:r>
            <a:endParaRPr lang="en-IN" sz="900" b="0" u="none" strike="noStrike">
              <a:solidFill>
                <a:srgbClr val="000000"/>
              </a:solidFill>
              <a:effectLst/>
              <a:uFillTx/>
              <a:latin typeface="Arial"/>
            </a:endParaRPr>
          </a:p>
        </p:txBody>
      </p:sp>
      <p:sp>
        <p:nvSpPr>
          <p:cNvPr id="13" name="Text 3"/>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4" name="Text 0"/>
          <p:cNvSpPr/>
          <p:nvPr/>
        </p:nvSpPr>
        <p:spPr>
          <a:xfrm>
            <a:off x="457200" y="36576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a:solidFill>
                  <a:srgbClr val="2F5597"/>
                </a:solidFill>
                <a:effectLst/>
                <a:uFillTx/>
                <a:latin typeface="Calibri"/>
              </a:rPr>
              <a:t>Learning Objectives</a:t>
            </a:r>
            <a:endParaRPr lang="en-IN" sz="2400" b="0" u="none" strike="noStrike">
              <a:solidFill>
                <a:srgbClr val="000000"/>
              </a:solidFill>
              <a:effectLst/>
              <a:uFillTx/>
              <a:latin typeface="Arial"/>
            </a:endParaRPr>
          </a:p>
        </p:txBody>
      </p:sp>
      <p:pic>
        <p:nvPicPr>
          <p:cNvPr id="15" name="Image 0"/>
          <p:cNvPicPr/>
          <p:nvPr/>
        </p:nvPicPr>
        <p:blipFill>
          <a:blip r:embed="rId3"/>
          <a:stretch/>
        </p:blipFill>
        <p:spPr>
          <a:xfrm>
            <a:off x="548640" y="960120"/>
            <a:ext cx="273600" cy="273600"/>
          </a:xfrm>
          <a:prstGeom prst="rect">
            <a:avLst/>
          </a:prstGeom>
          <a:noFill/>
          <a:ln w="0">
            <a:noFill/>
          </a:ln>
        </p:spPr>
      </p:pic>
      <p:sp>
        <p:nvSpPr>
          <p:cNvPr id="16" name="Text 1"/>
          <p:cNvSpPr/>
          <p:nvPr/>
        </p:nvSpPr>
        <p:spPr>
          <a:xfrm>
            <a:off x="1005840" y="9144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Understand how consumer groups coordinate to scale consumption and provide fault tolerance.</a:t>
            </a:r>
            <a:endParaRPr lang="en-IN" sz="1200" b="0" u="none" strike="noStrike">
              <a:solidFill>
                <a:srgbClr val="000000"/>
              </a:solidFill>
              <a:effectLst/>
              <a:uFillTx/>
              <a:latin typeface="Arial"/>
            </a:endParaRPr>
          </a:p>
        </p:txBody>
      </p:sp>
      <p:pic>
        <p:nvPicPr>
          <p:cNvPr id="17" name="Image 1"/>
          <p:cNvPicPr/>
          <p:nvPr/>
        </p:nvPicPr>
        <p:blipFill>
          <a:blip r:embed="rId4"/>
          <a:stretch/>
        </p:blipFill>
        <p:spPr>
          <a:xfrm>
            <a:off x="548640" y="1417320"/>
            <a:ext cx="273600" cy="273600"/>
          </a:xfrm>
          <a:prstGeom prst="rect">
            <a:avLst/>
          </a:prstGeom>
          <a:noFill/>
          <a:ln w="0">
            <a:noFill/>
          </a:ln>
        </p:spPr>
      </p:pic>
      <p:sp>
        <p:nvSpPr>
          <p:cNvPr id="18" name="Text 2"/>
          <p:cNvSpPr/>
          <p:nvPr/>
        </p:nvSpPr>
        <p:spPr>
          <a:xfrm>
            <a:off x="1005840" y="13716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Master offset management strategies and achieve exactly‑once processing semantics.</a:t>
            </a:r>
            <a:endParaRPr lang="en-IN" sz="1200" b="0" u="none" strike="noStrike">
              <a:solidFill>
                <a:srgbClr val="000000"/>
              </a:solidFill>
              <a:effectLst/>
              <a:uFillTx/>
              <a:latin typeface="Arial"/>
            </a:endParaRPr>
          </a:p>
        </p:txBody>
      </p:sp>
      <p:pic>
        <p:nvPicPr>
          <p:cNvPr id="19" name="Image 2"/>
          <p:cNvPicPr/>
          <p:nvPr/>
        </p:nvPicPr>
        <p:blipFill>
          <a:blip r:embed="rId5"/>
          <a:stretch/>
        </p:blipFill>
        <p:spPr>
          <a:xfrm>
            <a:off x="548640" y="1874520"/>
            <a:ext cx="273600" cy="273600"/>
          </a:xfrm>
          <a:prstGeom prst="rect">
            <a:avLst/>
          </a:prstGeom>
          <a:noFill/>
          <a:ln w="0">
            <a:noFill/>
          </a:ln>
        </p:spPr>
      </p:pic>
      <p:sp>
        <p:nvSpPr>
          <p:cNvPr id="20" name="Text 3"/>
          <p:cNvSpPr/>
          <p:nvPr/>
        </p:nvSpPr>
        <p:spPr>
          <a:xfrm>
            <a:off x="1005840" y="18288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Learn how replication, in‑sync replicas and KRaft ensure high availability.</a:t>
            </a:r>
            <a:endParaRPr lang="en-IN" sz="1200" b="0" u="none" strike="noStrike">
              <a:solidFill>
                <a:srgbClr val="000000"/>
              </a:solidFill>
              <a:effectLst/>
              <a:uFillTx/>
              <a:latin typeface="Arial"/>
            </a:endParaRPr>
          </a:p>
        </p:txBody>
      </p:sp>
      <p:pic>
        <p:nvPicPr>
          <p:cNvPr id="21" name="Image 3"/>
          <p:cNvPicPr/>
          <p:nvPr/>
        </p:nvPicPr>
        <p:blipFill>
          <a:blip r:embed="rId6"/>
          <a:stretch/>
        </p:blipFill>
        <p:spPr>
          <a:xfrm>
            <a:off x="548640" y="2331720"/>
            <a:ext cx="273600" cy="273600"/>
          </a:xfrm>
          <a:prstGeom prst="rect">
            <a:avLst/>
          </a:prstGeom>
          <a:noFill/>
          <a:ln w="0">
            <a:noFill/>
          </a:ln>
        </p:spPr>
      </p:pic>
      <p:sp>
        <p:nvSpPr>
          <p:cNvPr id="22" name="Text 4"/>
          <p:cNvSpPr/>
          <p:nvPr/>
        </p:nvSpPr>
        <p:spPr>
          <a:xfrm>
            <a:off x="1005840" y="22860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Explore Kafka Connect architecture and configure source and sink connectors.</a:t>
            </a:r>
            <a:endParaRPr lang="en-IN" sz="1200" b="0" u="none" strike="noStrike">
              <a:solidFill>
                <a:srgbClr val="000000"/>
              </a:solidFill>
              <a:effectLst/>
              <a:uFillTx/>
              <a:latin typeface="Arial"/>
            </a:endParaRPr>
          </a:p>
        </p:txBody>
      </p:sp>
      <p:pic>
        <p:nvPicPr>
          <p:cNvPr id="23" name="Image 4"/>
          <p:cNvPicPr/>
          <p:nvPr/>
        </p:nvPicPr>
        <p:blipFill>
          <a:blip r:embed="rId7"/>
          <a:stretch/>
        </p:blipFill>
        <p:spPr>
          <a:xfrm>
            <a:off x="548640" y="2788920"/>
            <a:ext cx="273600" cy="273600"/>
          </a:xfrm>
          <a:prstGeom prst="rect">
            <a:avLst/>
          </a:prstGeom>
          <a:noFill/>
          <a:ln w="0">
            <a:noFill/>
          </a:ln>
        </p:spPr>
      </p:pic>
      <p:sp>
        <p:nvSpPr>
          <p:cNvPr id="24" name="Text 5"/>
          <p:cNvSpPr/>
          <p:nvPr/>
        </p:nvSpPr>
        <p:spPr>
          <a:xfrm>
            <a:off x="1005840" y="27432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Discover the wider Kafka ecosystem: Streams, ksqlDB, Schema Registry and more.</a:t>
            </a:r>
            <a:endParaRPr lang="en-IN" sz="1200" b="0" u="none" strike="noStrike">
              <a:solidFill>
                <a:srgbClr val="000000"/>
              </a:solidFill>
              <a:effectLst/>
              <a:uFillTx/>
              <a:latin typeface="Arial"/>
            </a:endParaRPr>
          </a:p>
        </p:txBody>
      </p:sp>
      <p:pic>
        <p:nvPicPr>
          <p:cNvPr id="25" name="Image 5"/>
          <p:cNvPicPr/>
          <p:nvPr/>
        </p:nvPicPr>
        <p:blipFill>
          <a:blip r:embed="rId8"/>
          <a:stretch/>
        </p:blipFill>
        <p:spPr>
          <a:xfrm>
            <a:off x="548640" y="3246120"/>
            <a:ext cx="273600" cy="273600"/>
          </a:xfrm>
          <a:prstGeom prst="rect">
            <a:avLst/>
          </a:prstGeom>
          <a:noFill/>
          <a:ln w="0">
            <a:noFill/>
          </a:ln>
        </p:spPr>
      </p:pic>
      <p:sp>
        <p:nvSpPr>
          <p:cNvPr id="26" name="Text 6"/>
          <p:cNvSpPr/>
          <p:nvPr/>
        </p:nvSpPr>
        <p:spPr>
          <a:xfrm>
            <a:off x="1005840" y="3200400"/>
            <a:ext cx="7771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0" u="none" strike="noStrike">
                <a:solidFill>
                  <a:srgbClr val="385170"/>
                </a:solidFill>
                <a:effectLst/>
                <a:uFillTx/>
                <a:latin typeface="Calibri"/>
              </a:rPr>
              <a:t>Apply knowledge in labs and exercises to deploy Kafka with Connect.</a:t>
            </a:r>
            <a:endParaRPr lang="en-IN" sz="1200" b="0" u="none" strike="noStrike">
              <a:solidFill>
                <a:srgbClr val="000000"/>
              </a:solidFill>
              <a:effectLst/>
              <a:uFillTx/>
              <a:latin typeface="Arial"/>
            </a:endParaRPr>
          </a:p>
        </p:txBody>
      </p:sp>
      <p:sp>
        <p:nvSpPr>
          <p:cNvPr id="27" name="Text 7"/>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9"/>
              </a:rPr>
              <a:t>[1]</a:t>
            </a:r>
            <a:endParaRPr lang="en-IN" sz="7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a:solidFill>
                  <a:srgbClr val="2F5597"/>
                </a:solidFill>
                <a:effectLst/>
                <a:uFillTx/>
                <a:latin typeface="Calibri"/>
              </a:rPr>
              <a:t>Agenda</a:t>
            </a:r>
            <a:endParaRPr lang="en-IN" sz="2400" b="0" u="none" strike="noStrike">
              <a:solidFill>
                <a:srgbClr val="000000"/>
              </a:solidFill>
              <a:effectLst/>
              <a:uFillTx/>
              <a:latin typeface="Arial"/>
            </a:endParaRPr>
          </a:p>
        </p:txBody>
      </p:sp>
      <p:sp>
        <p:nvSpPr>
          <p:cNvPr id="29" name="Shape 1"/>
          <p:cNvSpPr/>
          <p:nvPr/>
        </p:nvSpPr>
        <p:spPr>
          <a:xfrm>
            <a:off x="4389120" y="914400"/>
            <a:ext cx="36000" cy="3474000"/>
          </a:xfrm>
          <a:prstGeom prst="rect">
            <a:avLst/>
          </a:prstGeom>
          <a:solidFill>
            <a:srgbClr val="D6E0F0"/>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0" name="Shape 2"/>
          <p:cNvSpPr/>
          <p:nvPr/>
        </p:nvSpPr>
        <p:spPr>
          <a:xfrm>
            <a:off x="4316040" y="100584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1" name="Text 3"/>
          <p:cNvSpPr/>
          <p:nvPr/>
        </p:nvSpPr>
        <p:spPr>
          <a:xfrm>
            <a:off x="548640" y="91440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09:00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Consumer Groups</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Fundamentals &amp; Rebalancing</a:t>
            </a:r>
            <a:endParaRPr lang="en-IN" sz="1000" b="0" u="none" strike="noStrike">
              <a:solidFill>
                <a:srgbClr val="000000"/>
              </a:solidFill>
              <a:effectLst/>
              <a:uFillTx/>
              <a:latin typeface="Arial"/>
            </a:endParaRPr>
          </a:p>
        </p:txBody>
      </p:sp>
      <p:sp>
        <p:nvSpPr>
          <p:cNvPr id="32" name="Shape 4"/>
          <p:cNvSpPr/>
          <p:nvPr/>
        </p:nvSpPr>
        <p:spPr>
          <a:xfrm>
            <a:off x="4316040" y="155448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3" name="Text 5"/>
          <p:cNvSpPr/>
          <p:nvPr/>
        </p:nvSpPr>
        <p:spPr>
          <a:xfrm>
            <a:off x="548640" y="146304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10:30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Offset Management</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Commits &amp; Semantics</a:t>
            </a:r>
            <a:endParaRPr lang="en-IN" sz="1000" b="0" u="none" strike="noStrike">
              <a:solidFill>
                <a:srgbClr val="000000"/>
              </a:solidFill>
              <a:effectLst/>
              <a:uFillTx/>
              <a:latin typeface="Arial"/>
            </a:endParaRPr>
          </a:p>
        </p:txBody>
      </p:sp>
      <p:sp>
        <p:nvSpPr>
          <p:cNvPr id="34" name="Shape 6"/>
          <p:cNvSpPr/>
          <p:nvPr/>
        </p:nvSpPr>
        <p:spPr>
          <a:xfrm>
            <a:off x="4316040" y="210312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5" name="Text 7"/>
          <p:cNvSpPr/>
          <p:nvPr/>
        </p:nvSpPr>
        <p:spPr>
          <a:xfrm>
            <a:off x="548640" y="201168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12:00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Replication &amp; Fault Tolerance</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ISR &amp; KRaft</a:t>
            </a:r>
            <a:endParaRPr lang="en-IN" sz="1000" b="0" u="none" strike="noStrike">
              <a:solidFill>
                <a:srgbClr val="000000"/>
              </a:solidFill>
              <a:effectLst/>
              <a:uFillTx/>
              <a:latin typeface="Arial"/>
            </a:endParaRPr>
          </a:p>
        </p:txBody>
      </p:sp>
      <p:sp>
        <p:nvSpPr>
          <p:cNvPr id="36" name="Shape 8"/>
          <p:cNvSpPr/>
          <p:nvPr/>
        </p:nvSpPr>
        <p:spPr>
          <a:xfrm>
            <a:off x="4316040" y="265176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7" name="Text 9"/>
          <p:cNvSpPr/>
          <p:nvPr/>
        </p:nvSpPr>
        <p:spPr>
          <a:xfrm>
            <a:off x="548640" y="256032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14:00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Kafka Connect</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Architecture &amp; Connectors</a:t>
            </a:r>
            <a:endParaRPr lang="en-IN" sz="1000" b="0" u="none" strike="noStrike">
              <a:solidFill>
                <a:srgbClr val="000000"/>
              </a:solidFill>
              <a:effectLst/>
              <a:uFillTx/>
              <a:latin typeface="Arial"/>
            </a:endParaRPr>
          </a:p>
        </p:txBody>
      </p:sp>
      <p:sp>
        <p:nvSpPr>
          <p:cNvPr id="38" name="Shape 10"/>
          <p:cNvSpPr/>
          <p:nvPr/>
        </p:nvSpPr>
        <p:spPr>
          <a:xfrm>
            <a:off x="4316040" y="320040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9" name="Text 11"/>
          <p:cNvSpPr/>
          <p:nvPr/>
        </p:nvSpPr>
        <p:spPr>
          <a:xfrm>
            <a:off x="548640" y="310896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15:30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Ecosystem Tools</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Streams, ksqlDB, Schema, MirrorMaker</a:t>
            </a:r>
            <a:endParaRPr lang="en-IN" sz="1000" b="0" u="none" strike="noStrike">
              <a:solidFill>
                <a:srgbClr val="000000"/>
              </a:solidFill>
              <a:effectLst/>
              <a:uFillTx/>
              <a:latin typeface="Arial"/>
            </a:endParaRPr>
          </a:p>
        </p:txBody>
      </p:sp>
      <p:sp>
        <p:nvSpPr>
          <p:cNvPr id="40" name="Shape 12"/>
          <p:cNvSpPr/>
          <p:nvPr/>
        </p:nvSpPr>
        <p:spPr>
          <a:xfrm>
            <a:off x="4316040" y="3749040"/>
            <a:ext cx="145440" cy="14544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41" name="Text 13"/>
          <p:cNvSpPr/>
          <p:nvPr/>
        </p:nvSpPr>
        <p:spPr>
          <a:xfrm>
            <a:off x="548640" y="3657600"/>
            <a:ext cx="3474000" cy="54792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t">
            <a:noAutofit/>
          </a:bodyPr>
          <a:lstStyle/>
          <a:p>
            <a:pPr defTabSz="914400">
              <a:lnSpc>
                <a:spcPct val="100000"/>
              </a:lnSpc>
            </a:pPr>
            <a:r>
              <a:rPr lang="en-US" sz="1000" b="1" u="none" strike="noStrike">
                <a:solidFill>
                  <a:srgbClr val="2F5597"/>
                </a:solidFill>
                <a:effectLst/>
                <a:uFillTx/>
                <a:latin typeface="Calibri"/>
              </a:rPr>
              <a:t>17:00</a:t>
            </a:r>
            <a:endParaRPr lang="en-IN" sz="1000" b="0" u="none" strike="noStrike">
              <a:solidFill>
                <a:srgbClr val="000000"/>
              </a:solidFill>
              <a:effectLst/>
              <a:uFillTx/>
              <a:latin typeface="Arial"/>
            </a:endParaRPr>
          </a:p>
          <a:p>
            <a:pPr defTabSz="914400">
              <a:lnSpc>
                <a:spcPct val="100000"/>
              </a:lnSpc>
            </a:pPr>
            <a:r>
              <a:rPr lang="en-US" sz="1400" b="1" u="none" strike="noStrike">
                <a:solidFill>
                  <a:srgbClr val="2F5597"/>
                </a:solidFill>
                <a:effectLst/>
                <a:uFillTx/>
                <a:latin typeface="Calibri"/>
              </a:rPr>
              <a:t>Lab &amp; Quiz</a:t>
            </a:r>
            <a:endParaRPr lang="en-IN" sz="1400" b="0" u="none" strike="noStrike">
              <a:solidFill>
                <a:srgbClr val="000000"/>
              </a:solidFill>
              <a:effectLst/>
              <a:uFillTx/>
              <a:latin typeface="Arial"/>
            </a:endParaRPr>
          </a:p>
          <a:p>
            <a:pPr algn="r" defTabSz="914400">
              <a:lnSpc>
                <a:spcPct val="100000"/>
              </a:lnSpc>
              <a:tabLst>
                <a:tab pos="0" algn="l"/>
              </a:tabLst>
            </a:pPr>
            <a:r>
              <a:rPr lang="en-US" sz="1000" b="0" u="none" strike="noStrike">
                <a:solidFill>
                  <a:srgbClr val="385170"/>
                </a:solidFill>
                <a:effectLst/>
                <a:uFillTx/>
                <a:latin typeface="Calibri"/>
              </a:rPr>
              <a:t>Deploying Kafka with Connect</a:t>
            </a:r>
            <a:endParaRPr lang="en-IN" sz="1000" b="0" u="none" strike="noStrike">
              <a:solidFill>
                <a:srgbClr val="000000"/>
              </a:solidFill>
              <a:effectLst/>
              <a:uFillTx/>
              <a:latin typeface="Arial"/>
            </a:endParaRPr>
          </a:p>
        </p:txBody>
      </p:sp>
      <p:sp>
        <p:nvSpPr>
          <p:cNvPr id="42" name="Text 1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Quick Recap: What Day 2 Already Proved</a:t>
            </a:r>
            <a:endParaRPr lang="en-IN" sz="2200" b="0" u="none" strike="noStrike">
              <a:solidFill>
                <a:srgbClr val="000000"/>
              </a:solidFill>
              <a:effectLst/>
              <a:uFillTx/>
              <a:latin typeface="Arial"/>
            </a:endParaRPr>
          </a:p>
        </p:txBody>
      </p:sp>
      <p:sp>
        <p:nvSpPr>
          <p:cNvPr id="44"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5"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Carry-forward points before the next section.</a:t>
            </a:r>
            <a:endParaRPr lang="en-IN" sz="1150" b="0" u="none" strike="noStrike">
              <a:solidFill>
                <a:srgbClr val="000000"/>
              </a:solidFill>
              <a:effectLst/>
              <a:uFillTx/>
              <a:latin typeface="Arial"/>
            </a:endParaRPr>
          </a:p>
        </p:txBody>
      </p:sp>
      <p:sp>
        <p:nvSpPr>
          <p:cNvPr id="46" name="Rounded Rectangle 4"/>
          <p:cNvSpPr/>
          <p:nvPr/>
        </p:nvSpPr>
        <p:spPr>
          <a:xfrm>
            <a:off x="658440" y="1051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1</a:t>
            </a:r>
            <a:endParaRPr lang="en-IN" sz="1200" b="0" u="none" strike="noStrike">
              <a:solidFill>
                <a:srgbClr val="000000"/>
              </a:solidFill>
              <a:effectLst/>
              <a:uFillTx/>
              <a:latin typeface="Arial"/>
            </a:endParaRPr>
          </a:p>
        </p:txBody>
      </p:sp>
      <p:sp>
        <p:nvSpPr>
          <p:cNvPr id="47" name="TextBox 5"/>
          <p:cNvSpPr/>
          <p:nvPr/>
        </p:nvSpPr>
        <p:spPr>
          <a:xfrm>
            <a:off x="1170360" y="1033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Kafka can run locally as a broker with Kafka UI for inspection.</a:t>
            </a:r>
            <a:endParaRPr lang="en-IN" sz="1450" b="0" u="none" strike="noStrike">
              <a:solidFill>
                <a:srgbClr val="000000"/>
              </a:solidFill>
              <a:effectLst/>
              <a:uFillTx/>
              <a:latin typeface="Arial"/>
            </a:endParaRPr>
          </a:p>
        </p:txBody>
      </p:sp>
      <p:sp>
        <p:nvSpPr>
          <p:cNvPr id="48" name="Rounded Rectangle 6"/>
          <p:cNvSpPr/>
          <p:nvPr/>
        </p:nvSpPr>
        <p:spPr>
          <a:xfrm>
            <a:off x="658440" y="1618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2</a:t>
            </a:r>
            <a:endParaRPr lang="en-IN" sz="1200" b="0" u="none" strike="noStrike">
              <a:solidFill>
                <a:srgbClr val="000000"/>
              </a:solidFill>
              <a:effectLst/>
              <a:uFillTx/>
              <a:latin typeface="Arial"/>
            </a:endParaRPr>
          </a:p>
        </p:txBody>
      </p:sp>
      <p:sp>
        <p:nvSpPr>
          <p:cNvPr id="49" name="TextBox 7"/>
          <p:cNvSpPr/>
          <p:nvPr/>
        </p:nvSpPr>
        <p:spPr>
          <a:xfrm>
            <a:off x="1170360" y="1600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A topic is the named event stream and partitions are ordered lanes.</a:t>
            </a:r>
            <a:endParaRPr lang="en-IN" sz="1450" b="0" u="none" strike="noStrike">
              <a:solidFill>
                <a:srgbClr val="000000"/>
              </a:solidFill>
              <a:effectLst/>
              <a:uFillTx/>
              <a:latin typeface="Arial"/>
            </a:endParaRPr>
          </a:p>
        </p:txBody>
      </p:sp>
      <p:sp>
        <p:nvSpPr>
          <p:cNvPr id="50" name="Rounded Rectangle 8"/>
          <p:cNvSpPr/>
          <p:nvPr/>
        </p:nvSpPr>
        <p:spPr>
          <a:xfrm>
            <a:off x="658440" y="2185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3</a:t>
            </a:r>
            <a:endParaRPr lang="en-IN" sz="1200" b="0" u="none" strike="noStrike">
              <a:solidFill>
                <a:srgbClr val="000000"/>
              </a:solidFill>
              <a:effectLst/>
              <a:uFillTx/>
              <a:latin typeface="Arial"/>
            </a:endParaRPr>
          </a:p>
        </p:txBody>
      </p:sp>
      <p:sp>
        <p:nvSpPr>
          <p:cNvPr id="51" name="TextBox 9"/>
          <p:cNvSpPr/>
          <p:nvPr/>
        </p:nvSpPr>
        <p:spPr>
          <a:xfrm>
            <a:off x="1170360" y="2167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Producers write records with keys and values; consumers read records independently.</a:t>
            </a:r>
            <a:endParaRPr lang="en-IN" sz="1450" b="0" u="none" strike="noStrike">
              <a:solidFill>
                <a:srgbClr val="000000"/>
              </a:solidFill>
              <a:effectLst/>
              <a:uFillTx/>
              <a:latin typeface="Arial"/>
            </a:endParaRPr>
          </a:p>
        </p:txBody>
      </p:sp>
      <p:sp>
        <p:nvSpPr>
          <p:cNvPr id="52" name="Rounded Rectangle 10"/>
          <p:cNvSpPr/>
          <p:nvPr/>
        </p:nvSpPr>
        <p:spPr>
          <a:xfrm>
            <a:off x="658440" y="275220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4</a:t>
            </a:r>
            <a:endParaRPr lang="en-IN" sz="1200" b="0" u="none" strike="noStrike">
              <a:solidFill>
                <a:srgbClr val="000000"/>
              </a:solidFill>
              <a:effectLst/>
              <a:uFillTx/>
              <a:latin typeface="Arial"/>
            </a:endParaRPr>
          </a:p>
        </p:txBody>
      </p:sp>
      <p:sp>
        <p:nvSpPr>
          <p:cNvPr id="53" name="TextBox 11"/>
          <p:cNvSpPr/>
          <p:nvPr/>
        </p:nvSpPr>
        <p:spPr>
          <a:xfrm>
            <a:off x="1170360" y="2734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Offsets identify a record position inside one partition.</a:t>
            </a:r>
            <a:endParaRPr lang="en-IN" sz="1450" b="0" u="none" strike="noStrike">
              <a:solidFill>
                <a:srgbClr val="000000"/>
              </a:solidFill>
              <a:effectLst/>
              <a:uFillTx/>
              <a:latin typeface="Arial"/>
            </a:endParaRPr>
          </a:p>
        </p:txBody>
      </p:sp>
      <p:sp>
        <p:nvSpPr>
          <p:cNvPr id="54" name="Rounded Rectangle 12"/>
          <p:cNvSpPr/>
          <p:nvPr/>
        </p:nvSpPr>
        <p:spPr>
          <a:xfrm>
            <a:off x="658440" y="331920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5</a:t>
            </a:r>
            <a:endParaRPr lang="en-IN" sz="1200" b="0" u="none" strike="noStrike">
              <a:solidFill>
                <a:srgbClr val="000000"/>
              </a:solidFill>
              <a:effectLst/>
              <a:uFillTx/>
              <a:latin typeface="Arial"/>
            </a:endParaRPr>
          </a:p>
        </p:txBody>
      </p:sp>
      <p:sp>
        <p:nvSpPr>
          <p:cNvPr id="55" name="TextBox 13"/>
          <p:cNvSpPr/>
          <p:nvPr/>
        </p:nvSpPr>
        <p:spPr>
          <a:xfrm>
            <a:off x="1170360" y="330084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Day 3 turns those basics into scaling, durability and operations evidence.</a:t>
            </a:r>
            <a:endParaRPr lang="en-IN" sz="1450" b="0" u="none" strike="noStrike">
              <a:solidFill>
                <a:srgbClr val="000000"/>
              </a:solidFill>
              <a:effectLst/>
              <a:uFillTx/>
              <a:latin typeface="Arial"/>
            </a:endParaRPr>
          </a:p>
        </p:txBody>
      </p:sp>
      <p:sp>
        <p:nvSpPr>
          <p:cNvPr id="56" name="TextBox 14"/>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[4]</a:t>
            </a:r>
            <a:endParaRPr lang="en-IN" sz="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Text 0"/>
          <p:cNvSpPr/>
          <p:nvPr/>
        </p:nvSpPr>
        <p:spPr>
          <a:xfrm>
            <a:off x="457200" y="365760"/>
            <a:ext cx="82288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Consumer Groups: What &amp; Why</a:t>
            </a:r>
            <a:endParaRPr lang="en-IN" sz="2200" b="0" u="none" strike="noStrike">
              <a:solidFill>
                <a:srgbClr val="000000"/>
              </a:solidFill>
              <a:effectLst/>
              <a:uFillTx/>
              <a:latin typeface="Arial"/>
            </a:endParaRPr>
          </a:p>
        </p:txBody>
      </p:sp>
      <p:pic>
        <p:nvPicPr>
          <p:cNvPr id="58" name="Image 0"/>
          <p:cNvPicPr/>
          <p:nvPr/>
        </p:nvPicPr>
        <p:blipFill>
          <a:blip r:embed="rId3"/>
          <a:stretch/>
        </p:blipFill>
        <p:spPr>
          <a:xfrm>
            <a:off x="640080" y="1280160"/>
            <a:ext cx="365040" cy="365040"/>
          </a:xfrm>
          <a:prstGeom prst="rect">
            <a:avLst/>
          </a:prstGeom>
          <a:noFill/>
          <a:ln w="0">
            <a:noFill/>
          </a:ln>
        </p:spPr>
      </p:pic>
      <p:sp>
        <p:nvSpPr>
          <p:cNvPr id="59" name="Text 1"/>
          <p:cNvSpPr/>
          <p:nvPr/>
        </p:nvSpPr>
        <p:spPr>
          <a:xfrm>
            <a:off x="457200" y="1691640"/>
            <a:ext cx="913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385170"/>
                </a:solidFill>
                <a:effectLst/>
                <a:uFillTx/>
                <a:latin typeface="Calibri"/>
              </a:rPr>
              <a:t>Producers</a:t>
            </a:r>
            <a:endParaRPr lang="en-IN" sz="900" b="0" u="none" strike="noStrike">
              <a:solidFill>
                <a:srgbClr val="000000"/>
              </a:solidFill>
              <a:effectLst/>
              <a:uFillTx/>
              <a:latin typeface="Arial"/>
            </a:endParaRPr>
          </a:p>
        </p:txBody>
      </p:sp>
      <p:sp>
        <p:nvSpPr>
          <p:cNvPr id="60" name="Shape 2"/>
          <p:cNvSpPr/>
          <p:nvPr/>
        </p:nvSpPr>
        <p:spPr>
          <a:xfrm>
            <a:off x="1371600" y="1417320"/>
            <a:ext cx="913680" cy="90720"/>
          </a:xfrm>
          <a:prstGeom prst="right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61" name="Shape 3"/>
          <p:cNvSpPr/>
          <p:nvPr/>
        </p:nvSpPr>
        <p:spPr>
          <a:xfrm>
            <a:off x="2468880" y="1280160"/>
            <a:ext cx="1096560" cy="36504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62" name="Text 4"/>
          <p:cNvSpPr/>
          <p:nvPr/>
        </p:nvSpPr>
        <p:spPr>
          <a:xfrm>
            <a:off x="2468880" y="1280160"/>
            <a:ext cx="109656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Topic</a:t>
            </a:r>
            <a:endParaRPr lang="en-IN" sz="900" b="0" u="none" strike="noStrike">
              <a:solidFill>
                <a:srgbClr val="000000"/>
              </a:solidFill>
              <a:effectLst/>
              <a:uFillTx/>
              <a:latin typeface="Arial"/>
            </a:endParaRPr>
          </a:p>
        </p:txBody>
      </p:sp>
      <p:sp>
        <p:nvSpPr>
          <p:cNvPr id="63" name="Shape 5"/>
          <p:cNvSpPr/>
          <p:nvPr/>
        </p:nvSpPr>
        <p:spPr>
          <a:xfrm>
            <a:off x="3749040" y="1417320"/>
            <a:ext cx="913680" cy="90720"/>
          </a:xfrm>
          <a:prstGeom prst="right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64" name="Shape 6"/>
          <p:cNvSpPr/>
          <p:nvPr/>
        </p:nvSpPr>
        <p:spPr>
          <a:xfrm>
            <a:off x="4846320" y="1280160"/>
            <a:ext cx="3199680" cy="639360"/>
          </a:xfrm>
          <a:prstGeom prst="roundRect">
            <a:avLst>
              <a:gd name="adj" fmla="val 14286"/>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65" name="Text 7"/>
          <p:cNvSpPr/>
          <p:nvPr/>
        </p:nvSpPr>
        <p:spPr>
          <a:xfrm>
            <a:off x="4846320" y="12801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000" b="1" u="none" strike="noStrike">
                <a:solidFill>
                  <a:srgbClr val="2F5597"/>
                </a:solidFill>
                <a:effectLst/>
                <a:uFillTx/>
                <a:latin typeface="Calibri"/>
              </a:rPr>
              <a:t>Consumer Group (Group ID)</a:t>
            </a:r>
            <a:endParaRPr lang="en-IN" sz="1000" b="0" u="none" strike="noStrike">
              <a:solidFill>
                <a:srgbClr val="000000"/>
              </a:solidFill>
              <a:effectLst/>
              <a:uFillTx/>
              <a:latin typeface="Arial"/>
            </a:endParaRPr>
          </a:p>
        </p:txBody>
      </p:sp>
      <p:sp>
        <p:nvSpPr>
          <p:cNvPr id="66" name="Shape 8"/>
          <p:cNvSpPr/>
          <p:nvPr/>
        </p:nvSpPr>
        <p:spPr>
          <a:xfrm>
            <a:off x="5029200" y="1600200"/>
            <a:ext cx="456480" cy="45648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67" name="Text 9"/>
          <p:cNvSpPr/>
          <p:nvPr/>
        </p:nvSpPr>
        <p:spPr>
          <a:xfrm>
            <a:off x="5029200" y="1600200"/>
            <a:ext cx="4564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FFFFFF"/>
                </a:solidFill>
                <a:effectLst/>
                <a:uFillTx/>
                <a:latin typeface="Calibri"/>
              </a:rPr>
              <a:t>C1</a:t>
            </a:r>
            <a:endParaRPr lang="en-IN" sz="800" b="0" u="none" strike="noStrike">
              <a:solidFill>
                <a:srgbClr val="000000"/>
              </a:solidFill>
              <a:effectLst/>
              <a:uFillTx/>
              <a:latin typeface="Arial"/>
            </a:endParaRPr>
          </a:p>
        </p:txBody>
      </p:sp>
      <p:sp>
        <p:nvSpPr>
          <p:cNvPr id="68" name="Shape 10"/>
          <p:cNvSpPr/>
          <p:nvPr/>
        </p:nvSpPr>
        <p:spPr>
          <a:xfrm>
            <a:off x="6035040" y="1600200"/>
            <a:ext cx="456480" cy="45648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69" name="Text 11"/>
          <p:cNvSpPr/>
          <p:nvPr/>
        </p:nvSpPr>
        <p:spPr>
          <a:xfrm>
            <a:off x="6035040" y="1600200"/>
            <a:ext cx="4564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FFFFFF"/>
                </a:solidFill>
                <a:effectLst/>
                <a:uFillTx/>
                <a:latin typeface="Calibri"/>
              </a:rPr>
              <a:t>C2</a:t>
            </a:r>
            <a:endParaRPr lang="en-IN" sz="800" b="0" u="none" strike="noStrike">
              <a:solidFill>
                <a:srgbClr val="000000"/>
              </a:solidFill>
              <a:effectLst/>
              <a:uFillTx/>
              <a:latin typeface="Arial"/>
            </a:endParaRPr>
          </a:p>
        </p:txBody>
      </p:sp>
      <p:sp>
        <p:nvSpPr>
          <p:cNvPr id="70" name="Shape 12"/>
          <p:cNvSpPr/>
          <p:nvPr/>
        </p:nvSpPr>
        <p:spPr>
          <a:xfrm>
            <a:off x="7040880" y="1600200"/>
            <a:ext cx="456480" cy="45648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71" name="Text 13"/>
          <p:cNvSpPr/>
          <p:nvPr/>
        </p:nvSpPr>
        <p:spPr>
          <a:xfrm>
            <a:off x="7040880" y="1600200"/>
            <a:ext cx="4564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FFFFFF"/>
                </a:solidFill>
                <a:effectLst/>
                <a:uFillTx/>
                <a:latin typeface="Calibri"/>
              </a:rPr>
              <a:t>C3</a:t>
            </a:r>
            <a:endParaRPr lang="en-IN" sz="800" b="0" u="none" strike="noStrike">
              <a:solidFill>
                <a:srgbClr val="000000"/>
              </a:solidFill>
              <a:effectLst/>
              <a:uFillTx/>
              <a:latin typeface="Arial"/>
            </a:endParaRPr>
          </a:p>
        </p:txBody>
      </p:sp>
      <p:sp>
        <p:nvSpPr>
          <p:cNvPr id="72" name="Text 14"/>
          <p:cNvSpPr/>
          <p:nvPr/>
        </p:nvSpPr>
        <p:spPr>
          <a:xfrm>
            <a:off x="457200" y="2468880"/>
            <a:ext cx="8686080" cy="182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385170"/>
                </a:solidFill>
                <a:effectLst/>
                <a:uFillTx/>
                <a:latin typeface="Calibri"/>
              </a:rPr>
              <a:t>• A consumer group consists of one or more consumers that share a group ID and divide partitions.</a:t>
            </a:r>
            <a:endParaRPr lang="en-IN" sz="1200" b="0" u="none" strike="noStrike">
              <a:solidFill>
                <a:srgbClr val="000000"/>
              </a:solidFill>
              <a:effectLst/>
              <a:uFillTx/>
              <a:latin typeface="Arial"/>
            </a:endParaRPr>
          </a:p>
          <a:p>
            <a:pPr defTabSz="914400">
              <a:lnSpc>
                <a:spcPct val="100000"/>
              </a:lnSpc>
            </a:pPr>
            <a:r>
              <a:rPr lang="en-US" sz="1200" b="0" u="none" strike="noStrike">
                <a:solidFill>
                  <a:srgbClr val="385170"/>
                </a:solidFill>
                <a:effectLst/>
                <a:uFillTx/>
                <a:latin typeface="Calibri"/>
              </a:rPr>
              <a:t>• It enables horizontal scalability — partitions are assigned to different consumers.</a:t>
            </a:r>
            <a:endParaRPr lang="en-IN"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385170"/>
                </a:solidFill>
                <a:effectLst/>
                <a:uFillTx/>
                <a:latin typeface="Calibri"/>
              </a:rPr>
              <a:t>• The group coordinator tracks membership and offsets in the __consumer_offsets topic.</a:t>
            </a:r>
            <a:endParaRPr lang="en-IN" sz="1200" b="0" u="none" strike="noStrike">
              <a:solidFill>
                <a:srgbClr val="000000"/>
              </a:solidFill>
              <a:effectLst/>
              <a:uFillTx/>
              <a:latin typeface="Arial"/>
            </a:endParaRPr>
          </a:p>
        </p:txBody>
      </p:sp>
      <p:sp>
        <p:nvSpPr>
          <p:cNvPr id="73" name="Text 15"/>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a:t>
            </a:r>
            <a:endParaRPr lang="en-IN" sz="7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Read the Diagram: Consumer Groups Share Partition Work</a:t>
            </a:r>
            <a:endParaRPr lang="en-IN" sz="2200" b="0" u="none" strike="noStrike">
              <a:solidFill>
                <a:srgbClr val="000000"/>
              </a:solidFill>
              <a:effectLst/>
              <a:uFillTx/>
              <a:latin typeface="Arial"/>
            </a:endParaRPr>
          </a:p>
        </p:txBody>
      </p:sp>
      <p:sp>
        <p:nvSpPr>
          <p:cNvPr id="75" name="Text 1"/>
          <p:cNvSpPr/>
          <p:nvPr/>
        </p:nvSpPr>
        <p:spPr>
          <a:xfrm>
            <a:off x="457200" y="1097280"/>
            <a:ext cx="475416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385170"/>
                </a:solidFill>
                <a:effectLst/>
                <a:uFillTx/>
                <a:latin typeface="Calibri"/>
              </a:rPr>
              <a:t>Each consumer group receives its own view of the topic. Within one group, a partition is assigned to one active consumer at a time.</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Use this picture before the assignment and rebalance exercise.</a:t>
            </a:r>
            <a:endParaRPr lang="en-IN" sz="1100" b="0" u="none" strike="noStrike">
              <a:solidFill>
                <a:srgbClr val="000000"/>
              </a:solidFill>
              <a:effectLst/>
              <a:uFillTx/>
              <a:latin typeface="Arial"/>
            </a:endParaRPr>
          </a:p>
        </p:txBody>
      </p:sp>
      <p:pic>
        <p:nvPicPr>
          <p:cNvPr id="76" name="Image 0"/>
          <p:cNvPicPr/>
          <p:nvPr/>
        </p:nvPicPr>
        <p:blipFill>
          <a:blip r:embed="rId3"/>
          <a:stretch/>
        </p:blipFill>
        <p:spPr>
          <a:xfrm>
            <a:off x="5486400" y="1097280"/>
            <a:ext cx="3199680" cy="2193840"/>
          </a:xfrm>
          <a:prstGeom prst="rect">
            <a:avLst/>
          </a:prstGeom>
          <a:noFill/>
          <a:ln w="0">
            <a:noFill/>
          </a:ln>
        </p:spPr>
      </p:pic>
      <p:sp>
        <p:nvSpPr>
          <p:cNvPr id="77"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 Hodges, Medium, 1 Apr 2024; terms verified with Apache Kafka documentation</a:t>
            </a:r>
            <a:endParaRPr lang="en-IN" sz="7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Group Coordinator: The Broker That Manages Membership</a:t>
            </a:r>
            <a:endParaRPr lang="en-IN" sz="2200" b="0" u="none" strike="noStrike">
              <a:solidFill>
                <a:srgbClr val="000000"/>
              </a:solidFill>
              <a:effectLst/>
              <a:uFillTx/>
              <a:latin typeface="Arial"/>
            </a:endParaRPr>
          </a:p>
        </p:txBody>
      </p:sp>
      <p:sp>
        <p:nvSpPr>
          <p:cNvPr id="79"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80" name="Picture 3" descr="group_coordinator.png"/>
          <p:cNvPicPr/>
          <p:nvPr/>
        </p:nvPicPr>
        <p:blipFill>
          <a:blip r:embed="rId2"/>
          <a:stretch/>
        </p:blipFill>
        <p:spPr>
          <a:xfrm>
            <a:off x="640080" y="960120"/>
            <a:ext cx="4251600" cy="3062880"/>
          </a:xfrm>
          <a:prstGeom prst="rect">
            <a:avLst/>
          </a:prstGeom>
          <a:noFill/>
          <a:ln w="0">
            <a:noFill/>
          </a:ln>
        </p:spPr>
      </p:pic>
      <p:sp>
        <p:nvSpPr>
          <p:cNvPr id="81" name="TextBox 4"/>
          <p:cNvSpPr/>
          <p:nvPr/>
        </p:nvSpPr>
        <p:spPr>
          <a:xfrm>
            <a:off x="5212080" y="1051560"/>
            <a:ext cx="310860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One broker coordinates each consumer group.</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It tracks members, heartbeats and partition assignments.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It also manages committed offset writes into Kafka internal topics.</a:t>
            </a:r>
            <a:endParaRPr lang="en-IN" sz="1350" b="0" u="none" strike="noStrike">
              <a:solidFill>
                <a:srgbClr val="000000"/>
              </a:solidFill>
              <a:effectLst/>
              <a:uFillTx/>
              <a:latin typeface="Arial"/>
            </a:endParaRPr>
          </a:p>
        </p:txBody>
      </p:sp>
      <p:sp>
        <p:nvSpPr>
          <p:cNvPr id="82" name="TextBox 5"/>
          <p:cNvSpPr/>
          <p:nvPr/>
        </p:nvSpPr>
        <p:spPr>
          <a:xfrm>
            <a:off x="658440" y="4224600"/>
            <a:ext cx="7406280" cy="21924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850" b="0" u="none" strike="noStrike">
                <a:solidFill>
                  <a:srgbClr val="585858"/>
                </a:solidFill>
                <a:effectLst/>
                <a:uFillTx/>
                <a:latin typeface="Calibri"/>
              </a:rPr>
              <a:t>Source: Confluent consumer group architecture course.</a:t>
            </a:r>
            <a:endParaRPr lang="en-IN" sz="850" b="0" u="none" strike="noStrike">
              <a:solidFill>
                <a:srgbClr val="000000"/>
              </a:solidFill>
              <a:effectLst/>
              <a:uFillTx/>
              <a:latin typeface="Arial"/>
            </a:endParaRPr>
          </a:p>
        </p:txBody>
      </p:sp>
      <p:sp>
        <p:nvSpPr>
          <p:cNvPr id="83" name="TextBox 6"/>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[8]</a:t>
            </a:r>
            <a:endParaRPr lang="en-IN" sz="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Partition Assignment &amp; Scaling</a:t>
            </a:r>
            <a:endParaRPr lang="en-IN" sz="2200" b="0" u="none" strike="noStrike">
              <a:solidFill>
                <a:srgbClr val="000000"/>
              </a:solidFill>
              <a:effectLst/>
              <a:uFillTx/>
              <a:latin typeface="Arial"/>
            </a:endParaRPr>
          </a:p>
        </p:txBody>
      </p:sp>
      <p:graphicFrame>
        <p:nvGraphicFramePr>
          <p:cNvPr id="85" name="Table 0"/>
          <p:cNvGraphicFramePr/>
          <p:nvPr/>
        </p:nvGraphicFramePr>
        <p:xfrm>
          <a:off x="457200" y="1097280"/>
          <a:ext cx="8686440" cy="1371600"/>
        </p:xfrm>
        <a:graphic>
          <a:graphicData uri="http://schemas.openxmlformats.org/drawingml/2006/table">
            <a:tbl>
              <a:tblPr/>
              <a:tblGrid>
                <a:gridCol w="2895480">
                  <a:extLst>
                    <a:ext uri="{9D8B030D-6E8A-4147-A177-3AD203B41FA5}">
                      <a16:colId xmlns:a16="http://schemas.microsoft.com/office/drawing/2014/main" val="20000"/>
                    </a:ext>
                  </a:extLst>
                </a:gridCol>
                <a:gridCol w="2895480">
                  <a:extLst>
                    <a:ext uri="{9D8B030D-6E8A-4147-A177-3AD203B41FA5}">
                      <a16:colId xmlns:a16="http://schemas.microsoft.com/office/drawing/2014/main" val="20001"/>
                    </a:ext>
                  </a:extLst>
                </a:gridCol>
                <a:gridCol w="2895480">
                  <a:extLst>
                    <a:ext uri="{9D8B030D-6E8A-4147-A177-3AD203B41FA5}">
                      <a16:colId xmlns:a16="http://schemas.microsoft.com/office/drawing/2014/main" val="20002"/>
                    </a:ext>
                  </a:extLst>
                </a:gridCol>
              </a:tblGrid>
              <a:tr h="182880">
                <a:tc>
                  <a:txBody>
                    <a:bodyPr/>
                    <a:lstStyle/>
                    <a:p>
                      <a:pPr defTabSz="914400">
                        <a:lnSpc>
                          <a:spcPct val="100000"/>
                        </a:lnSpc>
                        <a:tabLst>
                          <a:tab pos="0" algn="l"/>
                        </a:tabLst>
                      </a:pPr>
                      <a:r>
                        <a:rPr lang="en-IN" sz="1000" b="1" u="none" strike="noStrike">
                          <a:solidFill>
                            <a:srgbClr val="FFFFFF"/>
                          </a:solidFill>
                          <a:effectLst/>
                          <a:uFillTx/>
                          <a:latin typeface="Calibri"/>
                          <a:ea typeface="Calibri"/>
                        </a:rPr>
                        <a:t>Strategy</a:t>
                      </a:r>
                      <a:endParaRPr lang="en-IN" sz="1000" b="0" u="none" strike="noStrike">
                        <a:solidFill>
                          <a:srgbClr val="FFFFFF"/>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4F81BD"/>
                    </a:solidFill>
                  </a:tcPr>
                </a:tc>
                <a:tc>
                  <a:txBody>
                    <a:bodyPr/>
                    <a:lstStyle/>
                    <a:p>
                      <a:pPr defTabSz="914400">
                        <a:lnSpc>
                          <a:spcPct val="100000"/>
                        </a:lnSpc>
                        <a:tabLst>
                          <a:tab pos="0" algn="l"/>
                        </a:tabLst>
                      </a:pPr>
                      <a:r>
                        <a:rPr lang="en-IN" sz="1000" b="1" u="none" strike="noStrike">
                          <a:solidFill>
                            <a:srgbClr val="FFFFFF"/>
                          </a:solidFill>
                          <a:effectLst/>
                          <a:uFillTx/>
                          <a:latin typeface="Calibri"/>
                          <a:ea typeface="Calibri"/>
                        </a:rPr>
                        <a:t>Description</a:t>
                      </a:r>
                      <a:endParaRPr lang="en-IN" sz="1000" b="0" u="none" strike="noStrike">
                        <a:solidFill>
                          <a:srgbClr val="FFFFFF"/>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4F81BD"/>
                    </a:solidFill>
                  </a:tcPr>
                </a:tc>
                <a:tc>
                  <a:txBody>
                    <a:bodyPr/>
                    <a:lstStyle/>
                    <a:p>
                      <a:pPr defTabSz="914400">
                        <a:lnSpc>
                          <a:spcPct val="100000"/>
                        </a:lnSpc>
                        <a:tabLst>
                          <a:tab pos="0" algn="l"/>
                        </a:tabLst>
                      </a:pPr>
                      <a:r>
                        <a:rPr lang="en-IN" sz="1000" b="1" u="none" strike="noStrike">
                          <a:solidFill>
                            <a:srgbClr val="FFFFFF"/>
                          </a:solidFill>
                          <a:effectLst/>
                          <a:uFillTx/>
                          <a:latin typeface="Calibri"/>
                          <a:ea typeface="Calibri"/>
                        </a:rPr>
                        <a:t>Pros / Cons</a:t>
                      </a:r>
                      <a:endParaRPr lang="en-IN" sz="1000" b="0" u="none" strike="noStrike">
                        <a:solidFill>
                          <a:srgbClr val="FFFFFF"/>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4F81BD"/>
                    </a:solidFill>
                  </a:tcPr>
                </a:tc>
                <a:extLst>
                  <a:ext uri="{0D108BD9-81ED-4DB2-BD59-A6C34878D82A}">
                    <a16:rowId xmlns:a16="http://schemas.microsoft.com/office/drawing/2014/main" val="10000"/>
                  </a:ext>
                </a:extLst>
              </a:tr>
              <a:tr h="182880">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Range</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F2F6FA"/>
                    </a:solid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Assigns consecutive partitions to consumers in order.</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Simple; may cause skew if partitions vary.</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extLst>
                  <a:ext uri="{0D108BD9-81ED-4DB2-BD59-A6C34878D82A}">
                    <a16:rowId xmlns:a16="http://schemas.microsoft.com/office/drawing/2014/main" val="10001"/>
                  </a:ext>
                </a:extLst>
              </a:tr>
              <a:tr h="182880">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Round‑Robin</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FFFFFF"/>
                    </a:solid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Distributes partitions evenly across consumers.</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Balances load; may reorder keys.</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extLst>
                  <a:ext uri="{0D108BD9-81ED-4DB2-BD59-A6C34878D82A}">
                    <a16:rowId xmlns:a16="http://schemas.microsoft.com/office/drawing/2014/main" val="10002"/>
                  </a:ext>
                </a:extLst>
              </a:tr>
              <a:tr h="182880">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Sticky</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F2F6FA"/>
                    </a:solid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Keeps previous assignments when possible.</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Reduces rebalances but can cause skew.</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extLst>
                  <a:ext uri="{0D108BD9-81ED-4DB2-BD59-A6C34878D82A}">
                    <a16:rowId xmlns:a16="http://schemas.microsoft.com/office/drawing/2014/main" val="10003"/>
                  </a:ext>
                </a:extLst>
              </a:tr>
              <a:tr h="182880">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Cooperative Sticky</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solidFill>
                      <a:srgbClr val="FFFFFF"/>
                    </a:solid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Incremental reassignments; minimises disruption.</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tc>
                  <a:txBody>
                    <a:bodyPr/>
                    <a:lstStyle/>
                    <a:p>
                      <a:pPr defTabSz="914400">
                        <a:lnSpc>
                          <a:spcPct val="100000"/>
                        </a:lnSpc>
                        <a:tabLst>
                          <a:tab pos="0" algn="l"/>
                        </a:tabLst>
                      </a:pPr>
                      <a:r>
                        <a:rPr lang="en-IN" sz="1000" b="0" u="none" strike="noStrike">
                          <a:solidFill>
                            <a:srgbClr val="385170"/>
                          </a:solidFill>
                          <a:effectLst/>
                          <a:uFillTx/>
                          <a:latin typeface="Calibri"/>
                          <a:ea typeface="Calibri"/>
                        </a:rPr>
                        <a:t>Recommended default since Kafka 2.4.</a:t>
                      </a:r>
                      <a:endParaRPr lang="en-IN" sz="1000" b="0" u="none" strike="noStrike">
                        <a:solidFill>
                          <a:srgbClr val="000000"/>
                        </a:solidFill>
                        <a:effectLst/>
                        <a:uFillTx/>
                        <a:latin typeface="Arial"/>
                      </a:endParaRPr>
                    </a:p>
                  </a:txBody>
                  <a:tcPr>
                    <a:lnL w="6480">
                      <a:solidFill>
                        <a:srgbClr val="D6E0F0"/>
                      </a:solidFill>
                      <a:prstDash val="solid"/>
                    </a:lnL>
                    <a:lnR w="6480">
                      <a:solidFill>
                        <a:srgbClr val="D6E0F0"/>
                      </a:solidFill>
                      <a:prstDash val="solid"/>
                    </a:lnR>
                    <a:lnT w="6480">
                      <a:solidFill>
                        <a:srgbClr val="D6E0F0"/>
                      </a:solidFill>
                      <a:prstDash val="solid"/>
                    </a:lnT>
                    <a:lnB w="6480">
                      <a:solidFill>
                        <a:srgbClr val="D6E0F0"/>
                      </a:solidFill>
                      <a:prstDash val="solid"/>
                    </a:lnB>
                    <a:noFill/>
                  </a:tcPr>
                </a:tc>
                <a:extLst>
                  <a:ext uri="{0D108BD9-81ED-4DB2-BD59-A6C34878D82A}">
                    <a16:rowId xmlns:a16="http://schemas.microsoft.com/office/drawing/2014/main" val="10004"/>
                  </a:ext>
                </a:extLst>
              </a:tr>
            </a:tbl>
          </a:graphicData>
        </a:graphic>
      </p:graphicFrame>
      <p:sp>
        <p:nvSpPr>
          <p:cNvPr id="86" name="Text 1"/>
          <p:cNvSpPr/>
          <p:nvPr/>
        </p:nvSpPr>
        <p:spPr>
          <a:xfrm>
            <a:off x="457200" y="2926080"/>
            <a:ext cx="8686080" cy="146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Scaling considerations: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#Consumers ≤ #Partitions to fully utilise resources.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Extra consumers remain idle when partitions are fewer than consumers.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Increase partitions for throughput rather than consumer threads.</a:t>
            </a:r>
            <a:endParaRPr lang="en-IN" sz="1100" b="0" u="none" strike="noStrike">
              <a:solidFill>
                <a:srgbClr val="000000"/>
              </a:solidFill>
              <a:effectLst/>
              <a:uFillTx/>
              <a:latin typeface="Arial"/>
            </a:endParaRPr>
          </a:p>
        </p:txBody>
      </p:sp>
      <p:sp>
        <p:nvSpPr>
          <p:cNvPr id="87"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88" name="Text 18"/>
          <p:cNvSpPr/>
          <p:nvPr/>
        </p:nvSpPr>
        <p:spPr>
          <a:xfrm>
            <a:off x="457200" y="36576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2F5597"/>
                </a:solidFill>
                <a:effectLst/>
                <a:uFillTx/>
                <a:latin typeface="Calibri"/>
              </a:rPr>
              <a:t>Partitioning Strategies &amp; Throughput</a:t>
            </a:r>
            <a:endParaRPr lang="en-IN" sz="2000" b="0" u="none" strike="noStrike">
              <a:solidFill>
                <a:srgbClr val="000000"/>
              </a:solidFill>
              <a:effectLst/>
              <a:uFillTx/>
              <a:latin typeface="Arial"/>
            </a:endParaRPr>
          </a:p>
        </p:txBody>
      </p:sp>
      <p:graphicFrame>
        <p:nvGraphicFramePr>
          <p:cNvPr id="89" name="Chart 2"/>
          <p:cNvGraphicFramePr/>
          <p:nvPr/>
        </p:nvGraphicFramePr>
        <p:xfrm>
          <a:off x="457200" y="914400"/>
          <a:ext cx="4114080" cy="1828080"/>
        </p:xfrm>
        <a:graphic>
          <a:graphicData uri="http://schemas.openxmlformats.org/drawingml/2006/chart">
            <c:chart xmlns:c="http://schemas.openxmlformats.org/drawingml/2006/chart" xmlns:r="http://schemas.openxmlformats.org/officeDocument/2006/relationships" r:id="rId3"/>
          </a:graphicData>
        </a:graphic>
      </p:graphicFrame>
      <p:sp>
        <p:nvSpPr>
          <p:cNvPr id="90" name="Text 20"/>
          <p:cNvSpPr/>
          <p:nvPr/>
        </p:nvSpPr>
        <p:spPr>
          <a:xfrm>
            <a:off x="4754880" y="914400"/>
            <a:ext cx="3931200" cy="201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400" b="1" u="none" strike="noStrike">
                <a:solidFill>
                  <a:srgbClr val="2F5597"/>
                </a:solidFill>
                <a:effectLst/>
                <a:uFillTx/>
                <a:latin typeface="Calibri"/>
              </a:rPr>
              <a:t>Strategies</a:t>
            </a:r>
            <a:endParaRPr lang="en-IN" sz="1400" b="0" u="none" strike="noStrike">
              <a:solidFill>
                <a:srgbClr val="000000"/>
              </a:solidFill>
              <a:effectLst/>
              <a:uFillTx/>
              <a:latin typeface="Arial"/>
            </a:endParaRPr>
          </a:p>
          <a:p>
            <a:pPr defTabSz="914400">
              <a:lnSpc>
                <a:spcPct val="100000"/>
              </a:lnSpc>
            </a:pPr>
            <a:r>
              <a:rPr lang="en-US" sz="1400" b="0" u="none" strike="noStrike">
                <a:solidFill>
                  <a:srgbClr val="385170"/>
                </a:solidFill>
                <a:effectLst/>
                <a:uFillTx/>
                <a:latin typeface="Calibri"/>
              </a:rPr>
              <a:t>• Round‑Robin: evenly distributes records across partitions; high variance and small batches.</a:t>
            </a: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a:p>
            <a:pPr defTabSz="914400">
              <a:lnSpc>
                <a:spcPct val="100000"/>
              </a:lnSpc>
            </a:pPr>
            <a:r>
              <a:rPr lang="en-US" sz="1400" b="0" u="none" strike="noStrike">
                <a:solidFill>
                  <a:srgbClr val="385170"/>
                </a:solidFill>
                <a:effectLst/>
                <a:uFillTx/>
                <a:latin typeface="Calibri"/>
              </a:rPr>
              <a:t>• Key‑Based: hashes record keys to maintain order for a given key; potential hotspots.</a:t>
            </a: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385170"/>
                </a:solidFill>
                <a:effectLst/>
                <a:uFillTx/>
                <a:latin typeface="Calibri"/>
              </a:rPr>
              <a:t>• Sticky (default since 2.4): sends multiple batches to same partition before switching; improves throughput by forming larger batches.</a:t>
            </a:r>
            <a:endParaRPr lang="en-IN" sz="1400" b="0" u="none" strike="noStrike">
              <a:solidFill>
                <a:srgbClr val="000000"/>
              </a:solidFill>
              <a:effectLst/>
              <a:uFillTx/>
              <a:latin typeface="Arial"/>
            </a:endParaRPr>
          </a:p>
        </p:txBody>
      </p:sp>
      <p:sp>
        <p:nvSpPr>
          <p:cNvPr id="91" name="Text 21"/>
          <p:cNvSpPr/>
          <p:nvPr/>
        </p:nvSpPr>
        <p:spPr>
          <a:xfrm>
            <a:off x="457200" y="4937760"/>
            <a:ext cx="82288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5"/>
              </a:rPr>
              <a:t>[2]</a:t>
            </a:r>
            <a:endParaRPr lang="en-IN" sz="7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Rebalancing &amp; Membership</a:t>
            </a:r>
            <a:endParaRPr lang="en-IN" sz="2200" b="0" u="none" strike="noStrike">
              <a:solidFill>
                <a:srgbClr val="000000"/>
              </a:solidFill>
              <a:effectLst/>
              <a:uFillTx/>
              <a:latin typeface="Arial"/>
            </a:endParaRPr>
          </a:p>
        </p:txBody>
      </p:sp>
      <p:sp>
        <p:nvSpPr>
          <p:cNvPr id="93" name="Shape 1"/>
          <p:cNvSpPr/>
          <p:nvPr/>
        </p:nvSpPr>
        <p:spPr>
          <a:xfrm>
            <a:off x="457200" y="1005840"/>
            <a:ext cx="4022640" cy="2010960"/>
          </a:xfrm>
          <a:prstGeom prst="roundRect">
            <a:avLst>
              <a:gd name="adj" fmla="val 2273"/>
            </a:avLst>
          </a:prstGeom>
          <a:solidFill>
            <a:srgbClr val="F2F6FA"/>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94" name="Text 2"/>
          <p:cNvSpPr/>
          <p:nvPr/>
        </p:nvSpPr>
        <p:spPr>
          <a:xfrm>
            <a:off x="457200" y="1005840"/>
            <a:ext cx="4022640" cy="27360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ctr">
            <a:noAutofit/>
          </a:bodyPr>
          <a:lstStyle/>
          <a:p>
            <a:pPr defTabSz="914400">
              <a:lnSpc>
                <a:spcPct val="100000"/>
              </a:lnSpc>
              <a:tabLst>
                <a:tab pos="0" algn="l"/>
              </a:tabLst>
            </a:pPr>
            <a:r>
              <a:rPr lang="en-US" sz="1200" b="1" u="none" strike="noStrike">
                <a:solidFill>
                  <a:srgbClr val="2F5597"/>
                </a:solidFill>
                <a:effectLst/>
                <a:uFillTx/>
                <a:latin typeface="Calibri"/>
              </a:rPr>
              <a:t>Triggers for Rebalancing</a:t>
            </a:r>
            <a:endParaRPr lang="en-IN" sz="1200" b="0" u="none" strike="noStrike">
              <a:solidFill>
                <a:srgbClr val="000000"/>
              </a:solidFill>
              <a:effectLst/>
              <a:uFillTx/>
              <a:latin typeface="Arial"/>
            </a:endParaRPr>
          </a:p>
        </p:txBody>
      </p:sp>
      <p:sp>
        <p:nvSpPr>
          <p:cNvPr id="95" name="Text 3"/>
          <p:cNvSpPr/>
          <p:nvPr/>
        </p:nvSpPr>
        <p:spPr>
          <a:xfrm>
            <a:off x="457200" y="1280160"/>
            <a:ext cx="4022640" cy="137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Consumer joins or leaves the group</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Topic partitions are added or removed</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Heartbeats stop due to long processing or failure</a:t>
            </a:r>
            <a:endParaRPr lang="en-IN" sz="1100" b="0" u="none" strike="noStrike">
              <a:solidFill>
                <a:srgbClr val="000000"/>
              </a:solidFill>
              <a:effectLst/>
              <a:uFillTx/>
              <a:latin typeface="Arial"/>
            </a:endParaRPr>
          </a:p>
        </p:txBody>
      </p:sp>
      <p:sp>
        <p:nvSpPr>
          <p:cNvPr id="96" name="Shape 4"/>
          <p:cNvSpPr/>
          <p:nvPr/>
        </p:nvSpPr>
        <p:spPr>
          <a:xfrm>
            <a:off x="4572000" y="1005840"/>
            <a:ext cx="4114080" cy="2010960"/>
          </a:xfrm>
          <a:prstGeom prst="roundRect">
            <a:avLst>
              <a:gd name="adj" fmla="val 2273"/>
            </a:avLst>
          </a:prstGeom>
          <a:solidFill>
            <a:srgbClr val="F2F6FA"/>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97" name="Text 5"/>
          <p:cNvSpPr/>
          <p:nvPr/>
        </p:nvSpPr>
        <p:spPr>
          <a:xfrm>
            <a:off x="4572000" y="1005840"/>
            <a:ext cx="4114080" cy="273600"/>
          </a:xfrm>
          <a:prstGeom prst="rect">
            <a:avLst/>
          </a:prstGeom>
          <a:noFill/>
          <a:ln w="0">
            <a:noFill/>
          </a:ln>
        </p:spPr>
        <p:style>
          <a:lnRef idx="0">
            <a:scrgbClr r="0" g="0" b="0"/>
          </a:lnRef>
          <a:fillRef idx="0">
            <a:scrgbClr r="0" g="0" b="0"/>
          </a:fillRef>
          <a:effectRef idx="0">
            <a:scrgbClr r="0" g="0" b="0"/>
          </a:effectRef>
          <a:fontRef idx="minor"/>
        </p:style>
        <p:txBody>
          <a:bodyPr lIns="1440" tIns="1440" rIns="1440" bIns="1440" anchor="ctr">
            <a:noAutofit/>
          </a:bodyPr>
          <a:lstStyle/>
          <a:p>
            <a:pPr defTabSz="914400">
              <a:lnSpc>
                <a:spcPct val="100000"/>
              </a:lnSpc>
              <a:tabLst>
                <a:tab pos="0" algn="l"/>
              </a:tabLst>
            </a:pPr>
            <a:r>
              <a:rPr lang="en-US" sz="1200" b="1" u="none" strike="noStrike">
                <a:solidFill>
                  <a:srgbClr val="2F5597"/>
                </a:solidFill>
                <a:effectLst/>
                <a:uFillTx/>
                <a:latin typeface="Calibri"/>
              </a:rPr>
              <a:t>Strategies</a:t>
            </a:r>
            <a:endParaRPr lang="en-IN" sz="1200" b="0" u="none" strike="noStrike">
              <a:solidFill>
                <a:srgbClr val="000000"/>
              </a:solidFill>
              <a:effectLst/>
              <a:uFillTx/>
              <a:latin typeface="Arial"/>
            </a:endParaRPr>
          </a:p>
        </p:txBody>
      </p:sp>
      <p:sp>
        <p:nvSpPr>
          <p:cNvPr id="98" name="Text 6"/>
          <p:cNvSpPr/>
          <p:nvPr/>
        </p:nvSpPr>
        <p:spPr>
          <a:xfrm>
            <a:off x="4572000" y="1280160"/>
            <a:ext cx="4114080" cy="146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Cooperative Rebalancing: Assign partitions incrementally; avoids stopping all consumers.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Static Membership: Set group.instance.id to persist assignments across restarts.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Tune session.timeout.ms, heartbeat.interval.ms, max.poll.interval.ms to avoid unnecessary rebalances.</a:t>
            </a:r>
            <a:endParaRPr lang="en-IN" sz="1100" b="0" u="none" strike="noStrike">
              <a:solidFill>
                <a:srgbClr val="000000"/>
              </a:solidFill>
              <a:effectLst/>
              <a:uFillTx/>
              <a:latin typeface="Arial"/>
            </a:endParaRPr>
          </a:p>
        </p:txBody>
      </p:sp>
      <p:sp>
        <p:nvSpPr>
          <p:cNvPr id="99" name="Text 7"/>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5"/>
              </a:rPr>
              <a:t>[3]</a:t>
            </a:r>
            <a:endParaRPr lang="en-IN" sz="7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dirty="0">
                <a:solidFill>
                  <a:srgbClr val="365F91"/>
                </a:solidFill>
                <a:effectLst/>
                <a:uFillTx/>
                <a:latin typeface="Calibri"/>
              </a:rPr>
              <a:t>Rebalance Triggers: Why Work Moves Between Consumers</a:t>
            </a:r>
            <a:endParaRPr lang="en-IN" sz="2200" b="0" u="none" strike="noStrike" dirty="0">
              <a:solidFill>
                <a:srgbClr val="000000"/>
              </a:solidFill>
              <a:effectLst/>
              <a:uFillTx/>
              <a:latin typeface="Arial"/>
            </a:endParaRPr>
          </a:p>
        </p:txBody>
      </p:sp>
      <p:sp>
        <p:nvSpPr>
          <p:cNvPr id="101"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102" name="Picture 3" descr="rebalance_triggers.png"/>
          <p:cNvPicPr/>
          <p:nvPr/>
        </p:nvPicPr>
        <p:blipFill>
          <a:blip r:embed="rId2"/>
          <a:stretch/>
        </p:blipFill>
        <p:spPr>
          <a:xfrm>
            <a:off x="640080" y="960120"/>
            <a:ext cx="4251600" cy="3062880"/>
          </a:xfrm>
          <a:prstGeom prst="rect">
            <a:avLst/>
          </a:prstGeom>
          <a:noFill/>
          <a:ln w="0">
            <a:noFill/>
          </a:ln>
        </p:spPr>
      </p:pic>
      <p:sp>
        <p:nvSpPr>
          <p:cNvPr id="103" name="TextBox 4"/>
          <p:cNvSpPr/>
          <p:nvPr/>
        </p:nvSpPr>
        <p:spPr>
          <a:xfrm>
            <a:off x="5212080" y="1051560"/>
            <a:ext cx="310860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A join, leave, failure or partition-count change can trigger reassignment.</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During a rebalance, ownership changes before normal polling resumes.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The lab evidence appears in group membership and lag, not only in app logs.</a:t>
            </a:r>
            <a:endParaRPr lang="en-IN" sz="1350" b="0" u="none" strike="noStrike">
              <a:solidFill>
                <a:srgbClr val="000000"/>
              </a:solidFill>
              <a:effectLst/>
              <a:uFillTx/>
              <a:latin typeface="Arial"/>
            </a:endParaRPr>
          </a:p>
        </p:txBody>
      </p:sp>
      <p:sp>
        <p:nvSpPr>
          <p:cNvPr id="104" name="TextBox 5"/>
          <p:cNvSpPr/>
          <p:nvPr/>
        </p:nvSpPr>
        <p:spPr>
          <a:xfrm>
            <a:off x="658440" y="4224600"/>
            <a:ext cx="7406280" cy="21924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850" b="0" u="none" strike="noStrike">
                <a:solidFill>
                  <a:srgbClr val="585858"/>
                </a:solidFill>
                <a:effectLst/>
                <a:uFillTx/>
                <a:latin typeface="Calibri"/>
              </a:rPr>
              <a:t>Source: Confluent consumer group protocol course.</a:t>
            </a:r>
            <a:endParaRPr lang="en-IN" sz="850" b="0" u="none" strike="noStrike">
              <a:solidFill>
                <a:srgbClr val="000000"/>
              </a:solidFill>
              <a:effectLst/>
              <a:uFillTx/>
              <a:latin typeface="Arial"/>
            </a:endParaRPr>
          </a:p>
        </p:txBody>
      </p:sp>
      <p:sp>
        <p:nvSpPr>
          <p:cNvPr id="105" name="TextBox 6"/>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[12]</a:t>
            </a:r>
            <a:endParaRPr lang="en-IN" sz="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12DBDB-E079-7C83-5A94-86FAC76A3005}"/>
              </a:ext>
            </a:extLst>
          </p:cNvPr>
          <p:cNvSpPr txBox="1"/>
          <p:nvPr/>
        </p:nvSpPr>
        <p:spPr>
          <a:xfrm>
            <a:off x="623455" y="842098"/>
            <a:ext cx="8305799" cy="4138954"/>
          </a:xfrm>
          <a:prstGeom prst="rect">
            <a:avLst/>
          </a:prstGeom>
          <a:noFill/>
        </p:spPr>
        <p:txBody>
          <a:bodyPr wrap="square">
            <a:spAutoFit/>
          </a:bodyPr>
          <a:lstStyle/>
          <a:p>
            <a:pPr algn="l">
              <a:lnSpc>
                <a:spcPts val="2400"/>
              </a:lnSpc>
              <a:buNone/>
            </a:pPr>
            <a:r>
              <a:rPr lang="en-US" b="0" i="0" dirty="0">
                <a:solidFill>
                  <a:srgbClr val="242424"/>
                </a:solidFill>
                <a:effectLst/>
                <a:latin typeface="source-serif-pro"/>
              </a:rPr>
              <a:t>There’s a moment in every Kafka system where everything </a:t>
            </a:r>
            <a:r>
              <a:rPr lang="en-US" b="0" i="1" dirty="0">
                <a:solidFill>
                  <a:srgbClr val="242424"/>
                </a:solidFill>
                <a:effectLst/>
                <a:latin typeface="source-serif-pro"/>
              </a:rPr>
              <a:t>looks</a:t>
            </a:r>
            <a:r>
              <a:rPr lang="en-US" b="0" i="0" dirty="0">
                <a:solidFill>
                  <a:srgbClr val="242424"/>
                </a:solidFill>
                <a:effectLst/>
                <a:latin typeface="source-serif-pro"/>
              </a:rPr>
              <a:t> fine — consumers are running, lag is low, throughput is healthy — and yet, quietly, data is being lost or duplicated.</a:t>
            </a:r>
          </a:p>
          <a:p>
            <a:pPr algn="l">
              <a:lnSpc>
                <a:spcPts val="2400"/>
              </a:lnSpc>
              <a:buNone/>
            </a:pPr>
            <a:r>
              <a:rPr lang="en-US" b="0" i="0" dirty="0">
                <a:solidFill>
                  <a:srgbClr val="242424"/>
                </a:solidFill>
                <a:effectLst/>
                <a:latin typeface="source-serif-pro"/>
              </a:rPr>
              <a:t>That moment almost always traces back to one thing: </a:t>
            </a:r>
            <a:r>
              <a:rPr lang="en-US" b="1" i="0" dirty="0">
                <a:solidFill>
                  <a:srgbClr val="242424"/>
                </a:solidFill>
                <a:effectLst/>
                <a:latin typeface="source-serif-pro"/>
              </a:rPr>
              <a:t>offset management</a:t>
            </a:r>
            <a:r>
              <a:rPr lang="en-US" b="0" i="0" dirty="0">
                <a:solidFill>
                  <a:srgbClr val="242424"/>
                </a:solidFill>
                <a:effectLst/>
                <a:latin typeface="source-serif-pro"/>
              </a:rPr>
              <a:t>.</a:t>
            </a:r>
          </a:p>
          <a:p>
            <a:pPr algn="l">
              <a:lnSpc>
                <a:spcPts val="2400"/>
              </a:lnSpc>
              <a:buNone/>
            </a:pPr>
            <a:r>
              <a:rPr lang="en-US" b="0" i="0" dirty="0">
                <a:solidFill>
                  <a:srgbClr val="242424"/>
                </a:solidFill>
                <a:effectLst/>
                <a:latin typeface="source-serif-pro"/>
              </a:rPr>
              <a:t>Offsets are deceptively simple. A number that says, </a:t>
            </a:r>
            <a:r>
              <a:rPr lang="en-US" b="0" i="1" dirty="0">
                <a:solidFill>
                  <a:srgbClr val="242424"/>
                </a:solidFill>
                <a:effectLst/>
                <a:latin typeface="source-serif-pro"/>
              </a:rPr>
              <a:t>“I’ve processed up to here.”</a:t>
            </a:r>
            <a:endParaRPr lang="en-US" b="0" i="0" dirty="0">
              <a:solidFill>
                <a:srgbClr val="242424"/>
              </a:solidFill>
              <a:effectLst/>
              <a:latin typeface="source-serif-pro"/>
            </a:endParaRPr>
          </a:p>
          <a:p>
            <a:r>
              <a:rPr lang="en-US" dirty="0"/>
              <a:t>Kafka, committing an offset is not tied to processing. Kafka does not know if your business logic succeeded.</a:t>
            </a:r>
          </a:p>
          <a:p>
            <a:r>
              <a:rPr lang="en-US" dirty="0"/>
              <a:t>It only knows:</a:t>
            </a:r>
          </a:p>
          <a:p>
            <a:r>
              <a:rPr lang="en-US" dirty="0"/>
              <a:t>“The consumer claims it is safe to move forward.”</a:t>
            </a:r>
          </a:p>
          <a:p>
            <a:r>
              <a:rPr lang="en-US" dirty="0"/>
              <a:t>This creates three broad models:</a:t>
            </a:r>
          </a:p>
          <a:p>
            <a:pPr marL="285750" lvl="0" indent="-285750">
              <a:buFont typeface="Arial" panose="020B0604020202020204" pitchFamily="34" charset="0"/>
              <a:buChar char="•"/>
            </a:pPr>
            <a:r>
              <a:rPr lang="en-US" dirty="0"/>
              <a:t>Kafka decides (auto commit)</a:t>
            </a:r>
          </a:p>
          <a:p>
            <a:pPr marL="285750" lvl="0" indent="-285750">
              <a:buFont typeface="Arial" panose="020B0604020202020204" pitchFamily="34" charset="0"/>
              <a:buChar char="•"/>
            </a:pPr>
            <a:r>
              <a:rPr lang="en-US" dirty="0"/>
              <a:t>You decide (manual commit)</a:t>
            </a:r>
          </a:p>
          <a:p>
            <a:pPr marL="285750" lvl="0" indent="-285750">
              <a:buFont typeface="Arial" panose="020B0604020202020204" pitchFamily="34" charset="0"/>
              <a:buChar char="•"/>
            </a:pPr>
            <a:r>
              <a:rPr lang="en-US" dirty="0"/>
              <a:t>Kafka + you decide atomically (transactions)</a:t>
            </a:r>
          </a:p>
          <a:p>
            <a:pPr algn="l">
              <a:lnSpc>
                <a:spcPts val="2400"/>
              </a:lnSpc>
              <a:buNone/>
            </a:pPr>
            <a:endParaRPr lang="en-US" b="0" i="0" dirty="0">
              <a:solidFill>
                <a:srgbClr val="242424"/>
              </a:solidFill>
              <a:effectLst/>
              <a:latin typeface="source-serif-pro"/>
            </a:endParaRPr>
          </a:p>
        </p:txBody>
      </p:sp>
      <p:sp>
        <p:nvSpPr>
          <p:cNvPr id="5" name="TextBox 4">
            <a:extLst>
              <a:ext uri="{FF2B5EF4-FFF2-40B4-BE49-F238E27FC236}">
                <a16:creationId xmlns:a16="http://schemas.microsoft.com/office/drawing/2014/main" id="{FE3B1F94-A1B6-C4D7-7A9F-6579E8944898}"/>
              </a:ext>
            </a:extLst>
          </p:cNvPr>
          <p:cNvSpPr txBox="1"/>
          <p:nvPr/>
        </p:nvSpPr>
        <p:spPr>
          <a:xfrm>
            <a:off x="623455" y="411211"/>
            <a:ext cx="4572000" cy="430887"/>
          </a:xfrm>
          <a:prstGeom prst="rect">
            <a:avLst/>
          </a:prstGeom>
          <a:noFill/>
        </p:spPr>
        <p:txBody>
          <a:bodyPr wrap="square">
            <a:spAutoFit/>
          </a:bodyPr>
          <a:lstStyle/>
          <a:p>
            <a:pPr defTabSz="914400">
              <a:lnSpc>
                <a:spcPct val="100000"/>
              </a:lnSpc>
              <a:tabLst>
                <a:tab pos="0" algn="l"/>
              </a:tabLst>
            </a:pPr>
            <a:r>
              <a:rPr lang="en-US" sz="2200" b="1" dirty="0">
                <a:solidFill>
                  <a:srgbClr val="365F91"/>
                </a:solidFill>
                <a:latin typeface="Calibri"/>
              </a:rPr>
              <a:t>Offset</a:t>
            </a:r>
            <a:r>
              <a:rPr lang="en-US" sz="1800" b="1" u="none" strike="noStrike" dirty="0">
                <a:solidFill>
                  <a:srgbClr val="2F5597"/>
                </a:solidFill>
                <a:effectLst/>
                <a:uFillTx/>
                <a:latin typeface="Calibri"/>
              </a:rPr>
              <a:t> </a:t>
            </a:r>
            <a:r>
              <a:rPr lang="en-US" sz="2200" b="1" dirty="0">
                <a:solidFill>
                  <a:srgbClr val="365F91"/>
                </a:solidFill>
                <a:latin typeface="Calibri"/>
              </a:rPr>
              <a:t>Management</a:t>
            </a:r>
            <a:endParaRPr lang="en-IN" sz="2200" b="1" dirty="0">
              <a:solidFill>
                <a:srgbClr val="365F91"/>
              </a:solidFill>
              <a:latin typeface="Calibri"/>
            </a:endParaRPr>
          </a:p>
        </p:txBody>
      </p:sp>
      <p:sp>
        <p:nvSpPr>
          <p:cNvPr id="6" name="Rectangle 2">
            <a:extLst>
              <a:ext uri="{FF2B5EF4-FFF2-40B4-BE49-F238E27FC236}">
                <a16:creationId xmlns:a16="http://schemas.microsoft.com/office/drawing/2014/main" id="{715346CA-FE84-69FE-FFB5-F3131C5DA1A1}"/>
              </a:ext>
            </a:extLst>
          </p:cNvPr>
          <p:cNvSpPr/>
          <p:nvPr/>
        </p:nvSpPr>
        <p:spPr>
          <a:xfrm>
            <a:off x="723208" y="797719"/>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extLst>
      <p:ext uri="{BB962C8B-B14F-4D97-AF65-F5344CB8AC3E}">
        <p14:creationId xmlns:p14="http://schemas.microsoft.com/office/powerpoint/2010/main" val="200881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AEE0-1054-F9C1-6B53-406DC498A9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2D2523-A19B-6261-5997-6093635C505B}"/>
              </a:ext>
            </a:extLst>
          </p:cNvPr>
          <p:cNvSpPr txBox="1"/>
          <p:nvPr/>
        </p:nvSpPr>
        <p:spPr>
          <a:xfrm>
            <a:off x="623455" y="411211"/>
            <a:ext cx="4572000" cy="430887"/>
          </a:xfrm>
          <a:prstGeom prst="rect">
            <a:avLst/>
          </a:prstGeom>
          <a:noFill/>
        </p:spPr>
        <p:txBody>
          <a:bodyPr wrap="square">
            <a:spAutoFit/>
          </a:bodyPr>
          <a:lstStyle/>
          <a:p>
            <a:pPr defTabSz="914400">
              <a:lnSpc>
                <a:spcPct val="100000"/>
              </a:lnSpc>
              <a:tabLst>
                <a:tab pos="0" algn="l"/>
              </a:tabLst>
            </a:pPr>
            <a:r>
              <a:rPr lang="en-US" sz="2200" b="1" dirty="0">
                <a:solidFill>
                  <a:srgbClr val="365F91"/>
                </a:solidFill>
                <a:latin typeface="Calibri"/>
              </a:rPr>
              <a:t>Process guarantee</a:t>
            </a:r>
            <a:endParaRPr lang="en-IN" sz="2200" b="1" dirty="0">
              <a:solidFill>
                <a:srgbClr val="365F91"/>
              </a:solidFill>
              <a:latin typeface="Calibri"/>
            </a:endParaRPr>
          </a:p>
        </p:txBody>
      </p:sp>
      <p:sp>
        <p:nvSpPr>
          <p:cNvPr id="6" name="Rectangle 2">
            <a:extLst>
              <a:ext uri="{FF2B5EF4-FFF2-40B4-BE49-F238E27FC236}">
                <a16:creationId xmlns:a16="http://schemas.microsoft.com/office/drawing/2014/main" id="{ACF1A1C8-931C-0DE4-4E17-526CF0A5C154}"/>
              </a:ext>
            </a:extLst>
          </p:cNvPr>
          <p:cNvSpPr/>
          <p:nvPr/>
        </p:nvSpPr>
        <p:spPr>
          <a:xfrm>
            <a:off x="723208" y="797719"/>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1026" name="Picture 2">
            <a:extLst>
              <a:ext uri="{FF2B5EF4-FFF2-40B4-BE49-F238E27FC236}">
                <a16:creationId xmlns:a16="http://schemas.microsoft.com/office/drawing/2014/main" id="{1037848E-2A97-F06F-A7B2-75476DFF1B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0435" y="1167154"/>
            <a:ext cx="3030110" cy="2360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CDA7B2-46F1-67A9-4D4B-F7E0E31D6AD7}"/>
              </a:ext>
            </a:extLst>
          </p:cNvPr>
          <p:cNvSpPr txBox="1"/>
          <p:nvPr/>
        </p:nvSpPr>
        <p:spPr>
          <a:xfrm>
            <a:off x="723208" y="892165"/>
            <a:ext cx="4472247" cy="2292935"/>
          </a:xfrm>
          <a:prstGeom prst="rect">
            <a:avLst/>
          </a:prstGeom>
          <a:noFill/>
        </p:spPr>
        <p:txBody>
          <a:bodyPr wrap="square">
            <a:spAutoFit/>
          </a:bodyPr>
          <a:lstStyle/>
          <a:p>
            <a:r>
              <a:rPr lang="en-US" sz="1100" dirty="0"/>
              <a:t>At this point, you may be asking why is this so complicated? Why isn’t it always effectively once? What’s causing messages to go missing or appear more than once? The short answer to this is system </a:t>
            </a:r>
            <a:r>
              <a:rPr lang="en-US" sz="1100" dirty="0" err="1"/>
              <a:t>behaviour</a:t>
            </a:r>
            <a:r>
              <a:rPr lang="en-US" sz="1100" dirty="0"/>
              <a:t> in the face of failure. The key word in describing these architectures is distributed. Here is a small subset of failure scenarios that you will need to consider:</a:t>
            </a:r>
          </a:p>
          <a:p>
            <a:pPr marL="171450" indent="-171450">
              <a:buFont typeface="Arial" panose="020B0604020202020204" pitchFamily="34" charset="0"/>
              <a:buChar char="•"/>
            </a:pPr>
            <a:r>
              <a:rPr lang="en-US" sz="1100" dirty="0"/>
              <a:t>Producer failure</a:t>
            </a:r>
          </a:p>
          <a:p>
            <a:pPr marL="171450" indent="-171450">
              <a:buFont typeface="Arial" panose="020B0604020202020204" pitchFamily="34" charset="0"/>
              <a:buChar char="•"/>
            </a:pPr>
            <a:r>
              <a:rPr lang="en-US" sz="1100" dirty="0"/>
              <a:t>Consumer publish remote call failure</a:t>
            </a:r>
          </a:p>
          <a:p>
            <a:pPr marL="171450" indent="-171450">
              <a:buFont typeface="Arial" panose="020B0604020202020204" pitchFamily="34" charset="0"/>
              <a:buChar char="•"/>
            </a:pPr>
            <a:r>
              <a:rPr lang="en-US" sz="1100" dirty="0"/>
              <a:t>Messaging system failure</a:t>
            </a:r>
          </a:p>
          <a:p>
            <a:pPr marL="171450" indent="-171450">
              <a:buFont typeface="Arial" panose="020B0604020202020204" pitchFamily="34" charset="0"/>
              <a:buChar char="•"/>
            </a:pPr>
            <a:r>
              <a:rPr lang="en-US" sz="1100" dirty="0"/>
              <a:t>Consumer processing failure</a:t>
            </a:r>
          </a:p>
          <a:p>
            <a:r>
              <a:rPr lang="en-US" sz="1100" dirty="0"/>
              <a:t>Your consumer process could run out of memory and crash while writing to a downstream database; your broker could run out of disk space; a network partition may form between </a:t>
            </a:r>
            <a:r>
              <a:rPr lang="en-US" sz="1100" dirty="0" err="1"/>
              <a:t>ZooKeeper</a:t>
            </a:r>
            <a:r>
              <a:rPr lang="en-US" sz="1100" dirty="0"/>
              <a:t> instances; a timeout could occur publishing messages to Kafka.</a:t>
            </a:r>
          </a:p>
        </p:txBody>
      </p:sp>
    </p:spTree>
    <p:extLst>
      <p:ext uri="{BB962C8B-B14F-4D97-AF65-F5344CB8AC3E}">
        <p14:creationId xmlns:p14="http://schemas.microsoft.com/office/powerpoint/2010/main" val="336173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789B8-0445-F368-4D40-F13F98B6F5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5A8294-0A7F-AAD3-7345-E98965F005D1}"/>
              </a:ext>
            </a:extLst>
          </p:cNvPr>
          <p:cNvSpPr txBox="1"/>
          <p:nvPr/>
        </p:nvSpPr>
        <p:spPr>
          <a:xfrm>
            <a:off x="623455" y="411211"/>
            <a:ext cx="4572000" cy="430887"/>
          </a:xfrm>
          <a:prstGeom prst="rect">
            <a:avLst/>
          </a:prstGeom>
          <a:noFill/>
        </p:spPr>
        <p:txBody>
          <a:bodyPr wrap="square">
            <a:spAutoFit/>
          </a:bodyPr>
          <a:lstStyle/>
          <a:p>
            <a:pPr defTabSz="914400">
              <a:lnSpc>
                <a:spcPct val="100000"/>
              </a:lnSpc>
              <a:tabLst>
                <a:tab pos="0" algn="l"/>
              </a:tabLst>
            </a:pPr>
            <a:r>
              <a:rPr lang="en-US" sz="2200" b="1" dirty="0">
                <a:solidFill>
                  <a:srgbClr val="365F91"/>
                </a:solidFill>
                <a:latin typeface="Calibri"/>
              </a:rPr>
              <a:t>No guarantee</a:t>
            </a:r>
            <a:endParaRPr lang="en-IN" sz="2200" b="1" dirty="0">
              <a:solidFill>
                <a:srgbClr val="365F91"/>
              </a:solidFill>
              <a:latin typeface="Calibri"/>
            </a:endParaRPr>
          </a:p>
        </p:txBody>
      </p:sp>
      <p:sp>
        <p:nvSpPr>
          <p:cNvPr id="6" name="Rectangle 2">
            <a:extLst>
              <a:ext uri="{FF2B5EF4-FFF2-40B4-BE49-F238E27FC236}">
                <a16:creationId xmlns:a16="http://schemas.microsoft.com/office/drawing/2014/main" id="{93DCFC3E-43EC-E130-25C0-691AA9DE64FA}"/>
              </a:ext>
            </a:extLst>
          </p:cNvPr>
          <p:cNvSpPr/>
          <p:nvPr/>
        </p:nvSpPr>
        <p:spPr>
          <a:xfrm>
            <a:off x="723208" y="797719"/>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 name="TextBox 3">
            <a:extLst>
              <a:ext uri="{FF2B5EF4-FFF2-40B4-BE49-F238E27FC236}">
                <a16:creationId xmlns:a16="http://schemas.microsoft.com/office/drawing/2014/main" id="{874002B8-838A-BF13-6153-11E3E248C743}"/>
              </a:ext>
            </a:extLst>
          </p:cNvPr>
          <p:cNvSpPr txBox="1"/>
          <p:nvPr/>
        </p:nvSpPr>
        <p:spPr>
          <a:xfrm>
            <a:off x="625527" y="981065"/>
            <a:ext cx="8058842" cy="1477328"/>
          </a:xfrm>
          <a:prstGeom prst="rect">
            <a:avLst/>
          </a:prstGeom>
          <a:noFill/>
        </p:spPr>
        <p:txBody>
          <a:bodyPr wrap="square">
            <a:spAutoFit/>
          </a:bodyPr>
          <a:lstStyle/>
          <a:p>
            <a:r>
              <a:rPr lang="en-US" dirty="0"/>
              <a:t>A system that provides no guarantee means any given message could be processed once, multiple times or not at all. With Kafka a simple search where you will end up with these semantics is if you have a consumer with </a:t>
            </a:r>
            <a:r>
              <a:rPr lang="en-US" b="1" dirty="0" err="1"/>
              <a:t>enable.auto.commit</a:t>
            </a:r>
            <a:r>
              <a:rPr lang="en-US" b="1" dirty="0"/>
              <a:t> set to true (this is the default) </a:t>
            </a:r>
            <a:r>
              <a:rPr lang="en-US" dirty="0"/>
              <a:t>and for each batch of messages you </a:t>
            </a:r>
            <a:r>
              <a:rPr lang="en-US" i="1" dirty="0"/>
              <a:t>asynchronously</a:t>
            </a:r>
            <a:r>
              <a:rPr lang="en-US" dirty="0"/>
              <a:t> process and save the results to a database.</a:t>
            </a:r>
            <a:endParaRPr lang="en-US" sz="1100" dirty="0"/>
          </a:p>
        </p:txBody>
      </p:sp>
      <p:pic>
        <p:nvPicPr>
          <p:cNvPr id="2050" name="Picture 2">
            <a:extLst>
              <a:ext uri="{FF2B5EF4-FFF2-40B4-BE49-F238E27FC236}">
                <a16:creationId xmlns:a16="http://schemas.microsoft.com/office/drawing/2014/main" id="{98B81F4B-F0E0-B016-5565-DDF9A1CA6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2981325"/>
            <a:ext cx="4648200" cy="145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213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B7989-2AC6-A4A3-FBA5-FAE80F1271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00852B-B090-2E52-D58A-93280BA93405}"/>
              </a:ext>
            </a:extLst>
          </p:cNvPr>
          <p:cNvSpPr txBox="1"/>
          <p:nvPr/>
        </p:nvSpPr>
        <p:spPr>
          <a:xfrm>
            <a:off x="623455" y="411211"/>
            <a:ext cx="4572000" cy="430887"/>
          </a:xfrm>
          <a:prstGeom prst="rect">
            <a:avLst/>
          </a:prstGeom>
          <a:noFill/>
        </p:spPr>
        <p:txBody>
          <a:bodyPr wrap="square">
            <a:spAutoFit/>
          </a:bodyPr>
          <a:lstStyle/>
          <a:p>
            <a:pPr defTabSz="914400">
              <a:lnSpc>
                <a:spcPct val="100000"/>
              </a:lnSpc>
              <a:tabLst>
                <a:tab pos="0" algn="l"/>
              </a:tabLst>
            </a:pPr>
            <a:r>
              <a:rPr lang="en-US" sz="2200" b="1" dirty="0">
                <a:solidFill>
                  <a:srgbClr val="365F91"/>
                </a:solidFill>
                <a:latin typeface="Calibri"/>
              </a:rPr>
              <a:t>At most once</a:t>
            </a:r>
          </a:p>
        </p:txBody>
      </p:sp>
      <p:sp>
        <p:nvSpPr>
          <p:cNvPr id="6" name="Rectangle 2">
            <a:extLst>
              <a:ext uri="{FF2B5EF4-FFF2-40B4-BE49-F238E27FC236}">
                <a16:creationId xmlns:a16="http://schemas.microsoft.com/office/drawing/2014/main" id="{F96DEE79-7F51-6882-92F4-602734BD6AA5}"/>
              </a:ext>
            </a:extLst>
          </p:cNvPr>
          <p:cNvSpPr/>
          <p:nvPr/>
        </p:nvSpPr>
        <p:spPr>
          <a:xfrm>
            <a:off x="723208" y="797719"/>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 name="TextBox 3">
            <a:extLst>
              <a:ext uri="{FF2B5EF4-FFF2-40B4-BE49-F238E27FC236}">
                <a16:creationId xmlns:a16="http://schemas.microsoft.com/office/drawing/2014/main" id="{6E3F9055-2AA3-99C0-3EB0-4D149151ACD2}"/>
              </a:ext>
            </a:extLst>
          </p:cNvPr>
          <p:cNvSpPr txBox="1"/>
          <p:nvPr/>
        </p:nvSpPr>
        <p:spPr>
          <a:xfrm>
            <a:off x="625527" y="981065"/>
            <a:ext cx="5299023" cy="3323987"/>
          </a:xfrm>
          <a:prstGeom prst="rect">
            <a:avLst/>
          </a:prstGeom>
          <a:noFill/>
        </p:spPr>
        <p:txBody>
          <a:bodyPr wrap="square">
            <a:spAutoFit/>
          </a:bodyPr>
          <a:lstStyle/>
          <a:p>
            <a:r>
              <a:rPr lang="en-US" sz="1050" dirty="0"/>
              <a:t>At most once guarantee means the message will be processed exactly once, or not at all. This guarantee is often known as “best effort” semantics.</a:t>
            </a:r>
          </a:p>
          <a:p>
            <a:endParaRPr lang="en-US" sz="1050" dirty="0"/>
          </a:p>
          <a:p>
            <a:r>
              <a:rPr lang="en-US" sz="1050" dirty="0"/>
              <a:t>1. A common example that results in at most once semantics is where a producer performs a ‘fire-and-forget’ approach sending a message to Kafka with no retries and ignoring any response from the broker. This approach is useful where progress is a higher priority than completeness.</a:t>
            </a:r>
          </a:p>
          <a:p>
            <a:endParaRPr lang="en-US" sz="1050" dirty="0"/>
          </a:p>
          <a:p>
            <a:endParaRPr lang="en-US" sz="1050" dirty="0"/>
          </a:p>
          <a:p>
            <a:endParaRPr lang="en-US" sz="1050" dirty="0"/>
          </a:p>
          <a:p>
            <a:r>
              <a:rPr lang="en-US" sz="1050" dirty="0"/>
              <a:t>2. A producer saves its progress reading from a source system first, then writes data into Kafka. If the producer crashes before the second step, the data will never be delivered to Kafka.</a:t>
            </a:r>
          </a:p>
          <a:p>
            <a:endParaRPr lang="en-US" sz="1050" dirty="0"/>
          </a:p>
          <a:p>
            <a:endParaRPr lang="en-US" sz="1050" dirty="0"/>
          </a:p>
          <a:p>
            <a:r>
              <a:rPr lang="en-US" sz="1050" dirty="0"/>
              <a:t>3. A consumer receives a batch of messages from Kafka, transforms these and writes the results to a database. The consumer application has </a:t>
            </a:r>
            <a:r>
              <a:rPr lang="en-US" sz="1050" dirty="0" err="1"/>
              <a:t>enable.auto.commit</a:t>
            </a:r>
            <a:r>
              <a:rPr lang="en-US" sz="1050" dirty="0"/>
              <a:t> set to </a:t>
            </a:r>
            <a:r>
              <a:rPr lang="en-US" sz="1050" b="1" dirty="0"/>
              <a:t>false</a:t>
            </a:r>
            <a:r>
              <a:rPr lang="en-US" sz="1050" dirty="0"/>
              <a:t> and is programmed to commit their offsets back to Kafka prior to writing to the database. If the consumer fails after saving the offsets back to Kafka but before writing the data to the database, it will skip these records next time it runs and data will be lost.</a:t>
            </a:r>
          </a:p>
        </p:txBody>
      </p:sp>
      <p:sp>
        <p:nvSpPr>
          <p:cNvPr id="2" name="Rectangle 1">
            <a:extLst>
              <a:ext uri="{FF2B5EF4-FFF2-40B4-BE49-F238E27FC236}">
                <a16:creationId xmlns:a16="http://schemas.microsoft.com/office/drawing/2014/main" id="{B59A9DAE-3D61-E501-B1E5-570AA646751A}"/>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42424"/>
                </a:solidFill>
                <a:effectLst/>
                <a:latin typeface="source-serif-pro"/>
              </a:rPr>
              <a:t>At most once guarantee means the message will be processed exactly once, or not at all. This guarantee is often known as “best effort” semantics.</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42424"/>
                </a:solidFill>
                <a:effectLst/>
                <a:latin typeface="source-serif-pro"/>
              </a:rPr>
              <a:t>1. A common example that results in at most once semantics is where a producer performs a ‘fire-and-forget’ approach sending a message to Kafka with no retries and ignoring any response from the broker. This approach is useful where progress is a higher priority than completeness.</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65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AutoShape 2">
            <a:extLst>
              <a:ext uri="{FF2B5EF4-FFF2-40B4-BE49-F238E27FC236}">
                <a16:creationId xmlns:a16="http://schemas.microsoft.com/office/drawing/2014/main" id="{CB43A7EB-B7BB-3FA7-B94C-B102E65BE65B}"/>
              </a:ext>
            </a:extLst>
          </p:cNvPr>
          <p:cNvSpPr>
            <a:spLocks noChangeAspect="1" noChangeArrowheads="1"/>
          </p:cNvSpPr>
          <p:nvPr/>
        </p:nvSpPr>
        <p:spPr bwMode="auto">
          <a:xfrm>
            <a:off x="127000" y="-266700"/>
            <a:ext cx="3829050" cy="10382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6" name="Picture 4">
            <a:extLst>
              <a:ext uri="{FF2B5EF4-FFF2-40B4-BE49-F238E27FC236}">
                <a16:creationId xmlns:a16="http://schemas.microsoft.com/office/drawing/2014/main" id="{CDCC2E17-EF2C-4AE9-324C-B00EBA9C7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0188" y="981065"/>
            <a:ext cx="2476500" cy="10382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E776BF81-705F-72FD-5D9B-3942EA601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4550" y="2175636"/>
            <a:ext cx="2989988" cy="865188"/>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02089B92-0D8F-0B0B-EB0C-FF43EA720A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465" y="3420936"/>
            <a:ext cx="3210157" cy="929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010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1F0AB-A625-2286-96C6-D1C026EE06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4F0EA74-FA1B-6A1D-7B37-C015178DBE77}"/>
              </a:ext>
            </a:extLst>
          </p:cNvPr>
          <p:cNvSpPr txBox="1"/>
          <p:nvPr/>
        </p:nvSpPr>
        <p:spPr>
          <a:xfrm>
            <a:off x="623455" y="411211"/>
            <a:ext cx="4572000" cy="430887"/>
          </a:xfrm>
          <a:prstGeom prst="rect">
            <a:avLst/>
          </a:prstGeom>
          <a:noFill/>
        </p:spPr>
        <p:txBody>
          <a:bodyPr wrap="square">
            <a:spAutoFit/>
          </a:bodyPr>
          <a:lstStyle/>
          <a:p>
            <a:pPr defTabSz="914400">
              <a:lnSpc>
                <a:spcPct val="100000"/>
              </a:lnSpc>
              <a:tabLst>
                <a:tab pos="0" algn="l"/>
              </a:tabLst>
            </a:pPr>
            <a:r>
              <a:rPr lang="en-US" sz="2200" b="1" dirty="0">
                <a:solidFill>
                  <a:srgbClr val="365F91"/>
                </a:solidFill>
                <a:latin typeface="Calibri"/>
              </a:rPr>
              <a:t>At least once</a:t>
            </a:r>
          </a:p>
        </p:txBody>
      </p:sp>
      <p:sp>
        <p:nvSpPr>
          <p:cNvPr id="6" name="Rectangle 2">
            <a:extLst>
              <a:ext uri="{FF2B5EF4-FFF2-40B4-BE49-F238E27FC236}">
                <a16:creationId xmlns:a16="http://schemas.microsoft.com/office/drawing/2014/main" id="{01AC5F99-D226-6637-D2CF-AEA23385DC39}"/>
              </a:ext>
            </a:extLst>
          </p:cNvPr>
          <p:cNvSpPr/>
          <p:nvPr/>
        </p:nvSpPr>
        <p:spPr>
          <a:xfrm>
            <a:off x="723208" y="797719"/>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 name="TextBox 3">
            <a:extLst>
              <a:ext uri="{FF2B5EF4-FFF2-40B4-BE49-F238E27FC236}">
                <a16:creationId xmlns:a16="http://schemas.microsoft.com/office/drawing/2014/main" id="{F7500774-98A0-3356-A8C5-B8C540C83D5E}"/>
              </a:ext>
            </a:extLst>
          </p:cNvPr>
          <p:cNvSpPr txBox="1"/>
          <p:nvPr/>
        </p:nvSpPr>
        <p:spPr>
          <a:xfrm>
            <a:off x="625527" y="981065"/>
            <a:ext cx="5299023" cy="3647152"/>
          </a:xfrm>
          <a:prstGeom prst="rect">
            <a:avLst/>
          </a:prstGeom>
          <a:noFill/>
        </p:spPr>
        <p:txBody>
          <a:bodyPr wrap="square">
            <a:spAutoFit/>
          </a:bodyPr>
          <a:lstStyle/>
          <a:p>
            <a:r>
              <a:rPr lang="en-US" sz="1050" dirty="0"/>
              <a:t>At least once guarantee means you will definitely receive and process every message, but you may process some messages additional times in the face of a failure. Here’s a few examples of some failure scenarios that can lead to at-least-once semantics:</a:t>
            </a:r>
          </a:p>
          <a:p>
            <a:endParaRPr lang="en-US" sz="1050" dirty="0"/>
          </a:p>
          <a:p>
            <a:r>
              <a:rPr lang="en-US" sz="1050" dirty="0"/>
              <a:t>1. An application sends a batch of messages to Kafka. The application never receives a response so sends the batch again. In this case it may have been the first batch was successfully saved, but the acknowledgement was lost, so the messages end up being added twice.</a:t>
            </a:r>
          </a:p>
          <a:p>
            <a:endParaRPr lang="en-US" sz="1050" dirty="0"/>
          </a:p>
          <a:p>
            <a:endParaRPr lang="en-US" sz="1050" dirty="0"/>
          </a:p>
          <a:p>
            <a:r>
              <a:rPr lang="en-US" sz="1050" dirty="0"/>
              <a:t>2. An application processes a large file containing events. It starts processing the file sending a message to Kafka for each event. Half way through processing the file the process dies and is restarted. It then starts processing the file again from the start and only marks it as processed when the whole file has been read. In this case the events from the first half of the file will be in Kafka twice.</a:t>
            </a:r>
          </a:p>
          <a:p>
            <a:endParaRPr lang="en-US" sz="1050" dirty="0"/>
          </a:p>
          <a:p>
            <a:r>
              <a:rPr lang="en-US" sz="1050" dirty="0"/>
              <a:t>3. A consumer receives a batch of messages from Kafka, transforms these and writes the results to a database. The consumer application has </a:t>
            </a:r>
            <a:r>
              <a:rPr lang="en-US" sz="1050" dirty="0" err="1"/>
              <a:t>enable.auto.commit</a:t>
            </a:r>
            <a:r>
              <a:rPr lang="en-US" sz="1050" dirty="0"/>
              <a:t> set to false and is programmed to commit their offsets back to Kafka once the database write succeeds. If the consumer fails after writing the data to the database but before saving the offsets back to Kafka, it will reprocess the same records next time it runs and save them to the database once more.</a:t>
            </a:r>
          </a:p>
        </p:txBody>
      </p:sp>
      <p:sp>
        <p:nvSpPr>
          <p:cNvPr id="3" name="AutoShape 2">
            <a:extLst>
              <a:ext uri="{FF2B5EF4-FFF2-40B4-BE49-F238E27FC236}">
                <a16:creationId xmlns:a16="http://schemas.microsoft.com/office/drawing/2014/main" id="{D3C5FB91-DA3F-AC9D-2078-6EF200710E3C}"/>
              </a:ext>
            </a:extLst>
          </p:cNvPr>
          <p:cNvSpPr>
            <a:spLocks noChangeAspect="1" noChangeArrowheads="1"/>
          </p:cNvSpPr>
          <p:nvPr/>
        </p:nvSpPr>
        <p:spPr bwMode="auto">
          <a:xfrm>
            <a:off x="127000" y="-266700"/>
            <a:ext cx="3829050" cy="10382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4" name="Picture 12">
            <a:extLst>
              <a:ext uri="{FF2B5EF4-FFF2-40B4-BE49-F238E27FC236}">
                <a16:creationId xmlns:a16="http://schemas.microsoft.com/office/drawing/2014/main" id="{63018602-ACCD-F3E5-C3E9-AD3A8AC96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4465" y="3420936"/>
            <a:ext cx="3210157" cy="92960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F6B8181E-5A26-2B5F-8CF5-DE04C8C8CB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5903" y="2473350"/>
            <a:ext cx="2774721" cy="82675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55DDCAB-1156-DEF0-C041-C0058AC09B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5902" y="1119391"/>
            <a:ext cx="2612797" cy="850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513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dirty="0">
                <a:solidFill>
                  <a:srgbClr val="2F5597"/>
                </a:solidFill>
                <a:effectLst/>
                <a:uFillTx/>
                <a:latin typeface="Calibri"/>
              </a:rPr>
              <a:t>Offset Commit &amp; Processing Guarantees</a:t>
            </a:r>
            <a:endParaRPr lang="en-IN" sz="2200" b="0" u="none" strike="noStrike" dirty="0">
              <a:solidFill>
                <a:srgbClr val="000000"/>
              </a:solidFill>
              <a:effectLst/>
              <a:uFillTx/>
              <a:latin typeface="Arial"/>
            </a:endParaRPr>
          </a:p>
        </p:txBody>
      </p:sp>
      <p:sp>
        <p:nvSpPr>
          <p:cNvPr id="107" name="Text 1"/>
          <p:cNvSpPr/>
          <p:nvPr/>
        </p:nvSpPr>
        <p:spPr>
          <a:xfrm>
            <a:off x="457200" y="1097280"/>
            <a:ext cx="41140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Commit Strategies</a:t>
            </a:r>
            <a:endParaRPr lang="en-IN" sz="1200" b="0" u="none" strike="noStrike">
              <a:solidFill>
                <a:srgbClr val="000000"/>
              </a:solidFill>
              <a:effectLst/>
              <a:uFillTx/>
              <a:latin typeface="Arial"/>
            </a:endParaRPr>
          </a:p>
        </p:txBody>
      </p:sp>
      <p:sp>
        <p:nvSpPr>
          <p:cNvPr id="108" name="Text 2"/>
          <p:cNvSpPr/>
          <p:nvPr/>
        </p:nvSpPr>
        <p:spPr>
          <a:xfrm>
            <a:off x="457200" y="1371600"/>
            <a:ext cx="4114080" cy="155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dirty="0">
                <a:solidFill>
                  <a:srgbClr val="385170"/>
                </a:solidFill>
                <a:effectLst/>
                <a:uFillTx/>
                <a:latin typeface="Calibri"/>
              </a:rPr>
              <a:t>Auto Commit: Auto commit is the simplest approach where Kafka automatically commits offsets at regular intervals (default is every 5 seconds). When offsets committed periodically by the client there is  risk of data loss if committed before processing.</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Manual Commit: commit after processing a batch; ensures at‑least‑once delivery.</a:t>
            </a:r>
            <a:endParaRPr lang="en-IN" sz="1100" b="0" u="none" strike="noStrike" dirty="0">
              <a:solidFill>
                <a:srgbClr val="000000"/>
              </a:solidFill>
              <a:effectLst/>
              <a:uFillTx/>
              <a:latin typeface="Arial"/>
            </a:endParaRPr>
          </a:p>
          <a:p>
            <a:pPr defTabSz="914400">
              <a:lnSpc>
                <a:spcPct val="100000"/>
              </a:lnSpc>
              <a:tabLst>
                <a:tab pos="0" algn="l"/>
              </a:tabLst>
            </a:pPr>
            <a:r>
              <a:rPr lang="en-US" sz="1100" b="0" u="none" strike="noStrike" dirty="0">
                <a:solidFill>
                  <a:srgbClr val="385170"/>
                </a:solidFill>
                <a:effectLst/>
                <a:uFillTx/>
                <a:latin typeface="Calibri"/>
              </a:rPr>
              <a:t>Synchronous vs Asynchronous commit; choose based on latency requirements.</a:t>
            </a:r>
            <a:endParaRPr lang="en-IN" sz="1100" b="0" u="none" strike="noStrike" dirty="0">
              <a:solidFill>
                <a:srgbClr val="000000"/>
              </a:solidFill>
              <a:effectLst/>
              <a:uFillTx/>
              <a:latin typeface="Arial"/>
            </a:endParaRPr>
          </a:p>
        </p:txBody>
      </p:sp>
      <p:sp>
        <p:nvSpPr>
          <p:cNvPr id="109" name="Text 3"/>
          <p:cNvSpPr/>
          <p:nvPr/>
        </p:nvSpPr>
        <p:spPr>
          <a:xfrm>
            <a:off x="4572000" y="1097280"/>
            <a:ext cx="41140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Processing Semantics</a:t>
            </a:r>
            <a:endParaRPr lang="en-IN" sz="1200" b="0" u="none" strike="noStrike">
              <a:solidFill>
                <a:srgbClr val="000000"/>
              </a:solidFill>
              <a:effectLst/>
              <a:uFillTx/>
              <a:latin typeface="Arial"/>
            </a:endParaRPr>
          </a:p>
        </p:txBody>
      </p:sp>
      <p:sp>
        <p:nvSpPr>
          <p:cNvPr id="110" name="Text 4"/>
          <p:cNvSpPr/>
          <p:nvPr/>
        </p:nvSpPr>
        <p:spPr>
          <a:xfrm>
            <a:off x="4572000" y="1371600"/>
            <a:ext cx="4114080" cy="155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dirty="0">
                <a:solidFill>
                  <a:srgbClr val="385170"/>
                </a:solidFill>
                <a:effectLst/>
                <a:uFillTx/>
                <a:latin typeface="Calibri"/>
              </a:rPr>
              <a:t>At‑Most‑Once: commit before processing; possible data loss on failure.</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At‑Least‑Once: commit after processing; duplicates possible if processing retried.</a:t>
            </a:r>
            <a:endParaRPr lang="en-IN" sz="1100" b="0" u="none" strike="noStrike" dirty="0">
              <a:solidFill>
                <a:srgbClr val="000000"/>
              </a:solidFill>
              <a:effectLst/>
              <a:uFillTx/>
              <a:latin typeface="Arial"/>
            </a:endParaRPr>
          </a:p>
          <a:p>
            <a:pPr defTabSz="914400">
              <a:lnSpc>
                <a:spcPct val="100000"/>
              </a:lnSpc>
              <a:tabLst>
                <a:tab pos="0" algn="l"/>
              </a:tabLst>
            </a:pPr>
            <a:r>
              <a:rPr lang="en-US" sz="1100" b="0" u="none" strike="noStrike" dirty="0">
                <a:solidFill>
                  <a:srgbClr val="385170"/>
                </a:solidFill>
                <a:effectLst/>
                <a:uFillTx/>
                <a:latin typeface="Calibri"/>
              </a:rPr>
              <a:t>Exactly‑Once: use idempotent producers, transactions &amp; </a:t>
            </a:r>
            <a:r>
              <a:rPr lang="en-US" sz="1100" b="0" u="none" strike="noStrike" dirty="0" err="1">
                <a:solidFill>
                  <a:srgbClr val="385170"/>
                </a:solidFill>
                <a:effectLst/>
                <a:uFillTx/>
                <a:latin typeface="Calibri"/>
              </a:rPr>
              <a:t>isolation.level</a:t>
            </a:r>
            <a:r>
              <a:rPr lang="en-US" sz="1100" b="0" u="none" strike="noStrike" dirty="0">
                <a:solidFill>
                  <a:srgbClr val="385170"/>
                </a:solidFill>
                <a:effectLst/>
                <a:uFillTx/>
                <a:latin typeface="Calibri"/>
              </a:rPr>
              <a:t>=</a:t>
            </a:r>
            <a:r>
              <a:rPr lang="en-US" sz="1100" b="0" u="none" strike="noStrike" dirty="0" err="1">
                <a:solidFill>
                  <a:srgbClr val="385170"/>
                </a:solidFill>
                <a:effectLst/>
                <a:uFillTx/>
                <a:latin typeface="Calibri"/>
              </a:rPr>
              <a:t>read_committed</a:t>
            </a:r>
            <a:r>
              <a:rPr lang="en-US" sz="1100" b="0" u="none" strike="noStrike" dirty="0">
                <a:solidFill>
                  <a:srgbClr val="385170"/>
                </a:solidFill>
                <a:effectLst/>
                <a:uFillTx/>
                <a:latin typeface="Calibri"/>
              </a:rPr>
              <a:t>; offsets committed within transaction.</a:t>
            </a:r>
            <a:endParaRPr lang="en-IN" sz="1100" b="0" u="none" strike="noStrike" dirty="0">
              <a:solidFill>
                <a:srgbClr val="000000"/>
              </a:solidFill>
              <a:effectLst/>
              <a:uFillTx/>
              <a:latin typeface="Arial"/>
            </a:endParaRPr>
          </a:p>
        </p:txBody>
      </p:sp>
      <p:sp>
        <p:nvSpPr>
          <p:cNvPr id="111" name="Text 5"/>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
        <p:nvSpPr>
          <p:cNvPr id="2" name="Rectangle 2">
            <a:extLst>
              <a:ext uri="{FF2B5EF4-FFF2-40B4-BE49-F238E27FC236}">
                <a16:creationId xmlns:a16="http://schemas.microsoft.com/office/drawing/2014/main" id="{EEC735BE-135B-2463-A381-BD405F875A71}"/>
              </a:ext>
            </a:extLst>
          </p:cNvPr>
          <p:cNvSpPr/>
          <p:nvPr/>
        </p:nvSpPr>
        <p:spPr>
          <a:xfrm>
            <a:off x="532708" y="87354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17F63-1ABE-6D9E-49AD-983E81046EDC}"/>
            </a:ext>
          </a:extLst>
        </p:cNvPr>
        <p:cNvGrpSpPr/>
        <p:nvPr/>
      </p:nvGrpSpPr>
      <p:grpSpPr>
        <a:xfrm>
          <a:off x="0" y="0"/>
          <a:ext cx="0" cy="0"/>
          <a:chOff x="0" y="0"/>
          <a:chExt cx="0" cy="0"/>
        </a:xfrm>
      </p:grpSpPr>
      <p:sp>
        <p:nvSpPr>
          <p:cNvPr id="106" name="Text 0">
            <a:extLst>
              <a:ext uri="{FF2B5EF4-FFF2-40B4-BE49-F238E27FC236}">
                <a16:creationId xmlns:a16="http://schemas.microsoft.com/office/drawing/2014/main" id="{8ED9D781-D3F2-A62E-B420-0292A957EF65}"/>
              </a:ext>
            </a:extLst>
          </p:cNvPr>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dirty="0">
                <a:solidFill>
                  <a:srgbClr val="2F5597"/>
                </a:solidFill>
                <a:effectLst/>
                <a:uFillTx/>
                <a:latin typeface="Calibri"/>
              </a:rPr>
              <a:t>Idempotent writes &amp; Processing Guarantees</a:t>
            </a:r>
            <a:endParaRPr lang="en-IN" sz="2200" b="0" u="none" strike="noStrike" dirty="0">
              <a:solidFill>
                <a:srgbClr val="000000"/>
              </a:solidFill>
              <a:effectLst/>
              <a:uFillTx/>
              <a:latin typeface="Arial"/>
            </a:endParaRPr>
          </a:p>
        </p:txBody>
      </p:sp>
      <p:sp>
        <p:nvSpPr>
          <p:cNvPr id="107" name="Text 1">
            <a:extLst>
              <a:ext uri="{FF2B5EF4-FFF2-40B4-BE49-F238E27FC236}">
                <a16:creationId xmlns:a16="http://schemas.microsoft.com/office/drawing/2014/main" id="{61298DB4-6432-DB5F-7115-1A3F5E31A0C3}"/>
              </a:ext>
            </a:extLst>
          </p:cNvPr>
          <p:cNvSpPr/>
          <p:nvPr/>
        </p:nvSpPr>
        <p:spPr>
          <a:xfrm>
            <a:off x="457200" y="1097280"/>
            <a:ext cx="41140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dirty="0">
                <a:solidFill>
                  <a:srgbClr val="2F5597"/>
                </a:solidFill>
                <a:effectLst/>
                <a:uFillTx/>
                <a:latin typeface="Calibri"/>
              </a:rPr>
              <a:t>Idempotent writes</a:t>
            </a:r>
            <a:endParaRPr lang="en-IN" sz="1200" b="0" u="none" strike="noStrike" dirty="0">
              <a:solidFill>
                <a:srgbClr val="000000"/>
              </a:solidFill>
              <a:effectLst/>
              <a:uFillTx/>
              <a:latin typeface="Arial"/>
            </a:endParaRPr>
          </a:p>
        </p:txBody>
      </p:sp>
      <p:sp>
        <p:nvSpPr>
          <p:cNvPr id="108" name="Text 2">
            <a:extLst>
              <a:ext uri="{FF2B5EF4-FFF2-40B4-BE49-F238E27FC236}">
                <a16:creationId xmlns:a16="http://schemas.microsoft.com/office/drawing/2014/main" id="{F89397C8-7AD4-8601-90EC-385BD06E8869}"/>
              </a:ext>
            </a:extLst>
          </p:cNvPr>
          <p:cNvSpPr/>
          <p:nvPr/>
        </p:nvSpPr>
        <p:spPr>
          <a:xfrm>
            <a:off x="457200" y="1517650"/>
            <a:ext cx="4114080" cy="25126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US" sz="1100" dirty="0"/>
              <a:t>One of the at least once guarantee scenarios given above covered the case of a producer that is unable to determine if a previous publish call succeeded, so pushes the batch of messages again. In previous versions of Kafka, the broker had no means of determining if the second batch is a retry of the previous batch. From Kafka 0.11 onwards, producers can opt-in to </a:t>
            </a:r>
            <a:r>
              <a:rPr lang="en-US" sz="1100" b="1" dirty="0"/>
              <a:t>idempotent writes</a:t>
            </a:r>
            <a:r>
              <a:rPr lang="en-US" sz="1100" dirty="0"/>
              <a:t> (it’s disabled by default), by setting the configuration</a:t>
            </a:r>
          </a:p>
          <a:p>
            <a:endParaRPr lang="en-US" sz="1100" dirty="0"/>
          </a:p>
          <a:p>
            <a:r>
              <a:rPr lang="en-US" sz="1100" dirty="0"/>
              <a:t>flag </a:t>
            </a:r>
            <a:r>
              <a:rPr lang="en-US" sz="1100" dirty="0" err="1"/>
              <a:t>enable.idempotence</a:t>
            </a:r>
            <a:r>
              <a:rPr lang="en-US" sz="1100" dirty="0"/>
              <a:t> to true.</a:t>
            </a:r>
          </a:p>
          <a:p>
            <a:endParaRPr lang="en-US" sz="1100" dirty="0"/>
          </a:p>
          <a:p>
            <a:r>
              <a:rPr lang="en-US" sz="1100" dirty="0"/>
              <a:t> This causes the client to request a </a:t>
            </a:r>
            <a:r>
              <a:rPr lang="en-US" sz="1100" b="1" dirty="0"/>
              <a:t>producer id</a:t>
            </a:r>
            <a:r>
              <a:rPr lang="en-US" sz="1100" dirty="0"/>
              <a:t> (</a:t>
            </a:r>
            <a:r>
              <a:rPr lang="en-US" sz="1100" dirty="0" err="1"/>
              <a:t>pid</a:t>
            </a:r>
            <a:r>
              <a:rPr lang="en-US" sz="1100" dirty="0"/>
              <a:t>) from a broker. The </a:t>
            </a:r>
            <a:r>
              <a:rPr lang="en-US" sz="1100" dirty="0" err="1"/>
              <a:t>pid</a:t>
            </a:r>
            <a:r>
              <a:rPr lang="en-US" sz="1100" dirty="0"/>
              <a:t> helps the Kafka cluster identify the producer. With idempotence enabled, the producer sends the </a:t>
            </a:r>
            <a:r>
              <a:rPr lang="en-US" sz="1100" dirty="0" err="1"/>
              <a:t>pid</a:t>
            </a:r>
            <a:r>
              <a:rPr lang="en-US" sz="1100" dirty="0"/>
              <a:t> along with a </a:t>
            </a:r>
            <a:r>
              <a:rPr lang="en-US" sz="1100" b="1" dirty="0"/>
              <a:t>sequence number</a:t>
            </a:r>
            <a:r>
              <a:rPr lang="en-US" sz="1100" dirty="0"/>
              <a:t> with each batch of records. The sequence number logically increases by one for each record sent by the same producer.</a:t>
            </a:r>
            <a:endParaRPr lang="en-IN" sz="1100" b="0" u="none" strike="noStrike" dirty="0">
              <a:solidFill>
                <a:srgbClr val="000000"/>
              </a:solidFill>
              <a:effectLst/>
              <a:uFillTx/>
              <a:latin typeface="Arial"/>
            </a:endParaRPr>
          </a:p>
        </p:txBody>
      </p:sp>
      <p:sp>
        <p:nvSpPr>
          <p:cNvPr id="109" name="Text 3">
            <a:extLst>
              <a:ext uri="{FF2B5EF4-FFF2-40B4-BE49-F238E27FC236}">
                <a16:creationId xmlns:a16="http://schemas.microsoft.com/office/drawing/2014/main" id="{6489B1D8-1CB7-2CBC-A9B6-3A29D121D936}"/>
              </a:ext>
            </a:extLst>
          </p:cNvPr>
          <p:cNvSpPr/>
          <p:nvPr/>
        </p:nvSpPr>
        <p:spPr>
          <a:xfrm>
            <a:off x="4572000" y="1097280"/>
            <a:ext cx="41140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dirty="0">
                <a:solidFill>
                  <a:srgbClr val="2F5597"/>
                </a:solidFill>
                <a:effectLst/>
                <a:uFillTx/>
                <a:latin typeface="Calibri"/>
              </a:rPr>
              <a:t>Transactions</a:t>
            </a:r>
            <a:endParaRPr lang="en-IN" sz="1200" b="0" u="none" strike="noStrike" dirty="0">
              <a:solidFill>
                <a:srgbClr val="000000"/>
              </a:solidFill>
              <a:effectLst/>
              <a:uFillTx/>
              <a:latin typeface="Arial"/>
            </a:endParaRPr>
          </a:p>
        </p:txBody>
      </p:sp>
      <p:sp>
        <p:nvSpPr>
          <p:cNvPr id="110" name="Text 4">
            <a:extLst>
              <a:ext uri="{FF2B5EF4-FFF2-40B4-BE49-F238E27FC236}">
                <a16:creationId xmlns:a16="http://schemas.microsoft.com/office/drawing/2014/main" id="{657C29EA-2F45-8164-119F-975F376C86B8}"/>
              </a:ext>
            </a:extLst>
          </p:cNvPr>
          <p:cNvSpPr/>
          <p:nvPr/>
        </p:nvSpPr>
        <p:spPr>
          <a:xfrm>
            <a:off x="4572000" y="1371600"/>
            <a:ext cx="4114080" cy="155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IN" sz="1100" b="0" u="none" strike="noStrike" dirty="0">
              <a:solidFill>
                <a:srgbClr val="000000"/>
              </a:solidFill>
              <a:effectLst/>
              <a:uFillTx/>
              <a:latin typeface="Arial"/>
            </a:endParaRPr>
          </a:p>
        </p:txBody>
      </p:sp>
      <p:sp>
        <p:nvSpPr>
          <p:cNvPr id="111" name="Text 5">
            <a:extLst>
              <a:ext uri="{FF2B5EF4-FFF2-40B4-BE49-F238E27FC236}">
                <a16:creationId xmlns:a16="http://schemas.microsoft.com/office/drawing/2014/main" id="{6C87B3F7-0CD2-3CB4-8118-66C2FCD4B4A7}"/>
              </a:ext>
            </a:extLst>
          </p:cNvPr>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
        <p:nvSpPr>
          <p:cNvPr id="2" name="Rectangle 2">
            <a:extLst>
              <a:ext uri="{FF2B5EF4-FFF2-40B4-BE49-F238E27FC236}">
                <a16:creationId xmlns:a16="http://schemas.microsoft.com/office/drawing/2014/main" id="{A029B7B2-4B31-9583-2A21-59522D1526FB}"/>
              </a:ext>
            </a:extLst>
          </p:cNvPr>
          <p:cNvSpPr/>
          <p:nvPr/>
        </p:nvSpPr>
        <p:spPr>
          <a:xfrm>
            <a:off x="532708" y="87354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 name="TextBox 5">
            <a:extLst>
              <a:ext uri="{FF2B5EF4-FFF2-40B4-BE49-F238E27FC236}">
                <a16:creationId xmlns:a16="http://schemas.microsoft.com/office/drawing/2014/main" id="{23B658D9-6268-9E69-DBDE-ADBECAAFDC5A}"/>
              </a:ext>
            </a:extLst>
          </p:cNvPr>
          <p:cNvSpPr txBox="1"/>
          <p:nvPr/>
        </p:nvSpPr>
        <p:spPr>
          <a:xfrm>
            <a:off x="4464448" y="1408320"/>
            <a:ext cx="4357819" cy="2970044"/>
          </a:xfrm>
          <a:prstGeom prst="rect">
            <a:avLst/>
          </a:prstGeom>
          <a:noFill/>
        </p:spPr>
        <p:txBody>
          <a:bodyPr wrap="square">
            <a:spAutoFit/>
          </a:bodyPr>
          <a:lstStyle/>
          <a:p>
            <a:r>
              <a:rPr lang="en-US" sz="1100" dirty="0"/>
              <a:t>Transactions give us the ability to atomically update data in multiple topic partitions. All the records included in a transaction will be successfully saved, or none of them will be.</a:t>
            </a:r>
          </a:p>
          <a:p>
            <a:endParaRPr lang="en-US" sz="1100" dirty="0"/>
          </a:p>
          <a:p>
            <a:r>
              <a:rPr lang="en-US" sz="1100" dirty="0"/>
              <a:t>Transactions are enabled through producer configuration. Clients need to first enable idempotent writes (</a:t>
            </a:r>
            <a:r>
              <a:rPr lang="en-US" sz="1100" b="1" dirty="0" err="1"/>
              <a:t>enable.idempotence</a:t>
            </a:r>
            <a:r>
              <a:rPr lang="en-US" sz="1100" b="1" dirty="0"/>
              <a:t>=true</a:t>
            </a:r>
            <a:r>
              <a:rPr lang="en-US" sz="1100" dirty="0"/>
              <a:t>) and provide a transactional id (</a:t>
            </a:r>
            <a:r>
              <a:rPr lang="en-US" sz="1100" b="1" i="1" dirty="0"/>
              <a:t>transactional.id=my-</a:t>
            </a:r>
            <a:r>
              <a:rPr lang="en-US" sz="1100" b="1" i="1" dirty="0" err="1"/>
              <a:t>tx</a:t>
            </a:r>
            <a:r>
              <a:rPr lang="en-US" sz="1100" b="1" i="1" dirty="0"/>
              <a:t>-i</a:t>
            </a:r>
            <a:r>
              <a:rPr lang="en-US" sz="1100" i="1" dirty="0"/>
              <a:t>d</a:t>
            </a:r>
            <a:r>
              <a:rPr lang="en-US" sz="1100" dirty="0"/>
              <a:t>). The producer then needs to register itself with the Kafka cluster by calling </a:t>
            </a:r>
            <a:r>
              <a:rPr lang="en-US" sz="1100" b="1" dirty="0" err="1"/>
              <a:t>initTransactions</a:t>
            </a:r>
            <a:r>
              <a:rPr lang="en-US" sz="1100" dirty="0"/>
              <a:t>. </a:t>
            </a:r>
          </a:p>
          <a:p>
            <a:endParaRPr lang="en-US" sz="1100" dirty="0"/>
          </a:p>
          <a:p>
            <a:r>
              <a:rPr lang="en-US" sz="1100" dirty="0"/>
              <a:t>The transactional id is used to identify the same producer across process restarts. When reconnecting with the same transactional id, a producer will be assigned the same </a:t>
            </a:r>
            <a:r>
              <a:rPr lang="en-US" sz="1100" dirty="0" err="1"/>
              <a:t>pid</a:t>
            </a:r>
            <a:r>
              <a:rPr lang="en-US" sz="1100" dirty="0"/>
              <a:t> and an epoch number associated with that </a:t>
            </a:r>
            <a:r>
              <a:rPr lang="en-US" sz="1100" dirty="0" err="1"/>
              <a:t>pid</a:t>
            </a:r>
            <a:r>
              <a:rPr lang="en-US" sz="1100" dirty="0"/>
              <a:t> will be incremented. Kafka will then guarantee that any pending transactions from previous sessions for that </a:t>
            </a:r>
            <a:r>
              <a:rPr lang="en-US" sz="1100" dirty="0" err="1"/>
              <a:t>pid</a:t>
            </a:r>
            <a:r>
              <a:rPr lang="en-US" sz="1100" dirty="0"/>
              <a:t> will either be committed or aborted before the producer can send any new data. Any attempt by an old zombie instance of the producer with an older epoch number to perform operations will now fail.</a:t>
            </a:r>
          </a:p>
        </p:txBody>
      </p:sp>
    </p:spTree>
    <p:extLst>
      <p:ext uri="{BB962C8B-B14F-4D97-AF65-F5344CB8AC3E}">
        <p14:creationId xmlns:p14="http://schemas.microsoft.com/office/powerpoint/2010/main" val="3184578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12" name="Text 22"/>
          <p:cNvSpPr/>
          <p:nvPr/>
        </p:nvSpPr>
        <p:spPr>
          <a:xfrm>
            <a:off x="457200" y="36576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2F5597"/>
                </a:solidFill>
                <a:effectLst/>
                <a:uFillTx/>
                <a:latin typeface="Calibri"/>
              </a:rPr>
              <a:t>Producer Responsibilities &amp; Delivery Semantics</a:t>
            </a:r>
            <a:endParaRPr lang="en-IN" sz="2000" b="0" u="none" strike="noStrike">
              <a:solidFill>
                <a:srgbClr val="000000"/>
              </a:solidFill>
              <a:effectLst/>
              <a:uFillTx/>
              <a:latin typeface="Arial"/>
            </a:endParaRPr>
          </a:p>
        </p:txBody>
      </p:sp>
      <p:sp>
        <p:nvSpPr>
          <p:cNvPr id="113" name="Text 23"/>
          <p:cNvSpPr/>
          <p:nvPr/>
        </p:nvSpPr>
        <p:spPr>
          <a:xfrm>
            <a:off x="457200" y="914400"/>
            <a:ext cx="50284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2F5597"/>
                </a:solidFill>
                <a:effectLst/>
                <a:uFillTx/>
                <a:latin typeface="Calibri"/>
              </a:rPr>
              <a:t>• </a:t>
            </a:r>
            <a:r>
              <a:rPr lang="en-US" sz="1000" b="0" u="none" strike="noStrike">
                <a:solidFill>
                  <a:srgbClr val="385170"/>
                </a:solidFill>
                <a:effectLst/>
                <a:uFillTx/>
                <a:latin typeface="Calibri"/>
              </a:rPr>
              <a:t>Serialise data into bytes (e.g. Avro, Protobuf, JSON).</a:t>
            </a:r>
            <a:endParaRPr lang="en-IN" sz="1000" b="0" u="none" strike="noStrike">
              <a:solidFill>
                <a:srgbClr val="000000"/>
              </a:solidFill>
              <a:effectLst/>
              <a:uFillTx/>
              <a:latin typeface="Arial"/>
            </a:endParaRPr>
          </a:p>
        </p:txBody>
      </p:sp>
      <p:sp>
        <p:nvSpPr>
          <p:cNvPr id="114" name="Text 24"/>
          <p:cNvSpPr/>
          <p:nvPr/>
        </p:nvSpPr>
        <p:spPr>
          <a:xfrm>
            <a:off x="457200" y="1234440"/>
            <a:ext cx="50284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2F5597"/>
                </a:solidFill>
                <a:effectLst/>
                <a:uFillTx/>
                <a:latin typeface="Calibri"/>
              </a:rPr>
              <a:t>• </a:t>
            </a:r>
            <a:r>
              <a:rPr lang="en-US" sz="1000" b="0" u="none" strike="noStrike">
                <a:solidFill>
                  <a:srgbClr val="385170"/>
                </a:solidFill>
                <a:effectLst/>
                <a:uFillTx/>
                <a:latin typeface="Calibri"/>
              </a:rPr>
              <a:t>Determine partition (hash key, sticky or round‑robin).</a:t>
            </a:r>
            <a:endParaRPr lang="en-IN" sz="1000" b="0" u="none" strike="noStrike">
              <a:solidFill>
                <a:srgbClr val="000000"/>
              </a:solidFill>
              <a:effectLst/>
              <a:uFillTx/>
              <a:latin typeface="Arial"/>
            </a:endParaRPr>
          </a:p>
        </p:txBody>
      </p:sp>
      <p:sp>
        <p:nvSpPr>
          <p:cNvPr id="115" name="Text 25"/>
          <p:cNvSpPr/>
          <p:nvPr/>
        </p:nvSpPr>
        <p:spPr>
          <a:xfrm>
            <a:off x="457200" y="1554480"/>
            <a:ext cx="50284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2F5597"/>
                </a:solidFill>
                <a:effectLst/>
                <a:uFillTx/>
                <a:latin typeface="Calibri"/>
              </a:rPr>
              <a:t>• </a:t>
            </a:r>
            <a:r>
              <a:rPr lang="en-US" sz="1000" b="0" u="none" strike="noStrike">
                <a:solidFill>
                  <a:srgbClr val="385170"/>
                </a:solidFill>
                <a:effectLst/>
                <a:uFillTx/>
                <a:latin typeface="Calibri"/>
              </a:rPr>
              <a:t>Batch messages and compress to maximise throughput.</a:t>
            </a:r>
            <a:endParaRPr lang="en-IN" sz="1000" b="0" u="none" strike="noStrike">
              <a:solidFill>
                <a:srgbClr val="000000"/>
              </a:solidFill>
              <a:effectLst/>
              <a:uFillTx/>
              <a:latin typeface="Arial"/>
            </a:endParaRPr>
          </a:p>
        </p:txBody>
      </p:sp>
      <p:sp>
        <p:nvSpPr>
          <p:cNvPr id="116" name="Text 26"/>
          <p:cNvSpPr/>
          <p:nvPr/>
        </p:nvSpPr>
        <p:spPr>
          <a:xfrm>
            <a:off x="457200" y="1874520"/>
            <a:ext cx="50284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00" b="1" u="none" strike="noStrike">
                <a:solidFill>
                  <a:srgbClr val="2F5597"/>
                </a:solidFill>
                <a:effectLst/>
                <a:uFillTx/>
                <a:latin typeface="Calibri"/>
              </a:rPr>
              <a:t>• </a:t>
            </a:r>
            <a:r>
              <a:rPr lang="en-US" sz="1000" b="0" u="none" strike="noStrike">
                <a:solidFill>
                  <a:srgbClr val="385170"/>
                </a:solidFill>
                <a:effectLst/>
                <a:uFillTx/>
                <a:latin typeface="Calibri"/>
              </a:rPr>
              <a:t>Configure acknowledgments to control durability.</a:t>
            </a:r>
            <a:endParaRPr lang="en-IN" sz="1000" b="0" u="none" strike="noStrike">
              <a:solidFill>
                <a:srgbClr val="000000"/>
              </a:solidFill>
              <a:effectLst/>
              <a:uFillTx/>
              <a:latin typeface="Arial"/>
            </a:endParaRPr>
          </a:p>
        </p:txBody>
      </p:sp>
      <p:graphicFrame>
        <p:nvGraphicFramePr>
          <p:cNvPr id="117" name="Table 2"/>
          <p:cNvGraphicFramePr/>
          <p:nvPr/>
        </p:nvGraphicFramePr>
        <p:xfrm>
          <a:off x="5669280" y="914400"/>
          <a:ext cx="3017520" cy="1493520"/>
        </p:xfrm>
        <a:graphic>
          <a:graphicData uri="http://schemas.openxmlformats.org/drawingml/2006/table">
            <a:tbl>
              <a:tblPr/>
              <a:tblGrid>
                <a:gridCol w="914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65760">
                <a:tc>
                  <a:txBody>
                    <a:bodyPr/>
                    <a:lstStyle/>
                    <a:p>
                      <a:pPr defTabSz="914400">
                        <a:lnSpc>
                          <a:spcPct val="100000"/>
                        </a:lnSpc>
                        <a:tabLst>
                          <a:tab pos="0" algn="l"/>
                        </a:tabLst>
                      </a:pPr>
                      <a:r>
                        <a:rPr lang="en-US" sz="800" b="1" u="none" strike="noStrike">
                          <a:solidFill>
                            <a:srgbClr val="385170"/>
                          </a:solidFill>
                          <a:effectLst/>
                          <a:uFillTx/>
                          <a:latin typeface="Calibri"/>
                        </a:rPr>
                        <a:t>Ack Mode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D9E1F2"/>
                    </a:solidFill>
                  </a:tcPr>
                </a:tc>
                <a:tc>
                  <a:txBody>
                    <a:bodyPr/>
                    <a:lstStyle/>
                    <a:p>
                      <a:pPr defTabSz="914400">
                        <a:lnSpc>
                          <a:spcPct val="100000"/>
                        </a:lnSpc>
                        <a:tabLst>
                          <a:tab pos="0" algn="l"/>
                        </a:tabLst>
                      </a:pPr>
                      <a:r>
                        <a:rPr lang="en-US" sz="800" b="1" u="none" strike="noStrike">
                          <a:solidFill>
                            <a:srgbClr val="385170"/>
                          </a:solidFill>
                          <a:effectLst/>
                          <a:uFillTx/>
                          <a:latin typeface="Calibri"/>
                        </a:rPr>
                        <a:t>Guarantee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D9E1F2"/>
                    </a:solidFill>
                  </a:tcPr>
                </a:tc>
                <a:tc>
                  <a:txBody>
                    <a:bodyPr/>
                    <a:lstStyle/>
                    <a:p>
                      <a:pPr defTabSz="914400">
                        <a:lnSpc>
                          <a:spcPct val="100000"/>
                        </a:lnSpc>
                        <a:tabLst>
                          <a:tab pos="0" algn="l"/>
                        </a:tabLst>
                      </a:pPr>
                      <a:r>
                        <a:rPr lang="en-US" sz="800" b="1" u="none" strike="noStrike">
                          <a:solidFill>
                            <a:srgbClr val="385170"/>
                          </a:solidFill>
                          <a:effectLst/>
                          <a:uFillTx/>
                          <a:latin typeface="Calibri"/>
                        </a:rPr>
                        <a:t>Trade‑Off</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D9E1F2"/>
                    </a:solidFill>
                  </a:tcPr>
                </a:tc>
                <a:extLst>
                  <a:ext uri="{0D108BD9-81ED-4DB2-BD59-A6C34878D82A}">
                    <a16:rowId xmlns:a16="http://schemas.microsoft.com/office/drawing/2014/main" val="10000"/>
                  </a:ext>
                </a:extLst>
              </a:tr>
              <a:tr h="320040">
                <a:tc>
                  <a:txBody>
                    <a:bodyPr/>
                    <a:lstStyle/>
                    <a:p>
                      <a:pPr defTabSz="914400">
                        <a:lnSpc>
                          <a:spcPct val="100000"/>
                        </a:lnSpc>
                        <a:tabLst>
                          <a:tab pos="0" algn="l"/>
                        </a:tabLst>
                      </a:pPr>
                      <a:r>
                        <a:rPr lang="en-US" sz="800" b="0" u="none" strike="noStrike">
                          <a:solidFill>
                            <a:srgbClr val="385170"/>
                          </a:solidFill>
                          <a:effectLst/>
                          <a:uFillTx/>
                          <a:latin typeface="Calibri"/>
                        </a:rPr>
                        <a:t>acks=0</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At‑Most‑Once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Fastest but risk data loss</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extLst>
                  <a:ext uri="{0D108BD9-81ED-4DB2-BD59-A6C34878D82A}">
                    <a16:rowId xmlns:a16="http://schemas.microsoft.com/office/drawing/2014/main" val="10001"/>
                  </a:ext>
                </a:extLst>
              </a:tr>
              <a:tr h="320040">
                <a:tc>
                  <a:txBody>
                    <a:bodyPr/>
                    <a:lstStyle/>
                    <a:p>
                      <a:pPr defTabSz="914400">
                        <a:lnSpc>
                          <a:spcPct val="100000"/>
                        </a:lnSpc>
                        <a:tabLst>
                          <a:tab pos="0" algn="l"/>
                        </a:tabLst>
                      </a:pPr>
                      <a:r>
                        <a:rPr lang="en-US" sz="800" b="0" u="none" strike="noStrike">
                          <a:solidFill>
                            <a:srgbClr val="385170"/>
                          </a:solidFill>
                          <a:effectLst/>
                          <a:uFillTx/>
                          <a:latin typeface="Calibri"/>
                        </a:rPr>
                        <a:t>acks=1</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At‑Least‑Once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May duplicate messages</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extLst>
                  <a:ext uri="{0D108BD9-81ED-4DB2-BD59-A6C34878D82A}">
                    <a16:rowId xmlns:a16="http://schemas.microsoft.com/office/drawing/2014/main" val="10002"/>
                  </a:ext>
                </a:extLst>
              </a:tr>
              <a:tr h="320040">
                <a:tc>
                  <a:txBody>
                    <a:bodyPr/>
                    <a:lstStyle/>
                    <a:p>
                      <a:pPr defTabSz="914400">
                        <a:lnSpc>
                          <a:spcPct val="100000"/>
                        </a:lnSpc>
                        <a:tabLst>
                          <a:tab pos="0" algn="l"/>
                        </a:tabLst>
                      </a:pPr>
                      <a:r>
                        <a:rPr lang="en-US" sz="800" b="0" u="none" strike="noStrike">
                          <a:solidFill>
                            <a:srgbClr val="385170"/>
                          </a:solidFill>
                          <a:effectLst/>
                          <a:uFillTx/>
                          <a:latin typeface="Calibri"/>
                        </a:rPr>
                        <a:t>acks=all</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Exactly‑Once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tc>
                  <a:txBody>
                    <a:bodyPr/>
                    <a:lstStyle/>
                    <a:p>
                      <a:pPr defTabSz="914400">
                        <a:lnSpc>
                          <a:spcPct val="100000"/>
                        </a:lnSpc>
                        <a:tabLst>
                          <a:tab pos="0" algn="l"/>
                        </a:tabLst>
                      </a:pPr>
                      <a:r>
                        <a:rPr lang="en-US" sz="800" b="0" u="none" strike="noStrike">
                          <a:solidFill>
                            <a:srgbClr val="385170"/>
                          </a:solidFill>
                          <a:effectLst/>
                          <a:uFillTx/>
                          <a:latin typeface="Calibri"/>
                        </a:rPr>
                        <a:t>Safest but slower; requires idempotence</a:t>
                      </a:r>
                      <a:endParaRPr lang="en-IN" sz="800" b="0" u="none" strike="noStrike">
                        <a:solidFill>
                          <a:srgbClr val="000000"/>
                        </a:solidFill>
                        <a:effectLst/>
                        <a:uFillTx/>
                        <a:latin typeface="Arial"/>
                      </a:endParaRPr>
                    </a:p>
                  </a:txBody>
                  <a:tcPr>
                    <a:lnL w="6480">
                      <a:solidFill>
                        <a:srgbClr val="D0D8E8"/>
                      </a:solidFill>
                      <a:prstDash val="solid"/>
                    </a:lnL>
                    <a:lnR w="6480">
                      <a:solidFill>
                        <a:srgbClr val="D0D8E8"/>
                      </a:solidFill>
                      <a:prstDash val="solid"/>
                    </a:lnR>
                    <a:lnT w="6480">
                      <a:solidFill>
                        <a:srgbClr val="D0D8E8"/>
                      </a:solidFill>
                      <a:prstDash val="solid"/>
                    </a:lnT>
                    <a:lnB w="6480">
                      <a:solidFill>
                        <a:srgbClr val="D0D8E8"/>
                      </a:solidFill>
                      <a:prstDash val="solid"/>
                    </a:lnB>
                    <a:solidFill>
                      <a:srgbClr val="F7F9FB"/>
                    </a:solidFill>
                  </a:tcPr>
                </a:tc>
                <a:extLst>
                  <a:ext uri="{0D108BD9-81ED-4DB2-BD59-A6C34878D82A}">
                    <a16:rowId xmlns:a16="http://schemas.microsoft.com/office/drawing/2014/main" val="10003"/>
                  </a:ext>
                </a:extLst>
              </a:tr>
            </a:tbl>
          </a:graphicData>
        </a:graphic>
      </p:graphicFrame>
      <p:sp>
        <p:nvSpPr>
          <p:cNvPr id="118" name="Text 27"/>
          <p:cNvSpPr/>
          <p:nvPr/>
        </p:nvSpPr>
        <p:spPr>
          <a:xfrm>
            <a:off x="457200" y="4937760"/>
            <a:ext cx="82288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Exactly‑Once Processing with Transactions</a:t>
            </a:r>
            <a:endParaRPr lang="en-IN" sz="2200" b="0" u="none" strike="noStrike">
              <a:solidFill>
                <a:srgbClr val="000000"/>
              </a:solidFill>
              <a:effectLst/>
              <a:uFillTx/>
              <a:latin typeface="Arial"/>
            </a:endParaRPr>
          </a:p>
        </p:txBody>
      </p:sp>
      <p:sp>
        <p:nvSpPr>
          <p:cNvPr id="120" name="Text 1"/>
          <p:cNvSpPr/>
          <p:nvPr/>
        </p:nvSpPr>
        <p:spPr>
          <a:xfrm>
            <a:off x="457200" y="1097280"/>
            <a:ext cx="868608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dirty="0">
                <a:solidFill>
                  <a:srgbClr val="385170"/>
                </a:solidFill>
                <a:effectLst/>
                <a:uFillTx/>
                <a:latin typeface="Calibri"/>
              </a:rPr>
              <a:t>• Enable idempotence and transactions on the producer: set </a:t>
            </a:r>
            <a:r>
              <a:rPr lang="en-US" sz="1100" b="0" u="none" strike="noStrike" dirty="0" err="1">
                <a:solidFill>
                  <a:srgbClr val="385170"/>
                </a:solidFill>
                <a:effectLst/>
                <a:uFillTx/>
                <a:latin typeface="Calibri"/>
              </a:rPr>
              <a:t>enable.idempotence</a:t>
            </a:r>
            <a:r>
              <a:rPr lang="en-US" sz="1100" b="0" u="none" strike="noStrike" dirty="0">
                <a:solidFill>
                  <a:srgbClr val="385170"/>
                </a:solidFill>
                <a:effectLst/>
                <a:uFillTx/>
                <a:latin typeface="Calibri"/>
              </a:rPr>
              <a:t>=true and transactional.id.</a:t>
            </a:r>
            <a:endParaRPr lang="en-US" sz="1100" dirty="0">
              <a:solidFill>
                <a:srgbClr val="385170"/>
              </a:solidFill>
              <a:latin typeface="Calibri"/>
            </a:endParaRPr>
          </a:p>
          <a:p>
            <a:r>
              <a:rPr lang="en-US" sz="1100" dirty="0">
                <a:solidFill>
                  <a:srgbClr val="385170"/>
                </a:solidFill>
              </a:rPr>
              <a:t>• Consumers now have an additional configuration parameter called </a:t>
            </a:r>
            <a:r>
              <a:rPr lang="en-US" sz="1100" dirty="0" err="1">
                <a:solidFill>
                  <a:srgbClr val="385170"/>
                </a:solidFill>
              </a:rPr>
              <a:t>isolation.level</a:t>
            </a:r>
            <a:r>
              <a:rPr lang="en-US" sz="1100" dirty="0">
                <a:solidFill>
                  <a:srgbClr val="385170"/>
                </a:solidFill>
              </a:rPr>
              <a:t> that must be set to either </a:t>
            </a:r>
            <a:r>
              <a:rPr lang="en-US" sz="1100" dirty="0" err="1">
                <a:solidFill>
                  <a:srgbClr val="385170"/>
                </a:solidFill>
              </a:rPr>
              <a:t>read_uncommitted</a:t>
            </a:r>
            <a:r>
              <a:rPr lang="en-US" sz="1100" dirty="0">
                <a:solidFill>
                  <a:srgbClr val="385170"/>
                </a:solidFill>
              </a:rPr>
              <a:t>(the default) or </a:t>
            </a:r>
            <a:r>
              <a:rPr lang="en-US" sz="1100" dirty="0" err="1">
                <a:solidFill>
                  <a:srgbClr val="385170"/>
                </a:solidFill>
              </a:rPr>
              <a:t>read_committed</a:t>
            </a:r>
            <a:r>
              <a:rPr lang="en-US" sz="1100" dirty="0">
                <a:solidFill>
                  <a:srgbClr val="385170"/>
                </a:solidFill>
              </a:rPr>
              <a:t>. When set to </a:t>
            </a:r>
            <a:r>
              <a:rPr lang="en-US" sz="1100" dirty="0" err="1">
                <a:solidFill>
                  <a:srgbClr val="385170"/>
                </a:solidFill>
              </a:rPr>
              <a:t>read_uncommitted</a:t>
            </a:r>
            <a:r>
              <a:rPr lang="en-US" sz="1100" dirty="0">
                <a:solidFill>
                  <a:srgbClr val="385170"/>
                </a:solidFill>
              </a:rPr>
              <a:t>, all messages are consumed as they become available in offset ordering. When set to </a:t>
            </a:r>
            <a:r>
              <a:rPr lang="en-US" sz="1100" dirty="0" err="1">
                <a:solidFill>
                  <a:srgbClr val="385170"/>
                </a:solidFill>
              </a:rPr>
              <a:t>read_committed</a:t>
            </a:r>
            <a:r>
              <a:rPr lang="en-US" sz="1100" dirty="0">
                <a:solidFill>
                  <a:srgbClr val="385170"/>
                </a:solidFill>
              </a:rPr>
              <a:t>, only messages not in a transaction, or messages from committed transactions are read in offset ordering</a:t>
            </a:r>
            <a:endParaRPr lang="en-US" sz="1100" b="0" u="none" strike="noStrike" dirty="0">
              <a:solidFill>
                <a:srgbClr val="385170"/>
              </a:solidFill>
              <a:effectLst/>
              <a:uFillTx/>
              <a:latin typeface="Calibri"/>
            </a:endParaRPr>
          </a:p>
          <a:p>
            <a:pPr defTabSz="914400">
              <a:lnSpc>
                <a:spcPct val="100000"/>
              </a:lnSpc>
            </a:pPr>
            <a:r>
              <a:rPr lang="en-US" sz="1100" b="0" u="none" strike="noStrike" dirty="0">
                <a:solidFill>
                  <a:srgbClr val="385170"/>
                </a:solidFill>
                <a:effectLst/>
                <a:uFillTx/>
                <a:latin typeface="Calibri"/>
              </a:rPr>
              <a:t>• On the consumer, set </a:t>
            </a:r>
            <a:r>
              <a:rPr lang="en-US" sz="1100" b="0" u="none" strike="noStrike" dirty="0" err="1">
                <a:solidFill>
                  <a:srgbClr val="385170"/>
                </a:solidFill>
                <a:effectLst/>
                <a:uFillTx/>
                <a:latin typeface="Calibri"/>
              </a:rPr>
              <a:t>isolation.level</a:t>
            </a:r>
            <a:r>
              <a:rPr lang="en-US" sz="1100" b="0" u="none" strike="noStrike" dirty="0">
                <a:solidFill>
                  <a:srgbClr val="385170"/>
                </a:solidFill>
                <a:effectLst/>
                <a:uFillTx/>
                <a:latin typeface="Calibri"/>
              </a:rPr>
              <a:t>=</a:t>
            </a:r>
            <a:r>
              <a:rPr lang="en-US" sz="1100" b="0" u="none" strike="noStrike" dirty="0" err="1">
                <a:solidFill>
                  <a:srgbClr val="385170"/>
                </a:solidFill>
                <a:effectLst/>
                <a:uFillTx/>
                <a:latin typeface="Calibri"/>
              </a:rPr>
              <a:t>read_committed</a:t>
            </a:r>
            <a:r>
              <a:rPr lang="en-US" sz="1100" b="0" u="none" strike="noStrike" dirty="0">
                <a:solidFill>
                  <a:srgbClr val="385170"/>
                </a:solidFill>
                <a:effectLst/>
                <a:uFillTx/>
                <a:latin typeface="Calibri"/>
              </a:rPr>
              <a:t> to avoid reading uncommitted records.</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Use Kafka’s transaction API to send messages and commit offsets atomically; if the transaction aborts, offsets are not committed.</a:t>
            </a:r>
            <a:endParaRPr lang="en-IN" sz="1100" b="0" u="none" strike="noStrike" dirty="0">
              <a:solidFill>
                <a:srgbClr val="000000"/>
              </a:solidFill>
              <a:effectLst/>
              <a:uFillTx/>
              <a:latin typeface="Arial"/>
            </a:endParaRPr>
          </a:p>
          <a:p>
            <a:pPr defTabSz="914400">
              <a:lnSpc>
                <a:spcPct val="100000"/>
              </a:lnSpc>
              <a:tabLst>
                <a:tab pos="0" algn="l"/>
              </a:tabLst>
            </a:pPr>
            <a:r>
              <a:rPr lang="en-US" sz="1100" b="0" u="none" strike="noStrike" dirty="0">
                <a:solidFill>
                  <a:srgbClr val="385170"/>
                </a:solidFill>
                <a:effectLst/>
                <a:uFillTx/>
                <a:latin typeface="Calibri"/>
              </a:rPr>
              <a:t>• Combine with </a:t>
            </a:r>
            <a:r>
              <a:rPr lang="en-US" sz="1100" b="0" u="none" strike="noStrike" dirty="0" err="1">
                <a:solidFill>
                  <a:srgbClr val="385170"/>
                </a:solidFill>
                <a:effectLst/>
                <a:uFillTx/>
                <a:latin typeface="Calibri"/>
              </a:rPr>
              <a:t>min.insync.replicas</a:t>
            </a:r>
            <a:r>
              <a:rPr lang="en-US" sz="1100" b="0" u="none" strike="noStrike" dirty="0">
                <a:solidFill>
                  <a:srgbClr val="385170"/>
                </a:solidFill>
                <a:effectLst/>
                <a:uFillTx/>
                <a:latin typeface="Calibri"/>
              </a:rPr>
              <a:t> and acks=all for durability.</a:t>
            </a:r>
            <a:endParaRPr lang="en-IN" sz="1100" b="0" u="none" strike="noStrike" dirty="0">
              <a:solidFill>
                <a:srgbClr val="000000"/>
              </a:solidFill>
              <a:effectLst/>
              <a:uFillTx/>
              <a:latin typeface="Arial"/>
            </a:endParaRPr>
          </a:p>
        </p:txBody>
      </p:sp>
      <p:sp>
        <p:nvSpPr>
          <p:cNvPr id="121"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Exactly-Once: Keep the Claim Precise</a:t>
            </a:r>
            <a:endParaRPr lang="en-IN" sz="2200" b="0" u="none" strike="noStrike">
              <a:solidFill>
                <a:srgbClr val="000000"/>
              </a:solidFill>
              <a:effectLst/>
              <a:uFillTx/>
              <a:latin typeface="Arial"/>
            </a:endParaRPr>
          </a:p>
        </p:txBody>
      </p:sp>
      <p:sp>
        <p:nvSpPr>
          <p:cNvPr id="123"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24" name="Rounded Rectangle 3"/>
          <p:cNvSpPr/>
          <p:nvPr/>
        </p:nvSpPr>
        <p:spPr>
          <a:xfrm>
            <a:off x="59436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What Kafka can provide</a:t>
            </a:r>
            <a:endParaRPr lang="en-IN" sz="1300" b="0" u="none" strike="noStrike">
              <a:solidFill>
                <a:srgbClr val="000000"/>
              </a:solidFill>
              <a:effectLst/>
              <a:uFillTx/>
              <a:latin typeface="Arial"/>
            </a:endParaRPr>
          </a:p>
        </p:txBody>
      </p:sp>
      <p:sp>
        <p:nvSpPr>
          <p:cNvPr id="125" name="Rounded Rectangle 4"/>
          <p:cNvSpPr/>
          <p:nvPr/>
        </p:nvSpPr>
        <p:spPr>
          <a:xfrm>
            <a:off x="461772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What still belongs to the app</a:t>
            </a:r>
            <a:endParaRPr lang="en-IN" sz="1300" b="0" u="none" strike="noStrike">
              <a:solidFill>
                <a:srgbClr val="000000"/>
              </a:solidFill>
              <a:effectLst/>
              <a:uFillTx/>
              <a:latin typeface="Arial"/>
            </a:endParaRPr>
          </a:p>
        </p:txBody>
      </p:sp>
      <p:sp>
        <p:nvSpPr>
          <p:cNvPr id="126" name="TextBox 5"/>
          <p:cNvSpPr/>
          <p:nvPr/>
        </p:nvSpPr>
        <p:spPr>
          <a:xfrm>
            <a:off x="65844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Idempotent producer removes duplicates caused by retries.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Transactions can atomically write output and commit consumed offsets.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Read-process-write Kafka pipelines can be made exactly-once.</a:t>
            </a:r>
            <a:endParaRPr lang="en-IN" sz="1350" b="0" u="none" strike="noStrike">
              <a:solidFill>
                <a:srgbClr val="000000"/>
              </a:solidFill>
              <a:effectLst/>
              <a:uFillTx/>
              <a:latin typeface="Arial"/>
            </a:endParaRPr>
          </a:p>
        </p:txBody>
      </p:sp>
      <p:sp>
        <p:nvSpPr>
          <p:cNvPr id="127" name="TextBox 6"/>
          <p:cNvSpPr/>
          <p:nvPr/>
        </p:nvSpPr>
        <p:spPr>
          <a:xfrm>
            <a:off x="468180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External databases and APIs need idempotent writes.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Side effects outside Kafka must be designed carefully.</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The lab uses manual commit to make progress visible.</a:t>
            </a:r>
            <a:endParaRPr lang="en-IN" sz="1350" b="0" u="none" strike="noStrike">
              <a:solidFill>
                <a:srgbClr val="000000"/>
              </a:solidFill>
              <a:effectLst/>
              <a:uFillTx/>
              <a:latin typeface="Arial"/>
            </a:endParaRPr>
          </a:p>
        </p:txBody>
      </p:sp>
      <p:sp>
        <p:nvSpPr>
          <p:cNvPr id="128" name="TextBox 7"/>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[16]</a:t>
            </a:r>
            <a:endParaRPr lang="en-IN" sz="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129" name="Text 0"/>
          <p:cNvSpPr/>
          <p:nvPr/>
        </p:nvSpPr>
        <p:spPr>
          <a:xfrm>
            <a:off x="457200" y="27432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Mini Exercise: Consumer Groups</a:t>
            </a:r>
            <a:endParaRPr lang="en-IN" sz="2200" b="0" u="none" strike="noStrike">
              <a:solidFill>
                <a:srgbClr val="000000"/>
              </a:solidFill>
              <a:effectLst/>
              <a:uFillTx/>
              <a:latin typeface="Arial"/>
            </a:endParaRPr>
          </a:p>
        </p:txBody>
      </p:sp>
      <p:sp>
        <p:nvSpPr>
          <p:cNvPr id="130" name="Text 1"/>
          <p:cNvSpPr/>
          <p:nvPr/>
        </p:nvSpPr>
        <p:spPr>
          <a:xfrm>
            <a:off x="457200" y="914400"/>
            <a:ext cx="5028480" cy="22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Scenario:</a:t>
            </a:r>
            <a:endParaRPr lang="en-IN" sz="1200" b="0" u="none" strike="noStrike">
              <a:solidFill>
                <a:srgbClr val="000000"/>
              </a:solidFill>
              <a:effectLst/>
              <a:uFillTx/>
              <a:latin typeface="Arial"/>
            </a:endParaRPr>
          </a:p>
          <a:p>
            <a:pPr defTabSz="914400">
              <a:lnSpc>
                <a:spcPct val="100000"/>
              </a:lnSpc>
            </a:pPr>
            <a:r>
              <a:rPr lang="en-US" sz="1200" b="0" u="none" strike="noStrike">
                <a:solidFill>
                  <a:srgbClr val="385170"/>
                </a:solidFill>
                <a:effectLst/>
                <a:uFillTx/>
                <a:latin typeface="Calibri"/>
              </a:rPr>
              <a:t>You have 6 partitions in a topic and want to process them concurrently with consumer group G.</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If you launch 3 consumers, how many partitions does each get?</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What happens if you add a 4th consumer?</a:t>
            </a:r>
            <a:endParaRPr lang="en-IN" sz="1100" b="0" u="none" strike="noStrike">
              <a:solidFill>
                <a:srgbClr val="000000"/>
              </a:solidFill>
              <a:effectLst/>
              <a:uFillTx/>
              <a:latin typeface="Arial"/>
            </a:endParaRPr>
          </a:p>
          <a:p>
            <a:pPr defTabSz="914400">
              <a:lnSpc>
                <a:spcPct val="100000"/>
              </a:lnSpc>
            </a:pPr>
            <a:r>
              <a:rPr lang="en-US" sz="1000" b="0" i="1" u="none" strike="noStrike">
                <a:solidFill>
                  <a:srgbClr val="5A7BB5"/>
                </a:solidFill>
                <a:effectLst/>
                <a:uFillTx/>
                <a:latin typeface="Calibri"/>
              </a:rPr>
              <a:t>• Try this with the command: </a:t>
            </a:r>
            <a:endParaRPr lang="en-IN" sz="1000" b="0" u="none" strike="noStrike">
              <a:solidFill>
                <a:srgbClr val="000000"/>
              </a:solidFill>
              <a:effectLst/>
              <a:uFillTx/>
              <a:latin typeface="Arial"/>
            </a:endParaRPr>
          </a:p>
          <a:p>
            <a:pPr defTabSz="914400">
              <a:lnSpc>
                <a:spcPct val="100000"/>
              </a:lnSpc>
            </a:pPr>
            <a:r>
              <a:rPr lang="en-US" sz="1000" b="0" i="1" u="none" strike="noStrike">
                <a:solidFill>
                  <a:srgbClr val="5A7BB5"/>
                </a:solidFill>
                <a:effectLst/>
                <a:uFillTx/>
                <a:latin typeface="Calibri"/>
              </a:rPr>
              <a:t>kafka-console-consumer.sh --bootstrap-server localhost:9092 --topic mytopic --group G</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p:txBody>
      </p:sp>
      <p:sp>
        <p:nvSpPr>
          <p:cNvPr id="131" name="Text 2"/>
          <p:cNvSpPr/>
          <p:nvPr/>
        </p:nvSpPr>
        <p:spPr>
          <a:xfrm>
            <a:off x="5669280" y="914400"/>
            <a:ext cx="3199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Quick Quiz:</a:t>
            </a:r>
            <a:endParaRPr lang="en-IN" sz="1400" b="0" u="none" strike="noStrike">
              <a:solidFill>
                <a:srgbClr val="000000"/>
              </a:solidFill>
              <a:effectLst/>
              <a:uFillTx/>
              <a:latin typeface="Arial"/>
            </a:endParaRPr>
          </a:p>
        </p:txBody>
      </p:sp>
      <p:sp>
        <p:nvSpPr>
          <p:cNvPr id="132" name="Text 3"/>
          <p:cNvSpPr/>
          <p:nvPr/>
        </p:nvSpPr>
        <p:spPr>
          <a:xfrm>
            <a:off x="5669280" y="1287975"/>
            <a:ext cx="319968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dirty="0">
                <a:solidFill>
                  <a:srgbClr val="2F5597"/>
                </a:solidFill>
                <a:effectLst/>
                <a:uFillTx/>
                <a:latin typeface="Calibri"/>
              </a:rPr>
              <a:t>Q1. Which assignment strategy </a:t>
            </a:r>
            <a:r>
              <a:rPr lang="en-US" sz="1100" b="1" u="none" strike="noStrike" dirty="0" err="1">
                <a:solidFill>
                  <a:srgbClr val="2F5597"/>
                </a:solidFill>
                <a:effectLst/>
                <a:uFillTx/>
                <a:latin typeface="Calibri"/>
              </a:rPr>
              <a:t>minimises</a:t>
            </a:r>
            <a:r>
              <a:rPr lang="en-US" sz="1100" b="1" u="none" strike="noStrike" dirty="0">
                <a:solidFill>
                  <a:srgbClr val="2F5597"/>
                </a:solidFill>
                <a:effectLst/>
                <a:uFillTx/>
                <a:latin typeface="Calibri"/>
              </a:rPr>
              <a:t> disruption during rebalances?</a:t>
            </a:r>
            <a:endParaRPr lang="en-IN" sz="11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a) Range</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b) Round‑Robin</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c) Sticky</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d) Cooperative Sticky</a:t>
            </a:r>
            <a:endParaRPr lang="en-IN" sz="1000" b="0" u="none" strike="noStrike" dirty="0">
              <a:solidFill>
                <a:srgbClr val="000000"/>
              </a:solidFill>
              <a:effectLst/>
              <a:uFillTx/>
              <a:latin typeface="Arial"/>
            </a:endParaRPr>
          </a:p>
          <a:p>
            <a:pPr defTabSz="914400">
              <a:lnSpc>
                <a:spcPct val="100000"/>
              </a:lnSpc>
              <a:tabLst>
                <a:tab pos="0" algn="l"/>
              </a:tabLst>
            </a:pPr>
            <a:endParaRPr lang="en-IN" sz="1100" b="0" u="none" strike="noStrike" dirty="0">
              <a:solidFill>
                <a:srgbClr val="000000"/>
              </a:solidFill>
              <a:effectLst/>
              <a:uFillTx/>
              <a:latin typeface="Arial"/>
            </a:endParaRPr>
          </a:p>
          <a:p>
            <a:pPr defTabSz="914400">
              <a:lnSpc>
                <a:spcPct val="100000"/>
              </a:lnSpc>
              <a:tabLst>
                <a:tab pos="0" algn="l"/>
              </a:tabLst>
            </a:pPr>
            <a:endParaRPr lang="en-IN" sz="1100" b="0" u="none" strike="noStrike" dirty="0">
              <a:solidFill>
                <a:srgbClr val="000000"/>
              </a:solidFill>
              <a:effectLst/>
              <a:uFillTx/>
              <a:latin typeface="Arial"/>
            </a:endParaRPr>
          </a:p>
          <a:p>
            <a:pPr defTabSz="914400">
              <a:lnSpc>
                <a:spcPct val="100000"/>
              </a:lnSpc>
              <a:tabLst>
                <a:tab pos="0" algn="l"/>
              </a:tabLst>
            </a:pPr>
            <a:r>
              <a:rPr lang="en-US" sz="1100" b="1" u="none" strike="noStrike" dirty="0">
                <a:solidFill>
                  <a:srgbClr val="2F5597"/>
                </a:solidFill>
                <a:effectLst/>
                <a:uFillTx/>
                <a:latin typeface="Calibri"/>
              </a:rPr>
              <a:t>Q2. To avoid unnecessary rebalances on pod restarts, which property should you configure?</a:t>
            </a:r>
            <a:endParaRPr lang="en-IN" sz="11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a) session.timeout.ms</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b) group.instance.id</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c) max.poll.interval.ms</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d) </a:t>
            </a:r>
            <a:r>
              <a:rPr lang="en-US" sz="1000" b="0" u="none" strike="noStrike" dirty="0" err="1">
                <a:solidFill>
                  <a:srgbClr val="385170"/>
                </a:solidFill>
                <a:effectLst/>
                <a:uFillTx/>
                <a:latin typeface="Calibri"/>
              </a:rPr>
              <a:t>enable.idempotence</a:t>
            </a:r>
            <a:endParaRPr lang="en-IN" sz="1000" b="0" u="none" strike="noStrike" dirty="0">
              <a:solidFill>
                <a:srgbClr val="000000"/>
              </a:solidFill>
              <a:effectLst/>
              <a:uFillTx/>
              <a:latin typeface="Arial"/>
            </a:endParaRPr>
          </a:p>
        </p:txBody>
      </p:sp>
      <p:sp>
        <p:nvSpPr>
          <p:cNvPr id="133"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Consumer Groups</a:t>
            </a:r>
            <a:endParaRPr lang="en-IN" sz="2200" b="0" u="none" strike="noStrike">
              <a:solidFill>
                <a:srgbClr val="000000"/>
              </a:solidFill>
              <a:effectLst/>
              <a:uFillTx/>
              <a:latin typeface="Arial"/>
            </a:endParaRPr>
          </a:p>
        </p:txBody>
      </p:sp>
      <p:sp>
        <p:nvSpPr>
          <p:cNvPr id="135"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36"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Solution / trainer answer key</a:t>
            </a:r>
            <a:endParaRPr lang="en-IN" sz="1150" b="0" u="none" strike="noStrike">
              <a:solidFill>
                <a:srgbClr val="000000"/>
              </a:solidFill>
              <a:effectLst/>
              <a:uFillTx/>
              <a:latin typeface="Arial"/>
            </a:endParaRPr>
          </a:p>
        </p:txBody>
      </p:sp>
      <p:sp>
        <p:nvSpPr>
          <p:cNvPr id="137" name="TextBox 4"/>
          <p:cNvSpPr/>
          <p:nvPr/>
        </p:nvSpPr>
        <p:spPr>
          <a:xfrm>
            <a:off x="640080" y="1234440"/>
            <a:ext cx="7406280" cy="45228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dirty="0">
                <a:solidFill>
                  <a:srgbClr val="1E1E1E"/>
                </a:solidFill>
                <a:effectLst/>
                <a:uFillTx/>
                <a:latin typeface="Calibri"/>
              </a:rPr>
              <a:t>With 6 partitions and 3 consumers in one group, each consumer can receive about 2 partitions.</a:t>
            </a:r>
            <a:endParaRPr lang="en-IN" sz="15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dirty="0">
                <a:solidFill>
                  <a:srgbClr val="1E1E1E"/>
                </a:solidFill>
                <a:effectLst/>
                <a:uFillTx/>
                <a:latin typeface="Calibri"/>
              </a:rPr>
              <a:t>A seventh consumer in the same group would be idle if the topic still has only 6 partitions.</a:t>
            </a:r>
            <a:endParaRPr lang="en-IN" sz="15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dirty="0">
                <a:solidFill>
                  <a:srgbClr val="1E1E1E"/>
                </a:solidFill>
                <a:effectLst/>
                <a:uFillTx/>
                <a:latin typeface="Calibri"/>
              </a:rPr>
              <a:t>Different group IDs are independent subscribers and each group keeps its own committed offsets.</a:t>
            </a:r>
            <a:endParaRPr lang="en-IN" sz="15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dirty="0">
                <a:solidFill>
                  <a:srgbClr val="1E1E1E"/>
                </a:solidFill>
                <a:effectLst/>
                <a:uFillTx/>
                <a:latin typeface="Calibri"/>
              </a:rPr>
              <a:t>Cooperative sticky assignment usually minimizes disruption during rebalances.</a:t>
            </a:r>
          </a:p>
          <a:p>
            <a:r>
              <a:rPr lang="en-IN" sz="1600" b="1" dirty="0"/>
              <a:t>Q1. Which assignment strategy minimises disruption during rebalances?</a:t>
            </a:r>
            <a:br>
              <a:rPr lang="en-IN" sz="1600" dirty="0"/>
            </a:br>
            <a:r>
              <a:rPr lang="en-IN" sz="1600" b="1" dirty="0"/>
              <a:t>d) Cooperative Sticky</a:t>
            </a:r>
            <a:endParaRPr lang="en-IN" sz="1600" dirty="0"/>
          </a:p>
          <a:p>
            <a:r>
              <a:rPr lang="en-IN" sz="1600" b="1" dirty="0"/>
              <a:t>Cooperative Sticky</a:t>
            </a:r>
            <a:r>
              <a:rPr lang="en-IN" sz="1600" dirty="0"/>
              <a:t> rebalancing avoids stopping all consumers at once. It moves only the partitions that need to move, so disruption is minimal.</a:t>
            </a:r>
          </a:p>
          <a:p>
            <a:r>
              <a:rPr lang="en-IN" sz="1600" b="1" dirty="0"/>
              <a:t>Q2. To avoid unnecessary rebalances on pod restarts, which property should you configure?</a:t>
            </a:r>
            <a:br>
              <a:rPr lang="en-IN" sz="1600" dirty="0"/>
            </a:br>
            <a:r>
              <a:rPr lang="en-IN" sz="1600" b="1" dirty="0"/>
              <a:t>b) </a:t>
            </a:r>
            <a:r>
              <a:rPr lang="en-IN" b="1" dirty="0"/>
              <a:t>group.instance.id</a:t>
            </a:r>
            <a:endParaRPr lang="en-IN" sz="1600" dirty="0"/>
          </a:p>
          <a:p>
            <a:r>
              <a:rPr lang="en-IN" dirty="0"/>
              <a:t>group.instance.id</a:t>
            </a:r>
            <a:r>
              <a:rPr lang="en-IN" sz="1600" dirty="0"/>
              <a:t> enables </a:t>
            </a:r>
            <a:r>
              <a:rPr lang="en-IN" sz="1600" b="1" dirty="0"/>
              <a:t>static membership</a:t>
            </a:r>
            <a:r>
              <a:rPr lang="en-IN" sz="1600" dirty="0"/>
              <a:t>, so Kafka can recognize the same consumer instance after a restart and avoid unnecessary rebalances.</a:t>
            </a:r>
          </a:p>
          <a:p>
            <a:pPr marL="343080" indent="-171360" defTabSz="914400">
              <a:lnSpc>
                <a:spcPct val="100000"/>
              </a:lnSpc>
              <a:spcAft>
                <a:spcPts val="601"/>
              </a:spcAft>
              <a:buClr>
                <a:srgbClr val="1E1E1E"/>
              </a:buClr>
              <a:buFont typeface="Symbol" charset="2"/>
              <a:buChar char=""/>
            </a:pPr>
            <a:endParaRPr lang="en-IN" sz="1500" b="0" u="none" strike="noStrike" dirty="0">
              <a:solidFill>
                <a:srgbClr val="000000"/>
              </a:solidFill>
              <a:effectLst/>
              <a:uFillTx/>
              <a:latin typeface="Arial"/>
            </a:endParaRPr>
          </a:p>
        </p:txBody>
      </p:sp>
      <p:sp>
        <p:nvSpPr>
          <p:cNvPr id="138"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[18]</a:t>
            </a:r>
            <a:endParaRPr lang="en-IN" sz="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Offsets &amp; Internal Topics</a:t>
            </a:r>
            <a:endParaRPr lang="en-IN" sz="2200" b="0" u="none" strike="noStrike">
              <a:solidFill>
                <a:srgbClr val="000000"/>
              </a:solidFill>
              <a:effectLst/>
              <a:uFillTx/>
              <a:latin typeface="Arial"/>
            </a:endParaRPr>
          </a:p>
        </p:txBody>
      </p:sp>
      <p:sp>
        <p:nvSpPr>
          <p:cNvPr id="140" name="Text 1"/>
          <p:cNvSpPr/>
          <p:nvPr/>
        </p:nvSpPr>
        <p:spPr>
          <a:xfrm>
            <a:off x="457200" y="1097280"/>
            <a:ext cx="5028480" cy="182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Every record in a partition has a unique offset — its position in the log.</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The consumer group coordinator stores the last committed offset per partition in a compacted internal topic, __consumer_offsets.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Upon restart, consumers resume from the committed offset, ensuring no messages are missed.</a:t>
            </a:r>
            <a:endParaRPr lang="en-IN" sz="1100" b="0" u="none" strike="noStrike">
              <a:solidFill>
                <a:srgbClr val="000000"/>
              </a:solidFill>
              <a:effectLst/>
              <a:uFillTx/>
              <a:latin typeface="Arial"/>
            </a:endParaRPr>
          </a:p>
        </p:txBody>
      </p:sp>
      <p:sp>
        <p:nvSpPr>
          <p:cNvPr id="141" name="Shape 2"/>
          <p:cNvSpPr/>
          <p:nvPr/>
        </p:nvSpPr>
        <p:spPr>
          <a:xfrm>
            <a:off x="5669280" y="1280160"/>
            <a:ext cx="2742480" cy="27360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142" name="Shape 3"/>
          <p:cNvSpPr/>
          <p:nvPr/>
        </p:nvSpPr>
        <p:spPr>
          <a:xfrm>
            <a:off x="576072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43" name="Text 4"/>
          <p:cNvSpPr/>
          <p:nvPr/>
        </p:nvSpPr>
        <p:spPr>
          <a:xfrm>
            <a:off x="566928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0</a:t>
            </a:r>
            <a:endParaRPr lang="en-IN" sz="800" b="0" u="none" strike="noStrike">
              <a:solidFill>
                <a:srgbClr val="000000"/>
              </a:solidFill>
              <a:effectLst/>
              <a:uFillTx/>
              <a:latin typeface="Arial"/>
            </a:endParaRPr>
          </a:p>
        </p:txBody>
      </p:sp>
      <p:sp>
        <p:nvSpPr>
          <p:cNvPr id="144" name="Shape 5"/>
          <p:cNvSpPr/>
          <p:nvPr/>
        </p:nvSpPr>
        <p:spPr>
          <a:xfrm>
            <a:off x="617220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45" name="Text 6"/>
          <p:cNvSpPr/>
          <p:nvPr/>
        </p:nvSpPr>
        <p:spPr>
          <a:xfrm>
            <a:off x="608076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1</a:t>
            </a:r>
            <a:endParaRPr lang="en-IN" sz="800" b="0" u="none" strike="noStrike">
              <a:solidFill>
                <a:srgbClr val="000000"/>
              </a:solidFill>
              <a:effectLst/>
              <a:uFillTx/>
              <a:latin typeface="Arial"/>
            </a:endParaRPr>
          </a:p>
        </p:txBody>
      </p:sp>
      <p:sp>
        <p:nvSpPr>
          <p:cNvPr id="146" name="Shape 7"/>
          <p:cNvSpPr/>
          <p:nvPr/>
        </p:nvSpPr>
        <p:spPr>
          <a:xfrm>
            <a:off x="658368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47" name="Text 8"/>
          <p:cNvSpPr/>
          <p:nvPr/>
        </p:nvSpPr>
        <p:spPr>
          <a:xfrm>
            <a:off x="649224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2</a:t>
            </a:r>
            <a:endParaRPr lang="en-IN" sz="800" b="0" u="none" strike="noStrike">
              <a:solidFill>
                <a:srgbClr val="000000"/>
              </a:solidFill>
              <a:effectLst/>
              <a:uFillTx/>
              <a:latin typeface="Arial"/>
            </a:endParaRPr>
          </a:p>
        </p:txBody>
      </p:sp>
      <p:sp>
        <p:nvSpPr>
          <p:cNvPr id="148" name="Shape 9"/>
          <p:cNvSpPr/>
          <p:nvPr/>
        </p:nvSpPr>
        <p:spPr>
          <a:xfrm>
            <a:off x="699516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49" name="Text 10"/>
          <p:cNvSpPr/>
          <p:nvPr/>
        </p:nvSpPr>
        <p:spPr>
          <a:xfrm>
            <a:off x="690372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3</a:t>
            </a:r>
            <a:endParaRPr lang="en-IN" sz="800" b="0" u="none" strike="noStrike">
              <a:solidFill>
                <a:srgbClr val="000000"/>
              </a:solidFill>
              <a:effectLst/>
              <a:uFillTx/>
              <a:latin typeface="Arial"/>
            </a:endParaRPr>
          </a:p>
        </p:txBody>
      </p:sp>
      <p:sp>
        <p:nvSpPr>
          <p:cNvPr id="150" name="Shape 11"/>
          <p:cNvSpPr/>
          <p:nvPr/>
        </p:nvSpPr>
        <p:spPr>
          <a:xfrm>
            <a:off x="740664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51" name="Text 12"/>
          <p:cNvSpPr/>
          <p:nvPr/>
        </p:nvSpPr>
        <p:spPr>
          <a:xfrm>
            <a:off x="731520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4</a:t>
            </a:r>
            <a:endParaRPr lang="en-IN" sz="800" b="0" u="none" strike="noStrike">
              <a:solidFill>
                <a:srgbClr val="000000"/>
              </a:solidFill>
              <a:effectLst/>
              <a:uFillTx/>
              <a:latin typeface="Arial"/>
            </a:endParaRPr>
          </a:p>
        </p:txBody>
      </p:sp>
      <p:sp>
        <p:nvSpPr>
          <p:cNvPr id="152" name="Shape 13"/>
          <p:cNvSpPr/>
          <p:nvPr/>
        </p:nvSpPr>
        <p:spPr>
          <a:xfrm>
            <a:off x="7818120" y="1554480"/>
            <a:ext cx="360" cy="13716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153" name="Text 14"/>
          <p:cNvSpPr/>
          <p:nvPr/>
        </p:nvSpPr>
        <p:spPr>
          <a:xfrm>
            <a:off x="7726680" y="1691640"/>
            <a:ext cx="2736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5</a:t>
            </a:r>
            <a:endParaRPr lang="en-IN" sz="800" b="0" u="none" strike="noStrike">
              <a:solidFill>
                <a:srgbClr val="000000"/>
              </a:solidFill>
              <a:effectLst/>
              <a:uFillTx/>
              <a:latin typeface="Arial"/>
            </a:endParaRPr>
          </a:p>
        </p:txBody>
      </p:sp>
      <p:sp>
        <p:nvSpPr>
          <p:cNvPr id="154" name="Shape 15"/>
          <p:cNvSpPr/>
          <p:nvPr/>
        </p:nvSpPr>
        <p:spPr>
          <a:xfrm>
            <a:off x="7315200" y="914400"/>
            <a:ext cx="273600" cy="365040"/>
          </a:xfrm>
          <a:prstGeom prst="up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155" name="Text 16"/>
          <p:cNvSpPr/>
          <p:nvPr/>
        </p:nvSpPr>
        <p:spPr>
          <a:xfrm>
            <a:off x="7040880" y="548640"/>
            <a:ext cx="109656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385170"/>
                </a:solidFill>
                <a:effectLst/>
                <a:uFillTx/>
                <a:latin typeface="Calibri"/>
              </a:rPr>
              <a:t>Committed Offset</a:t>
            </a:r>
            <a:endParaRPr lang="en-IN" sz="900" b="0" u="none" strike="noStrike">
              <a:solidFill>
                <a:srgbClr val="000000"/>
              </a:solidFill>
              <a:effectLst/>
              <a:uFillTx/>
              <a:latin typeface="Arial"/>
            </a:endParaRPr>
          </a:p>
        </p:txBody>
      </p:sp>
      <p:sp>
        <p:nvSpPr>
          <p:cNvPr id="156" name="Text 17"/>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Committing Offsets</a:t>
            </a:r>
            <a:endParaRPr lang="en-IN" sz="2200" b="0" u="none" strike="noStrike">
              <a:solidFill>
                <a:srgbClr val="000000"/>
              </a:solidFill>
              <a:effectLst/>
              <a:uFillTx/>
              <a:latin typeface="Arial"/>
            </a:endParaRPr>
          </a:p>
        </p:txBody>
      </p:sp>
      <p:sp>
        <p:nvSpPr>
          <p:cNvPr id="158" name="Text 1"/>
          <p:cNvSpPr/>
          <p:nvPr/>
        </p:nvSpPr>
        <p:spPr>
          <a:xfrm>
            <a:off x="457200" y="1005840"/>
            <a:ext cx="502848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Auto Commit (enable.auto.commit=true)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Offsets are periodically committed in the background.</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Simplicity comes at the cost of potential data loss on crash.</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Manual Commit (enable.auto.commit=false)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Application explicitly commits offsets after processing.</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Allows at‑least‑once delivery by placing commit after acking downstream.</a:t>
            </a:r>
            <a:endParaRPr lang="en-IN" sz="1100" b="0" u="none" strike="noStrike">
              <a:solidFill>
                <a:srgbClr val="000000"/>
              </a:solidFill>
              <a:effectLst/>
              <a:uFillTx/>
              <a:latin typeface="Arial"/>
            </a:endParaRPr>
          </a:p>
        </p:txBody>
      </p:sp>
      <p:sp>
        <p:nvSpPr>
          <p:cNvPr id="159" name="Text 2"/>
          <p:cNvSpPr/>
          <p:nvPr/>
        </p:nvSpPr>
        <p:spPr>
          <a:xfrm>
            <a:off x="5669280" y="100584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Commit APIs</a:t>
            </a:r>
            <a:endParaRPr lang="en-IN" sz="1200" b="0" u="none" strike="noStrike">
              <a:solidFill>
                <a:srgbClr val="000000"/>
              </a:solidFill>
              <a:effectLst/>
              <a:uFillTx/>
              <a:latin typeface="Arial"/>
            </a:endParaRPr>
          </a:p>
        </p:txBody>
      </p:sp>
      <p:sp>
        <p:nvSpPr>
          <p:cNvPr id="160" name="Text 3"/>
          <p:cNvSpPr/>
          <p:nvPr/>
        </p:nvSpPr>
        <p:spPr>
          <a:xfrm>
            <a:off x="5669280" y="1280160"/>
            <a:ext cx="3199680" cy="191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rgbClr val="385170"/>
                </a:solidFill>
                <a:effectLst/>
                <a:uFillTx/>
                <a:latin typeface="Calibri"/>
              </a:rPr>
              <a:t>commitSync()</a:t>
            </a:r>
            <a:endParaRPr lang="en-IN" sz="11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Waits for broker ack, blocks until commit is complete.</a:t>
            </a:r>
            <a:endParaRPr lang="en-IN" sz="1000" b="0" u="none" strike="noStrike">
              <a:solidFill>
                <a:srgbClr val="000000"/>
              </a:solidFill>
              <a:effectLst/>
              <a:uFillTx/>
              <a:latin typeface="Arial"/>
            </a:endParaRPr>
          </a:p>
          <a:p>
            <a:pPr defTabSz="914400">
              <a:lnSpc>
                <a:spcPct val="100000"/>
              </a:lnSpc>
            </a:pPr>
            <a:endParaRPr lang="en-IN" sz="1000" b="0" u="none" strike="noStrike">
              <a:solidFill>
                <a:srgbClr val="000000"/>
              </a:solidFill>
              <a:effectLst/>
              <a:uFillTx/>
              <a:latin typeface="Arial"/>
            </a:endParaRPr>
          </a:p>
          <a:p>
            <a:pPr defTabSz="914400">
              <a:lnSpc>
                <a:spcPct val="100000"/>
              </a:lnSpc>
            </a:pPr>
            <a:r>
              <a:rPr lang="en-US" sz="1100" b="1" u="none" strike="noStrike">
                <a:solidFill>
                  <a:srgbClr val="385170"/>
                </a:solidFill>
                <a:effectLst/>
                <a:uFillTx/>
                <a:latin typeface="Calibri"/>
              </a:rPr>
              <a:t>commitAsync()</a:t>
            </a:r>
            <a:endParaRPr lang="en-IN" sz="11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Sends commit and continues; may reorder commits; handle errors in callback.</a:t>
            </a:r>
            <a:endParaRPr lang="en-IN" sz="1000" b="0" u="none" strike="noStrike">
              <a:solidFill>
                <a:srgbClr val="000000"/>
              </a:solidFill>
              <a:effectLst/>
              <a:uFillTx/>
              <a:latin typeface="Arial"/>
            </a:endParaRPr>
          </a:p>
        </p:txBody>
      </p:sp>
      <p:sp>
        <p:nvSpPr>
          <p:cNvPr id="161"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Offset Reset &amp; Seeking</a:t>
            </a:r>
            <a:endParaRPr lang="en-IN" sz="2200" b="0" u="none" strike="noStrike">
              <a:solidFill>
                <a:srgbClr val="000000"/>
              </a:solidFill>
              <a:effectLst/>
              <a:uFillTx/>
              <a:latin typeface="Arial"/>
            </a:endParaRPr>
          </a:p>
        </p:txBody>
      </p:sp>
      <p:sp>
        <p:nvSpPr>
          <p:cNvPr id="163" name="Text 1"/>
          <p:cNvSpPr/>
          <p:nvPr/>
        </p:nvSpPr>
        <p:spPr>
          <a:xfrm>
            <a:off x="457200" y="1097280"/>
            <a:ext cx="86860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Resetting Offsets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Set auto.offset.reset=earliest or latest to control where a new group starts.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Use kafka-consumer-groups.sh --reset-offsets to rewind or skip offsets.</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Seeking in the API</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consumer.seek(partition, offset) lets you reposition at a specific offset.</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consumer.seekToBeginning() / seekToEnd() can rewind or fast‑forward.</a:t>
            </a:r>
            <a:endParaRPr lang="en-IN" sz="1100" b="0" u="none" strike="noStrike">
              <a:solidFill>
                <a:srgbClr val="000000"/>
              </a:solidFill>
              <a:effectLst/>
              <a:uFillTx/>
              <a:latin typeface="Arial"/>
            </a:endParaRPr>
          </a:p>
        </p:txBody>
      </p:sp>
      <p:sp>
        <p:nvSpPr>
          <p:cNvPr id="164"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Monitoring Consumer Lag</a:t>
            </a:r>
            <a:endParaRPr lang="en-IN" sz="2200" b="0" u="none" strike="noStrike">
              <a:solidFill>
                <a:srgbClr val="000000"/>
              </a:solidFill>
              <a:effectLst/>
              <a:uFillTx/>
              <a:latin typeface="Arial"/>
            </a:endParaRPr>
          </a:p>
        </p:txBody>
      </p:sp>
      <p:sp>
        <p:nvSpPr>
          <p:cNvPr id="166" name="Text 1"/>
          <p:cNvSpPr/>
          <p:nvPr/>
        </p:nvSpPr>
        <p:spPr>
          <a:xfrm>
            <a:off x="457200" y="1097280"/>
            <a:ext cx="86860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Consumer Lag</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Lag is the difference between the latest offset in a partition and the last committed offset.</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Monitor lag to detect slow consumers or backlogs.</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Monitoring Tools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kafka-consumer-groups.sh --describe: CLI tool to list lag per group.</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 metrics (records-lag, records-lag-max) via JMX or Prometheus.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UI tools (Confluent Control Center, Burrow, Conduktor) provide dashboards for lag.</a:t>
            </a:r>
            <a:endParaRPr lang="en-IN" sz="1100" b="0" u="none" strike="noStrike">
              <a:solidFill>
                <a:srgbClr val="000000"/>
              </a:solidFill>
              <a:effectLst/>
              <a:uFillTx/>
              <a:latin typeface="Arial"/>
            </a:endParaRPr>
          </a:p>
        </p:txBody>
      </p:sp>
      <p:sp>
        <p:nvSpPr>
          <p:cNvPr id="167"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Consumer Position: Current, Committed, High Watermark</a:t>
            </a:r>
            <a:endParaRPr lang="en-IN" sz="2200" b="0" u="none" strike="noStrike">
              <a:solidFill>
                <a:srgbClr val="000000"/>
              </a:solidFill>
              <a:effectLst/>
              <a:uFillTx/>
              <a:latin typeface="Arial"/>
            </a:endParaRPr>
          </a:p>
        </p:txBody>
      </p:sp>
      <p:sp>
        <p:nvSpPr>
          <p:cNvPr id="169"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170" name="Picture 3" descr="consumer_position.png"/>
          <p:cNvPicPr/>
          <p:nvPr/>
        </p:nvPicPr>
        <p:blipFill>
          <a:blip r:embed="rId2"/>
          <a:stretch/>
        </p:blipFill>
        <p:spPr>
          <a:xfrm>
            <a:off x="640080" y="960120"/>
            <a:ext cx="4251600" cy="3062880"/>
          </a:xfrm>
          <a:prstGeom prst="rect">
            <a:avLst/>
          </a:prstGeom>
          <a:noFill/>
          <a:ln w="0">
            <a:noFill/>
          </a:ln>
        </p:spPr>
      </p:pic>
      <p:sp>
        <p:nvSpPr>
          <p:cNvPr id="171" name="TextBox 4"/>
          <p:cNvSpPr/>
          <p:nvPr/>
        </p:nvSpPr>
        <p:spPr>
          <a:xfrm>
            <a:off x="5212080" y="1051560"/>
            <a:ext cx="310860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Current position is what the consumer has fetched.</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Committed offset is the durable group bookmark.</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Lag compares committed progress with the log end.</a:t>
            </a:r>
            <a:endParaRPr lang="en-IN" sz="1350" b="0" u="none" strike="noStrike">
              <a:solidFill>
                <a:srgbClr val="000000"/>
              </a:solidFill>
              <a:effectLst/>
              <a:uFillTx/>
              <a:latin typeface="Arial"/>
            </a:endParaRPr>
          </a:p>
        </p:txBody>
      </p:sp>
      <p:sp>
        <p:nvSpPr>
          <p:cNvPr id="172" name="TextBox 5"/>
          <p:cNvSpPr/>
          <p:nvPr/>
        </p:nvSpPr>
        <p:spPr>
          <a:xfrm>
            <a:off x="658440" y="4224600"/>
            <a:ext cx="7406280" cy="21924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850" b="0" u="none" strike="noStrike">
                <a:solidFill>
                  <a:srgbClr val="585858"/>
                </a:solidFill>
                <a:effectLst/>
                <a:uFillTx/>
                <a:latin typeface="Calibri"/>
              </a:rPr>
              <a:t>Source: Confluent consumer design documentation.</a:t>
            </a:r>
            <a:endParaRPr lang="en-IN" sz="850" b="0" u="none" strike="noStrike">
              <a:solidFill>
                <a:srgbClr val="000000"/>
              </a:solidFill>
              <a:effectLst/>
              <a:uFillTx/>
              <a:latin typeface="Arial"/>
            </a:endParaRPr>
          </a:p>
        </p:txBody>
      </p:sp>
      <p:sp>
        <p:nvSpPr>
          <p:cNvPr id="173" name="TextBox 6"/>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[23]</a:t>
            </a:r>
            <a:endParaRPr lang="en-IN" sz="8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174"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Mini Exercise: Offsets &amp; Lag</a:t>
            </a:r>
            <a:endParaRPr lang="en-IN" sz="2200" b="0" u="none" strike="noStrike">
              <a:solidFill>
                <a:srgbClr val="000000"/>
              </a:solidFill>
              <a:effectLst/>
              <a:uFillTx/>
              <a:latin typeface="Arial"/>
            </a:endParaRPr>
          </a:p>
        </p:txBody>
      </p:sp>
      <p:sp>
        <p:nvSpPr>
          <p:cNvPr id="175" name="Text 1"/>
          <p:cNvSpPr/>
          <p:nvPr/>
        </p:nvSpPr>
        <p:spPr>
          <a:xfrm>
            <a:off x="457200" y="822960"/>
            <a:ext cx="493704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Exercise: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1. Produce 100 messages to a topic.</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2. Start a consumer group and pause for a minute before committing offsets.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3. Use kafka-consumer-groups.sh --describe to observe lag and committed offsets.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4. Reset offsets to earliest and observe message replay.</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p:txBody>
      </p:sp>
      <p:sp>
        <p:nvSpPr>
          <p:cNvPr id="176"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Quick Quiz:</a:t>
            </a:r>
            <a:endParaRPr lang="en-IN" sz="1400" b="0" u="none" strike="noStrike">
              <a:solidFill>
                <a:srgbClr val="000000"/>
              </a:solidFill>
              <a:effectLst/>
              <a:uFillTx/>
              <a:latin typeface="Arial"/>
            </a:endParaRPr>
          </a:p>
        </p:txBody>
      </p:sp>
      <p:sp>
        <p:nvSpPr>
          <p:cNvPr id="177" name="Text 3"/>
          <p:cNvSpPr/>
          <p:nvPr/>
        </p:nvSpPr>
        <p:spPr>
          <a:xfrm>
            <a:off x="5669280" y="1097280"/>
            <a:ext cx="31996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dirty="0">
                <a:solidFill>
                  <a:srgbClr val="2F5597"/>
                </a:solidFill>
                <a:effectLst/>
                <a:uFillTx/>
                <a:latin typeface="Calibri"/>
              </a:rPr>
              <a:t>Q3. Where are committed offsets stored?</a:t>
            </a:r>
            <a:endParaRPr lang="en-IN" sz="1100" b="0" u="none" strike="noStrike" dirty="0">
              <a:solidFill>
                <a:srgbClr val="000000"/>
              </a:solidFill>
              <a:effectLst/>
              <a:uFillTx/>
              <a:latin typeface="Arial"/>
            </a:endParaRPr>
          </a:p>
          <a:p>
            <a:pPr defTabSz="914400">
              <a:lnSpc>
                <a:spcPct val="100000"/>
              </a:lnSpc>
            </a:pPr>
            <a:r>
              <a:rPr lang="en-US" sz="1000" b="0" u="none" strike="noStrike" dirty="0">
                <a:solidFill>
                  <a:srgbClr val="385170"/>
                </a:solidFill>
                <a:effectLst/>
                <a:uFillTx/>
                <a:latin typeface="Calibri"/>
              </a:rPr>
              <a:t>a) __</a:t>
            </a:r>
            <a:r>
              <a:rPr lang="en-US" sz="1000" b="0" u="none" strike="noStrike" dirty="0" err="1">
                <a:solidFill>
                  <a:srgbClr val="385170"/>
                </a:solidFill>
                <a:effectLst/>
                <a:uFillTx/>
                <a:latin typeface="Calibri"/>
              </a:rPr>
              <a:t>consumer_offsets</a:t>
            </a:r>
            <a:r>
              <a:rPr lang="en-US" sz="1000" b="0" u="none" strike="noStrike" dirty="0">
                <a:solidFill>
                  <a:srgbClr val="385170"/>
                </a:solidFill>
                <a:effectLst/>
                <a:uFillTx/>
                <a:latin typeface="Calibri"/>
              </a:rPr>
              <a:t> internal topic</a:t>
            </a:r>
            <a:endParaRPr lang="en-IN" sz="1000" b="0" u="none" strike="noStrike" dirty="0">
              <a:solidFill>
                <a:srgbClr val="000000"/>
              </a:solidFill>
              <a:effectLst/>
              <a:uFillTx/>
              <a:latin typeface="Arial"/>
            </a:endParaRPr>
          </a:p>
          <a:p>
            <a:pPr defTabSz="914400">
              <a:lnSpc>
                <a:spcPct val="100000"/>
              </a:lnSpc>
            </a:pPr>
            <a:r>
              <a:rPr lang="en-US" sz="1000" b="0" u="none" strike="noStrike" dirty="0">
                <a:solidFill>
                  <a:srgbClr val="385170"/>
                </a:solidFill>
                <a:effectLst/>
                <a:uFillTx/>
                <a:latin typeface="Calibri"/>
              </a:rPr>
              <a:t>b) Each partition log</a:t>
            </a:r>
            <a:endParaRPr lang="en-IN" sz="1000" b="0" u="none" strike="noStrike" dirty="0">
              <a:solidFill>
                <a:srgbClr val="000000"/>
              </a:solidFill>
              <a:effectLst/>
              <a:uFillTx/>
              <a:latin typeface="Arial"/>
            </a:endParaRPr>
          </a:p>
          <a:p>
            <a:pPr defTabSz="914400">
              <a:lnSpc>
                <a:spcPct val="100000"/>
              </a:lnSpc>
            </a:pPr>
            <a:r>
              <a:rPr lang="en-US" sz="1000" b="0" u="none" strike="noStrike" dirty="0">
                <a:solidFill>
                  <a:srgbClr val="385170"/>
                </a:solidFill>
                <a:effectLst/>
                <a:uFillTx/>
                <a:latin typeface="Calibri"/>
              </a:rPr>
              <a:t>c) An external database</a:t>
            </a:r>
            <a:endParaRPr lang="en-IN" sz="1000" b="0" u="none" strike="noStrike" dirty="0">
              <a:solidFill>
                <a:srgbClr val="000000"/>
              </a:solidFill>
              <a:effectLst/>
              <a:uFillTx/>
              <a:latin typeface="Arial"/>
            </a:endParaRPr>
          </a:p>
          <a:p>
            <a:pPr defTabSz="914400">
              <a:lnSpc>
                <a:spcPct val="100000"/>
              </a:lnSpc>
            </a:pPr>
            <a:r>
              <a:rPr lang="en-US" sz="1000" b="0" u="none" strike="noStrike" dirty="0">
                <a:solidFill>
                  <a:srgbClr val="385170"/>
                </a:solidFill>
                <a:effectLst/>
                <a:uFillTx/>
                <a:latin typeface="Calibri"/>
              </a:rPr>
              <a:t>d) Zookeeper</a:t>
            </a:r>
            <a:endParaRPr lang="en-IN" sz="1000" b="0" u="none" strike="noStrike" dirty="0">
              <a:solidFill>
                <a:srgbClr val="000000"/>
              </a:solidFill>
              <a:effectLst/>
              <a:uFillTx/>
              <a:latin typeface="Arial"/>
            </a:endParaRPr>
          </a:p>
          <a:p>
            <a:pPr defTabSz="914400">
              <a:lnSpc>
                <a:spcPct val="100000"/>
              </a:lnSpc>
            </a:pPr>
            <a:endParaRPr lang="en-IN" sz="1000" b="0" u="none" strike="noStrike" dirty="0">
              <a:solidFill>
                <a:srgbClr val="000000"/>
              </a:solidFill>
              <a:effectLst/>
              <a:uFillTx/>
              <a:latin typeface="Arial"/>
            </a:endParaRPr>
          </a:p>
          <a:p>
            <a:pPr defTabSz="914400">
              <a:lnSpc>
                <a:spcPct val="100000"/>
              </a:lnSpc>
            </a:pPr>
            <a:r>
              <a:rPr lang="en-US" sz="1100" b="1" u="none" strike="noStrike" dirty="0">
                <a:solidFill>
                  <a:srgbClr val="2F5597"/>
                </a:solidFill>
                <a:effectLst/>
                <a:uFillTx/>
                <a:latin typeface="Calibri"/>
              </a:rPr>
              <a:t>Q4. Which setting controls where a new consumer group starts reading?</a:t>
            </a:r>
            <a:endParaRPr lang="en-IN" sz="11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a) </a:t>
            </a:r>
            <a:r>
              <a:rPr lang="en-US" sz="1000" b="0" u="none" strike="noStrike" dirty="0" err="1">
                <a:solidFill>
                  <a:srgbClr val="385170"/>
                </a:solidFill>
                <a:effectLst/>
                <a:uFillTx/>
                <a:latin typeface="Calibri"/>
              </a:rPr>
              <a:t>enable.auto.commit</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b) </a:t>
            </a:r>
            <a:r>
              <a:rPr lang="en-US" sz="1000" b="0" u="none" strike="noStrike" dirty="0" err="1">
                <a:solidFill>
                  <a:srgbClr val="385170"/>
                </a:solidFill>
                <a:effectLst/>
                <a:uFillTx/>
                <a:latin typeface="Calibri"/>
              </a:rPr>
              <a:t>auto.offset.reset</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c) session.timeout.ms</a:t>
            </a:r>
            <a:endParaRPr lang="en-IN" sz="1000" b="0" u="none" strike="noStrike" dirty="0">
              <a:solidFill>
                <a:srgbClr val="000000"/>
              </a:solidFill>
              <a:effectLst/>
              <a:uFillTx/>
              <a:latin typeface="Arial"/>
            </a:endParaRPr>
          </a:p>
          <a:p>
            <a:pPr defTabSz="914400">
              <a:lnSpc>
                <a:spcPct val="100000"/>
              </a:lnSpc>
              <a:tabLst>
                <a:tab pos="0" algn="l"/>
              </a:tabLst>
            </a:pPr>
            <a:r>
              <a:rPr lang="en-US" sz="1000" b="0" u="none" strike="noStrike" dirty="0">
                <a:solidFill>
                  <a:srgbClr val="385170"/>
                </a:solidFill>
                <a:effectLst/>
                <a:uFillTx/>
                <a:latin typeface="Calibri"/>
              </a:rPr>
              <a:t>d) </a:t>
            </a:r>
            <a:r>
              <a:rPr lang="en-US" sz="1000" b="0" u="none" strike="noStrike" dirty="0" err="1">
                <a:solidFill>
                  <a:srgbClr val="385170"/>
                </a:solidFill>
                <a:effectLst/>
                <a:uFillTx/>
                <a:latin typeface="Calibri"/>
              </a:rPr>
              <a:t>max.poll.records</a:t>
            </a:r>
            <a:endParaRPr lang="en-IN" sz="1000" b="0" u="none" strike="noStrike" dirty="0">
              <a:solidFill>
                <a:srgbClr val="000000"/>
              </a:solidFill>
              <a:effectLst/>
              <a:uFillTx/>
              <a:latin typeface="Arial"/>
            </a:endParaRPr>
          </a:p>
        </p:txBody>
      </p:sp>
      <p:sp>
        <p:nvSpPr>
          <p:cNvPr id="178"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Offsets and Lag</a:t>
            </a:r>
            <a:endParaRPr lang="en-IN" sz="2200" b="0" u="none" strike="noStrike">
              <a:solidFill>
                <a:srgbClr val="000000"/>
              </a:solidFill>
              <a:effectLst/>
              <a:uFillTx/>
              <a:latin typeface="Arial"/>
            </a:endParaRPr>
          </a:p>
        </p:txBody>
      </p:sp>
      <p:sp>
        <p:nvSpPr>
          <p:cNvPr id="180"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82" name="TextBox 4"/>
          <p:cNvSpPr/>
          <p:nvPr/>
        </p:nvSpPr>
        <p:spPr>
          <a:xfrm>
            <a:off x="341630" y="886943"/>
            <a:ext cx="7406280" cy="23735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Committed offsets are stored in the internal __</a:t>
            </a:r>
            <a:r>
              <a:rPr lang="en-US" sz="900" b="0" u="none" strike="noStrike" dirty="0" err="1">
                <a:solidFill>
                  <a:srgbClr val="1E1E1E"/>
                </a:solidFill>
                <a:effectLst/>
                <a:uFillTx/>
                <a:latin typeface="Calibri"/>
              </a:rPr>
              <a:t>consumer_offsets</a:t>
            </a:r>
            <a:r>
              <a:rPr lang="en-US" sz="900" b="0" u="none" strike="noStrike" dirty="0">
                <a:solidFill>
                  <a:srgbClr val="1E1E1E"/>
                </a:solidFill>
                <a:effectLst/>
                <a:uFillTx/>
                <a:latin typeface="Calibri"/>
              </a:rPr>
              <a:t> topic.</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Lag = log end offset minus the consumer group's committed offset for a partition.</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err="1">
                <a:solidFill>
                  <a:srgbClr val="1E1E1E"/>
                </a:solidFill>
                <a:effectLst/>
                <a:uFillTx/>
                <a:latin typeface="Calibri"/>
              </a:rPr>
              <a:t>auto.offset.reset</a:t>
            </a:r>
            <a:r>
              <a:rPr lang="en-US" sz="900" b="0" u="none" strike="noStrike" dirty="0">
                <a:solidFill>
                  <a:srgbClr val="1E1E1E"/>
                </a:solidFill>
                <a:effectLst/>
                <a:uFillTx/>
                <a:latin typeface="Calibri"/>
              </a:rPr>
              <a:t> applies only when the group has no committed offset.</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Resetting offsets is useful for replay, but replay can repeat downstream side effects.</a:t>
            </a:r>
          </a:p>
          <a:p>
            <a:pPr marL="343080" indent="-171360" defTabSz="914400">
              <a:lnSpc>
                <a:spcPct val="100000"/>
              </a:lnSpc>
              <a:spcAft>
                <a:spcPts val="601"/>
              </a:spcAft>
              <a:buClr>
                <a:srgbClr val="1E1E1E"/>
              </a:buClr>
              <a:buFont typeface="Symbol" charset="2"/>
              <a:buChar char=""/>
            </a:pPr>
            <a:r>
              <a:rPr lang="en-IN" sz="900" b="0" u="none" strike="noStrike" dirty="0">
                <a:solidFill>
                  <a:srgbClr val="000000"/>
                </a:solidFill>
                <a:effectLst/>
                <a:uFillTx/>
                <a:latin typeface="Arial"/>
              </a:rPr>
              <a:t>Q3. Where are committed offsets stored?</a:t>
            </a:r>
          </a:p>
          <a:p>
            <a:pPr marL="343080" indent="-171360" defTabSz="914400">
              <a:lnSpc>
                <a:spcPct val="100000"/>
              </a:lnSpc>
              <a:spcAft>
                <a:spcPts val="601"/>
              </a:spcAft>
              <a:buClr>
                <a:srgbClr val="1E1E1E"/>
              </a:buClr>
              <a:buFont typeface="Symbol" charset="2"/>
              <a:buChar char=""/>
            </a:pPr>
            <a:r>
              <a:rPr lang="en-IN" sz="900" b="0" u="none" strike="noStrike" dirty="0">
                <a:solidFill>
                  <a:srgbClr val="000000"/>
                </a:solidFill>
                <a:effectLst/>
                <a:uFillTx/>
                <a:latin typeface="Arial"/>
              </a:rPr>
              <a:t>a) __</a:t>
            </a:r>
            <a:r>
              <a:rPr lang="en-IN" sz="900" b="0" u="none" strike="noStrike" dirty="0" err="1">
                <a:solidFill>
                  <a:srgbClr val="000000"/>
                </a:solidFill>
                <a:effectLst/>
                <a:uFillTx/>
                <a:latin typeface="Arial"/>
              </a:rPr>
              <a:t>consumer_offsets</a:t>
            </a:r>
            <a:r>
              <a:rPr lang="en-IN" sz="900" b="0" u="none" strike="noStrike" dirty="0">
                <a:solidFill>
                  <a:srgbClr val="000000"/>
                </a:solidFill>
                <a:effectLst/>
                <a:uFillTx/>
                <a:latin typeface="Arial"/>
              </a:rPr>
              <a:t> internal </a:t>
            </a:r>
            <a:r>
              <a:rPr lang="en-IN" sz="900" b="0" u="none" strike="noStrike" dirty="0" err="1">
                <a:solidFill>
                  <a:srgbClr val="000000"/>
                </a:solidFill>
                <a:effectLst/>
                <a:uFillTx/>
                <a:latin typeface="Arial"/>
              </a:rPr>
              <a:t>topicKafka</a:t>
            </a:r>
            <a:r>
              <a:rPr lang="en-IN" sz="900" b="0" u="none" strike="noStrike" dirty="0">
                <a:solidFill>
                  <a:srgbClr val="000000"/>
                </a:solidFill>
                <a:effectLst/>
                <a:uFillTx/>
                <a:latin typeface="Arial"/>
              </a:rPr>
              <a:t> stores committed consumer offsets in the internal Kafka topic called __</a:t>
            </a:r>
            <a:r>
              <a:rPr lang="en-IN" sz="900" b="0" u="none" strike="noStrike" dirty="0" err="1">
                <a:solidFill>
                  <a:srgbClr val="000000"/>
                </a:solidFill>
                <a:effectLst/>
                <a:uFillTx/>
                <a:latin typeface="Arial"/>
              </a:rPr>
              <a:t>consumer_offsets</a:t>
            </a:r>
            <a:r>
              <a:rPr lang="en-IN" sz="900" b="0" u="none" strike="noStrike" dirty="0">
                <a:solidFill>
                  <a:srgbClr val="000000"/>
                </a:solidFill>
                <a:effectLst/>
                <a:uFillTx/>
                <a:latin typeface="Arial"/>
              </a:rPr>
              <a:t>.</a:t>
            </a:r>
          </a:p>
          <a:p>
            <a:pPr marL="343080" indent="-171360" defTabSz="914400">
              <a:lnSpc>
                <a:spcPct val="100000"/>
              </a:lnSpc>
              <a:spcAft>
                <a:spcPts val="601"/>
              </a:spcAft>
              <a:buClr>
                <a:srgbClr val="1E1E1E"/>
              </a:buClr>
              <a:buFont typeface="Symbol" charset="2"/>
              <a:buChar char=""/>
            </a:pPr>
            <a:r>
              <a:rPr lang="en-IN" sz="900" b="0" u="none" strike="noStrike" dirty="0">
                <a:solidFill>
                  <a:srgbClr val="000000"/>
                </a:solidFill>
                <a:effectLst/>
                <a:uFillTx/>
                <a:latin typeface="Arial"/>
              </a:rPr>
              <a:t>Q4. Which setting controls where a new consumer group starts reading?</a:t>
            </a:r>
          </a:p>
          <a:p>
            <a:pPr marL="343080" indent="-171360" defTabSz="914400">
              <a:lnSpc>
                <a:spcPct val="100000"/>
              </a:lnSpc>
              <a:spcAft>
                <a:spcPts val="601"/>
              </a:spcAft>
              <a:buClr>
                <a:srgbClr val="1E1E1E"/>
              </a:buClr>
              <a:buFont typeface="Symbol" charset="2"/>
              <a:buChar char=""/>
            </a:pPr>
            <a:r>
              <a:rPr lang="en-IN" sz="900" b="0" u="none" strike="noStrike" dirty="0">
                <a:solidFill>
                  <a:srgbClr val="000000"/>
                </a:solidFill>
                <a:effectLst/>
                <a:uFillTx/>
                <a:latin typeface="Arial"/>
              </a:rPr>
              <a:t> b) </a:t>
            </a:r>
            <a:r>
              <a:rPr lang="en-IN" sz="900" b="0" u="none" strike="noStrike" dirty="0" err="1">
                <a:solidFill>
                  <a:srgbClr val="000000"/>
                </a:solidFill>
                <a:effectLst/>
                <a:uFillTx/>
                <a:latin typeface="Arial"/>
              </a:rPr>
              <a:t>auto.offset.resetauto.offset.reset</a:t>
            </a:r>
            <a:r>
              <a:rPr lang="en-IN" sz="900" b="0" u="none" strike="noStrike" dirty="0">
                <a:solidFill>
                  <a:srgbClr val="000000"/>
                </a:solidFill>
                <a:effectLst/>
                <a:uFillTx/>
                <a:latin typeface="Arial"/>
              </a:rPr>
              <a:t> decides where a consumer starts when there is no committed offset for that consumer group.</a:t>
            </a:r>
          </a:p>
          <a:p>
            <a:pPr defTabSz="914400">
              <a:lnSpc>
                <a:spcPct val="100000"/>
              </a:lnSpc>
              <a:spcBef>
                <a:spcPts val="1191"/>
              </a:spcBef>
              <a:spcAft>
                <a:spcPts val="992"/>
              </a:spcAft>
            </a:pPr>
            <a:endParaRPr lang="en-IN" sz="900" b="0" u="none" strike="noStrike" dirty="0">
              <a:solidFill>
                <a:srgbClr val="000000"/>
              </a:solidFill>
              <a:effectLst/>
              <a:uFillTx/>
              <a:latin typeface="Arial"/>
            </a:endParaRPr>
          </a:p>
          <a:p>
            <a:pPr defTabSz="914400">
              <a:lnSpc>
                <a:spcPct val="100000"/>
              </a:lnSpc>
              <a:spcAft>
                <a:spcPts val="601"/>
              </a:spcAft>
            </a:pPr>
            <a:endParaRPr lang="en-IN" sz="900" b="0" u="none" strike="noStrike" dirty="0">
              <a:solidFill>
                <a:srgbClr val="000000"/>
              </a:solidFill>
              <a:effectLst/>
              <a:uFillTx/>
              <a:latin typeface="Arial"/>
            </a:endParaRPr>
          </a:p>
        </p:txBody>
      </p:sp>
      <p:sp>
        <p:nvSpPr>
          <p:cNvPr id="183"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[25]</a:t>
            </a:r>
            <a:endParaRPr lang="en-IN" sz="8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CLI Evidence: Describe a Consumer Group</a:t>
            </a:r>
            <a:endParaRPr lang="en-IN" sz="2200" b="0" u="none" strike="noStrike">
              <a:solidFill>
                <a:srgbClr val="000000"/>
              </a:solidFill>
              <a:effectLst/>
              <a:uFillTx/>
              <a:latin typeface="Arial"/>
            </a:endParaRPr>
          </a:p>
        </p:txBody>
      </p:sp>
      <p:sp>
        <p:nvSpPr>
          <p:cNvPr id="185"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86"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The same idea appears in the lab as CURRENT-OFFSET, LOG-END-OFFSET and LAG.</a:t>
            </a:r>
            <a:endParaRPr lang="en-IN" sz="1150" b="0" u="none" strike="noStrike">
              <a:solidFill>
                <a:srgbClr val="000000"/>
              </a:solidFill>
              <a:effectLst/>
              <a:uFillTx/>
              <a:latin typeface="Arial"/>
            </a:endParaRPr>
          </a:p>
        </p:txBody>
      </p:sp>
      <p:sp>
        <p:nvSpPr>
          <p:cNvPr id="187"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Run: kafka-consumer-groups --describe --group cg-day3-python</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CURRENT-OFFSET shows the committed group bookmark.</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LOG-END-OFFSET shows the latest topic position.</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LAG is the work still waiting for that group.</a:t>
            </a:r>
            <a:endParaRPr lang="en-IN" sz="1500" b="0" u="none" strike="noStrike">
              <a:solidFill>
                <a:srgbClr val="000000"/>
              </a:solidFill>
              <a:effectLst/>
              <a:uFillTx/>
              <a:latin typeface="Arial"/>
            </a:endParaRPr>
          </a:p>
        </p:txBody>
      </p:sp>
      <p:sp>
        <p:nvSpPr>
          <p:cNvPr id="188"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[26]</a:t>
            </a:r>
            <a:endParaRPr lang="en-IN" sz="8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Replication &amp; Leaders</a:t>
            </a:r>
            <a:endParaRPr lang="en-IN" sz="2200" b="0" u="none" strike="noStrike">
              <a:solidFill>
                <a:srgbClr val="000000"/>
              </a:solidFill>
              <a:effectLst/>
              <a:uFillTx/>
              <a:latin typeface="Arial"/>
            </a:endParaRPr>
          </a:p>
        </p:txBody>
      </p:sp>
      <p:sp>
        <p:nvSpPr>
          <p:cNvPr id="190" name="Text 1"/>
          <p:cNvSpPr/>
          <p:nvPr/>
        </p:nvSpPr>
        <p:spPr>
          <a:xfrm>
            <a:off x="457200" y="1097280"/>
            <a:ext cx="493704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When a topic is created, you specify a replication factor; e.g., RF=3 means each partition has one leader and two followers.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The leader handles all reads and writes; followers replicate data from the leader.</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On leader failure, a follower in the ISR becomes the new leader automatically.</a:t>
            </a:r>
            <a:endParaRPr lang="en-IN" sz="1100" b="0" u="none" strike="noStrike">
              <a:solidFill>
                <a:srgbClr val="000000"/>
              </a:solidFill>
              <a:effectLst/>
              <a:uFillTx/>
              <a:latin typeface="Arial"/>
            </a:endParaRPr>
          </a:p>
        </p:txBody>
      </p:sp>
      <p:sp>
        <p:nvSpPr>
          <p:cNvPr id="191" name="Shape 2"/>
          <p:cNvSpPr/>
          <p:nvPr/>
        </p:nvSpPr>
        <p:spPr>
          <a:xfrm>
            <a:off x="5669280" y="1188720"/>
            <a:ext cx="913680" cy="365040"/>
          </a:xfrm>
          <a:prstGeom prst="rect">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192" name="Text 3"/>
          <p:cNvSpPr/>
          <p:nvPr/>
        </p:nvSpPr>
        <p:spPr>
          <a:xfrm>
            <a:off x="5669280" y="1188720"/>
            <a:ext cx="913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FFFFFF"/>
                </a:solidFill>
                <a:effectLst/>
                <a:uFillTx/>
                <a:latin typeface="Calibri"/>
              </a:rPr>
              <a:t>Leader</a:t>
            </a:r>
            <a:endParaRPr lang="en-IN" sz="900" b="0" u="none" strike="noStrike">
              <a:solidFill>
                <a:srgbClr val="000000"/>
              </a:solidFill>
              <a:effectLst/>
              <a:uFillTx/>
              <a:latin typeface="Arial"/>
            </a:endParaRPr>
          </a:p>
        </p:txBody>
      </p:sp>
      <p:sp>
        <p:nvSpPr>
          <p:cNvPr id="193" name="Shape 4"/>
          <p:cNvSpPr/>
          <p:nvPr/>
        </p:nvSpPr>
        <p:spPr>
          <a:xfrm>
            <a:off x="6858000" y="1188720"/>
            <a:ext cx="913680" cy="36504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194" name="Text 5"/>
          <p:cNvSpPr/>
          <p:nvPr/>
        </p:nvSpPr>
        <p:spPr>
          <a:xfrm>
            <a:off x="6858000" y="1188720"/>
            <a:ext cx="913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Follower</a:t>
            </a:r>
            <a:endParaRPr lang="en-IN" sz="900" b="0" u="none" strike="noStrike">
              <a:solidFill>
                <a:srgbClr val="000000"/>
              </a:solidFill>
              <a:effectLst/>
              <a:uFillTx/>
              <a:latin typeface="Arial"/>
            </a:endParaRPr>
          </a:p>
        </p:txBody>
      </p:sp>
      <p:sp>
        <p:nvSpPr>
          <p:cNvPr id="195" name="Shape 6"/>
          <p:cNvSpPr/>
          <p:nvPr/>
        </p:nvSpPr>
        <p:spPr>
          <a:xfrm>
            <a:off x="8046720" y="1188720"/>
            <a:ext cx="913680" cy="36504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196" name="Text 7"/>
          <p:cNvSpPr/>
          <p:nvPr/>
        </p:nvSpPr>
        <p:spPr>
          <a:xfrm>
            <a:off x="8046720" y="1188720"/>
            <a:ext cx="9136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Follower</a:t>
            </a:r>
            <a:endParaRPr lang="en-IN" sz="900" b="0" u="none" strike="noStrike">
              <a:solidFill>
                <a:srgbClr val="000000"/>
              </a:solidFill>
              <a:effectLst/>
              <a:uFillTx/>
              <a:latin typeface="Arial"/>
            </a:endParaRPr>
          </a:p>
        </p:txBody>
      </p:sp>
      <p:sp>
        <p:nvSpPr>
          <p:cNvPr id="197" name="Text 8"/>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Read the Diagram: Replicas Live on Different Brokers</a:t>
            </a:r>
            <a:endParaRPr lang="en-IN" sz="2200" b="0" u="none" strike="noStrike">
              <a:solidFill>
                <a:srgbClr val="000000"/>
              </a:solidFill>
              <a:effectLst/>
              <a:uFillTx/>
              <a:latin typeface="Arial"/>
            </a:endParaRPr>
          </a:p>
        </p:txBody>
      </p:sp>
      <p:sp>
        <p:nvSpPr>
          <p:cNvPr id="199" name="Text 1"/>
          <p:cNvSpPr/>
          <p:nvPr/>
        </p:nvSpPr>
        <p:spPr>
          <a:xfrm>
            <a:off x="457200" y="1097280"/>
            <a:ext cx="475416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385170"/>
                </a:solidFill>
                <a:effectLst/>
                <a:uFillTx/>
                <a:latin typeface="Calibri"/>
              </a:rPr>
              <a:t>A partition leader accepts client traffic; replicas on other brokers provide fault tolerance.</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Replication protects availability and durability; it does not add independent ordering lanes.</a:t>
            </a:r>
            <a:endParaRPr lang="en-IN" sz="1100" b="0" u="none" strike="noStrike">
              <a:solidFill>
                <a:srgbClr val="000000"/>
              </a:solidFill>
              <a:effectLst/>
              <a:uFillTx/>
              <a:latin typeface="Arial"/>
            </a:endParaRPr>
          </a:p>
        </p:txBody>
      </p:sp>
      <p:pic>
        <p:nvPicPr>
          <p:cNvPr id="200" name="Image 0"/>
          <p:cNvPicPr/>
          <p:nvPr/>
        </p:nvPicPr>
        <p:blipFill>
          <a:blip r:embed="rId3"/>
          <a:stretch/>
        </p:blipFill>
        <p:spPr>
          <a:xfrm>
            <a:off x="5486400" y="1097280"/>
            <a:ext cx="3199680" cy="2193840"/>
          </a:xfrm>
          <a:prstGeom prst="rect">
            <a:avLst/>
          </a:prstGeom>
          <a:noFill/>
          <a:ln w="0">
            <a:noFill/>
          </a:ln>
        </p:spPr>
      </p:pic>
      <p:sp>
        <p:nvSpPr>
          <p:cNvPr id="201"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 Hodges, Medium, 1 Apr 2024; terms verified with Apache Kafka documentation</a:t>
            </a:r>
            <a:endParaRPr lang="en-IN" sz="7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2"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In‑Sync Replicas (ISR)</a:t>
            </a:r>
            <a:endParaRPr lang="en-IN" sz="2200" b="0" u="none" strike="noStrike">
              <a:solidFill>
                <a:srgbClr val="000000"/>
              </a:solidFill>
              <a:effectLst/>
              <a:uFillTx/>
              <a:latin typeface="Arial"/>
            </a:endParaRPr>
          </a:p>
        </p:txBody>
      </p:sp>
      <p:sp>
        <p:nvSpPr>
          <p:cNvPr id="203" name="Text 1"/>
          <p:cNvSpPr/>
          <p:nvPr/>
        </p:nvSpPr>
        <p:spPr>
          <a:xfrm>
            <a:off x="457200" y="1097280"/>
            <a:ext cx="4937040" cy="201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Followers in the ISR have caught up to the leader’s high watermark within replica.lag.time.max.ms.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Only ISR members are eligible for leadership on failover.</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min.insync.replicas defines how many replicas (including leader) must be in sync to acknowledge writes when acks=all.</a:t>
            </a:r>
            <a:endParaRPr lang="en-IN" sz="1100" b="0" u="none" strike="noStrike">
              <a:solidFill>
                <a:srgbClr val="000000"/>
              </a:solidFill>
              <a:effectLst/>
              <a:uFillTx/>
              <a:latin typeface="Arial"/>
            </a:endParaRPr>
          </a:p>
        </p:txBody>
      </p:sp>
      <p:graphicFrame>
        <p:nvGraphicFramePr>
          <p:cNvPr id="204" name="Chart 0"/>
          <p:cNvGraphicFramePr/>
          <p:nvPr/>
        </p:nvGraphicFramePr>
        <p:xfrm>
          <a:off x="5669280" y="1097280"/>
          <a:ext cx="3199680" cy="2102400"/>
        </p:xfrm>
        <a:graphic>
          <a:graphicData uri="http://schemas.openxmlformats.org/drawingml/2006/chart">
            <c:chart xmlns:c="http://schemas.openxmlformats.org/drawingml/2006/chart" xmlns:r="http://schemas.openxmlformats.org/officeDocument/2006/relationships" r:id="rId3"/>
          </a:graphicData>
        </a:graphic>
      </p:graphicFrame>
      <p:sp>
        <p:nvSpPr>
          <p:cNvPr id="205" name="Text 2"/>
          <p:cNvSpPr/>
          <p:nvPr/>
        </p:nvSpPr>
        <p:spPr>
          <a:xfrm>
            <a:off x="5669280" y="324612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385170"/>
                </a:solidFill>
                <a:effectLst/>
                <a:uFillTx/>
                <a:latin typeface="Calibri"/>
              </a:rPr>
              <a:t>Failures Tolerated</a:t>
            </a:r>
            <a:endParaRPr lang="en-IN" sz="900" b="0" u="none" strike="noStrike">
              <a:solidFill>
                <a:srgbClr val="000000"/>
              </a:solidFill>
              <a:effectLst/>
              <a:uFillTx/>
              <a:latin typeface="Arial"/>
            </a:endParaRPr>
          </a:p>
        </p:txBody>
      </p:sp>
      <p:sp>
        <p:nvSpPr>
          <p:cNvPr id="206" name="Text 3"/>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a:t>
            </a:r>
            <a:endParaRPr lang="en-IN" sz="7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Automatic Failover &amp; KRaft</a:t>
            </a:r>
            <a:endParaRPr lang="en-IN" sz="2200" b="0" u="none" strike="noStrike">
              <a:solidFill>
                <a:srgbClr val="000000"/>
              </a:solidFill>
              <a:effectLst/>
              <a:uFillTx/>
              <a:latin typeface="Arial"/>
            </a:endParaRPr>
          </a:p>
        </p:txBody>
      </p:sp>
      <p:sp>
        <p:nvSpPr>
          <p:cNvPr id="208" name="Text 1"/>
          <p:cNvSpPr/>
          <p:nvPr/>
        </p:nvSpPr>
        <p:spPr>
          <a:xfrm>
            <a:off x="457200" y="1097280"/>
            <a:ext cx="521136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The controller quorum detects leader failure and elects a new leader from ISR within seconds.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KRaft (Kafka Raft) removes ZooKeeper. Controllers use the Raft consensus protocol to manage metadata.</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Faster leader elections and unified storage of metadata reduce failover times.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Configure dedicated controller nodes and distribute them across availability zones for resilience.</a:t>
            </a:r>
            <a:endParaRPr lang="en-IN" sz="1100" b="0" u="none" strike="noStrike">
              <a:solidFill>
                <a:srgbClr val="000000"/>
              </a:solidFill>
              <a:effectLst/>
              <a:uFillTx/>
              <a:latin typeface="Arial"/>
            </a:endParaRPr>
          </a:p>
        </p:txBody>
      </p:sp>
      <p:sp>
        <p:nvSpPr>
          <p:cNvPr id="209" name="Text 7"/>
          <p:cNvSpPr/>
          <p:nvPr/>
        </p:nvSpPr>
        <p:spPr>
          <a:xfrm>
            <a:off x="5943600" y="2103120"/>
            <a:ext cx="73080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2F5597"/>
                </a:solidFill>
                <a:effectLst/>
                <a:uFillTx/>
                <a:latin typeface="Calibri"/>
              </a:rPr>
              <a:t> </a:t>
            </a:r>
            <a:endParaRPr lang="en-IN" sz="800" b="0" u="none" strike="noStrike">
              <a:solidFill>
                <a:srgbClr val="000000"/>
              </a:solidFill>
              <a:effectLst/>
              <a:uFillTx/>
              <a:latin typeface="Arial"/>
            </a:endParaRPr>
          </a:p>
        </p:txBody>
      </p:sp>
      <p:sp>
        <p:nvSpPr>
          <p:cNvPr id="210" name="Text 11"/>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pic>
        <p:nvPicPr>
          <p:cNvPr id="211" name="Picture 156"/>
          <p:cNvPicPr/>
          <p:nvPr/>
        </p:nvPicPr>
        <p:blipFill>
          <a:blip r:embed="rId4"/>
          <a:srcRect l="11179" r="12692"/>
          <a:stretch/>
        </p:blipFill>
        <p:spPr>
          <a:xfrm>
            <a:off x="5580000" y="585720"/>
            <a:ext cx="3239280" cy="2473920"/>
          </a:xfrm>
          <a:prstGeom prst="rect">
            <a:avLst/>
          </a:prstGeom>
          <a:noFill/>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KRaft Controller Quorum: Metadata Has Its Own Log</a:t>
            </a:r>
            <a:endParaRPr lang="en-IN" sz="2200" b="0" u="none" strike="noStrike">
              <a:solidFill>
                <a:srgbClr val="000000"/>
              </a:solidFill>
              <a:effectLst/>
              <a:uFillTx/>
              <a:latin typeface="Arial"/>
            </a:endParaRPr>
          </a:p>
        </p:txBody>
      </p:sp>
      <p:sp>
        <p:nvSpPr>
          <p:cNvPr id="213"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214" name="Picture 3" descr="kraft_isolated_mode.png"/>
          <p:cNvPicPr/>
          <p:nvPr/>
        </p:nvPicPr>
        <p:blipFill>
          <a:blip r:embed="rId2"/>
          <a:stretch/>
        </p:blipFill>
        <p:spPr>
          <a:xfrm>
            <a:off x="640080" y="960120"/>
            <a:ext cx="4251600" cy="3062880"/>
          </a:xfrm>
          <a:prstGeom prst="rect">
            <a:avLst/>
          </a:prstGeom>
          <a:noFill/>
          <a:ln w="0">
            <a:noFill/>
          </a:ln>
        </p:spPr>
      </p:pic>
      <p:sp>
        <p:nvSpPr>
          <p:cNvPr id="215" name="TextBox 4"/>
          <p:cNvSpPr/>
          <p:nvPr/>
        </p:nvSpPr>
        <p:spPr>
          <a:xfrm>
            <a:off x="5212080" y="1051560"/>
            <a:ext cx="310860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KRaft removes ZooKeeper by storing metadata in a Raft quorum.</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Controllers manage broker registration, topic metadata and leader election.</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The lab runs combined broker/controller nodes for local simplicity.</a:t>
            </a:r>
            <a:endParaRPr lang="en-IN" sz="1350" b="0" u="none" strike="noStrike">
              <a:solidFill>
                <a:srgbClr val="000000"/>
              </a:solidFill>
              <a:effectLst/>
              <a:uFillTx/>
              <a:latin typeface="Arial"/>
            </a:endParaRPr>
          </a:p>
        </p:txBody>
      </p:sp>
      <p:sp>
        <p:nvSpPr>
          <p:cNvPr id="216" name="TextBox 5"/>
          <p:cNvSpPr/>
          <p:nvPr/>
        </p:nvSpPr>
        <p:spPr>
          <a:xfrm>
            <a:off x="658440" y="4224600"/>
            <a:ext cx="7406280" cy="21924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850" b="0" u="none" strike="noStrike">
                <a:solidFill>
                  <a:srgbClr val="585858"/>
                </a:solidFill>
                <a:effectLst/>
                <a:uFillTx/>
                <a:latin typeface="Calibri"/>
              </a:rPr>
              <a:t>Source: Confluent KRaft overview.</a:t>
            </a:r>
            <a:endParaRPr lang="en-IN" sz="850" b="0" u="none" strike="noStrike">
              <a:solidFill>
                <a:srgbClr val="000000"/>
              </a:solidFill>
              <a:effectLst/>
              <a:uFillTx/>
              <a:latin typeface="Arial"/>
            </a:endParaRPr>
          </a:p>
        </p:txBody>
      </p:sp>
      <p:sp>
        <p:nvSpPr>
          <p:cNvPr id="217" name="TextBox 6"/>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[31]</a:t>
            </a:r>
            <a:endParaRPr lang="en-IN" sz="8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Configuration Best Practices</a:t>
            </a:r>
            <a:endParaRPr lang="en-IN" sz="2200" b="0" u="none" strike="noStrike">
              <a:solidFill>
                <a:srgbClr val="000000"/>
              </a:solidFill>
              <a:effectLst/>
              <a:uFillTx/>
              <a:latin typeface="Arial"/>
            </a:endParaRPr>
          </a:p>
        </p:txBody>
      </p:sp>
      <p:sp>
        <p:nvSpPr>
          <p:cNvPr id="219" name="Text 1"/>
          <p:cNvSpPr/>
          <p:nvPr/>
        </p:nvSpPr>
        <p:spPr>
          <a:xfrm>
            <a:off x="457200" y="1097280"/>
            <a:ext cx="86860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Replication Factor</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Use RF≥3 in production to tolerate at least one broker failure.</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min.insync.replicas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Set to RF−1 (e.g., 2 for RF=3) so writes are acknowledged by multiple replicas.</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Producer Settings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Use acks=all for durability; enable.idempotence=true to avoid duplicates; set retries to Integer.MAX_VALUE.</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Limit max.in.flight.requests.per.connection to 5 or fewer when idempotence is enabled.</a:t>
            </a:r>
            <a:endParaRPr lang="en-IN" sz="1100" b="0" u="none" strike="noStrike">
              <a:solidFill>
                <a:srgbClr val="000000"/>
              </a:solidFill>
              <a:effectLst/>
              <a:uFillTx/>
              <a:latin typeface="Arial"/>
            </a:endParaRPr>
          </a:p>
        </p:txBody>
      </p:sp>
      <p:sp>
        <p:nvSpPr>
          <p:cNvPr id="220"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5"/>
              </a:rPr>
              <a:t>[3]</a:t>
            </a:r>
            <a:endParaRPr lang="en-IN" sz="7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Rack Awareness &amp; Unclean Leader Election</a:t>
            </a:r>
            <a:endParaRPr lang="en-IN" sz="2200" b="0" u="none" strike="noStrike">
              <a:solidFill>
                <a:srgbClr val="000000"/>
              </a:solidFill>
              <a:effectLst/>
              <a:uFillTx/>
              <a:latin typeface="Arial"/>
            </a:endParaRPr>
          </a:p>
        </p:txBody>
      </p:sp>
      <p:sp>
        <p:nvSpPr>
          <p:cNvPr id="222" name="Text 1"/>
          <p:cNvSpPr/>
          <p:nvPr/>
        </p:nvSpPr>
        <p:spPr>
          <a:xfrm>
            <a:off x="457200" y="1097280"/>
            <a:ext cx="5028480" cy="228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Rack Awareness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Assign replicas across different racks or availability zones using broker.rack property.</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Ensures that a zone failure doesn’t take down all replicas for a partition.</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Unclean Leader Election</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If all ISR replicas fail, unclean leader election determines whether a non‑ISR replica can become leader.</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Setting unclean.leader.election.enable=false favours consistency (no data loss) over availability.</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p:txBody>
      </p:sp>
      <p:sp>
        <p:nvSpPr>
          <p:cNvPr id="223" name="Shape 2"/>
          <p:cNvSpPr/>
          <p:nvPr/>
        </p:nvSpPr>
        <p:spPr>
          <a:xfrm>
            <a:off x="5943600" y="1280160"/>
            <a:ext cx="730800" cy="456480"/>
          </a:xfrm>
          <a:prstGeom prst="rect">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224" name="Text 3"/>
          <p:cNvSpPr/>
          <p:nvPr/>
        </p:nvSpPr>
        <p:spPr>
          <a:xfrm>
            <a:off x="5943600" y="1280160"/>
            <a:ext cx="73080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FFFFFF"/>
                </a:solidFill>
                <a:effectLst/>
                <a:uFillTx/>
                <a:latin typeface="Calibri"/>
              </a:rPr>
              <a:t>Broker 1</a:t>
            </a:r>
            <a:endParaRPr lang="en-IN" sz="800" b="0" u="none" strike="noStrike">
              <a:solidFill>
                <a:srgbClr val="000000"/>
              </a:solidFill>
              <a:effectLst/>
              <a:uFillTx/>
              <a:latin typeface="Arial"/>
            </a:endParaRPr>
          </a:p>
        </p:txBody>
      </p:sp>
      <p:sp>
        <p:nvSpPr>
          <p:cNvPr id="225" name="Shape 4"/>
          <p:cNvSpPr/>
          <p:nvPr/>
        </p:nvSpPr>
        <p:spPr>
          <a:xfrm>
            <a:off x="6858000" y="1280160"/>
            <a:ext cx="730800" cy="45648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26" name="Text 5"/>
          <p:cNvSpPr/>
          <p:nvPr/>
        </p:nvSpPr>
        <p:spPr>
          <a:xfrm>
            <a:off x="6858000" y="1280160"/>
            <a:ext cx="73080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2F5597"/>
                </a:solidFill>
                <a:effectLst/>
                <a:uFillTx/>
                <a:latin typeface="Calibri"/>
              </a:rPr>
              <a:t>Broker 2</a:t>
            </a:r>
            <a:endParaRPr lang="en-IN" sz="800" b="0" u="none" strike="noStrike">
              <a:solidFill>
                <a:srgbClr val="000000"/>
              </a:solidFill>
              <a:effectLst/>
              <a:uFillTx/>
              <a:latin typeface="Arial"/>
            </a:endParaRPr>
          </a:p>
        </p:txBody>
      </p:sp>
      <p:sp>
        <p:nvSpPr>
          <p:cNvPr id="227" name="Shape 6"/>
          <p:cNvSpPr/>
          <p:nvPr/>
        </p:nvSpPr>
        <p:spPr>
          <a:xfrm>
            <a:off x="7772400" y="1280160"/>
            <a:ext cx="730800" cy="45648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28" name="Text 7"/>
          <p:cNvSpPr/>
          <p:nvPr/>
        </p:nvSpPr>
        <p:spPr>
          <a:xfrm>
            <a:off x="7772400" y="1280160"/>
            <a:ext cx="73080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2F5597"/>
                </a:solidFill>
                <a:effectLst/>
                <a:uFillTx/>
                <a:latin typeface="Calibri"/>
              </a:rPr>
              <a:t>Broker 3</a:t>
            </a:r>
            <a:endParaRPr lang="en-IN" sz="800" b="0" u="none" strike="noStrike">
              <a:solidFill>
                <a:srgbClr val="000000"/>
              </a:solidFill>
              <a:effectLst/>
              <a:uFillTx/>
              <a:latin typeface="Arial"/>
            </a:endParaRPr>
          </a:p>
        </p:txBody>
      </p:sp>
      <p:sp>
        <p:nvSpPr>
          <p:cNvPr id="229" name="Text 8"/>
          <p:cNvSpPr/>
          <p:nvPr/>
        </p:nvSpPr>
        <p:spPr>
          <a:xfrm>
            <a:off x="5943600" y="1783080"/>
            <a:ext cx="27424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385170"/>
                </a:solidFill>
                <a:effectLst/>
                <a:uFillTx/>
                <a:latin typeface="Calibri"/>
              </a:rPr>
              <a:t>AZ1  AZ2  AZ3</a:t>
            </a:r>
            <a:endParaRPr lang="en-IN" sz="800" b="0" u="none" strike="noStrike">
              <a:solidFill>
                <a:srgbClr val="000000"/>
              </a:solidFill>
              <a:effectLst/>
              <a:uFillTx/>
              <a:latin typeface="Arial"/>
            </a:endParaRPr>
          </a:p>
        </p:txBody>
      </p:sp>
      <p:sp>
        <p:nvSpPr>
          <p:cNvPr id="230" name="Text 9"/>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231"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Mini Exercise: Replication &amp; High Availability</a:t>
            </a:r>
            <a:endParaRPr lang="en-IN" sz="2200" b="0" u="none" strike="noStrike">
              <a:solidFill>
                <a:srgbClr val="000000"/>
              </a:solidFill>
              <a:effectLst/>
              <a:uFillTx/>
              <a:latin typeface="Arial"/>
            </a:endParaRPr>
          </a:p>
        </p:txBody>
      </p:sp>
      <p:sp>
        <p:nvSpPr>
          <p:cNvPr id="232" name="Text 1"/>
          <p:cNvSpPr/>
          <p:nvPr/>
        </p:nvSpPr>
        <p:spPr>
          <a:xfrm>
            <a:off x="457200" y="822960"/>
            <a:ext cx="493704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Exercise: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1. Create a topic with replication factor 3 and partitions 3.</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2. Produce messages with acks=all and observe behaviour when a broker is stopped.</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3. Try setting min.insync.replicas=1 and compare.</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4. Test unclean leader election by toggling unclean.leader.election.enable.</a:t>
            </a:r>
            <a:endParaRPr lang="en-IN" sz="1100" b="0" u="none" strike="noStrike">
              <a:solidFill>
                <a:srgbClr val="000000"/>
              </a:solidFill>
              <a:effectLst/>
              <a:uFillTx/>
              <a:latin typeface="Arial"/>
            </a:endParaRPr>
          </a:p>
        </p:txBody>
      </p:sp>
      <p:sp>
        <p:nvSpPr>
          <p:cNvPr id="233"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Quick Quiz:</a:t>
            </a:r>
            <a:endParaRPr lang="en-IN" sz="1400" b="0" u="none" strike="noStrike">
              <a:solidFill>
                <a:srgbClr val="000000"/>
              </a:solidFill>
              <a:effectLst/>
              <a:uFillTx/>
              <a:latin typeface="Arial"/>
            </a:endParaRPr>
          </a:p>
        </p:txBody>
      </p:sp>
      <p:sp>
        <p:nvSpPr>
          <p:cNvPr id="234" name="Text 3"/>
          <p:cNvSpPr/>
          <p:nvPr/>
        </p:nvSpPr>
        <p:spPr>
          <a:xfrm>
            <a:off x="5669280" y="1097280"/>
            <a:ext cx="31996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rgbClr val="2F5597"/>
                </a:solidFill>
                <a:effectLst/>
                <a:uFillTx/>
                <a:latin typeface="Calibri"/>
              </a:rPr>
              <a:t>Q5. With RF=3 and min.insync.replicas=2, how many broker failures can you tolerate without losing write availability?</a:t>
            </a:r>
            <a:endParaRPr lang="en-IN" sz="11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a) 0</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b) 1</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c) 2</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d) 3</a:t>
            </a:r>
            <a:endParaRPr lang="en-IN" sz="1000" b="0" u="none" strike="noStrike">
              <a:solidFill>
                <a:srgbClr val="000000"/>
              </a:solidFill>
              <a:effectLst/>
              <a:uFillTx/>
              <a:latin typeface="Arial"/>
            </a:endParaRPr>
          </a:p>
          <a:p>
            <a:pPr defTabSz="914400">
              <a:lnSpc>
                <a:spcPct val="100000"/>
              </a:lnSpc>
            </a:pPr>
            <a:endParaRPr lang="en-IN" sz="1000" b="0" u="none" strike="noStrike">
              <a:solidFill>
                <a:srgbClr val="000000"/>
              </a:solidFill>
              <a:effectLst/>
              <a:uFillTx/>
              <a:latin typeface="Arial"/>
            </a:endParaRPr>
          </a:p>
          <a:p>
            <a:pPr defTabSz="914400">
              <a:lnSpc>
                <a:spcPct val="100000"/>
              </a:lnSpc>
            </a:pPr>
            <a:r>
              <a:rPr lang="en-US" sz="1100" b="1" u="none" strike="noStrike">
                <a:solidFill>
                  <a:srgbClr val="2F5597"/>
                </a:solidFill>
                <a:effectLst/>
                <a:uFillTx/>
                <a:latin typeface="Calibri"/>
              </a:rPr>
              <a:t>Q6. What is the effect of setting unclean.leader.election.enable=true?</a:t>
            </a:r>
            <a:endParaRPr lang="en-IN" sz="11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a) Better consistency; leaders elected only from ISR</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b) Faster failover; non‑ISR replicas can become leader risking data loss</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c) Slower failover</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d) No effect</a:t>
            </a:r>
            <a:endParaRPr lang="en-IN" sz="1000" b="0" u="none" strike="noStrike">
              <a:solidFill>
                <a:srgbClr val="000000"/>
              </a:solidFill>
              <a:effectLst/>
              <a:uFillTx/>
              <a:latin typeface="Arial"/>
            </a:endParaRPr>
          </a:p>
        </p:txBody>
      </p:sp>
      <p:sp>
        <p:nvSpPr>
          <p:cNvPr id="235"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Replication and High Availability</a:t>
            </a:r>
            <a:endParaRPr lang="en-IN" sz="2200" b="0" u="none" strike="noStrike">
              <a:solidFill>
                <a:srgbClr val="000000"/>
              </a:solidFill>
              <a:effectLst/>
              <a:uFillTx/>
              <a:latin typeface="Arial"/>
            </a:endParaRPr>
          </a:p>
        </p:txBody>
      </p:sp>
      <p:sp>
        <p:nvSpPr>
          <p:cNvPr id="237"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38"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endParaRPr lang="en-IN" sz="1800" b="0" u="none" strike="noStrike">
              <a:solidFill>
                <a:srgbClr val="000000"/>
              </a:solidFill>
              <a:effectLst/>
              <a:uFillTx/>
              <a:latin typeface="Arial"/>
            </a:endParaRPr>
          </a:p>
        </p:txBody>
      </p:sp>
      <p:sp>
        <p:nvSpPr>
          <p:cNvPr id="239" name="TextBox 4"/>
          <p:cNvSpPr/>
          <p:nvPr/>
        </p:nvSpPr>
        <p:spPr>
          <a:xfrm>
            <a:off x="515036" y="960903"/>
            <a:ext cx="7406280" cy="432280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With RF=3 and </a:t>
            </a:r>
            <a:r>
              <a:rPr lang="en-US" sz="900" b="0" u="none" strike="noStrike" dirty="0" err="1">
                <a:solidFill>
                  <a:srgbClr val="1E1E1E"/>
                </a:solidFill>
                <a:effectLst/>
                <a:uFillTx/>
                <a:latin typeface="Calibri"/>
              </a:rPr>
              <a:t>min.insync.replicas</a:t>
            </a:r>
            <a:r>
              <a:rPr lang="en-US" sz="900" b="0" u="none" strike="noStrike" dirty="0">
                <a:solidFill>
                  <a:srgbClr val="1E1E1E"/>
                </a:solidFill>
                <a:effectLst/>
                <a:uFillTx/>
                <a:latin typeface="Calibri"/>
              </a:rPr>
              <a:t>=2, Kafka can usually tolerate one broker failure for acks=all writes.</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The leader handles client traffic; followers replicate from the leader.</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a:solidFill>
                  <a:srgbClr val="1E1E1E"/>
                </a:solidFill>
                <a:effectLst/>
                <a:uFillTx/>
                <a:latin typeface="Calibri"/>
              </a:rPr>
              <a:t>Only in-sync replicas are safe candidates for clean leadership.</a:t>
            </a:r>
            <a:endParaRPr lang="en-IN" sz="900" b="0" u="none" strike="noStrike" dirty="0">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900" b="0" u="none" strike="noStrike" dirty="0" err="1">
                <a:solidFill>
                  <a:srgbClr val="1E1E1E"/>
                </a:solidFill>
                <a:effectLst/>
                <a:uFillTx/>
                <a:latin typeface="Calibri"/>
              </a:rPr>
              <a:t>KRaft</a:t>
            </a:r>
            <a:r>
              <a:rPr lang="en-US" sz="900" b="0" u="none" strike="noStrike" dirty="0">
                <a:solidFill>
                  <a:srgbClr val="1E1E1E"/>
                </a:solidFill>
                <a:effectLst/>
                <a:uFillTx/>
                <a:latin typeface="Calibri"/>
              </a:rPr>
              <a:t> manages metadata and leader election without </a:t>
            </a:r>
            <a:r>
              <a:rPr lang="en-US" sz="900" b="0" u="none" strike="noStrike" dirty="0" err="1">
                <a:solidFill>
                  <a:srgbClr val="1E1E1E"/>
                </a:solidFill>
                <a:effectLst/>
                <a:uFillTx/>
                <a:latin typeface="Calibri"/>
              </a:rPr>
              <a:t>ZooKeeper</a:t>
            </a:r>
            <a:r>
              <a:rPr lang="en-US" sz="900" b="0" u="none" strike="noStrike" dirty="0">
                <a:solidFill>
                  <a:srgbClr val="1E1E1E"/>
                </a:solidFill>
                <a:effectLst/>
                <a:uFillTx/>
                <a:latin typeface="Calibri"/>
              </a:rPr>
              <a:t>.</a:t>
            </a:r>
          </a:p>
          <a:p>
            <a:pPr marL="343080" indent="-171360" defTabSz="914400">
              <a:lnSpc>
                <a:spcPct val="100000"/>
              </a:lnSpc>
              <a:spcAft>
                <a:spcPts val="601"/>
              </a:spcAft>
              <a:buClr>
                <a:srgbClr val="1E1E1E"/>
              </a:buClr>
              <a:buFont typeface="Symbol" charset="2"/>
              <a:buChar char=""/>
            </a:pPr>
            <a:endParaRPr lang="en-US" sz="900" dirty="0">
              <a:solidFill>
                <a:srgbClr val="1E1E1E"/>
              </a:solidFill>
              <a:latin typeface="Calibri"/>
            </a:endParaRPr>
          </a:p>
          <a:p>
            <a:pPr>
              <a:spcBef>
                <a:spcPts val="1191"/>
              </a:spcBef>
              <a:spcAft>
                <a:spcPts val="992"/>
              </a:spcAft>
            </a:pPr>
            <a:r>
              <a:rPr lang="en-US" sz="900" dirty="0">
                <a:solidFill>
                  <a:srgbClr val="1E1E1E"/>
                </a:solidFill>
              </a:rPr>
              <a:t>Q5. With RF=3 and </a:t>
            </a:r>
            <a:r>
              <a:rPr lang="en-US" sz="900" dirty="0" err="1">
                <a:solidFill>
                  <a:srgbClr val="1E1E1E"/>
                </a:solidFill>
              </a:rPr>
              <a:t>min.insync.replicas</a:t>
            </a:r>
            <a:r>
              <a:rPr lang="en-US" sz="900" dirty="0">
                <a:solidFill>
                  <a:srgbClr val="1E1E1E"/>
                </a:solidFill>
              </a:rPr>
              <a:t>=2, how many broker failures can you tolerate without losing write availability?</a:t>
            </a:r>
            <a:endParaRPr lang="en-IN" sz="900" dirty="0">
              <a:solidFill>
                <a:srgbClr val="000000"/>
              </a:solidFill>
              <a:latin typeface="Arial"/>
            </a:endParaRPr>
          </a:p>
          <a:p>
            <a:pPr>
              <a:spcBef>
                <a:spcPts val="1191"/>
              </a:spcBef>
              <a:spcAft>
                <a:spcPts val="992"/>
              </a:spcAft>
            </a:pPr>
            <a:r>
              <a:rPr lang="en-US" sz="900" dirty="0">
                <a:solidFill>
                  <a:srgbClr val="1E1E1E"/>
                </a:solidFill>
              </a:rPr>
              <a:t>Answer: b) 1</a:t>
            </a:r>
            <a:endParaRPr lang="en-IN" sz="900" dirty="0">
              <a:solidFill>
                <a:srgbClr val="000000"/>
              </a:solidFill>
              <a:latin typeface="Arial"/>
            </a:endParaRPr>
          </a:p>
          <a:p>
            <a:pPr>
              <a:spcBef>
                <a:spcPts val="1191"/>
              </a:spcBef>
              <a:spcAft>
                <a:spcPts val="992"/>
              </a:spcAft>
            </a:pPr>
            <a:r>
              <a:rPr lang="en-US" sz="900" dirty="0">
                <a:solidFill>
                  <a:srgbClr val="1E1E1E"/>
                </a:solidFill>
              </a:rPr>
              <a:t>With replication factor 3, there are 3 replicas. With </a:t>
            </a:r>
            <a:r>
              <a:rPr lang="en-US" sz="900" dirty="0" err="1">
                <a:solidFill>
                  <a:srgbClr val="1E1E1E"/>
                </a:solidFill>
              </a:rPr>
              <a:t>min.insync.replicas</a:t>
            </a:r>
            <a:r>
              <a:rPr lang="en-US" sz="900" dirty="0">
                <a:solidFill>
                  <a:srgbClr val="1E1E1E"/>
                </a:solidFill>
              </a:rPr>
              <a:t>=2, Kafka needs at least 2 in-sync replicas available to accept writes when producer acks=all is used. So you can lose 1 broker and still continue writing.</a:t>
            </a:r>
            <a:endParaRPr lang="en-IN" sz="900" dirty="0">
              <a:solidFill>
                <a:srgbClr val="000000"/>
              </a:solidFill>
              <a:latin typeface="Arial"/>
            </a:endParaRPr>
          </a:p>
          <a:p>
            <a:pPr>
              <a:spcBef>
                <a:spcPts val="1191"/>
              </a:spcBef>
              <a:spcAft>
                <a:spcPts val="992"/>
              </a:spcAft>
            </a:pPr>
            <a:r>
              <a:rPr lang="en-US" sz="900" dirty="0">
                <a:solidFill>
                  <a:srgbClr val="1E1E1E"/>
                </a:solidFill>
              </a:rPr>
              <a:t>Q6. What is the effect of setting </a:t>
            </a:r>
            <a:r>
              <a:rPr lang="en-US" sz="900" dirty="0" err="1">
                <a:solidFill>
                  <a:srgbClr val="1E1E1E"/>
                </a:solidFill>
              </a:rPr>
              <a:t>unclean.leader.election.enable</a:t>
            </a:r>
            <a:r>
              <a:rPr lang="en-US" sz="900" dirty="0">
                <a:solidFill>
                  <a:srgbClr val="1E1E1E"/>
                </a:solidFill>
              </a:rPr>
              <a:t>=true?</a:t>
            </a:r>
            <a:endParaRPr lang="en-IN" sz="900" dirty="0">
              <a:solidFill>
                <a:srgbClr val="000000"/>
              </a:solidFill>
              <a:latin typeface="Arial"/>
            </a:endParaRPr>
          </a:p>
          <a:p>
            <a:pPr>
              <a:spcBef>
                <a:spcPts val="1191"/>
              </a:spcBef>
              <a:spcAft>
                <a:spcPts val="992"/>
              </a:spcAft>
            </a:pPr>
            <a:r>
              <a:rPr lang="en-US" sz="900" dirty="0">
                <a:solidFill>
                  <a:srgbClr val="1E1E1E"/>
                </a:solidFill>
              </a:rPr>
              <a:t>Answer: b) Faster failover; non-ISR replicas can become leader risking data loss</a:t>
            </a:r>
            <a:endParaRPr lang="en-IN" sz="900" dirty="0">
              <a:solidFill>
                <a:srgbClr val="000000"/>
              </a:solidFill>
              <a:latin typeface="Arial"/>
            </a:endParaRPr>
          </a:p>
          <a:p>
            <a:pPr>
              <a:spcBef>
                <a:spcPts val="1191"/>
              </a:spcBef>
              <a:spcAft>
                <a:spcPts val="992"/>
              </a:spcAft>
            </a:pPr>
            <a:r>
              <a:rPr lang="en-US" sz="900" dirty="0">
                <a:solidFill>
                  <a:srgbClr val="1E1E1E"/>
                </a:solidFill>
              </a:rPr>
              <a:t>This setting allows Kafka to elect a replica that is not in the ISR as leader. It can restore availability faster, but it may lose messages that were not replicated to that out-of-sync replica.</a:t>
            </a:r>
            <a:endParaRPr lang="en-IN" sz="900" dirty="0">
              <a:solidFill>
                <a:srgbClr val="000000"/>
              </a:solidFill>
              <a:latin typeface="Arial"/>
            </a:endParaRPr>
          </a:p>
          <a:p>
            <a:pPr marL="343080" indent="-171360" defTabSz="914400">
              <a:lnSpc>
                <a:spcPct val="100000"/>
              </a:lnSpc>
              <a:spcAft>
                <a:spcPts val="601"/>
              </a:spcAft>
              <a:buClr>
                <a:srgbClr val="1E1E1E"/>
              </a:buClr>
              <a:buFont typeface="Symbol" charset="2"/>
              <a:buChar char=""/>
            </a:pPr>
            <a:endParaRPr lang="en-IN" sz="900" b="0" u="none" strike="noStrike" dirty="0">
              <a:solidFill>
                <a:srgbClr val="000000"/>
              </a:solidFill>
              <a:effectLst/>
              <a:uFillTx/>
              <a:latin typeface="Arial"/>
            </a:endParaRPr>
          </a:p>
          <a:p>
            <a:pPr defTabSz="914400">
              <a:lnSpc>
                <a:spcPct val="100000"/>
              </a:lnSpc>
              <a:spcAft>
                <a:spcPts val="601"/>
              </a:spcAft>
            </a:pPr>
            <a:endParaRPr lang="en-IN" sz="900" b="0" u="none" strike="noStrike" dirty="0">
              <a:solidFill>
                <a:srgbClr val="000000"/>
              </a:solidFill>
              <a:effectLst/>
              <a:uFillTx/>
              <a:latin typeface="Arial"/>
            </a:endParaRPr>
          </a:p>
        </p:txBody>
      </p:sp>
      <p:sp>
        <p:nvSpPr>
          <p:cNvPr id="240"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[35]</a:t>
            </a:r>
            <a:endParaRPr lang="en-IN" sz="8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Day 3 Replication Lab: What the Commands Prove</a:t>
            </a:r>
            <a:endParaRPr lang="en-IN" sz="2200" b="0" u="none" strike="noStrike">
              <a:solidFill>
                <a:srgbClr val="000000"/>
              </a:solidFill>
              <a:effectLst/>
              <a:uFillTx/>
              <a:latin typeface="Arial"/>
            </a:endParaRPr>
          </a:p>
        </p:txBody>
      </p:sp>
      <p:sp>
        <p:nvSpPr>
          <p:cNvPr id="242"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3"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The lab command sequence turns RF, ISR and acks=all into visible terminal evidence.</a:t>
            </a:r>
            <a:endParaRPr lang="en-IN" sz="1150" b="0" u="none" strike="noStrike">
              <a:solidFill>
                <a:srgbClr val="000000"/>
              </a:solidFill>
              <a:effectLst/>
              <a:uFillTx/>
              <a:latin typeface="Arial"/>
            </a:endParaRPr>
          </a:p>
        </p:txBody>
      </p:sp>
      <p:sp>
        <p:nvSpPr>
          <p:cNvPr id="244" name="Rounded Rectangle 4"/>
          <p:cNvSpPr/>
          <p:nvPr/>
        </p:nvSpPr>
        <p:spPr>
          <a:xfrm>
            <a:off x="50292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Create RF=3</a:t>
            </a:r>
            <a:endParaRPr lang="en-IN" sz="1150" b="0" u="none" strike="noStrike">
              <a:solidFill>
                <a:srgbClr val="000000"/>
              </a:solidFill>
              <a:effectLst/>
              <a:uFillTx/>
              <a:latin typeface="Arial"/>
            </a:endParaRPr>
          </a:p>
        </p:txBody>
      </p:sp>
      <p:sp>
        <p:nvSpPr>
          <p:cNvPr id="245" name="Right Arrow 5"/>
          <p:cNvSpPr/>
          <p:nvPr/>
        </p:nvSpPr>
        <p:spPr>
          <a:xfrm>
            <a:off x="184716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6" name="Rounded Rectangle 6"/>
          <p:cNvSpPr/>
          <p:nvPr/>
        </p:nvSpPr>
        <p:spPr>
          <a:xfrm>
            <a:off x="226764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Describe ISR</a:t>
            </a:r>
            <a:endParaRPr lang="en-IN" sz="1150" b="0" u="none" strike="noStrike">
              <a:solidFill>
                <a:srgbClr val="000000"/>
              </a:solidFill>
              <a:effectLst/>
              <a:uFillTx/>
              <a:latin typeface="Arial"/>
            </a:endParaRPr>
          </a:p>
        </p:txBody>
      </p:sp>
      <p:sp>
        <p:nvSpPr>
          <p:cNvPr id="247" name="Right Arrow 7"/>
          <p:cNvSpPr/>
          <p:nvPr/>
        </p:nvSpPr>
        <p:spPr>
          <a:xfrm>
            <a:off x="361188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8" name="Rounded Rectangle 8"/>
          <p:cNvSpPr/>
          <p:nvPr/>
        </p:nvSpPr>
        <p:spPr>
          <a:xfrm>
            <a:off x="403236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Produce acks=all</a:t>
            </a:r>
            <a:endParaRPr lang="en-IN" sz="1150" b="0" u="none" strike="noStrike">
              <a:solidFill>
                <a:srgbClr val="000000"/>
              </a:solidFill>
              <a:effectLst/>
              <a:uFillTx/>
              <a:latin typeface="Arial"/>
            </a:endParaRPr>
          </a:p>
        </p:txBody>
      </p:sp>
      <p:sp>
        <p:nvSpPr>
          <p:cNvPr id="249" name="Right Arrow 9"/>
          <p:cNvSpPr/>
          <p:nvPr/>
        </p:nvSpPr>
        <p:spPr>
          <a:xfrm>
            <a:off x="537660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0" name="Rounded Rectangle 10"/>
          <p:cNvSpPr/>
          <p:nvPr/>
        </p:nvSpPr>
        <p:spPr>
          <a:xfrm>
            <a:off x="579744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Stop broker</a:t>
            </a:r>
            <a:endParaRPr lang="en-IN" sz="1150" b="0" u="none" strike="noStrike">
              <a:solidFill>
                <a:srgbClr val="000000"/>
              </a:solidFill>
              <a:effectLst/>
              <a:uFillTx/>
              <a:latin typeface="Arial"/>
            </a:endParaRPr>
          </a:p>
        </p:txBody>
      </p:sp>
      <p:sp>
        <p:nvSpPr>
          <p:cNvPr id="251" name="Right Arrow 11"/>
          <p:cNvSpPr/>
          <p:nvPr/>
        </p:nvSpPr>
        <p:spPr>
          <a:xfrm>
            <a:off x="714132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2" name="Rounded Rectangle 12"/>
          <p:cNvSpPr/>
          <p:nvPr/>
        </p:nvSpPr>
        <p:spPr>
          <a:xfrm>
            <a:off x="756216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Describe again</a:t>
            </a:r>
            <a:endParaRPr lang="en-IN" sz="1150" b="0" u="none" strike="noStrike">
              <a:solidFill>
                <a:srgbClr val="000000"/>
              </a:solidFill>
              <a:effectLst/>
              <a:uFillTx/>
              <a:latin typeface="Arial"/>
            </a:endParaRPr>
          </a:p>
        </p:txBody>
      </p:sp>
      <p:sp>
        <p:nvSpPr>
          <p:cNvPr id="253" name="TextBox 13"/>
          <p:cNvSpPr/>
          <p:nvPr/>
        </p:nvSpPr>
        <p:spPr>
          <a:xfrm>
            <a:off x="685800" y="2880360"/>
            <a:ext cx="7314840" cy="127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Do not treat this as a new topic-creation lesson; Day 2 already did that.</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The Day 3 proof is leader placement, full ISR and durable producer acknowledgement.</a:t>
            </a:r>
            <a:endParaRPr lang="en-IN" sz="1400" b="0" u="none" strike="noStrike">
              <a:solidFill>
                <a:srgbClr val="000000"/>
              </a:solidFill>
              <a:effectLst/>
              <a:uFillTx/>
              <a:latin typeface="Arial"/>
            </a:endParaRPr>
          </a:p>
        </p:txBody>
      </p:sp>
      <p:sp>
        <p:nvSpPr>
          <p:cNvPr id="254" name="TextBox 14"/>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[36]</a:t>
            </a:r>
            <a:endParaRPr lang="en-IN" sz="8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5"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Kafka Connect: Overview &amp; Architecture</a:t>
            </a:r>
            <a:endParaRPr lang="en-IN" sz="2200" b="0" u="none" strike="noStrike">
              <a:solidFill>
                <a:srgbClr val="000000"/>
              </a:solidFill>
              <a:effectLst/>
              <a:uFillTx/>
              <a:latin typeface="Arial"/>
            </a:endParaRPr>
          </a:p>
        </p:txBody>
      </p:sp>
      <p:sp>
        <p:nvSpPr>
          <p:cNvPr id="256" name="Text 1"/>
          <p:cNvSpPr/>
          <p:nvPr/>
        </p:nvSpPr>
        <p:spPr>
          <a:xfrm>
            <a:off x="457200" y="1097280"/>
            <a:ext cx="475416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385170"/>
                </a:solidFill>
                <a:effectLst/>
                <a:uFillTx/>
                <a:latin typeface="Calibri"/>
              </a:rPr>
              <a:t>• Kafka Connect is a framework for streaming data between Kafka and external systems.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Runs as a cluster of workers that execute connectors and tasks.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Connectors define what to copy; tasks perform the data movement; converters and SMTs handle formats and transformations.</a:t>
            </a:r>
            <a:endParaRPr lang="en-IN" sz="1100" b="0" u="none" strike="noStrike">
              <a:solidFill>
                <a:srgbClr val="000000"/>
              </a:solidFill>
              <a:effectLst/>
              <a:uFillTx/>
              <a:latin typeface="Arial"/>
            </a:endParaRPr>
          </a:p>
        </p:txBody>
      </p:sp>
      <p:sp>
        <p:nvSpPr>
          <p:cNvPr id="257"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pic>
        <p:nvPicPr>
          <p:cNvPr id="258" name="Picture 257"/>
          <p:cNvPicPr/>
          <p:nvPr/>
        </p:nvPicPr>
        <p:blipFill>
          <a:blip r:embed="rId4"/>
          <a:srcRect t="39555"/>
          <a:stretch/>
        </p:blipFill>
        <p:spPr>
          <a:xfrm>
            <a:off x="576360" y="2340000"/>
            <a:ext cx="7343640" cy="2322360"/>
          </a:xfrm>
          <a:prstGeom prst="rect">
            <a:avLst/>
          </a:prstGeom>
          <a:noFill/>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9"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Source Connectors</a:t>
            </a:r>
            <a:endParaRPr lang="en-IN" sz="2200" b="0" u="none" strike="noStrike">
              <a:solidFill>
                <a:srgbClr val="000000"/>
              </a:solidFill>
              <a:effectLst/>
              <a:uFillTx/>
              <a:latin typeface="Arial"/>
            </a:endParaRPr>
          </a:p>
        </p:txBody>
      </p:sp>
      <p:sp>
        <p:nvSpPr>
          <p:cNvPr id="260" name="Text 1"/>
          <p:cNvSpPr/>
          <p:nvPr/>
        </p:nvSpPr>
        <p:spPr>
          <a:xfrm>
            <a:off x="457200" y="1097280"/>
            <a:ext cx="502848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385170"/>
                </a:solidFill>
                <a:effectLst/>
                <a:uFillTx/>
                <a:latin typeface="Calibri"/>
              </a:rPr>
              <a:t>• Bring data from external systems into Kafka topics.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Must manage offsets to avoid duplicates and ensure exactly‑once delivery.</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Support various ingestion patterns: query‑based polling, CDC (binlogs/WAL), file tailing, API polling.</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Examples: JDBC, Debezium, SpoolDir, HTTP.</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p:txBody>
      </p:sp>
      <p:sp>
        <p:nvSpPr>
          <p:cNvPr id="261"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pic>
        <p:nvPicPr>
          <p:cNvPr id="262" name="Picture 261"/>
          <p:cNvPicPr/>
          <p:nvPr/>
        </p:nvPicPr>
        <p:blipFill>
          <a:blip r:embed="rId4"/>
          <a:srcRect t="8582" b="7242"/>
          <a:stretch>
            <a:fillRect/>
          </a:stretch>
        </p:blipFill>
        <p:spPr>
          <a:xfrm>
            <a:off x="512330" y="2063750"/>
            <a:ext cx="5188320" cy="266065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3"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Sink Connectors</a:t>
            </a:r>
            <a:endParaRPr lang="en-IN" sz="2200" b="0" u="none" strike="noStrike">
              <a:solidFill>
                <a:srgbClr val="000000"/>
              </a:solidFill>
              <a:effectLst/>
              <a:uFillTx/>
              <a:latin typeface="Arial"/>
            </a:endParaRPr>
          </a:p>
        </p:txBody>
      </p:sp>
      <p:sp>
        <p:nvSpPr>
          <p:cNvPr id="264" name="Text 1"/>
          <p:cNvSpPr/>
          <p:nvPr/>
        </p:nvSpPr>
        <p:spPr>
          <a:xfrm>
            <a:off x="457200" y="1097280"/>
            <a:ext cx="5028480" cy="219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385170"/>
                </a:solidFill>
                <a:effectLst/>
                <a:uFillTx/>
                <a:latin typeface="Calibri"/>
              </a:rPr>
              <a:t>• Read from Kafka topics and write to external systems.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Operate as Kafka consumers; commit offsets back to Kafka to track progress.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Common patterns: load data into data lakes/warehouses (e.g., S3, GCS), index data into search engines (Elasticsearch), upsert into databases, invoke HTTP APIs.</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Sink connectors must manage idempotency on the destination to achieve exactly‑once semantics.</a:t>
            </a:r>
            <a:endParaRPr lang="en-IN" sz="1100" b="0" u="none" strike="noStrike">
              <a:solidFill>
                <a:srgbClr val="000000"/>
              </a:solidFill>
              <a:effectLst/>
              <a:uFillTx/>
              <a:latin typeface="Arial"/>
            </a:endParaRPr>
          </a:p>
        </p:txBody>
      </p:sp>
      <p:sp>
        <p:nvSpPr>
          <p:cNvPr id="265"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pic>
        <p:nvPicPr>
          <p:cNvPr id="266" name="Picture 265"/>
          <p:cNvPicPr/>
          <p:nvPr/>
        </p:nvPicPr>
        <p:blipFill>
          <a:blip r:embed="rId4"/>
          <a:stretch/>
        </p:blipFill>
        <p:spPr>
          <a:xfrm rot="3000">
            <a:off x="1078920" y="2522160"/>
            <a:ext cx="5400000" cy="168876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7"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Connect Modes &amp; Scaling</a:t>
            </a:r>
            <a:endParaRPr lang="en-IN" sz="2200" b="0" u="none" strike="noStrike">
              <a:solidFill>
                <a:srgbClr val="000000"/>
              </a:solidFill>
              <a:effectLst/>
              <a:uFillTx/>
              <a:latin typeface="Arial"/>
            </a:endParaRPr>
          </a:p>
        </p:txBody>
      </p:sp>
      <p:sp>
        <p:nvSpPr>
          <p:cNvPr id="268" name="Text 1"/>
          <p:cNvSpPr/>
          <p:nvPr/>
        </p:nvSpPr>
        <p:spPr>
          <a:xfrm>
            <a:off x="457200" y="1097280"/>
            <a:ext cx="54856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Standalone Mode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Single process runs connectors and tasks; ideal for development.</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Distributed Mode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Multiple worker processes coordinate through Kafka topics; tasks are rebalanced across workers.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Provides fault tolerance and horizontal scalability.</a:t>
            </a:r>
            <a:endParaRPr lang="en-IN" sz="1100" b="0" u="none" strike="noStrike">
              <a:solidFill>
                <a:srgbClr val="000000"/>
              </a:solidFill>
              <a:effectLst/>
              <a:uFillTx/>
              <a:latin typeface="Arial"/>
            </a:endParaRPr>
          </a:p>
          <a:p>
            <a:pPr defTabSz="914400">
              <a:lnSpc>
                <a:spcPct val="100000"/>
              </a:lnSpc>
            </a:pPr>
            <a:endParaRPr lang="en-IN" sz="1100" b="0" u="none" strike="noStrike">
              <a:solidFill>
                <a:srgbClr val="000000"/>
              </a:solidFill>
              <a:effectLst/>
              <a:uFillTx/>
              <a:latin typeface="Arial"/>
            </a:endParaRPr>
          </a:p>
          <a:p>
            <a:pPr defTabSz="914400">
              <a:lnSpc>
                <a:spcPct val="100000"/>
              </a:lnSpc>
            </a:pPr>
            <a:r>
              <a:rPr lang="en-US" sz="1200" b="1" u="none" strike="noStrike">
                <a:solidFill>
                  <a:srgbClr val="2F5597"/>
                </a:solidFill>
                <a:effectLst/>
                <a:uFillTx/>
                <a:latin typeface="Calibri"/>
              </a:rPr>
              <a:t>Scaling Considerations</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Increase tasks per connector to parallelise work.</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Use multiple workers to distribute tasks; tasks are automatically assigned via internal group management.</a:t>
            </a:r>
            <a:endParaRPr lang="en-IN" sz="1100" b="0" u="none" strike="noStrike">
              <a:solidFill>
                <a:srgbClr val="000000"/>
              </a:solidFill>
              <a:effectLst/>
              <a:uFillTx/>
              <a:latin typeface="Arial"/>
            </a:endParaRPr>
          </a:p>
        </p:txBody>
      </p:sp>
      <p:sp>
        <p:nvSpPr>
          <p:cNvPr id="269" name="Shape 2"/>
          <p:cNvSpPr/>
          <p:nvPr/>
        </p:nvSpPr>
        <p:spPr>
          <a:xfrm>
            <a:off x="6400800" y="128016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70" name="Text 3"/>
          <p:cNvSpPr/>
          <p:nvPr/>
        </p:nvSpPr>
        <p:spPr>
          <a:xfrm>
            <a:off x="6400800" y="128016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Worker 1</a:t>
            </a:r>
            <a:endParaRPr lang="en-IN" sz="900" b="0" u="none" strike="noStrike">
              <a:solidFill>
                <a:srgbClr val="000000"/>
              </a:solidFill>
              <a:effectLst/>
              <a:uFillTx/>
              <a:latin typeface="Arial"/>
            </a:endParaRPr>
          </a:p>
        </p:txBody>
      </p:sp>
      <p:sp>
        <p:nvSpPr>
          <p:cNvPr id="271" name="Shape 4"/>
          <p:cNvSpPr/>
          <p:nvPr/>
        </p:nvSpPr>
        <p:spPr>
          <a:xfrm>
            <a:off x="6400800" y="210312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72" name="Text 5"/>
          <p:cNvSpPr/>
          <p:nvPr/>
        </p:nvSpPr>
        <p:spPr>
          <a:xfrm>
            <a:off x="6400800" y="210312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Worker 2</a:t>
            </a:r>
            <a:endParaRPr lang="en-IN" sz="900" b="0" u="none" strike="noStrike">
              <a:solidFill>
                <a:srgbClr val="000000"/>
              </a:solidFill>
              <a:effectLst/>
              <a:uFillTx/>
              <a:latin typeface="Arial"/>
            </a:endParaRPr>
          </a:p>
        </p:txBody>
      </p:sp>
      <p:sp>
        <p:nvSpPr>
          <p:cNvPr id="273" name="Shape 6"/>
          <p:cNvSpPr/>
          <p:nvPr/>
        </p:nvSpPr>
        <p:spPr>
          <a:xfrm>
            <a:off x="6400800" y="292608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74" name="Text 7"/>
          <p:cNvSpPr/>
          <p:nvPr/>
        </p:nvSpPr>
        <p:spPr>
          <a:xfrm>
            <a:off x="6400800" y="292608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Worker 3</a:t>
            </a:r>
            <a:endParaRPr lang="en-IN" sz="900" b="0" u="none" strike="noStrike">
              <a:solidFill>
                <a:srgbClr val="000000"/>
              </a:solidFill>
              <a:effectLst/>
              <a:uFillTx/>
              <a:latin typeface="Arial"/>
            </a:endParaRPr>
          </a:p>
        </p:txBody>
      </p:sp>
      <p:sp>
        <p:nvSpPr>
          <p:cNvPr id="275" name="Shape 8"/>
          <p:cNvSpPr/>
          <p:nvPr/>
        </p:nvSpPr>
        <p:spPr>
          <a:xfrm>
            <a:off x="6877440" y="3840480"/>
            <a:ext cx="1096560" cy="36504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76" name="Text 9"/>
          <p:cNvSpPr/>
          <p:nvPr/>
        </p:nvSpPr>
        <p:spPr>
          <a:xfrm>
            <a:off x="6841440" y="3840480"/>
            <a:ext cx="109656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2F5597"/>
                </a:solidFill>
                <a:effectLst/>
                <a:uFillTx/>
                <a:latin typeface="Calibri"/>
              </a:rPr>
              <a:t>Kafka</a:t>
            </a:r>
            <a:endParaRPr lang="en-IN" sz="800" b="0" u="none" strike="noStrike">
              <a:solidFill>
                <a:srgbClr val="000000"/>
              </a:solidFill>
              <a:effectLst/>
              <a:uFillTx/>
              <a:latin typeface="Arial"/>
            </a:endParaRPr>
          </a:p>
        </p:txBody>
      </p:sp>
      <p:sp>
        <p:nvSpPr>
          <p:cNvPr id="277" name="Shape 10"/>
          <p:cNvSpPr/>
          <p:nvPr/>
        </p:nvSpPr>
        <p:spPr>
          <a:xfrm>
            <a:off x="7200000" y="1736640"/>
            <a:ext cx="182160" cy="36648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278" name="Shape 11"/>
          <p:cNvSpPr/>
          <p:nvPr/>
        </p:nvSpPr>
        <p:spPr>
          <a:xfrm>
            <a:off x="7253640" y="2612520"/>
            <a:ext cx="182160" cy="26748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279" name="Shape 12"/>
          <p:cNvSpPr/>
          <p:nvPr/>
        </p:nvSpPr>
        <p:spPr>
          <a:xfrm>
            <a:off x="7282080" y="3438720"/>
            <a:ext cx="182160" cy="40176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280" name="Text 13"/>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Connect Task Failover: Tasks Are the Work Units</a:t>
            </a:r>
            <a:endParaRPr lang="en-IN" sz="2200" b="0" u="none" strike="noStrike">
              <a:solidFill>
                <a:srgbClr val="000000"/>
              </a:solidFill>
              <a:effectLst/>
              <a:uFillTx/>
              <a:latin typeface="Arial"/>
            </a:endParaRPr>
          </a:p>
        </p:txBody>
      </p:sp>
      <p:sp>
        <p:nvSpPr>
          <p:cNvPr id="282"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283" name="Picture 3" descr="connect_task_failover_clean.png"/>
          <p:cNvPicPr/>
          <p:nvPr/>
        </p:nvPicPr>
        <p:blipFill>
          <a:blip r:embed="rId2"/>
          <a:stretch/>
        </p:blipFill>
        <p:spPr>
          <a:xfrm>
            <a:off x="640080" y="960120"/>
            <a:ext cx="4251600" cy="3062880"/>
          </a:xfrm>
          <a:prstGeom prst="rect">
            <a:avLst/>
          </a:prstGeom>
          <a:noFill/>
          <a:ln w="0">
            <a:noFill/>
          </a:ln>
        </p:spPr>
      </p:pic>
      <p:sp>
        <p:nvSpPr>
          <p:cNvPr id="284" name="TextBox 4"/>
          <p:cNvSpPr/>
          <p:nvPr/>
        </p:nvSpPr>
        <p:spPr>
          <a:xfrm>
            <a:off x="5212080" y="1051560"/>
            <a:ext cx="310860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Connectors define the job; tasks perform the data movement.</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Distributed workers rebalance tasks when workers join, leave or fail.</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The lab uses one worker, but the status model is the same.</a:t>
            </a:r>
            <a:endParaRPr lang="en-IN" sz="1350" b="0" u="none" strike="noStrike">
              <a:solidFill>
                <a:srgbClr val="000000"/>
              </a:solidFill>
              <a:effectLst/>
              <a:uFillTx/>
              <a:latin typeface="Arial"/>
            </a:endParaRPr>
          </a:p>
        </p:txBody>
      </p:sp>
      <p:sp>
        <p:nvSpPr>
          <p:cNvPr id="285" name="TextBox 5"/>
          <p:cNvSpPr/>
          <p:nvPr/>
        </p:nvSpPr>
        <p:spPr>
          <a:xfrm>
            <a:off x="658440" y="4224600"/>
            <a:ext cx="7406280" cy="21924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850" b="0" u="none" strike="noStrike">
                <a:solidFill>
                  <a:srgbClr val="585858"/>
                </a:solidFill>
                <a:effectLst/>
                <a:uFillTx/>
                <a:latin typeface="Calibri"/>
              </a:rPr>
              <a:t>Source: Confluent Kafka Connect design documentation.</a:t>
            </a:r>
            <a:endParaRPr lang="en-IN" sz="850" b="0" u="none" strike="noStrike">
              <a:solidFill>
                <a:srgbClr val="000000"/>
              </a:solidFill>
              <a:effectLst/>
              <a:uFillTx/>
              <a:latin typeface="Arial"/>
            </a:endParaRPr>
          </a:p>
        </p:txBody>
      </p:sp>
      <p:sp>
        <p:nvSpPr>
          <p:cNvPr id="286" name="TextBox 6"/>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[41]</a:t>
            </a:r>
            <a:endParaRPr lang="en-IN" sz="8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 name="Picture 286"/>
          <p:cNvPicPr/>
          <p:nvPr/>
        </p:nvPicPr>
        <p:blipFill>
          <a:blip r:embed="rId2"/>
          <a:stretch/>
        </p:blipFill>
        <p:spPr>
          <a:xfrm>
            <a:off x="0" y="65160"/>
            <a:ext cx="9122040" cy="5083200"/>
          </a:xfrm>
          <a:prstGeom prst="rect">
            <a:avLst/>
          </a:prstGeom>
          <a:noFill/>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Example: JDBC Source Connector</a:t>
            </a:r>
            <a:endParaRPr lang="en-IN" sz="2200" b="0" u="none" strike="noStrike">
              <a:solidFill>
                <a:srgbClr val="000000"/>
              </a:solidFill>
              <a:effectLst/>
              <a:uFillTx/>
              <a:latin typeface="Arial"/>
            </a:endParaRPr>
          </a:p>
        </p:txBody>
      </p:sp>
      <p:sp>
        <p:nvSpPr>
          <p:cNvPr id="289" name="Text 1"/>
          <p:cNvSpPr/>
          <p:nvPr/>
        </p:nvSpPr>
        <p:spPr>
          <a:xfrm>
            <a:off x="457200" y="100584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385170"/>
                </a:solidFill>
                <a:effectLst/>
                <a:uFillTx/>
                <a:latin typeface="Calibri"/>
              </a:rPr>
              <a:t>The JSON below shows a basic configuration for a JDBC source connector that ingests data from PostgreSQL.</a:t>
            </a:r>
            <a:endParaRPr lang="en-IN" sz="1100" b="0" u="none" strike="noStrike">
              <a:solidFill>
                <a:srgbClr val="000000"/>
              </a:solidFill>
              <a:effectLst/>
              <a:uFillTx/>
              <a:latin typeface="Arial"/>
            </a:endParaRPr>
          </a:p>
        </p:txBody>
      </p:sp>
      <p:sp>
        <p:nvSpPr>
          <p:cNvPr id="290" name="Shape 2"/>
          <p:cNvSpPr/>
          <p:nvPr/>
        </p:nvSpPr>
        <p:spPr>
          <a:xfrm>
            <a:off x="457200" y="1463040"/>
            <a:ext cx="8228880" cy="2010960"/>
          </a:xfrm>
          <a:prstGeom prst="rect">
            <a:avLst/>
          </a:prstGeom>
          <a:solidFill>
            <a:srgbClr val="F7F9FB"/>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291" name="Text 3"/>
          <p:cNvSpPr/>
          <p:nvPr/>
        </p:nvSpPr>
        <p:spPr>
          <a:xfrm>
            <a:off x="502920" y="1508760"/>
            <a:ext cx="8137440" cy="191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"name": "postgres-source-connector",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"config":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"connector.class": "io.confluent.connect.jdbc.JdbcSourceConnector",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"tasks.max": "3",</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"connection.url": "jdbc:postgresql://postgres:5432/mydb",</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"connection.user": "${secrets:postgres:username}",</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"connection.password": "${secrets:postgres:password}",</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"mode": "incrementing",</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"incrementing.column.name": "id",</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"topic.prefix": "postgres-",</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"table.whitelist": "orders,customers,products",</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"poll.interval.ms": "1000",</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"batch.max.rows": "1000"</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p:txBody>
      </p:sp>
      <p:sp>
        <p:nvSpPr>
          <p:cNvPr id="292"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Connector Config Fields Learners Should Read First</a:t>
            </a:r>
            <a:endParaRPr lang="en-IN" sz="2200" b="0" u="none" strike="noStrike">
              <a:solidFill>
                <a:srgbClr val="000000"/>
              </a:solidFill>
              <a:effectLst/>
              <a:uFillTx/>
              <a:latin typeface="Arial"/>
            </a:endParaRPr>
          </a:p>
        </p:txBody>
      </p:sp>
      <p:sp>
        <p:nvSpPr>
          <p:cNvPr id="294"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95" name="Rounded Rectangle 3"/>
          <p:cNvSpPr/>
          <p:nvPr/>
        </p:nvSpPr>
        <p:spPr>
          <a:xfrm>
            <a:off x="59436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Source connector</a:t>
            </a:r>
            <a:endParaRPr lang="en-IN" sz="1300" b="0" u="none" strike="noStrike">
              <a:solidFill>
                <a:srgbClr val="000000"/>
              </a:solidFill>
              <a:effectLst/>
              <a:uFillTx/>
              <a:latin typeface="Arial"/>
            </a:endParaRPr>
          </a:p>
        </p:txBody>
      </p:sp>
      <p:sp>
        <p:nvSpPr>
          <p:cNvPr id="296" name="Rounded Rectangle 4"/>
          <p:cNvSpPr/>
          <p:nvPr/>
        </p:nvSpPr>
        <p:spPr>
          <a:xfrm>
            <a:off x="461772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Sink connector</a:t>
            </a:r>
            <a:endParaRPr lang="en-IN" sz="1300" b="0" u="none" strike="noStrike">
              <a:solidFill>
                <a:srgbClr val="000000"/>
              </a:solidFill>
              <a:effectLst/>
              <a:uFillTx/>
              <a:latin typeface="Arial"/>
            </a:endParaRPr>
          </a:p>
        </p:txBody>
      </p:sp>
      <p:sp>
        <p:nvSpPr>
          <p:cNvPr id="297" name="TextBox 5"/>
          <p:cNvSpPr/>
          <p:nvPr/>
        </p:nvSpPr>
        <p:spPr>
          <a:xfrm>
            <a:off x="65844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connector.class names the source plugin.</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file is the external input path.</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topic is where records enter Kafka.</a:t>
            </a:r>
            <a:endParaRPr lang="en-IN" sz="1350" b="0" u="none" strike="noStrike">
              <a:solidFill>
                <a:srgbClr val="000000"/>
              </a:solidFill>
              <a:effectLst/>
              <a:uFillTx/>
              <a:latin typeface="Arial"/>
            </a:endParaRPr>
          </a:p>
        </p:txBody>
      </p:sp>
      <p:sp>
        <p:nvSpPr>
          <p:cNvPr id="298" name="TextBox 6"/>
          <p:cNvSpPr/>
          <p:nvPr/>
        </p:nvSpPr>
        <p:spPr>
          <a:xfrm>
            <a:off x="468180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connector.class names the sink plugin.</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topics is the Kafka input.</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file is the external output path.</a:t>
            </a:r>
            <a:endParaRPr lang="en-IN" sz="1350" b="0" u="none" strike="noStrike">
              <a:solidFill>
                <a:srgbClr val="000000"/>
              </a:solidFill>
              <a:effectLst/>
              <a:uFillTx/>
              <a:latin typeface="Arial"/>
            </a:endParaRPr>
          </a:p>
        </p:txBody>
      </p:sp>
      <p:sp>
        <p:nvSpPr>
          <p:cNvPr id="299" name="TextBox 7"/>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[43]</a:t>
            </a:r>
            <a:endParaRPr lang="en-IN" sz="800" b="0" u="none" strike="noStrike">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300" name="Text 28"/>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Mini Exercise: Configure a Connector</a:t>
            </a:r>
            <a:endParaRPr lang="en-IN" sz="2200" b="0" u="none" strike="noStrike">
              <a:solidFill>
                <a:srgbClr val="000000"/>
              </a:solidFill>
              <a:effectLst/>
              <a:uFillTx/>
              <a:latin typeface="Arial"/>
            </a:endParaRPr>
          </a:p>
        </p:txBody>
      </p:sp>
      <p:sp>
        <p:nvSpPr>
          <p:cNvPr id="301" name="Text 29"/>
          <p:cNvSpPr/>
          <p:nvPr/>
        </p:nvSpPr>
        <p:spPr>
          <a:xfrm>
            <a:off x="457200" y="822960"/>
            <a:ext cx="502848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Exercise: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1. Use the REST API to deploy the JDBC source connector shown on the previous slide.</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2. Verify that records are streaming into the postgres-orders topic.</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3. Modify the configuration to ingest only the orders table and change poll interval to 5000 ms.</a:t>
            </a:r>
            <a:endParaRPr lang="en-IN" sz="1100" b="0" u="none" strike="noStrike">
              <a:solidFill>
                <a:srgbClr val="000000"/>
              </a:solidFill>
              <a:effectLst/>
              <a:uFillTx/>
              <a:latin typeface="Arial"/>
            </a:endParaRPr>
          </a:p>
        </p:txBody>
      </p:sp>
      <p:sp>
        <p:nvSpPr>
          <p:cNvPr id="302" name="Text 30"/>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Quick Quiz:</a:t>
            </a:r>
            <a:endParaRPr lang="en-IN" sz="1400" b="0" u="none" strike="noStrike">
              <a:solidFill>
                <a:srgbClr val="000000"/>
              </a:solidFill>
              <a:effectLst/>
              <a:uFillTx/>
              <a:latin typeface="Arial"/>
            </a:endParaRPr>
          </a:p>
        </p:txBody>
      </p:sp>
      <p:sp>
        <p:nvSpPr>
          <p:cNvPr id="303" name="Text 31"/>
          <p:cNvSpPr/>
          <p:nvPr/>
        </p:nvSpPr>
        <p:spPr>
          <a:xfrm>
            <a:off x="5669280" y="1097280"/>
            <a:ext cx="31996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rgbClr val="2F5597"/>
                </a:solidFill>
                <a:effectLst/>
                <a:uFillTx/>
                <a:latin typeface="Calibri"/>
              </a:rPr>
              <a:t>Q7. Which component in Kafka Connect performs the actual data movement?</a:t>
            </a:r>
            <a:endParaRPr lang="en-IN" sz="11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a) Worker</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b) Connector</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c) Task</a:t>
            </a:r>
            <a:endParaRPr lang="en-IN" sz="1000" b="0" u="none" strike="noStrike">
              <a:solidFill>
                <a:srgbClr val="000000"/>
              </a:solidFill>
              <a:effectLst/>
              <a:uFillTx/>
              <a:latin typeface="Arial"/>
            </a:endParaRPr>
          </a:p>
          <a:p>
            <a:pPr defTabSz="914400">
              <a:lnSpc>
                <a:spcPct val="100000"/>
              </a:lnSpc>
            </a:pPr>
            <a:r>
              <a:rPr lang="en-US" sz="1000" b="0" u="none" strike="noStrike">
                <a:solidFill>
                  <a:srgbClr val="385170"/>
                </a:solidFill>
                <a:effectLst/>
                <a:uFillTx/>
                <a:latin typeface="Calibri"/>
              </a:rPr>
              <a:t>d) Converter</a:t>
            </a:r>
            <a:endParaRPr lang="en-IN" sz="1000" b="0" u="none" strike="noStrike">
              <a:solidFill>
                <a:srgbClr val="000000"/>
              </a:solidFill>
              <a:effectLst/>
              <a:uFillTx/>
              <a:latin typeface="Arial"/>
            </a:endParaRPr>
          </a:p>
          <a:p>
            <a:pPr defTabSz="914400">
              <a:lnSpc>
                <a:spcPct val="100000"/>
              </a:lnSpc>
            </a:pPr>
            <a:endParaRPr lang="en-IN" sz="1000" b="0" u="none" strike="noStrike">
              <a:solidFill>
                <a:srgbClr val="000000"/>
              </a:solidFill>
              <a:effectLst/>
              <a:uFillTx/>
              <a:latin typeface="Arial"/>
            </a:endParaRPr>
          </a:p>
          <a:p>
            <a:pPr defTabSz="914400">
              <a:lnSpc>
                <a:spcPct val="100000"/>
              </a:lnSpc>
            </a:pPr>
            <a:r>
              <a:rPr lang="en-US" sz="1100" b="1" u="none" strike="noStrike">
                <a:solidFill>
                  <a:srgbClr val="2F5597"/>
                </a:solidFill>
                <a:effectLst/>
                <a:uFillTx/>
                <a:latin typeface="Calibri"/>
              </a:rPr>
              <a:t>Q8. Which ingestion pattern provides low‑latency streaming of database changes?</a:t>
            </a:r>
            <a:endParaRPr lang="en-IN" sz="11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a) Query‑based polling</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b) CDC using WAL/binlog</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c) API polling</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d) File tailing</a:t>
            </a:r>
            <a:endParaRPr lang="en-IN" sz="1000" b="0" u="none" strike="noStrike">
              <a:solidFill>
                <a:srgbClr val="000000"/>
              </a:solidFill>
              <a:effectLst/>
              <a:uFillTx/>
              <a:latin typeface="Arial"/>
            </a:endParaRPr>
          </a:p>
        </p:txBody>
      </p:sp>
      <p:sp>
        <p:nvSpPr>
          <p:cNvPr id="304" name="Text 3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Configure a Connector</a:t>
            </a:r>
            <a:endParaRPr lang="en-IN" sz="2200" b="0" u="none" strike="noStrike">
              <a:solidFill>
                <a:srgbClr val="000000"/>
              </a:solidFill>
              <a:effectLst/>
              <a:uFillTx/>
              <a:latin typeface="Arial"/>
            </a:endParaRPr>
          </a:p>
        </p:txBody>
      </p:sp>
      <p:sp>
        <p:nvSpPr>
          <p:cNvPr id="306"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07"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endParaRPr lang="en-IN" sz="1800" b="0" u="none" strike="noStrike">
              <a:solidFill>
                <a:srgbClr val="000000"/>
              </a:solidFill>
              <a:effectLst/>
              <a:uFillTx/>
              <a:latin typeface="Arial"/>
            </a:endParaRPr>
          </a:p>
        </p:txBody>
      </p:sp>
      <p:sp>
        <p:nvSpPr>
          <p:cNvPr id="308" name="TextBox 4"/>
          <p:cNvSpPr/>
          <p:nvPr/>
        </p:nvSpPr>
        <p:spPr>
          <a:xfrm>
            <a:off x="640080" y="1234440"/>
            <a:ext cx="7406280" cy="330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n-US" sz="1500" b="0" u="none" strike="noStrike">
                <a:solidFill>
                  <a:srgbClr val="1E1E1E"/>
                </a:solidFill>
                <a:effectLst/>
                <a:uFillTx/>
                <a:latin typeface="Calibri"/>
              </a:rPr>
              <a:t>Q7. Which component in Kafka Connect performs the actual data movement?</a:t>
            </a:r>
            <a:endParaRPr lang="en-IN" sz="1500" b="0" u="none" strike="noStrike">
              <a:solidFill>
                <a:srgbClr val="000000"/>
              </a:solidFill>
              <a:effectLst/>
              <a:uFillTx/>
              <a:latin typeface="Arial"/>
            </a:endParaRPr>
          </a:p>
          <a:p>
            <a:pPr defTabSz="914400">
              <a:lnSpc>
                <a:spcPct val="100000"/>
              </a:lnSpc>
              <a:spcBef>
                <a:spcPts val="1191"/>
              </a:spcBef>
              <a:spcAft>
                <a:spcPts val="992"/>
              </a:spcAft>
            </a:pPr>
            <a:r>
              <a:rPr lang="en-US" sz="1500" b="0" u="none" strike="noStrike">
                <a:solidFill>
                  <a:srgbClr val="1E1E1E"/>
                </a:solidFill>
                <a:effectLst/>
                <a:uFillTx/>
                <a:latin typeface="Calibri"/>
              </a:rPr>
              <a:t>Answer: c) Task</a:t>
            </a:r>
            <a:endParaRPr lang="en-IN" sz="1500" b="0" u="none" strike="noStrike">
              <a:solidFill>
                <a:srgbClr val="000000"/>
              </a:solidFill>
              <a:effectLst/>
              <a:uFillTx/>
              <a:latin typeface="Arial"/>
            </a:endParaRPr>
          </a:p>
          <a:p>
            <a:pPr defTabSz="914400">
              <a:lnSpc>
                <a:spcPct val="100000"/>
              </a:lnSpc>
              <a:spcBef>
                <a:spcPts val="1191"/>
              </a:spcBef>
              <a:spcAft>
                <a:spcPts val="992"/>
              </a:spcAft>
            </a:pPr>
            <a:r>
              <a:rPr lang="en-US" sz="1500" b="0" u="none" strike="noStrike">
                <a:solidFill>
                  <a:srgbClr val="1E1E1E"/>
                </a:solidFill>
                <a:effectLst/>
                <a:uFillTx/>
                <a:latin typeface="Calibri"/>
              </a:rPr>
              <a:t>A Connector defines what data source/sink to use and creates one or more Tasks. The Tasks do the actual work of copying/moving data.</a:t>
            </a:r>
            <a:endParaRPr lang="en-IN" sz="1500" b="0" u="none" strike="noStrike">
              <a:solidFill>
                <a:srgbClr val="000000"/>
              </a:solidFill>
              <a:effectLst/>
              <a:uFillTx/>
              <a:latin typeface="Arial"/>
            </a:endParaRPr>
          </a:p>
          <a:p>
            <a:pPr defTabSz="914400">
              <a:lnSpc>
                <a:spcPct val="100000"/>
              </a:lnSpc>
              <a:spcBef>
                <a:spcPts val="1191"/>
              </a:spcBef>
              <a:spcAft>
                <a:spcPts val="992"/>
              </a:spcAft>
            </a:pPr>
            <a:r>
              <a:rPr lang="en-US" sz="1500" b="0" u="none" strike="noStrike">
                <a:solidFill>
                  <a:srgbClr val="1E1E1E"/>
                </a:solidFill>
                <a:effectLst/>
                <a:uFillTx/>
                <a:latin typeface="Calibri"/>
              </a:rPr>
              <a:t>Q8. Which ingestion pattern provides low-latency streaming of database changes?</a:t>
            </a:r>
            <a:endParaRPr lang="en-IN" sz="1500" b="0" u="none" strike="noStrike">
              <a:solidFill>
                <a:srgbClr val="000000"/>
              </a:solidFill>
              <a:effectLst/>
              <a:uFillTx/>
              <a:latin typeface="Arial"/>
            </a:endParaRPr>
          </a:p>
          <a:p>
            <a:pPr defTabSz="914400">
              <a:lnSpc>
                <a:spcPct val="100000"/>
              </a:lnSpc>
              <a:spcBef>
                <a:spcPts val="1191"/>
              </a:spcBef>
              <a:spcAft>
                <a:spcPts val="992"/>
              </a:spcAft>
            </a:pPr>
            <a:r>
              <a:rPr lang="en-US" sz="1500" b="0" u="none" strike="noStrike">
                <a:solidFill>
                  <a:srgbClr val="1E1E1E"/>
                </a:solidFill>
                <a:effectLst/>
                <a:uFillTx/>
                <a:latin typeface="Calibri"/>
              </a:rPr>
              <a:t>Answer: b) CDC using WAL/binlog</a:t>
            </a:r>
            <a:endParaRPr lang="en-IN" sz="1500" b="0" u="none" strike="noStrike">
              <a:solidFill>
                <a:srgbClr val="000000"/>
              </a:solidFill>
              <a:effectLst/>
              <a:uFillTx/>
              <a:latin typeface="Arial"/>
            </a:endParaRPr>
          </a:p>
          <a:p>
            <a:pPr defTabSz="914400">
              <a:lnSpc>
                <a:spcPct val="100000"/>
              </a:lnSpc>
              <a:spcBef>
                <a:spcPts val="1191"/>
              </a:spcBef>
              <a:spcAft>
                <a:spcPts val="992"/>
              </a:spcAft>
            </a:pPr>
            <a:r>
              <a:rPr lang="en-US" sz="1500" b="0" u="none" strike="noStrike">
                <a:solidFill>
                  <a:srgbClr val="1E1E1E"/>
                </a:solidFill>
                <a:effectLst/>
                <a:uFillTx/>
                <a:latin typeface="Calibri"/>
              </a:rPr>
              <a:t>CDC reads database change logs such as WAL in PostgreSQL or binlog in MySQL, so changes can be streamed to Kafka with low latency.</a:t>
            </a:r>
            <a:endParaRPr lang="en-IN" sz="1500" b="0" u="none" strike="noStrike">
              <a:solidFill>
                <a:srgbClr val="000000"/>
              </a:solidFill>
              <a:effectLst/>
              <a:uFillTx/>
              <a:latin typeface="Arial"/>
            </a:endParaRPr>
          </a:p>
        </p:txBody>
      </p:sp>
      <p:sp>
        <p:nvSpPr>
          <p:cNvPr id="309"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[45]</a:t>
            </a:r>
            <a:endParaRPr lang="en-IN" sz="800" b="0" u="none" strike="noStrike">
              <a:solidFill>
                <a:srgbClr val="000000"/>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0"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Topology: Ubuntu Host to Kafka and Back</a:t>
            </a:r>
            <a:endParaRPr lang="en-IN" sz="2200" b="0" u="none" strike="noStrike">
              <a:solidFill>
                <a:srgbClr val="000000"/>
              </a:solidFill>
              <a:effectLst/>
              <a:uFillTx/>
              <a:latin typeface="Arial"/>
            </a:endParaRPr>
          </a:p>
        </p:txBody>
      </p:sp>
      <p:sp>
        <p:nvSpPr>
          <p:cNvPr id="311" name="Text 1"/>
          <p:cNvSpPr/>
          <p:nvPr/>
        </p:nvSpPr>
        <p:spPr>
          <a:xfrm>
            <a:off x="457200" y="1097280"/>
            <a:ext cx="54856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Your supplied Docker Compose lab:</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Starts one KRaft broker and one Kafka Connect worker.</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Exposes Connect REST at localhost:8083.</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Source: /data/input/produce.txt -&gt; topic fs-source.</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Sink: topic fs-source -&gt; /data/output/consume.txt.</a:t>
            </a:r>
            <a:endParaRPr lang="en-IN" sz="1200" b="0" u="none" strike="noStrike">
              <a:solidFill>
                <a:srgbClr val="000000"/>
              </a:solidFill>
              <a:effectLst/>
              <a:uFillTx/>
              <a:latin typeface="Arial"/>
            </a:endParaRPr>
          </a:p>
          <a:p>
            <a:pPr defTabSz="914400">
              <a:lnSpc>
                <a:spcPct val="100000"/>
              </a:lnSpc>
              <a:tabLst>
                <a:tab pos="0" algn="l"/>
              </a:tabLst>
            </a:pP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Distributed Connect stores config, offsets and status in Kafka topics.</a:t>
            </a:r>
            <a:endParaRPr lang="en-IN" sz="1200" b="0" u="none" strike="noStrike">
              <a:solidFill>
                <a:srgbClr val="000000"/>
              </a:solidFill>
              <a:effectLst/>
              <a:uFillTx/>
              <a:latin typeface="Arial"/>
            </a:endParaRPr>
          </a:p>
        </p:txBody>
      </p:sp>
      <p:sp>
        <p:nvSpPr>
          <p:cNvPr id="312" name="Shape 2"/>
          <p:cNvSpPr/>
          <p:nvPr/>
        </p:nvSpPr>
        <p:spPr>
          <a:xfrm>
            <a:off x="6400800" y="128016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13" name="Text 3"/>
          <p:cNvSpPr/>
          <p:nvPr/>
        </p:nvSpPr>
        <p:spPr>
          <a:xfrm>
            <a:off x="6400800" y="128016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/data/input</a:t>
            </a:r>
            <a:endParaRPr lang="en-IN" sz="900" b="0" u="none" strike="noStrike">
              <a:solidFill>
                <a:srgbClr val="000000"/>
              </a:solidFill>
              <a:effectLst/>
              <a:uFillTx/>
              <a:latin typeface="Arial"/>
            </a:endParaRPr>
          </a:p>
        </p:txBody>
      </p:sp>
      <p:sp>
        <p:nvSpPr>
          <p:cNvPr id="314" name="Shape 4"/>
          <p:cNvSpPr/>
          <p:nvPr/>
        </p:nvSpPr>
        <p:spPr>
          <a:xfrm>
            <a:off x="6400800" y="210312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15" name="Text 5"/>
          <p:cNvSpPr/>
          <p:nvPr/>
        </p:nvSpPr>
        <p:spPr>
          <a:xfrm>
            <a:off x="6400800" y="210312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Connect :8083</a:t>
            </a:r>
            <a:endParaRPr lang="en-IN" sz="900" b="0" u="none" strike="noStrike">
              <a:solidFill>
                <a:srgbClr val="000000"/>
              </a:solidFill>
              <a:effectLst/>
              <a:uFillTx/>
              <a:latin typeface="Arial"/>
            </a:endParaRPr>
          </a:p>
        </p:txBody>
      </p:sp>
      <p:sp>
        <p:nvSpPr>
          <p:cNvPr id="316" name="Shape 6"/>
          <p:cNvSpPr/>
          <p:nvPr/>
        </p:nvSpPr>
        <p:spPr>
          <a:xfrm>
            <a:off x="6400800" y="2926080"/>
            <a:ext cx="1828080" cy="456480"/>
          </a:xfrm>
          <a:prstGeom prst="roundRect">
            <a:avLst>
              <a:gd name="adj" fmla="val 10000"/>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17" name="Text 7"/>
          <p:cNvSpPr/>
          <p:nvPr/>
        </p:nvSpPr>
        <p:spPr>
          <a:xfrm>
            <a:off x="6400800" y="2926080"/>
            <a:ext cx="1828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900" b="0" u="none" strike="noStrike">
                <a:solidFill>
                  <a:srgbClr val="2F5597"/>
                </a:solidFill>
                <a:effectLst/>
                <a:uFillTx/>
                <a:latin typeface="Calibri"/>
              </a:rPr>
              <a:t>Kafka fs-source</a:t>
            </a:r>
            <a:endParaRPr lang="en-IN" sz="900" b="0" u="none" strike="noStrike">
              <a:solidFill>
                <a:srgbClr val="000000"/>
              </a:solidFill>
              <a:effectLst/>
              <a:uFillTx/>
              <a:latin typeface="Arial"/>
            </a:endParaRPr>
          </a:p>
        </p:txBody>
      </p:sp>
      <p:sp>
        <p:nvSpPr>
          <p:cNvPr id="318" name="Shape 8"/>
          <p:cNvSpPr/>
          <p:nvPr/>
        </p:nvSpPr>
        <p:spPr>
          <a:xfrm>
            <a:off x="6949440" y="3840480"/>
            <a:ext cx="1096560" cy="365040"/>
          </a:xfrm>
          <a:prstGeom prst="rect">
            <a:avLst/>
          </a:prstGeom>
          <a:solidFill>
            <a:srgbClr val="D6E0F0"/>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19" name="Text 9"/>
          <p:cNvSpPr/>
          <p:nvPr/>
        </p:nvSpPr>
        <p:spPr>
          <a:xfrm>
            <a:off x="6949440" y="3840480"/>
            <a:ext cx="109656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2F5597"/>
                </a:solidFill>
                <a:effectLst/>
                <a:uFillTx/>
                <a:latin typeface="Calibri"/>
              </a:rPr>
              <a:t>/data/output</a:t>
            </a:r>
            <a:endParaRPr lang="en-IN" sz="800" b="0" u="none" strike="noStrike">
              <a:solidFill>
                <a:srgbClr val="000000"/>
              </a:solidFill>
              <a:effectLst/>
              <a:uFillTx/>
              <a:latin typeface="Arial"/>
            </a:endParaRPr>
          </a:p>
        </p:txBody>
      </p:sp>
      <p:sp>
        <p:nvSpPr>
          <p:cNvPr id="320" name="Shape 10"/>
          <p:cNvSpPr/>
          <p:nvPr/>
        </p:nvSpPr>
        <p:spPr>
          <a:xfrm>
            <a:off x="7498080" y="1828800"/>
            <a:ext cx="182160" cy="54792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21" name="Shape 11"/>
          <p:cNvSpPr/>
          <p:nvPr/>
        </p:nvSpPr>
        <p:spPr>
          <a:xfrm>
            <a:off x="7498080" y="2651760"/>
            <a:ext cx="182160" cy="54792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22" name="Shape 12"/>
          <p:cNvSpPr/>
          <p:nvPr/>
        </p:nvSpPr>
        <p:spPr>
          <a:xfrm>
            <a:off x="7498080" y="3474720"/>
            <a:ext cx="182160" cy="547920"/>
          </a:xfrm>
          <a:prstGeom prst="downArrow">
            <a:avLst>
              <a:gd name="adj1" fmla="val 50000"/>
              <a:gd name="adj2" fmla="val 50000"/>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323" name="Text 13"/>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Client-Ready Lab Topology: Three Brokers Plus Connect</a:t>
            </a:r>
            <a:endParaRPr lang="en-IN" sz="2200" b="0" u="none" strike="noStrike">
              <a:solidFill>
                <a:srgbClr val="000000"/>
              </a:solidFill>
              <a:effectLst/>
              <a:uFillTx/>
              <a:latin typeface="Arial"/>
            </a:endParaRPr>
          </a:p>
        </p:txBody>
      </p:sp>
      <p:sp>
        <p:nvSpPr>
          <p:cNvPr id="325"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26"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The refreshed lab keeps the original FileStream idea but runs it beside a visible replicated Kafka cluster.</a:t>
            </a:r>
            <a:endParaRPr lang="en-IN" sz="1150" b="0" u="none" strike="noStrike">
              <a:solidFill>
                <a:srgbClr val="000000"/>
              </a:solidFill>
              <a:effectLst/>
              <a:uFillTx/>
              <a:latin typeface="Arial"/>
            </a:endParaRPr>
          </a:p>
        </p:txBody>
      </p:sp>
      <p:sp>
        <p:nvSpPr>
          <p:cNvPr id="327" name="Rounded Rectangle 4"/>
          <p:cNvSpPr/>
          <p:nvPr/>
        </p:nvSpPr>
        <p:spPr>
          <a:xfrm>
            <a:off x="50292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Producer</a:t>
            </a:r>
            <a:endParaRPr lang="en-IN" sz="1150" b="0" u="none" strike="noStrike">
              <a:solidFill>
                <a:srgbClr val="000000"/>
              </a:solidFill>
              <a:effectLst/>
              <a:uFillTx/>
              <a:latin typeface="Arial"/>
            </a:endParaRPr>
          </a:p>
        </p:txBody>
      </p:sp>
      <p:sp>
        <p:nvSpPr>
          <p:cNvPr id="328" name="Right Arrow 5"/>
          <p:cNvSpPr/>
          <p:nvPr/>
        </p:nvSpPr>
        <p:spPr>
          <a:xfrm>
            <a:off x="184716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29" name="Rounded Rectangle 6"/>
          <p:cNvSpPr/>
          <p:nvPr/>
        </p:nvSpPr>
        <p:spPr>
          <a:xfrm>
            <a:off x="226764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Broker 1/2/3</a:t>
            </a:r>
            <a:endParaRPr lang="en-IN" sz="1150" b="0" u="none" strike="noStrike">
              <a:solidFill>
                <a:srgbClr val="000000"/>
              </a:solidFill>
              <a:effectLst/>
              <a:uFillTx/>
              <a:latin typeface="Arial"/>
            </a:endParaRPr>
          </a:p>
        </p:txBody>
      </p:sp>
      <p:sp>
        <p:nvSpPr>
          <p:cNvPr id="330" name="Right Arrow 7"/>
          <p:cNvSpPr/>
          <p:nvPr/>
        </p:nvSpPr>
        <p:spPr>
          <a:xfrm>
            <a:off x="361188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31" name="Rounded Rectangle 8"/>
          <p:cNvSpPr/>
          <p:nvPr/>
        </p:nvSpPr>
        <p:spPr>
          <a:xfrm>
            <a:off x="403236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Connect</a:t>
            </a:r>
            <a:endParaRPr lang="en-IN" sz="1150" b="0" u="none" strike="noStrike">
              <a:solidFill>
                <a:srgbClr val="000000"/>
              </a:solidFill>
              <a:effectLst/>
              <a:uFillTx/>
              <a:latin typeface="Arial"/>
            </a:endParaRPr>
          </a:p>
        </p:txBody>
      </p:sp>
      <p:sp>
        <p:nvSpPr>
          <p:cNvPr id="332" name="Right Arrow 9"/>
          <p:cNvSpPr/>
          <p:nvPr/>
        </p:nvSpPr>
        <p:spPr>
          <a:xfrm>
            <a:off x="537660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33" name="Rounded Rectangle 10"/>
          <p:cNvSpPr/>
          <p:nvPr/>
        </p:nvSpPr>
        <p:spPr>
          <a:xfrm>
            <a:off x="579744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fs-source</a:t>
            </a:r>
            <a:endParaRPr lang="en-IN" sz="1150" b="0" u="none" strike="noStrike">
              <a:solidFill>
                <a:srgbClr val="000000"/>
              </a:solidFill>
              <a:effectLst/>
              <a:uFillTx/>
              <a:latin typeface="Arial"/>
            </a:endParaRPr>
          </a:p>
        </p:txBody>
      </p:sp>
      <p:sp>
        <p:nvSpPr>
          <p:cNvPr id="334" name="Right Arrow 11"/>
          <p:cNvSpPr/>
          <p:nvPr/>
        </p:nvSpPr>
        <p:spPr>
          <a:xfrm>
            <a:off x="7141320" y="1764720"/>
            <a:ext cx="328680" cy="200880"/>
          </a:xfrm>
          <a:prstGeom prst="rightArrow">
            <a:avLst>
              <a:gd name="adj1" fmla="val 50000"/>
              <a:gd name="adj2" fmla="val 50000"/>
            </a:avLst>
          </a:prstGeom>
          <a:solidFill>
            <a:srgbClr val="585858"/>
          </a:solidFill>
          <a:ln>
            <a:solidFill>
              <a:srgbClr val="585858"/>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35" name="Rounded Rectangle 12"/>
          <p:cNvSpPr/>
          <p:nvPr/>
        </p:nvSpPr>
        <p:spPr>
          <a:xfrm>
            <a:off x="7562160" y="1600200"/>
            <a:ext cx="1234080" cy="52992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150" b="1" u="none" strike="noStrike">
                <a:solidFill>
                  <a:srgbClr val="365F91"/>
                </a:solidFill>
                <a:effectLst/>
                <a:uFillTx/>
                <a:latin typeface="Calibri"/>
              </a:rPr>
              <a:t>Output file</a:t>
            </a:r>
            <a:endParaRPr lang="en-IN" sz="1150" b="0" u="none" strike="noStrike">
              <a:solidFill>
                <a:srgbClr val="000000"/>
              </a:solidFill>
              <a:effectLst/>
              <a:uFillTx/>
              <a:latin typeface="Arial"/>
            </a:endParaRPr>
          </a:p>
        </p:txBody>
      </p:sp>
      <p:sp>
        <p:nvSpPr>
          <p:cNvPr id="336" name="TextBox 13"/>
          <p:cNvSpPr/>
          <p:nvPr/>
        </p:nvSpPr>
        <p:spPr>
          <a:xfrm>
            <a:off x="685800" y="2880360"/>
            <a:ext cx="7314840" cy="127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Python clients use localhost:9092.</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Kafka UI is localhost:8080 and Connect REST is localhost:8083.</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Connect talks to brokers on the Docker network: broker1:29092, broker2:29092, broker3:29092.</a:t>
            </a:r>
            <a:endParaRPr lang="en-IN" sz="1400" b="0" u="none" strike="noStrike">
              <a:solidFill>
                <a:srgbClr val="000000"/>
              </a:solidFill>
              <a:effectLst/>
              <a:uFillTx/>
              <a:latin typeface="Arial"/>
            </a:endParaRPr>
          </a:p>
        </p:txBody>
      </p:sp>
      <p:sp>
        <p:nvSpPr>
          <p:cNvPr id="337" name="TextBox 14"/>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[47]</a:t>
            </a:r>
            <a:endParaRPr lang="en-IN" sz="800" b="0" u="none" strike="noStrike">
              <a:solidFill>
                <a:srgbClr val="000000"/>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1: FileStream Source Connector</a:t>
            </a:r>
            <a:endParaRPr lang="en-IN" sz="2200" b="0" u="none" strike="noStrike">
              <a:solidFill>
                <a:srgbClr val="000000"/>
              </a:solidFill>
              <a:effectLst/>
              <a:uFillTx/>
              <a:latin typeface="Arial"/>
            </a:endParaRPr>
          </a:p>
        </p:txBody>
      </p:sp>
      <p:sp>
        <p:nvSpPr>
          <p:cNvPr id="339" name="Text 1"/>
          <p:cNvSpPr/>
          <p:nvPr/>
        </p:nvSpPr>
        <p:spPr>
          <a:xfrm>
            <a:off x="457200" y="100584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385170"/>
                </a:solidFill>
                <a:effectLst/>
                <a:uFillTx/>
                <a:latin typeface="Calibri"/>
              </a:rPr>
              <a:t>This supplied configuration reads each new line from the mounted input file and publishes it to Kafka topic fs-source.</a:t>
            </a:r>
            <a:endParaRPr lang="en-IN" sz="1100" b="0" u="none" strike="noStrike">
              <a:solidFill>
                <a:srgbClr val="000000"/>
              </a:solidFill>
              <a:effectLst/>
              <a:uFillTx/>
              <a:latin typeface="Arial"/>
            </a:endParaRPr>
          </a:p>
        </p:txBody>
      </p:sp>
      <p:sp>
        <p:nvSpPr>
          <p:cNvPr id="340" name="Shape 2"/>
          <p:cNvSpPr/>
          <p:nvPr/>
        </p:nvSpPr>
        <p:spPr>
          <a:xfrm>
            <a:off x="457200" y="1463040"/>
            <a:ext cx="8228880" cy="2010960"/>
          </a:xfrm>
          <a:prstGeom prst="rect">
            <a:avLst/>
          </a:prstGeom>
          <a:solidFill>
            <a:srgbClr val="F7F9FB"/>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41" name="Text 3"/>
          <p:cNvSpPr/>
          <p:nvPr/>
        </p:nvSpPr>
        <p:spPr>
          <a:xfrm>
            <a:off x="502920" y="1508760"/>
            <a:ext cx="8137440" cy="191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"name": "fs-source-connector",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"config":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"connector.class":</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"org.apache.kafka.connect.file.FileStreamSourceConnector",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"file": "/data/input/produce.txt",</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"topic": "fs-source",</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"tasks.max": "1"</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p:txBody>
      </p:sp>
      <p:sp>
        <p:nvSpPr>
          <p:cNvPr id="342"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3"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2: FileStream Sink Connector</a:t>
            </a:r>
            <a:endParaRPr lang="en-IN" sz="2200" b="0" u="none" strike="noStrike">
              <a:solidFill>
                <a:srgbClr val="000000"/>
              </a:solidFill>
              <a:effectLst/>
              <a:uFillTx/>
              <a:latin typeface="Arial"/>
            </a:endParaRPr>
          </a:p>
        </p:txBody>
      </p:sp>
      <p:sp>
        <p:nvSpPr>
          <p:cNvPr id="344" name="Text 1"/>
          <p:cNvSpPr/>
          <p:nvPr/>
        </p:nvSpPr>
        <p:spPr>
          <a:xfrm>
            <a:off x="457200" y="1005840"/>
            <a:ext cx="82288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0" u="none" strike="noStrike">
                <a:solidFill>
                  <a:srgbClr val="385170"/>
                </a:solidFill>
                <a:effectLst/>
                <a:uFillTx/>
                <a:latin typeface="Calibri"/>
              </a:rPr>
              <a:t>The sink reads records from Kafka topic fs-source and writes the visible output file. It is the other direction of movement.</a:t>
            </a:r>
            <a:endParaRPr lang="en-IN" sz="1100" b="0" u="none" strike="noStrike">
              <a:solidFill>
                <a:srgbClr val="000000"/>
              </a:solidFill>
              <a:effectLst/>
              <a:uFillTx/>
              <a:latin typeface="Arial"/>
            </a:endParaRPr>
          </a:p>
        </p:txBody>
      </p:sp>
      <p:sp>
        <p:nvSpPr>
          <p:cNvPr id="345" name="Shape 2"/>
          <p:cNvSpPr/>
          <p:nvPr/>
        </p:nvSpPr>
        <p:spPr>
          <a:xfrm>
            <a:off x="457200" y="1463040"/>
            <a:ext cx="8228880" cy="2010960"/>
          </a:xfrm>
          <a:prstGeom prst="rect">
            <a:avLst/>
          </a:prstGeom>
          <a:solidFill>
            <a:srgbClr val="F7F9FB"/>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346" name="Text 3"/>
          <p:cNvSpPr/>
          <p:nvPr/>
        </p:nvSpPr>
        <p:spPr>
          <a:xfrm>
            <a:off x="502920" y="1508760"/>
            <a:ext cx="8137440" cy="1919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"name": "fs-sink-connector",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"config":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"connector.class":</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"org.apache.kafka.connect.file.FileStreamSinkConnector",</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"topics": "fs-source",</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"file": "/data/output/consume.txt",</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"tasks.max": "1"</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385170"/>
                </a:solidFill>
                <a:effectLst/>
                <a:uFillTx/>
                <a:latin typeface="Consolas"/>
                <a:ea typeface="Consolas"/>
              </a:rPr>
              <a:t>}</a:t>
            </a:r>
            <a:endParaRPr lang="en-IN" sz="800" b="0" u="none" strike="noStrike">
              <a:solidFill>
                <a:srgbClr val="000000"/>
              </a:solidFill>
              <a:effectLst/>
              <a:uFillTx/>
              <a:latin typeface="Arial"/>
            </a:endParaRPr>
          </a:p>
        </p:txBody>
      </p:sp>
      <p:sp>
        <p:nvSpPr>
          <p:cNvPr id="347"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348"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3: Register Connectors Through REST</a:t>
            </a:r>
            <a:endParaRPr lang="en-IN" sz="2200" b="0" u="none" strike="noStrike">
              <a:solidFill>
                <a:srgbClr val="000000"/>
              </a:solidFill>
              <a:effectLst/>
              <a:uFillTx/>
              <a:latin typeface="Arial"/>
            </a:endParaRPr>
          </a:p>
        </p:txBody>
      </p:sp>
      <p:sp>
        <p:nvSpPr>
          <p:cNvPr id="349" name="Text 1"/>
          <p:cNvSpPr/>
          <p:nvPr/>
        </p:nvSpPr>
        <p:spPr>
          <a:xfrm>
            <a:off x="457200" y="822960"/>
            <a:ext cx="502848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Run on Ubuntu from the lab-code folder:</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1. docker compose up -d</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2. curl http://localhost:8083/connector-plugins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3. curl -X POST -H "Content-Type: application/json"</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--data @connector-source.json http://localhost:8083/connectors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4. Repeat the POST with connector-sink.json.</a:t>
            </a:r>
            <a:endParaRPr lang="en-IN" sz="1200" b="0" u="none" strike="noStrike">
              <a:solidFill>
                <a:srgbClr val="000000"/>
              </a:solidFill>
              <a:effectLst/>
              <a:uFillTx/>
              <a:latin typeface="Arial"/>
            </a:endParaRPr>
          </a:p>
        </p:txBody>
      </p:sp>
      <p:sp>
        <p:nvSpPr>
          <p:cNvPr id="350"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Explain Before You Run:</a:t>
            </a:r>
            <a:endParaRPr lang="en-IN" sz="1400" b="0" u="none" strike="noStrike">
              <a:solidFill>
                <a:srgbClr val="000000"/>
              </a:solidFill>
              <a:effectLst/>
              <a:uFillTx/>
              <a:latin typeface="Arial"/>
            </a:endParaRPr>
          </a:p>
        </p:txBody>
      </p:sp>
      <p:sp>
        <p:nvSpPr>
          <p:cNvPr id="351" name="Text 3"/>
          <p:cNvSpPr/>
          <p:nvPr/>
        </p:nvSpPr>
        <p:spPr>
          <a:xfrm>
            <a:off x="5669280" y="1097280"/>
            <a:ext cx="31996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2F5597"/>
                </a:solidFill>
                <a:effectLst/>
                <a:uFillTx/>
                <a:latin typeface="Calibri"/>
              </a:rPr>
              <a:t>Which part of each request defines direction?</a:t>
            </a:r>
            <a:endParaRPr lang="en-IN" sz="11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Source configuration:</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file -&gt; topic</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Sink configuration:</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topics -&gt; file</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Evidence required: both connector names appear from GET /connectors.</a:t>
            </a:r>
            <a:endParaRPr lang="en-IN" sz="1000" b="0" u="none" strike="noStrike">
              <a:solidFill>
                <a:srgbClr val="000000"/>
              </a:solidFill>
              <a:effectLst/>
              <a:uFillTx/>
              <a:latin typeface="Arial"/>
            </a:endParaRPr>
          </a:p>
        </p:txBody>
      </p:sp>
      <p:sp>
        <p:nvSpPr>
          <p:cNvPr id="352"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Kafka UI Evidence: What Learners Should Capture</a:t>
            </a:r>
            <a:endParaRPr lang="en-IN" sz="2200" b="0" u="none" strike="noStrike">
              <a:solidFill>
                <a:srgbClr val="000000"/>
              </a:solidFill>
              <a:effectLst/>
              <a:uFillTx/>
              <a:latin typeface="Arial"/>
            </a:endParaRPr>
          </a:p>
        </p:txBody>
      </p:sp>
      <p:sp>
        <p:nvSpPr>
          <p:cNvPr id="354"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55"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The terminal proves commands worked; Kafka UI proves learners can inspect the system.</a:t>
            </a:r>
            <a:endParaRPr lang="en-IN" sz="1150" b="0" u="none" strike="noStrike">
              <a:solidFill>
                <a:srgbClr val="000000"/>
              </a:solidFill>
              <a:effectLst/>
              <a:uFillTx/>
              <a:latin typeface="Arial"/>
            </a:endParaRPr>
          </a:p>
        </p:txBody>
      </p:sp>
      <p:sp>
        <p:nvSpPr>
          <p:cNvPr id="356"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Topics: orders-replicated and fs-source are present.</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Messages: keys, values, partitions and offsets are visible.</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Consumer Groups: lag and committed offsets are visible.</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Connect: source and sink connector tasks are RUNNING.</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Brokers: replicated topics show leaders and ISR.</a:t>
            </a:r>
            <a:endParaRPr lang="en-IN" sz="1500" b="0" u="none" strike="noStrike">
              <a:solidFill>
                <a:srgbClr val="000000"/>
              </a:solidFill>
              <a:effectLst/>
              <a:uFillTx/>
              <a:latin typeface="Arial"/>
            </a:endParaRPr>
          </a:p>
        </p:txBody>
      </p:sp>
      <p:sp>
        <p:nvSpPr>
          <p:cNvPr id="357"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[51]</a:t>
            </a:r>
            <a:endParaRPr lang="en-IN" sz="800" b="0" u="none" strike="noStrike">
              <a:solidFill>
                <a:srgbClr val="000000"/>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358"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4: Prove the Round Trip</a:t>
            </a:r>
            <a:endParaRPr lang="en-IN" sz="2200" b="0" u="none" strike="noStrike">
              <a:solidFill>
                <a:srgbClr val="000000"/>
              </a:solidFill>
              <a:effectLst/>
              <a:uFillTx/>
              <a:latin typeface="Arial"/>
            </a:endParaRPr>
          </a:p>
        </p:txBody>
      </p:sp>
      <p:sp>
        <p:nvSpPr>
          <p:cNvPr id="359" name="Text 1"/>
          <p:cNvSpPr/>
          <p:nvPr/>
        </p:nvSpPr>
        <p:spPr>
          <a:xfrm>
            <a:off x="457200" y="822960"/>
            <a:ext cx="502848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Collect evidence in this order:</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1. GET /connectors/fs-source-connector/status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2. GET /connectors/fs-sink-connector/status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3. Consume topic fs-source from the beginning.</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4. cat data/output/consume.txt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5. Trace one line: input file -&gt; Kafka topic -&gt; output file.</a:t>
            </a:r>
            <a:endParaRPr lang="en-IN" sz="1200" b="0" u="none" strike="noStrike">
              <a:solidFill>
                <a:srgbClr val="000000"/>
              </a:solidFill>
              <a:effectLst/>
              <a:uFillTx/>
              <a:latin typeface="Arial"/>
            </a:endParaRPr>
          </a:p>
        </p:txBody>
      </p:sp>
      <p:sp>
        <p:nvSpPr>
          <p:cNvPr id="360"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Evidence Check:</a:t>
            </a:r>
            <a:endParaRPr lang="en-IN" sz="1400" b="0" u="none" strike="noStrike">
              <a:solidFill>
                <a:srgbClr val="000000"/>
              </a:solidFill>
              <a:effectLst/>
              <a:uFillTx/>
              <a:latin typeface="Arial"/>
            </a:endParaRPr>
          </a:p>
        </p:txBody>
      </p:sp>
      <p:sp>
        <p:nvSpPr>
          <p:cNvPr id="361" name="Text 3"/>
          <p:cNvSpPr/>
          <p:nvPr/>
        </p:nvSpPr>
        <p:spPr>
          <a:xfrm>
            <a:off x="5669280" y="1097280"/>
            <a:ext cx="31996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2F5597"/>
                </a:solidFill>
                <a:effectLst/>
                <a:uFillTx/>
                <a:latin typeface="Calibri"/>
              </a:rPr>
              <a:t>RUNNING is necessary, but is it sufficient?</a:t>
            </a:r>
            <a:endParaRPr lang="en-IN" sz="11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No. Status proves the task is alive.</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Topic consumption proves ingestion.</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Output file proves the sink path.</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Capture all three before declaring success.</a:t>
            </a:r>
            <a:endParaRPr lang="en-IN" sz="1000" b="0" u="none" strike="noStrike">
              <a:solidFill>
                <a:srgbClr val="000000"/>
              </a:solidFill>
              <a:effectLst/>
              <a:uFillTx/>
              <a:latin typeface="Arial"/>
            </a:endParaRPr>
          </a:p>
        </p:txBody>
      </p:sp>
      <p:sp>
        <p:nvSpPr>
          <p:cNvPr id="362"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Connect Status Is Necessary, Not Sufficient</a:t>
            </a:r>
            <a:endParaRPr lang="en-IN" sz="2200" b="0" u="none" strike="noStrike">
              <a:solidFill>
                <a:srgbClr val="000000"/>
              </a:solidFill>
              <a:effectLst/>
              <a:uFillTx/>
              <a:latin typeface="Arial"/>
            </a:endParaRPr>
          </a:p>
        </p:txBody>
      </p:sp>
      <p:sp>
        <p:nvSpPr>
          <p:cNvPr id="364"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65" name="Rounded Rectangle 3"/>
          <p:cNvSpPr/>
          <p:nvPr/>
        </p:nvSpPr>
        <p:spPr>
          <a:xfrm>
            <a:off x="59436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Status checks</a:t>
            </a:r>
            <a:endParaRPr lang="en-IN" sz="1300" b="0" u="none" strike="noStrike">
              <a:solidFill>
                <a:srgbClr val="000000"/>
              </a:solidFill>
              <a:effectLst/>
              <a:uFillTx/>
              <a:latin typeface="Arial"/>
            </a:endParaRPr>
          </a:p>
        </p:txBody>
      </p:sp>
      <p:sp>
        <p:nvSpPr>
          <p:cNvPr id="366" name="Rounded Rectangle 4"/>
          <p:cNvSpPr/>
          <p:nvPr/>
        </p:nvSpPr>
        <p:spPr>
          <a:xfrm>
            <a:off x="4617720" y="960120"/>
            <a:ext cx="3565800" cy="34704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300" b="1" u="none" strike="noStrike">
                <a:solidFill>
                  <a:srgbClr val="365F91"/>
                </a:solidFill>
                <a:effectLst/>
                <a:uFillTx/>
                <a:latin typeface="Calibri"/>
              </a:rPr>
              <a:t>Data-path checks</a:t>
            </a:r>
            <a:endParaRPr lang="en-IN" sz="1300" b="0" u="none" strike="noStrike">
              <a:solidFill>
                <a:srgbClr val="000000"/>
              </a:solidFill>
              <a:effectLst/>
              <a:uFillTx/>
              <a:latin typeface="Arial"/>
            </a:endParaRPr>
          </a:p>
        </p:txBody>
      </p:sp>
      <p:sp>
        <p:nvSpPr>
          <p:cNvPr id="367" name="TextBox 5"/>
          <p:cNvSpPr/>
          <p:nvPr/>
        </p:nvSpPr>
        <p:spPr>
          <a:xfrm>
            <a:off x="65844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GET /connectors/{name}/status</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Connector state is RUNNING.</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Task state is RUNNING.</a:t>
            </a:r>
            <a:endParaRPr lang="en-IN" sz="1350" b="0" u="none" strike="noStrike">
              <a:solidFill>
                <a:srgbClr val="000000"/>
              </a:solidFill>
              <a:effectLst/>
              <a:uFillTx/>
              <a:latin typeface="Arial"/>
            </a:endParaRPr>
          </a:p>
        </p:txBody>
      </p:sp>
      <p:sp>
        <p:nvSpPr>
          <p:cNvPr id="368" name="TextBox 6"/>
          <p:cNvSpPr/>
          <p:nvPr/>
        </p:nvSpPr>
        <p:spPr>
          <a:xfrm>
            <a:off x="4681800" y="1508760"/>
            <a:ext cx="3401280" cy="297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Consume records from fs-source.</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Read data/output/consume.txt.</a:t>
            </a:r>
            <a:endParaRPr lang="en-IN" sz="135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350" b="0" u="none" strike="noStrike">
                <a:solidFill>
                  <a:srgbClr val="1E1E1E"/>
                </a:solidFill>
                <a:effectLst/>
                <a:uFillTx/>
                <a:latin typeface="Calibri"/>
              </a:rPr>
              <a:t>Append a new input line and observe one new output line.</a:t>
            </a:r>
            <a:endParaRPr lang="en-IN" sz="1350" b="0" u="none" strike="noStrike">
              <a:solidFill>
                <a:srgbClr val="000000"/>
              </a:solidFill>
              <a:effectLst/>
              <a:uFillTx/>
              <a:latin typeface="Arial"/>
            </a:endParaRPr>
          </a:p>
        </p:txBody>
      </p:sp>
      <p:sp>
        <p:nvSpPr>
          <p:cNvPr id="369" name="TextBox 7"/>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[53]</a:t>
            </a:r>
            <a:endParaRPr lang="en-IN" sz="800" b="0" u="none" strike="noStrike">
              <a:solidFill>
                <a:srgbClr val="000000"/>
              </a:solidFill>
              <a:effectLst/>
              <a:uFillTx/>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Knowledge Check: Lab Evidence</a:t>
            </a:r>
            <a:endParaRPr lang="en-IN" sz="2200" b="0" u="none" strike="noStrike">
              <a:solidFill>
                <a:srgbClr val="000000"/>
              </a:solidFill>
              <a:effectLst/>
              <a:uFillTx/>
              <a:latin typeface="Arial"/>
            </a:endParaRPr>
          </a:p>
        </p:txBody>
      </p:sp>
      <p:sp>
        <p:nvSpPr>
          <p:cNvPr id="371"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72"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Answer before moving to the next section.</a:t>
            </a:r>
            <a:endParaRPr lang="en-IN" sz="1150" b="0" u="none" strike="noStrike">
              <a:solidFill>
                <a:srgbClr val="000000"/>
              </a:solidFill>
              <a:effectLst/>
              <a:uFillTx/>
              <a:latin typeface="Arial"/>
            </a:endParaRPr>
          </a:p>
        </p:txBody>
      </p:sp>
      <p:sp>
        <p:nvSpPr>
          <p:cNvPr id="373" name="TextBox 4"/>
          <p:cNvSpPr/>
          <p:nvPr/>
        </p:nvSpPr>
        <p:spPr>
          <a:xfrm>
            <a:off x="685800" y="1051560"/>
            <a:ext cx="7497720" cy="3474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Q1. Which command proves a consumer group is caught up: topic describe or consumer-groups describe?</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Q2. Which evidence proves Connect source ingestion: connector RUNNING, fs-source records, or both?</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Q3. Which file proves the sink connector wrote output?</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Q4. Why should Kafka UI be used after terminal commands?</a:t>
            </a:r>
            <a:endParaRPr lang="en-IN" sz="1400" b="0" u="none" strike="noStrike">
              <a:solidFill>
                <a:srgbClr val="000000"/>
              </a:solidFill>
              <a:effectLst/>
              <a:uFillTx/>
              <a:latin typeface="Arial"/>
            </a:endParaRPr>
          </a:p>
        </p:txBody>
      </p:sp>
      <p:sp>
        <p:nvSpPr>
          <p:cNvPr id="374"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[54]</a:t>
            </a:r>
            <a:endParaRPr lang="en-IN" sz="800" b="0" u="none" strike="noStrike">
              <a:solidFill>
                <a:srgbClr val="000000"/>
              </a:solidFill>
              <a:effectLst/>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Lab Evidence</a:t>
            </a:r>
            <a:endParaRPr lang="en-IN" sz="2200" b="0" u="none" strike="noStrike">
              <a:solidFill>
                <a:srgbClr val="000000"/>
              </a:solidFill>
              <a:effectLst/>
              <a:uFillTx/>
              <a:latin typeface="Arial"/>
            </a:endParaRPr>
          </a:p>
        </p:txBody>
      </p:sp>
      <p:sp>
        <p:nvSpPr>
          <p:cNvPr id="376"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77"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Solution / trainer answer key</a:t>
            </a:r>
            <a:endParaRPr lang="en-IN" sz="1150" b="0" u="none" strike="noStrike">
              <a:solidFill>
                <a:srgbClr val="000000"/>
              </a:solidFill>
              <a:effectLst/>
              <a:uFillTx/>
              <a:latin typeface="Arial"/>
            </a:endParaRPr>
          </a:p>
        </p:txBody>
      </p:sp>
      <p:sp>
        <p:nvSpPr>
          <p:cNvPr id="378"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Q1. consumer-groups describe shows CURRENT-OFFSET, LOG-END-OFFSET and LAG.</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Q2. Both matter: RUNNING proves the task is alive; fs-source records prove ingestion.</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Q3. data/output/consume.txt proves sink output in this lab.</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Q4. Kafka UI verifies the same state visually: topics, messages, groups, brokers and connectors.</a:t>
            </a:r>
            <a:endParaRPr lang="en-IN" sz="1500" b="0" u="none" strike="noStrike">
              <a:solidFill>
                <a:srgbClr val="000000"/>
              </a:solidFill>
              <a:effectLst/>
              <a:uFillTx/>
              <a:latin typeface="Arial"/>
            </a:endParaRPr>
          </a:p>
        </p:txBody>
      </p:sp>
      <p:sp>
        <p:nvSpPr>
          <p:cNvPr id="379"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[55]</a:t>
            </a:r>
            <a:endParaRPr lang="en-IN" sz="800" b="0" u="none" strike="noStrike">
              <a:solidFill>
                <a:srgbClr val="000000"/>
              </a:solidFill>
              <a:effectLst/>
              <a:uFillTx/>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Connector Offsets: A Different Bookmark</a:t>
            </a:r>
            <a:endParaRPr lang="en-IN" sz="2200" b="0" u="none" strike="noStrike">
              <a:solidFill>
                <a:srgbClr val="000000"/>
              </a:solidFill>
              <a:effectLst/>
              <a:uFillTx/>
              <a:latin typeface="Arial"/>
            </a:endParaRPr>
          </a:p>
        </p:txBody>
      </p:sp>
      <p:sp>
        <p:nvSpPr>
          <p:cNvPr id="381" name="Text 1"/>
          <p:cNvSpPr/>
          <p:nvPr/>
        </p:nvSpPr>
        <p:spPr>
          <a:xfrm>
            <a:off x="457200" y="1097280"/>
            <a:ext cx="86860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Consumer offset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A consumer group's resume position inside a Kafka partition.</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Kafka stores committed group progress in __consumer_offsets.</a:t>
            </a:r>
            <a:endParaRPr lang="en-IN" sz="1200" b="0" u="none" strike="noStrike">
              <a:solidFill>
                <a:srgbClr val="000000"/>
              </a:solidFill>
              <a:effectLst/>
              <a:uFillTx/>
              <a:latin typeface="Arial"/>
            </a:endParaRPr>
          </a:p>
          <a:p>
            <a:pPr defTabSz="914400">
              <a:lnSpc>
                <a:spcPct val="100000"/>
              </a:lnSpc>
              <a:tabLst>
                <a:tab pos="0" algn="l"/>
              </a:tabLst>
            </a:pP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Source connector offset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The external input position a source task has already processed.</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Distributed Connect stores source progress in connect-offsets.</a:t>
            </a:r>
            <a:endParaRPr lang="en-IN" sz="1200" b="0" u="none" strike="noStrike">
              <a:solidFill>
                <a:srgbClr val="000000"/>
              </a:solidFill>
              <a:effectLst/>
              <a:uFillTx/>
              <a:latin typeface="Arial"/>
            </a:endParaRPr>
          </a:p>
          <a:p>
            <a:pPr defTabSz="914400">
              <a:lnSpc>
                <a:spcPct val="100000"/>
              </a:lnSpc>
              <a:tabLst>
                <a:tab pos="0" algn="l"/>
              </a:tabLst>
            </a:pP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Lab observation</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Append one new line, restart Connect, and prove only new input moves.</a:t>
            </a:r>
            <a:endParaRPr lang="en-IN" sz="1200" b="0" u="none" strike="noStrike">
              <a:solidFill>
                <a:srgbClr val="000000"/>
              </a:solidFill>
              <a:effectLst/>
              <a:uFillTx/>
              <a:latin typeface="Arial"/>
            </a:endParaRPr>
          </a:p>
        </p:txBody>
      </p:sp>
      <p:sp>
        <p:nvSpPr>
          <p:cNvPr id="382"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383"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5: Restart and Recovery Test</a:t>
            </a:r>
            <a:endParaRPr lang="en-IN" sz="2200" b="0" u="none" strike="noStrike">
              <a:solidFill>
                <a:srgbClr val="000000"/>
              </a:solidFill>
              <a:effectLst/>
              <a:uFillTx/>
              <a:latin typeface="Arial"/>
            </a:endParaRPr>
          </a:p>
        </p:txBody>
      </p:sp>
      <p:sp>
        <p:nvSpPr>
          <p:cNvPr id="384" name="Text 1"/>
          <p:cNvSpPr/>
          <p:nvPr/>
        </p:nvSpPr>
        <p:spPr>
          <a:xfrm>
            <a:off x="457200" y="822960"/>
            <a:ext cx="493704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Exercise:</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1. Append an order-004 line to data/input/produce.txt.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2. Confirm it appears once in data/output/consume.txt.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3. Run: docker restart connect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4. Append order-005 after the worker returns.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5. Confirm continuation without replaying older lines.</a:t>
            </a:r>
            <a:endParaRPr lang="en-IN" sz="1200" b="0" u="none" strike="noStrike">
              <a:solidFill>
                <a:srgbClr val="000000"/>
              </a:solidFill>
              <a:effectLst/>
              <a:uFillTx/>
              <a:latin typeface="Arial"/>
            </a:endParaRPr>
          </a:p>
        </p:txBody>
      </p:sp>
      <p:sp>
        <p:nvSpPr>
          <p:cNvPr id="385"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Recovery Question:</a:t>
            </a:r>
            <a:endParaRPr lang="en-IN" sz="1400" b="0" u="none" strike="noStrike">
              <a:solidFill>
                <a:srgbClr val="000000"/>
              </a:solidFill>
              <a:effectLst/>
              <a:uFillTx/>
              <a:latin typeface="Arial"/>
            </a:endParaRPr>
          </a:p>
        </p:txBody>
      </p:sp>
      <p:sp>
        <p:nvSpPr>
          <p:cNvPr id="386" name="Text 3"/>
          <p:cNvSpPr/>
          <p:nvPr/>
        </p:nvSpPr>
        <p:spPr>
          <a:xfrm>
            <a:off x="5669280" y="1097280"/>
            <a:ext cx="31996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2F5597"/>
                </a:solidFill>
                <a:effectLst/>
                <a:uFillTx/>
                <a:latin typeface="Calibri"/>
              </a:rPr>
              <a:t>What remembers the source file position in distributed mode?</a:t>
            </a:r>
            <a:endParaRPr lang="en-IN" sz="11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a) connect-offsets topic</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b) only the output file</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c) Schema Registry</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d) MirrorMaker</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Answer: a. Rewinding that position may repeat downstream effects.</a:t>
            </a:r>
            <a:endParaRPr lang="en-IN" sz="1000" b="0" u="none" strike="noStrike">
              <a:solidFill>
                <a:srgbClr val="000000"/>
              </a:solidFill>
              <a:effectLst/>
              <a:uFillTx/>
              <a:latin typeface="Arial"/>
            </a:endParaRPr>
          </a:p>
        </p:txBody>
      </p:sp>
      <p:sp>
        <p:nvSpPr>
          <p:cNvPr id="387"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388"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Lab 6: Diagnose a Failed Connector</a:t>
            </a:r>
            <a:endParaRPr lang="en-IN" sz="2200" b="0" u="none" strike="noStrike">
              <a:solidFill>
                <a:srgbClr val="000000"/>
              </a:solidFill>
              <a:effectLst/>
              <a:uFillTx/>
              <a:latin typeface="Arial"/>
            </a:endParaRPr>
          </a:p>
        </p:txBody>
      </p:sp>
      <p:sp>
        <p:nvSpPr>
          <p:cNvPr id="389" name="Text 1"/>
          <p:cNvSpPr/>
          <p:nvPr/>
        </p:nvSpPr>
        <p:spPr>
          <a:xfrm>
            <a:off x="457200" y="822960"/>
            <a:ext cx="493704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Troubleshooting route:</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1. GET /connectors/{name}/status and read task state.</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2. Check GET /connector-plugins for FileStream support.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3. Inspect docker logs connect.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4. Verify mounted file paths and permissions.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5. Consume fs-source to locate the broken boundary.</a:t>
            </a:r>
            <a:endParaRPr lang="en-IN" sz="1200" b="0" u="none" strike="noStrike">
              <a:solidFill>
                <a:srgbClr val="000000"/>
              </a:solidFill>
              <a:effectLst/>
              <a:uFillTx/>
              <a:latin typeface="Arial"/>
            </a:endParaRPr>
          </a:p>
        </p:txBody>
      </p:sp>
      <p:sp>
        <p:nvSpPr>
          <p:cNvPr id="390" name="Text 2"/>
          <p:cNvSpPr/>
          <p:nvPr/>
        </p:nvSpPr>
        <p:spPr>
          <a:xfrm>
            <a:off x="5669280" y="8229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00" b="1" u="none" strike="noStrike">
                <a:solidFill>
                  <a:srgbClr val="2F5597"/>
                </a:solidFill>
                <a:effectLst/>
                <a:uFillTx/>
                <a:latin typeface="Calibri"/>
              </a:rPr>
              <a:t>Incident Check:</a:t>
            </a:r>
            <a:endParaRPr lang="en-IN" sz="1400" b="0" u="none" strike="noStrike">
              <a:solidFill>
                <a:srgbClr val="000000"/>
              </a:solidFill>
              <a:effectLst/>
              <a:uFillTx/>
              <a:latin typeface="Arial"/>
            </a:endParaRPr>
          </a:p>
        </p:txBody>
      </p:sp>
      <p:sp>
        <p:nvSpPr>
          <p:cNvPr id="391" name="Text 3"/>
          <p:cNvSpPr/>
          <p:nvPr/>
        </p:nvSpPr>
        <p:spPr>
          <a:xfrm>
            <a:off x="5669280" y="1097280"/>
            <a:ext cx="31996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00" b="1" u="none" strike="noStrike">
                <a:solidFill>
                  <a:srgbClr val="2F5597"/>
                </a:solidFill>
                <a:effectLst/>
                <a:uFillTx/>
                <a:latin typeface="Calibri"/>
              </a:rPr>
              <a:t>The source connector exists, but the topic is empty.</a:t>
            </a:r>
            <a:endParaRPr lang="en-IN" sz="11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What is the first useful check?</a:t>
            </a:r>
            <a:endParaRPr lang="en-IN" sz="1000" b="0" u="none" strike="noStrike">
              <a:solidFill>
                <a:srgbClr val="000000"/>
              </a:solidFill>
              <a:effectLst/>
              <a:uFillTx/>
              <a:latin typeface="Arial"/>
            </a:endParaRPr>
          </a:p>
          <a:p>
            <a:pPr defTabSz="914400">
              <a:lnSpc>
                <a:spcPct val="100000"/>
              </a:lnSpc>
              <a:tabLst>
                <a:tab pos="0" algn="l"/>
              </a:tabLst>
            </a:pP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Answer: read source task status and its error trace.</a:t>
            </a:r>
            <a:endParaRPr lang="en-IN" sz="1000" b="0" u="none" strike="noStrike">
              <a:solidFill>
                <a:srgbClr val="000000"/>
              </a:solidFill>
              <a:effectLst/>
              <a:uFillTx/>
              <a:latin typeface="Arial"/>
            </a:endParaRPr>
          </a:p>
          <a:p>
            <a:pPr defTabSz="914400">
              <a:lnSpc>
                <a:spcPct val="100000"/>
              </a:lnSpc>
              <a:tabLst>
                <a:tab pos="0" algn="l"/>
              </a:tabLst>
            </a:pPr>
            <a:r>
              <a:rPr lang="en-US" sz="1000" b="0" u="none" strike="noStrike">
                <a:solidFill>
                  <a:srgbClr val="385170"/>
                </a:solidFill>
                <a:effectLst/>
                <a:uFillTx/>
                <a:latin typeface="Calibri"/>
              </a:rPr>
              <a:t>Do not restart blindly; locate the first missing evidence.</a:t>
            </a:r>
            <a:endParaRPr lang="en-IN" sz="1000" b="0" u="none" strike="noStrike">
              <a:solidFill>
                <a:srgbClr val="000000"/>
              </a:solidFill>
              <a:effectLst/>
              <a:uFillTx/>
              <a:latin typeface="Arial"/>
            </a:endParaRPr>
          </a:p>
        </p:txBody>
      </p:sp>
      <p:sp>
        <p:nvSpPr>
          <p:cNvPr id="392"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Troubleshooting Route for the Day 3 Lab</a:t>
            </a:r>
            <a:endParaRPr lang="en-IN" sz="2200" b="0" u="none" strike="noStrike">
              <a:solidFill>
                <a:srgbClr val="000000"/>
              </a:solidFill>
              <a:effectLst/>
              <a:uFillTx/>
              <a:latin typeface="Arial"/>
            </a:endParaRPr>
          </a:p>
        </p:txBody>
      </p:sp>
      <p:sp>
        <p:nvSpPr>
          <p:cNvPr id="394"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95"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Use this order so learners do not jump randomly between logs.</a:t>
            </a:r>
            <a:endParaRPr lang="en-IN" sz="1150" b="0" u="none" strike="noStrike">
              <a:solidFill>
                <a:srgbClr val="000000"/>
              </a:solidFill>
              <a:effectLst/>
              <a:uFillTx/>
              <a:latin typeface="Arial"/>
            </a:endParaRPr>
          </a:p>
        </p:txBody>
      </p:sp>
      <p:sp>
        <p:nvSpPr>
          <p:cNvPr id="396"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1. docker compose ps: confirm services are running.</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2. curl /connector-plugins: confirm FileStream plugins exist.</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3. GET connector status: read connector and task state.</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4. Consume fs-source: prove ingestion into Kafka.</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5. Read consume.txt: prove sink output.</a:t>
            </a:r>
            <a:endParaRPr lang="en-IN" sz="1500" b="0" u="none" strike="noStrike">
              <a:solidFill>
                <a:srgbClr val="000000"/>
              </a:solidFill>
              <a:effectLst/>
              <a:uFillTx/>
              <a:latin typeface="Arial"/>
            </a:endParaRPr>
          </a:p>
        </p:txBody>
      </p:sp>
      <p:sp>
        <p:nvSpPr>
          <p:cNvPr id="397"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[59]</a:t>
            </a:r>
            <a:endParaRPr lang="en-IN" sz="800" b="0" u="none" strike="noStrike">
              <a:solidFill>
                <a:srgbClr val="000000"/>
              </a:solidFill>
              <a:effectLst/>
              <a:uFillTx/>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Kafka Ecosystem Overview</a:t>
            </a:r>
            <a:endParaRPr lang="en-IN" sz="2200" b="0" u="none" strike="noStrike">
              <a:solidFill>
                <a:srgbClr val="000000"/>
              </a:solidFill>
              <a:effectLst/>
              <a:uFillTx/>
              <a:latin typeface="Arial"/>
            </a:endParaRPr>
          </a:p>
        </p:txBody>
      </p:sp>
      <p:sp>
        <p:nvSpPr>
          <p:cNvPr id="399" name="Text 1"/>
          <p:cNvSpPr/>
          <p:nvPr/>
        </p:nvSpPr>
        <p:spPr>
          <a:xfrm>
            <a:off x="457200" y="1097280"/>
            <a:ext cx="5028480" cy="25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Kafka Core: brokers, topics, logs, partitions and MirrorMaker.</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 Streams: library for building real‑time stream processing applications in Java.</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 Connect: connector API for ingesting and exporting data.</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Schema Registry: central repository for Avro/JSON/Protobuf schemas.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REST Proxy: produce and consume records via HTTP.</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MirrorMaker &amp; Replicator: replicate topics between clusters.</a:t>
            </a:r>
            <a:endParaRPr lang="en-IN" sz="1100" b="0" u="none" strike="noStrike">
              <a:solidFill>
                <a:srgbClr val="000000"/>
              </a:solidFill>
              <a:effectLst/>
              <a:uFillTx/>
              <a:latin typeface="Arial"/>
            </a:endParaRPr>
          </a:p>
        </p:txBody>
      </p:sp>
      <p:sp>
        <p:nvSpPr>
          <p:cNvPr id="400" name="Shape 2"/>
          <p:cNvSpPr/>
          <p:nvPr/>
        </p:nvSpPr>
        <p:spPr>
          <a:xfrm>
            <a:off x="6035040" y="1463040"/>
            <a:ext cx="1645200" cy="1645200"/>
          </a:xfrm>
          <a:prstGeom prst="ellipse">
            <a:avLst/>
          </a:prstGeom>
          <a:solidFill>
            <a:srgbClr val="4F81BD"/>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FFFFFF"/>
              </a:solidFill>
              <a:effectLst/>
              <a:uFillTx/>
              <a:latin typeface="Arial"/>
            </a:endParaRPr>
          </a:p>
        </p:txBody>
      </p:sp>
      <p:sp>
        <p:nvSpPr>
          <p:cNvPr id="401" name="Text 3"/>
          <p:cNvSpPr/>
          <p:nvPr/>
        </p:nvSpPr>
        <p:spPr>
          <a:xfrm>
            <a:off x="6035040" y="1463040"/>
            <a:ext cx="1645200" cy="164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800" b="0" u="none" strike="noStrike">
                <a:solidFill>
                  <a:srgbClr val="FFFFFF"/>
                </a:solidFill>
                <a:effectLst/>
                <a:uFillTx/>
                <a:latin typeface="Calibri"/>
              </a:rPr>
              <a:t>Kafka Core</a:t>
            </a:r>
            <a:endParaRPr lang="en-IN" sz="800" b="0" u="none" strike="noStrike">
              <a:solidFill>
                <a:srgbClr val="000000"/>
              </a:solidFill>
              <a:effectLst/>
              <a:uFillTx/>
              <a:latin typeface="Arial"/>
            </a:endParaRPr>
          </a:p>
        </p:txBody>
      </p:sp>
      <p:sp>
        <p:nvSpPr>
          <p:cNvPr id="402" name="Shape 4"/>
          <p:cNvSpPr/>
          <p:nvPr/>
        </p:nvSpPr>
        <p:spPr>
          <a:xfrm>
            <a:off x="4480560" y="548640"/>
            <a:ext cx="1096560" cy="730800"/>
          </a:xfrm>
          <a:prstGeom prst="ellipse">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03" name="Text 5"/>
          <p:cNvSpPr/>
          <p:nvPr/>
        </p:nvSpPr>
        <p:spPr>
          <a:xfrm>
            <a:off x="4480560" y="548640"/>
            <a:ext cx="10965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2F5597"/>
                </a:solidFill>
                <a:effectLst/>
                <a:uFillTx/>
                <a:latin typeface="Calibri"/>
              </a:rPr>
              <a:t>Streams</a:t>
            </a:r>
            <a:endParaRPr lang="en-IN" sz="700" b="0" u="none" strike="noStrike">
              <a:solidFill>
                <a:srgbClr val="000000"/>
              </a:solidFill>
              <a:effectLst/>
              <a:uFillTx/>
              <a:latin typeface="Arial"/>
            </a:endParaRPr>
          </a:p>
        </p:txBody>
      </p:sp>
      <p:sp>
        <p:nvSpPr>
          <p:cNvPr id="404" name="Shape 6"/>
          <p:cNvSpPr/>
          <p:nvPr/>
        </p:nvSpPr>
        <p:spPr>
          <a:xfrm flipH="1" flipV="1">
            <a:off x="5419026" y="1155700"/>
            <a:ext cx="762699" cy="62738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405" name="Shape 7"/>
          <p:cNvSpPr/>
          <p:nvPr/>
        </p:nvSpPr>
        <p:spPr>
          <a:xfrm>
            <a:off x="8138160" y="548640"/>
            <a:ext cx="1096560" cy="730800"/>
          </a:xfrm>
          <a:prstGeom prst="ellipse">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06" name="Text 8"/>
          <p:cNvSpPr/>
          <p:nvPr/>
        </p:nvSpPr>
        <p:spPr>
          <a:xfrm>
            <a:off x="8138160" y="548640"/>
            <a:ext cx="10965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2F5597"/>
                </a:solidFill>
                <a:effectLst/>
                <a:uFillTx/>
                <a:latin typeface="Calibri"/>
              </a:rPr>
              <a:t>Connect</a:t>
            </a:r>
            <a:endParaRPr lang="en-IN" sz="700" b="0" u="none" strike="noStrike">
              <a:solidFill>
                <a:srgbClr val="000000"/>
              </a:solidFill>
              <a:effectLst/>
              <a:uFillTx/>
              <a:latin typeface="Arial"/>
            </a:endParaRPr>
          </a:p>
        </p:txBody>
      </p:sp>
      <p:sp>
        <p:nvSpPr>
          <p:cNvPr id="407" name="Shape 9"/>
          <p:cNvSpPr/>
          <p:nvPr/>
        </p:nvSpPr>
        <p:spPr>
          <a:xfrm flipV="1">
            <a:off x="7533240" y="1187280"/>
            <a:ext cx="763733" cy="62738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408" name="Shape 10"/>
          <p:cNvSpPr/>
          <p:nvPr/>
        </p:nvSpPr>
        <p:spPr>
          <a:xfrm>
            <a:off x="4480560" y="3291840"/>
            <a:ext cx="1096560" cy="730800"/>
          </a:xfrm>
          <a:prstGeom prst="ellipse">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09" name="Text 11"/>
          <p:cNvSpPr/>
          <p:nvPr/>
        </p:nvSpPr>
        <p:spPr>
          <a:xfrm>
            <a:off x="4480560" y="3291840"/>
            <a:ext cx="10965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2F5597"/>
                </a:solidFill>
                <a:effectLst/>
                <a:uFillTx/>
                <a:latin typeface="Calibri"/>
              </a:rPr>
              <a:t>Schema Registry</a:t>
            </a:r>
            <a:endParaRPr lang="en-IN" sz="700" b="0" u="none" strike="noStrike">
              <a:solidFill>
                <a:srgbClr val="000000"/>
              </a:solidFill>
              <a:effectLst/>
              <a:uFillTx/>
              <a:latin typeface="Arial"/>
            </a:endParaRPr>
          </a:p>
        </p:txBody>
      </p:sp>
      <p:sp>
        <p:nvSpPr>
          <p:cNvPr id="410" name="Shape 12"/>
          <p:cNvSpPr/>
          <p:nvPr/>
        </p:nvSpPr>
        <p:spPr>
          <a:xfrm flipH="1">
            <a:off x="5419026" y="2809874"/>
            <a:ext cx="797616" cy="574126"/>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411" name="Shape 13"/>
          <p:cNvSpPr/>
          <p:nvPr/>
        </p:nvSpPr>
        <p:spPr>
          <a:xfrm>
            <a:off x="8138160" y="3291840"/>
            <a:ext cx="1096560" cy="730800"/>
          </a:xfrm>
          <a:prstGeom prst="ellipse">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12" name="Text 14"/>
          <p:cNvSpPr/>
          <p:nvPr/>
        </p:nvSpPr>
        <p:spPr>
          <a:xfrm>
            <a:off x="8138160" y="3291840"/>
            <a:ext cx="10965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2F5597"/>
                </a:solidFill>
                <a:effectLst/>
                <a:uFillTx/>
                <a:latin typeface="Calibri"/>
              </a:rPr>
              <a:t>REST Proxy</a:t>
            </a:r>
            <a:endParaRPr lang="en-IN" sz="700" b="0" u="none" strike="noStrike">
              <a:solidFill>
                <a:srgbClr val="000000"/>
              </a:solidFill>
              <a:effectLst/>
              <a:uFillTx/>
              <a:latin typeface="Arial"/>
            </a:endParaRPr>
          </a:p>
        </p:txBody>
      </p:sp>
      <p:sp>
        <p:nvSpPr>
          <p:cNvPr id="413" name="Shape 15"/>
          <p:cNvSpPr/>
          <p:nvPr/>
        </p:nvSpPr>
        <p:spPr>
          <a:xfrm>
            <a:off x="7464425" y="2809874"/>
            <a:ext cx="763733" cy="605705"/>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414" name="Shape 16"/>
          <p:cNvSpPr/>
          <p:nvPr/>
        </p:nvSpPr>
        <p:spPr>
          <a:xfrm>
            <a:off x="6309360" y="4206240"/>
            <a:ext cx="1096560" cy="730800"/>
          </a:xfrm>
          <a:prstGeom prst="ellipse">
            <a:avLst/>
          </a:prstGeom>
          <a:solidFill>
            <a:srgbClr val="F2F6FA"/>
          </a:solidFill>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15" name="Text 17"/>
          <p:cNvSpPr/>
          <p:nvPr/>
        </p:nvSpPr>
        <p:spPr>
          <a:xfrm>
            <a:off x="6309360" y="4206240"/>
            <a:ext cx="10965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700" b="0" u="none" strike="noStrike">
                <a:solidFill>
                  <a:srgbClr val="2F5597"/>
                </a:solidFill>
                <a:effectLst/>
                <a:uFillTx/>
                <a:latin typeface="Calibri"/>
              </a:rPr>
              <a:t>MirrorMaker</a:t>
            </a:r>
            <a:endParaRPr lang="en-IN" sz="700" b="0" u="none" strike="noStrike">
              <a:solidFill>
                <a:srgbClr val="000000"/>
              </a:solidFill>
              <a:effectLst/>
              <a:uFillTx/>
              <a:latin typeface="Arial"/>
            </a:endParaRPr>
          </a:p>
        </p:txBody>
      </p:sp>
      <p:sp>
        <p:nvSpPr>
          <p:cNvPr id="416" name="Shape 18"/>
          <p:cNvSpPr/>
          <p:nvPr/>
        </p:nvSpPr>
        <p:spPr>
          <a:xfrm>
            <a:off x="6857280" y="3108240"/>
            <a:ext cx="0" cy="1098000"/>
          </a:xfrm>
          <a:prstGeom prst="line">
            <a:avLst/>
          </a:prstGeom>
          <a:ln w="127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IN" sz="1800" b="0" u="none" strike="noStrike">
              <a:solidFill>
                <a:srgbClr val="000000"/>
              </a:solidFill>
              <a:effectLst/>
              <a:uFillTx/>
              <a:latin typeface="Arial"/>
            </a:endParaRPr>
          </a:p>
        </p:txBody>
      </p:sp>
      <p:sp>
        <p:nvSpPr>
          <p:cNvPr id="417" name="Text 19"/>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8"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Kafka Streams API</a:t>
            </a:r>
            <a:endParaRPr lang="en-IN" sz="2200" b="0" u="none" strike="noStrike">
              <a:solidFill>
                <a:srgbClr val="000000"/>
              </a:solidFill>
              <a:effectLst/>
              <a:uFillTx/>
              <a:latin typeface="Arial"/>
            </a:endParaRPr>
          </a:p>
        </p:txBody>
      </p:sp>
      <p:sp>
        <p:nvSpPr>
          <p:cNvPr id="419" name="Text 1"/>
          <p:cNvSpPr/>
          <p:nvPr/>
        </p:nvSpPr>
        <p:spPr>
          <a:xfrm>
            <a:off x="457200" y="1097280"/>
            <a:ext cx="493704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Kafka Streams is a Java library to build event streaming applications.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Provides high‑level DSL for map, filter, aggregate, join and window operations.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Manages state and fault tolerance using changelog topics and internal state stores.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Runs inside your application — no separate cluster required.</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p:txBody>
      </p:sp>
      <p:graphicFrame>
        <p:nvGraphicFramePr>
          <p:cNvPr id="420" name="Chart 0"/>
          <p:cNvGraphicFramePr/>
          <p:nvPr/>
        </p:nvGraphicFramePr>
        <p:xfrm>
          <a:off x="5669280" y="1097280"/>
          <a:ext cx="3199680" cy="2102400"/>
        </p:xfrm>
        <a:graphic>
          <a:graphicData uri="http://schemas.openxmlformats.org/drawingml/2006/chart">
            <c:chart xmlns:c="http://schemas.openxmlformats.org/drawingml/2006/chart" xmlns:r="http://schemas.openxmlformats.org/officeDocument/2006/relationships" r:id="rId3"/>
          </a:graphicData>
        </a:graphic>
      </p:graphicFrame>
      <p:sp>
        <p:nvSpPr>
          <p:cNvPr id="421"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4"/>
              </a:rPr>
              <a:t>[1]</a:t>
            </a:r>
            <a:endParaRPr lang="en-IN" sz="700" b="0" u="none" strike="noStrike">
              <a:solidFill>
                <a:srgbClr val="000000"/>
              </a:solidFill>
              <a:effectLst/>
              <a:uFillTx/>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2"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ksqlDB: Streaming SQL</a:t>
            </a:r>
            <a:endParaRPr lang="en-IN" sz="2200" b="0" u="none" strike="noStrike">
              <a:solidFill>
                <a:srgbClr val="000000"/>
              </a:solidFill>
              <a:effectLst/>
              <a:uFillTx/>
              <a:latin typeface="Arial"/>
            </a:endParaRPr>
          </a:p>
        </p:txBody>
      </p:sp>
      <p:sp>
        <p:nvSpPr>
          <p:cNvPr id="423" name="Text 1"/>
          <p:cNvSpPr/>
          <p:nvPr/>
        </p:nvSpPr>
        <p:spPr>
          <a:xfrm>
            <a:off x="457200" y="1097280"/>
            <a:ext cx="50284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a:solidFill>
                  <a:srgbClr val="385170"/>
                </a:solidFill>
                <a:effectLst/>
                <a:uFillTx/>
                <a:latin typeface="Calibri"/>
              </a:rPr>
              <a:t>• ksqlDB is Kafka’s SQL engine enabling real‑time querying of streams.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Use simple SQL statements to filter, transform, join and aggregate streaming data.</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Create persistent streams and tables for continuous processing.</a:t>
            </a:r>
            <a:endParaRPr lang="en-IN"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385170"/>
                </a:solidFill>
                <a:effectLst/>
                <a:uFillTx/>
                <a:latin typeface="Calibri"/>
              </a:rPr>
              <a:t>• Ideal for rapid prototyping and dashboards; for complex logic, prefer the Streams API.</a:t>
            </a:r>
            <a:endParaRPr lang="en-IN" sz="1100" b="0" u="none" strike="noStrike">
              <a:solidFill>
                <a:srgbClr val="000000"/>
              </a:solidFill>
              <a:effectLst/>
              <a:uFillTx/>
              <a:latin typeface="Arial"/>
            </a:endParaRPr>
          </a:p>
        </p:txBody>
      </p:sp>
      <p:sp>
        <p:nvSpPr>
          <p:cNvPr id="424" name="Shape 2"/>
          <p:cNvSpPr/>
          <p:nvPr/>
        </p:nvSpPr>
        <p:spPr>
          <a:xfrm>
            <a:off x="5669280" y="1097280"/>
            <a:ext cx="3199680" cy="1279440"/>
          </a:xfrm>
          <a:prstGeom prst="roundRect">
            <a:avLst>
              <a:gd name="adj" fmla="val 3571"/>
            </a:avLst>
          </a:prstGeom>
          <a:solidFill>
            <a:srgbClr val="F7F9FB"/>
          </a:solidFill>
          <a:ln w="12700">
            <a:solidFill>
              <a:srgbClr val="D6E0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u="none" strike="noStrike">
              <a:solidFill>
                <a:srgbClr val="000000"/>
              </a:solidFill>
              <a:effectLst/>
              <a:uFillTx/>
              <a:latin typeface="Arial"/>
            </a:endParaRPr>
          </a:p>
        </p:txBody>
      </p:sp>
      <p:sp>
        <p:nvSpPr>
          <p:cNvPr id="425" name="Text 3"/>
          <p:cNvSpPr/>
          <p:nvPr/>
        </p:nvSpPr>
        <p:spPr>
          <a:xfrm>
            <a:off x="5715000" y="1143000"/>
            <a:ext cx="3153960" cy="118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385170"/>
                </a:solidFill>
                <a:effectLst/>
                <a:uFillTx/>
                <a:latin typeface="Consolas"/>
                <a:ea typeface="Consolas"/>
              </a:rPr>
              <a:t>CREATE STREAM rides_stream AS</a:t>
            </a:r>
            <a:endParaRPr lang="en-IN"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385170"/>
                </a:solidFill>
                <a:effectLst/>
                <a:uFillTx/>
                <a:latin typeface="Consolas"/>
                <a:ea typeface="Consolas"/>
              </a:rPr>
              <a:t>  SELECT rider_id, trip_distance</a:t>
            </a:r>
            <a:endParaRPr lang="en-IN"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385170"/>
                </a:solidFill>
                <a:effectLst/>
                <a:uFillTx/>
                <a:latin typeface="Consolas"/>
                <a:ea typeface="Consolas"/>
              </a:rPr>
              <a:t>  FROM rides_topic</a:t>
            </a:r>
            <a:endParaRPr lang="en-IN" sz="900" b="0" u="none" strike="noStrike">
              <a:solidFill>
                <a:srgbClr val="000000"/>
              </a:solidFill>
              <a:effectLst/>
              <a:uFillTx/>
              <a:latin typeface="Arial"/>
            </a:endParaRPr>
          </a:p>
          <a:p>
            <a:pPr defTabSz="914400">
              <a:lnSpc>
                <a:spcPct val="100000"/>
              </a:lnSpc>
              <a:tabLst>
                <a:tab pos="0" algn="l"/>
              </a:tabLst>
            </a:pPr>
            <a:r>
              <a:rPr lang="en-US" sz="900" b="0" u="none" strike="noStrike">
                <a:solidFill>
                  <a:srgbClr val="385170"/>
                </a:solidFill>
                <a:effectLst/>
                <a:uFillTx/>
                <a:latin typeface="Consolas"/>
                <a:ea typeface="Consolas"/>
              </a:rPr>
              <a:t>  EMIT CHANGES;</a:t>
            </a:r>
            <a:endParaRPr lang="en-IN" sz="900" b="0" u="none" strike="noStrike">
              <a:solidFill>
                <a:srgbClr val="000000"/>
              </a:solidFill>
              <a:effectLst/>
              <a:uFillTx/>
              <a:latin typeface="Arial"/>
            </a:endParaRPr>
          </a:p>
        </p:txBody>
      </p:sp>
      <p:sp>
        <p:nvSpPr>
          <p:cNvPr id="426" name="Text 4"/>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7"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Schema Registry</a:t>
            </a:r>
            <a:endParaRPr lang="en-IN" sz="2200" b="0" u="none" strike="noStrike">
              <a:solidFill>
                <a:srgbClr val="000000"/>
              </a:solidFill>
              <a:effectLst/>
              <a:uFillTx/>
              <a:latin typeface="Arial"/>
            </a:endParaRPr>
          </a:p>
        </p:txBody>
      </p:sp>
      <p:sp>
        <p:nvSpPr>
          <p:cNvPr id="428" name="Text 1"/>
          <p:cNvSpPr/>
          <p:nvPr/>
        </p:nvSpPr>
        <p:spPr>
          <a:xfrm>
            <a:off x="457200" y="244330"/>
            <a:ext cx="5028480" cy="237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0" u="none" strike="noStrike" dirty="0">
                <a:solidFill>
                  <a:srgbClr val="385170"/>
                </a:solidFill>
                <a:effectLst/>
                <a:uFillTx/>
                <a:latin typeface="Calibri"/>
              </a:rPr>
              <a:t>• Central repository for Avro, JSON Schema and </a:t>
            </a:r>
            <a:r>
              <a:rPr lang="en-US" sz="1100" b="0" u="none" strike="noStrike" dirty="0" err="1">
                <a:solidFill>
                  <a:srgbClr val="385170"/>
                </a:solidFill>
                <a:effectLst/>
                <a:uFillTx/>
                <a:latin typeface="Calibri"/>
              </a:rPr>
              <a:t>Protobuf</a:t>
            </a:r>
            <a:r>
              <a:rPr lang="en-US" sz="1100" b="0" u="none" strike="noStrike" dirty="0">
                <a:solidFill>
                  <a:srgbClr val="385170"/>
                </a:solidFill>
                <a:effectLst/>
                <a:uFillTx/>
                <a:latin typeface="Calibri"/>
              </a:rPr>
              <a:t> schemas.</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Validates and stores schemas, enforcing compatibility rules as schemas evolve.</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Allows producers and consumers to exchange data using IDs rather than full schemas, reducing payload size.</a:t>
            </a:r>
            <a:endParaRPr lang="en-IN" sz="1100" b="0" u="none" strike="noStrike" dirty="0">
              <a:solidFill>
                <a:srgbClr val="000000"/>
              </a:solidFill>
              <a:effectLst/>
              <a:uFillTx/>
              <a:latin typeface="Arial"/>
            </a:endParaRPr>
          </a:p>
          <a:p>
            <a:pPr defTabSz="914400">
              <a:lnSpc>
                <a:spcPct val="100000"/>
              </a:lnSpc>
              <a:tabLst>
                <a:tab pos="0" algn="l"/>
              </a:tabLst>
            </a:pPr>
            <a:r>
              <a:rPr lang="en-US" sz="1100" b="0" u="none" strike="noStrike" dirty="0">
                <a:solidFill>
                  <a:srgbClr val="385170"/>
                </a:solidFill>
                <a:effectLst/>
                <a:uFillTx/>
                <a:latin typeface="Calibri"/>
              </a:rPr>
              <a:t>• Supports versioning and schema evolution; integrates with Connect, </a:t>
            </a:r>
            <a:r>
              <a:rPr lang="en-US" sz="1100" b="0" u="none" strike="noStrike" dirty="0" err="1">
                <a:solidFill>
                  <a:srgbClr val="385170"/>
                </a:solidFill>
                <a:effectLst/>
                <a:uFillTx/>
                <a:latin typeface="Calibri"/>
              </a:rPr>
              <a:t>ksqlDB</a:t>
            </a:r>
            <a:r>
              <a:rPr lang="en-US" sz="1100" b="0" u="none" strike="noStrike" dirty="0">
                <a:solidFill>
                  <a:srgbClr val="385170"/>
                </a:solidFill>
                <a:effectLst/>
                <a:uFillTx/>
                <a:latin typeface="Calibri"/>
              </a:rPr>
              <a:t>, and REST Proxy.</a:t>
            </a:r>
            <a:endParaRPr lang="en-IN" sz="1100" b="0" u="none" strike="noStrike" dirty="0">
              <a:solidFill>
                <a:srgbClr val="000000"/>
              </a:solidFill>
              <a:effectLst/>
              <a:uFillTx/>
              <a:latin typeface="Arial"/>
            </a:endParaRPr>
          </a:p>
        </p:txBody>
      </p:sp>
      <p:sp>
        <p:nvSpPr>
          <p:cNvPr id="437" name="Text 10"/>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pic>
        <p:nvPicPr>
          <p:cNvPr id="4" name="Picture 3">
            <a:extLst>
              <a:ext uri="{FF2B5EF4-FFF2-40B4-BE49-F238E27FC236}">
                <a16:creationId xmlns:a16="http://schemas.microsoft.com/office/drawing/2014/main" id="{24DC77AB-C94E-0CEA-74F0-7685C7E1FB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199" y="1939226"/>
            <a:ext cx="5028481" cy="2843277"/>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8" name="Text 0"/>
          <p:cNvSpPr/>
          <p:nvPr/>
        </p:nvSpPr>
        <p:spPr>
          <a:xfrm>
            <a:off x="304080" y="446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MirrorMaker &amp; Replicator</a:t>
            </a:r>
            <a:endParaRPr lang="en-IN" sz="2200" b="0" u="none" strike="noStrike">
              <a:solidFill>
                <a:srgbClr val="000000"/>
              </a:solidFill>
              <a:effectLst/>
              <a:uFillTx/>
              <a:latin typeface="Arial"/>
            </a:endParaRPr>
          </a:p>
        </p:txBody>
      </p:sp>
      <p:sp>
        <p:nvSpPr>
          <p:cNvPr id="439" name="Text 1"/>
          <p:cNvSpPr/>
          <p:nvPr/>
        </p:nvSpPr>
        <p:spPr>
          <a:xfrm>
            <a:off x="320040" y="918399"/>
            <a:ext cx="5360324" cy="324489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dirty="0" err="1">
                <a:solidFill>
                  <a:srgbClr val="2F5597"/>
                </a:solidFill>
                <a:effectLst/>
                <a:uFillTx/>
                <a:latin typeface="Calibri"/>
              </a:rPr>
              <a:t>MirrorMaker</a:t>
            </a:r>
            <a:r>
              <a:rPr lang="en-US" sz="1200" b="1" u="none" strike="noStrike" dirty="0">
                <a:solidFill>
                  <a:srgbClr val="2F5597"/>
                </a:solidFill>
                <a:effectLst/>
                <a:uFillTx/>
                <a:latin typeface="Calibri"/>
              </a:rPr>
              <a:t> </a:t>
            </a:r>
          </a:p>
          <a:p>
            <a:r>
              <a:rPr lang="en-US" sz="1100" dirty="0">
                <a:solidFill>
                  <a:srgbClr val="385170"/>
                </a:solidFill>
              </a:rPr>
              <a:t>• </a:t>
            </a:r>
            <a:r>
              <a:rPr lang="en-US" sz="1100" dirty="0">
                <a:solidFill>
                  <a:srgbClr val="385170"/>
                </a:solidFill>
                <a:latin typeface="Calibri"/>
              </a:rPr>
              <a:t>It is a tool provided by Apache Kafka that allows you to maintain a replica of an existing Kafka cluster. It uses a Kafka consumer to consume messages from the source cluster and re-publishes those messages to the target (mirror) cluster using an embedded Kafka producer</a:t>
            </a:r>
            <a:r>
              <a:rPr lang="en-US" sz="1200" b="0" u="none" strike="noStrike" dirty="0">
                <a:solidFill>
                  <a:srgbClr val="000000"/>
                </a:solidFill>
                <a:effectLst/>
                <a:uFillTx/>
                <a:latin typeface="Arial"/>
              </a:rPr>
              <a:t>.</a:t>
            </a:r>
            <a:endParaRPr lang="en-IN" sz="12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Built on Kafka Connect; uses </a:t>
            </a:r>
            <a:r>
              <a:rPr lang="en-US" sz="1100" b="0" u="none" strike="noStrike" dirty="0" err="1">
                <a:solidFill>
                  <a:srgbClr val="385170"/>
                </a:solidFill>
                <a:effectLst/>
                <a:uFillTx/>
                <a:latin typeface="Calibri"/>
              </a:rPr>
              <a:t>MirrorSource</a:t>
            </a:r>
            <a:r>
              <a:rPr lang="en-US" sz="1100" b="0" u="none" strike="noStrike" dirty="0">
                <a:solidFill>
                  <a:srgbClr val="385170"/>
                </a:solidFill>
                <a:effectLst/>
                <a:uFillTx/>
                <a:latin typeface="Calibri"/>
              </a:rPr>
              <a:t>, </a:t>
            </a:r>
            <a:r>
              <a:rPr lang="en-US" sz="1100" b="0" u="none" strike="noStrike" dirty="0" err="1">
                <a:solidFill>
                  <a:srgbClr val="385170"/>
                </a:solidFill>
                <a:effectLst/>
                <a:uFillTx/>
                <a:latin typeface="Calibri"/>
              </a:rPr>
              <a:t>MirrorCheckpoint</a:t>
            </a:r>
            <a:r>
              <a:rPr lang="en-US" sz="1100" b="0" u="none" strike="noStrike" dirty="0">
                <a:solidFill>
                  <a:srgbClr val="385170"/>
                </a:solidFill>
                <a:effectLst/>
                <a:uFillTx/>
                <a:latin typeface="Calibri"/>
              </a:rPr>
              <a:t> and </a:t>
            </a:r>
            <a:r>
              <a:rPr lang="en-US" sz="1100" b="0" u="none" strike="noStrike" dirty="0" err="1">
                <a:solidFill>
                  <a:srgbClr val="385170"/>
                </a:solidFill>
                <a:effectLst/>
                <a:uFillTx/>
                <a:latin typeface="Calibri"/>
              </a:rPr>
              <a:t>MirrorHeartbeat</a:t>
            </a:r>
            <a:r>
              <a:rPr lang="en-US" sz="1100" b="0" u="none" strike="noStrike" dirty="0">
                <a:solidFill>
                  <a:srgbClr val="385170"/>
                </a:solidFill>
                <a:effectLst/>
                <a:uFillTx/>
                <a:latin typeface="Calibri"/>
              </a:rPr>
              <a:t> connectors.</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Replicates topic data, configurations and consumer offsets across clusters.</a:t>
            </a:r>
          </a:p>
          <a:p>
            <a:pPr defTabSz="914400">
              <a:lnSpc>
                <a:spcPct val="100000"/>
              </a:lnSpc>
            </a:pPr>
            <a:endParaRPr lang="en-US" sz="1100" dirty="0">
              <a:solidFill>
                <a:srgbClr val="385170"/>
              </a:solidFill>
              <a:latin typeface="Calibri"/>
            </a:endParaRPr>
          </a:p>
          <a:p>
            <a:pPr defTabSz="914400">
              <a:lnSpc>
                <a:spcPct val="100000"/>
              </a:lnSpc>
            </a:pPr>
            <a:endParaRPr lang="en-IN" sz="1100" b="0" u="none" strike="noStrike" dirty="0">
              <a:solidFill>
                <a:srgbClr val="000000"/>
              </a:solidFill>
              <a:effectLst/>
              <a:uFillTx/>
              <a:latin typeface="Arial"/>
            </a:endParaRPr>
          </a:p>
          <a:p>
            <a:pPr defTabSz="914400">
              <a:lnSpc>
                <a:spcPct val="100000"/>
              </a:lnSpc>
            </a:pPr>
            <a:endParaRPr lang="en-IN" sz="1100" b="0" u="none" strike="noStrike" dirty="0">
              <a:solidFill>
                <a:srgbClr val="000000"/>
              </a:solidFill>
              <a:effectLst/>
              <a:uFillTx/>
              <a:latin typeface="Arial"/>
            </a:endParaRPr>
          </a:p>
          <a:p>
            <a:pPr defTabSz="914400">
              <a:lnSpc>
                <a:spcPct val="100000"/>
              </a:lnSpc>
            </a:pPr>
            <a:r>
              <a:rPr lang="en-US" sz="1200" b="1" u="none" strike="noStrike" dirty="0">
                <a:solidFill>
                  <a:srgbClr val="2F5597"/>
                </a:solidFill>
                <a:effectLst/>
                <a:uFillTx/>
                <a:latin typeface="Calibri"/>
              </a:rPr>
              <a:t>Confluent Replicator</a:t>
            </a:r>
          </a:p>
          <a:p>
            <a:r>
              <a:rPr lang="en-US" sz="1100" dirty="0">
                <a:solidFill>
                  <a:srgbClr val="385170"/>
                </a:solidFill>
              </a:rPr>
              <a:t>• </a:t>
            </a:r>
            <a:r>
              <a:rPr lang="en-US" sz="1100" dirty="0">
                <a:solidFill>
                  <a:srgbClr val="385170"/>
                </a:solidFill>
                <a:latin typeface="Calibri"/>
              </a:rPr>
              <a:t>It is a proprietary connector designed to replicate topics and their data from one Kafka cluster to another.</a:t>
            </a:r>
            <a:endParaRPr lang="en-IN" sz="1100" dirty="0">
              <a:solidFill>
                <a:srgbClr val="385170"/>
              </a:solidFill>
              <a:latin typeface="Calibri"/>
            </a:endParaRPr>
          </a:p>
          <a:p>
            <a:pPr defTabSz="914400">
              <a:lnSpc>
                <a:spcPct val="100000"/>
              </a:lnSpc>
            </a:pPr>
            <a:r>
              <a:rPr lang="en-US" sz="1100" b="0" u="none" strike="noStrike" dirty="0">
                <a:solidFill>
                  <a:srgbClr val="385170"/>
                </a:solidFill>
                <a:effectLst/>
                <a:uFillTx/>
                <a:latin typeface="Calibri"/>
              </a:rPr>
              <a:t>• Commercial tool with tighter Schema Registry integration and provenance headers to prevent loops.</a:t>
            </a:r>
            <a:endParaRPr lang="en-IN" sz="1100" b="0" u="none" strike="noStrike" dirty="0">
              <a:solidFill>
                <a:srgbClr val="000000"/>
              </a:solidFill>
              <a:effectLst/>
              <a:uFillTx/>
              <a:latin typeface="Arial"/>
            </a:endParaRPr>
          </a:p>
          <a:p>
            <a:pPr defTabSz="914400">
              <a:lnSpc>
                <a:spcPct val="100000"/>
              </a:lnSpc>
            </a:pPr>
            <a:r>
              <a:rPr lang="en-US" sz="1100" b="0" u="none" strike="noStrike" dirty="0">
                <a:solidFill>
                  <a:srgbClr val="385170"/>
                </a:solidFill>
                <a:effectLst/>
                <a:uFillTx/>
                <a:latin typeface="Calibri"/>
              </a:rPr>
              <a:t>• Provides topic and ACL sync, schema migration, and can translate consumer offsets.</a:t>
            </a:r>
            <a:endParaRPr lang="en-IN" sz="1100" b="0" u="none" strike="noStrike" dirty="0">
              <a:solidFill>
                <a:srgbClr val="000000"/>
              </a:solidFill>
              <a:effectLst/>
              <a:uFillTx/>
              <a:latin typeface="Arial"/>
            </a:endParaRPr>
          </a:p>
          <a:p>
            <a:pPr defTabSz="914400">
              <a:lnSpc>
                <a:spcPct val="100000"/>
              </a:lnSpc>
              <a:tabLst>
                <a:tab pos="0" algn="l"/>
              </a:tabLst>
            </a:pPr>
            <a:endParaRPr lang="en-IN" sz="1100" b="0" u="none" strike="noStrike" dirty="0">
              <a:solidFill>
                <a:srgbClr val="000000"/>
              </a:solidFill>
              <a:effectLst/>
              <a:uFillTx/>
              <a:latin typeface="Arial"/>
            </a:endParaRPr>
          </a:p>
        </p:txBody>
      </p:sp>
      <p:sp>
        <p:nvSpPr>
          <p:cNvPr id="441" name="Text 3"/>
          <p:cNvSpPr/>
          <p:nvPr/>
        </p:nvSpPr>
        <p:spPr>
          <a:xfrm>
            <a:off x="5567040" y="1299600"/>
            <a:ext cx="127944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IN" sz="800" b="0" u="none" strike="noStrike" dirty="0">
              <a:solidFill>
                <a:srgbClr val="000000"/>
              </a:solidFill>
              <a:effectLst/>
              <a:uFillTx/>
              <a:latin typeface="Arial"/>
            </a:endParaRPr>
          </a:p>
        </p:txBody>
      </p:sp>
      <p:sp>
        <p:nvSpPr>
          <p:cNvPr id="443" name="Text 5"/>
          <p:cNvSpPr/>
          <p:nvPr/>
        </p:nvSpPr>
        <p:spPr>
          <a:xfrm>
            <a:off x="7745040" y="1263600"/>
            <a:ext cx="127944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IN" sz="800" b="0" u="none" strike="noStrike" dirty="0">
              <a:solidFill>
                <a:srgbClr val="000000"/>
              </a:solidFill>
              <a:effectLst/>
              <a:uFillTx/>
              <a:latin typeface="Arial"/>
            </a:endParaRPr>
          </a:p>
        </p:txBody>
      </p:sp>
      <p:sp>
        <p:nvSpPr>
          <p:cNvPr id="448" name="Text 10"/>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endParaRPr lang="en-IN" sz="700" b="0" u="none" strike="noStrike">
              <a:solidFill>
                <a:srgbClr val="000000"/>
              </a:solidFill>
              <a:effectLst/>
              <a:uFillTx/>
              <a:latin typeface="Arial"/>
            </a:endParaRPr>
          </a:p>
        </p:txBody>
      </p:sp>
      <p:pic>
        <p:nvPicPr>
          <p:cNvPr id="10" name="Picture 9">
            <a:extLst>
              <a:ext uri="{FF2B5EF4-FFF2-40B4-BE49-F238E27FC236}">
                <a16:creationId xmlns:a16="http://schemas.microsoft.com/office/drawing/2014/main" id="{C67498D9-2E9A-C7EC-F207-A263B13762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5494" y="1123044"/>
            <a:ext cx="3010586" cy="1194072"/>
          </a:xfrm>
          <a:prstGeom prst="rect">
            <a:avLst/>
          </a:prstGeom>
        </p:spPr>
      </p:pic>
      <p:pic>
        <p:nvPicPr>
          <p:cNvPr id="12" name="Picture 11">
            <a:extLst>
              <a:ext uri="{FF2B5EF4-FFF2-40B4-BE49-F238E27FC236}">
                <a16:creationId xmlns:a16="http://schemas.microsoft.com/office/drawing/2014/main" id="{EF1D57D6-27FA-3F55-CD18-49256D5FB1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1350" y="2370918"/>
            <a:ext cx="2953570" cy="165430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a:xfrm>
          <a:off x="0" y="0"/>
          <a:ext cx="0" cy="0"/>
          <a:chOff x="0" y="0"/>
          <a:chExt cx="0" cy="0"/>
        </a:xfrm>
      </p:grpSpPr>
      <p:sp>
        <p:nvSpPr>
          <p:cNvPr id="449" name="Text 0"/>
          <p:cNvSpPr/>
          <p:nvPr/>
        </p:nvSpPr>
        <p:spPr>
          <a:xfrm>
            <a:off x="457200" y="274320"/>
            <a:ext cx="8686080" cy="45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200" b="1" u="none" strike="noStrike">
                <a:solidFill>
                  <a:srgbClr val="2F5597"/>
                </a:solidFill>
                <a:effectLst/>
                <a:uFillTx/>
                <a:latin typeface="Calibri"/>
              </a:rPr>
              <a:t>Knowledge check - 1</a:t>
            </a:r>
            <a:endParaRPr lang="en-IN" sz="2200" b="0" u="none" strike="noStrike">
              <a:solidFill>
                <a:srgbClr val="000000"/>
              </a:solidFill>
              <a:effectLst/>
              <a:uFillTx/>
              <a:latin typeface="Arial"/>
            </a:endParaRPr>
          </a:p>
        </p:txBody>
      </p:sp>
      <p:sp>
        <p:nvSpPr>
          <p:cNvPr id="450" name="Text 1"/>
          <p:cNvSpPr/>
          <p:nvPr/>
        </p:nvSpPr>
        <p:spPr>
          <a:xfrm>
            <a:off x="457200" y="731520"/>
            <a:ext cx="502848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1" u="none" strike="noStrike">
                <a:solidFill>
                  <a:srgbClr val="2F5597"/>
                </a:solidFill>
                <a:effectLst/>
                <a:uFillTx/>
                <a:latin typeface="Calibri"/>
              </a:rPr>
              <a:t>Match the following tool to its primary use case:</a:t>
            </a:r>
            <a:endParaRPr lang="en-IN" sz="12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 Streams</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ksqlDB</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Schema Registry</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MirrorMaker</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REST Proxy</a:t>
            </a:r>
            <a:endParaRPr lang="en-IN" sz="1100" b="0" u="none" strike="noStrike">
              <a:solidFill>
                <a:srgbClr val="000000"/>
              </a:solidFill>
              <a:effectLst/>
              <a:uFillTx/>
              <a:latin typeface="Arial"/>
            </a:endParaRPr>
          </a:p>
          <a:p>
            <a:pPr defTabSz="914400">
              <a:lnSpc>
                <a:spcPct val="100000"/>
              </a:lnSpc>
            </a:pPr>
            <a:r>
              <a:rPr lang="en-US" sz="1100" b="0" u="none" strike="noStrike">
                <a:solidFill>
                  <a:srgbClr val="385170"/>
                </a:solidFill>
                <a:effectLst/>
                <a:uFillTx/>
                <a:latin typeface="Calibri"/>
              </a:rPr>
              <a:t>• Kafka Connect</a:t>
            </a:r>
            <a:endParaRPr lang="en-IN" sz="1100" b="0" u="none" strike="noStrike">
              <a:solidFill>
                <a:srgbClr val="000000"/>
              </a:solidFill>
              <a:effectLst/>
              <a:uFillTx/>
              <a:latin typeface="Arial"/>
            </a:endParaRPr>
          </a:p>
          <a:p>
            <a:pPr defTabSz="914400">
              <a:lnSpc>
                <a:spcPct val="100000"/>
              </a:lnSpc>
              <a:tabLst>
                <a:tab pos="0" algn="l"/>
              </a:tabLst>
            </a:pPr>
            <a:endParaRPr lang="en-IN" sz="1100" b="0" u="none" strike="noStrike">
              <a:solidFill>
                <a:srgbClr val="000000"/>
              </a:solidFill>
              <a:effectLst/>
              <a:uFillTx/>
              <a:latin typeface="Arial"/>
            </a:endParaRPr>
          </a:p>
        </p:txBody>
      </p:sp>
      <p:sp>
        <p:nvSpPr>
          <p:cNvPr id="451" name="Text 2"/>
          <p:cNvSpPr/>
          <p:nvPr/>
        </p:nvSpPr>
        <p:spPr>
          <a:xfrm>
            <a:off x="5669280" y="914400"/>
            <a:ext cx="3474000" cy="2742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IN" sz="1800" b="0" u="none" strike="noStrike">
              <a:solidFill>
                <a:srgbClr val="000000"/>
              </a:solidFill>
              <a:effectLst/>
              <a:uFillTx/>
              <a:latin typeface="Arial"/>
            </a:endParaRPr>
          </a:p>
        </p:txBody>
      </p:sp>
      <p:sp>
        <p:nvSpPr>
          <p:cNvPr id="452" name="Text 3"/>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4"/>
              </a:rPr>
              <a:t>[2]</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5"/>
              </a:rPr>
              <a:t>[3]</a:t>
            </a:r>
            <a:r>
              <a:rPr lang="en-US" sz="700" b="0" u="none" strike="noStrike">
                <a:solidFill>
                  <a:srgbClr val="666666"/>
                </a:solidFill>
                <a:effectLst/>
                <a:uFillTx/>
                <a:latin typeface="Calibri"/>
              </a:rPr>
              <a:t>   </a:t>
            </a:r>
            <a:r>
              <a:rPr lang="en-US" sz="700" b="0" u="sng" strike="noStrike">
                <a:solidFill>
                  <a:srgbClr val="0563C1"/>
                </a:solidFill>
                <a:effectLst/>
                <a:uFillTx/>
                <a:latin typeface="Calibri"/>
                <a:hlinkClick r:id="rId6"/>
              </a:rPr>
              <a:t>[4]</a:t>
            </a:r>
            <a:endParaRPr lang="en-IN" sz="700" b="0" u="none" strike="noStrike">
              <a:solidFill>
                <a:srgbClr val="000000"/>
              </a:solidFill>
              <a:effectLst/>
              <a:uFillTx/>
              <a:latin typeface="Arial"/>
            </a:endParaRPr>
          </a:p>
        </p:txBody>
      </p:sp>
      <p:sp>
        <p:nvSpPr>
          <p:cNvPr id="453" name="TextBox 452"/>
          <p:cNvSpPr txBox="1"/>
          <p:nvPr/>
        </p:nvSpPr>
        <p:spPr>
          <a:xfrm>
            <a:off x="2580920" y="1560760"/>
            <a:ext cx="3234960" cy="930960"/>
          </a:xfrm>
          <a:prstGeom prst="rect">
            <a:avLst/>
          </a:prstGeom>
          <a:noFill/>
          <a:ln w="0">
            <a:noFill/>
          </a:ln>
        </p:spPr>
        <p:txBody>
          <a:bodyPr lIns="90000" tIns="45000" rIns="90000" bIns="45000" anchor="t">
            <a:spAutoFit/>
          </a:bodyPr>
          <a:lstStyle/>
          <a:p>
            <a:r>
              <a:rPr lang="en-US" sz="1100" b="0" u="none" strike="noStrike" dirty="0">
                <a:solidFill>
                  <a:srgbClr val="385170"/>
                </a:solidFill>
                <a:effectLst/>
                <a:uFillTx/>
                <a:latin typeface="Calibri"/>
              </a:rPr>
              <a:t>A. Replicating data between clusters</a:t>
            </a:r>
            <a:endParaRPr lang="en-IN" sz="11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B. Managing data schemas and compatibility</a:t>
            </a:r>
            <a:endParaRPr lang="en-IN" sz="11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C. Creating SQL‑based streaming pipelines</a:t>
            </a:r>
            <a:endParaRPr lang="en-IN" sz="11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D. Building clientless producers/consumers over HTTP</a:t>
            </a:r>
            <a:endParaRPr lang="en-IN" sz="11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E. High‑level Java API for processing streams</a:t>
            </a:r>
            <a:endParaRPr lang="en-IN" sz="11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F. Ingesting and exporting data between systems</a:t>
            </a:r>
            <a:endParaRPr lang="en-IN" sz="1100" b="0" u="none" strike="noStrike" dirty="0">
              <a:solidFill>
                <a:srgbClr val="000000"/>
              </a:solidFill>
              <a:effectLst/>
              <a:uFillTx/>
              <a:latin typeface="Arial"/>
            </a:endParaRPr>
          </a:p>
        </p:txBody>
      </p:sp>
      <p:sp>
        <p:nvSpPr>
          <p:cNvPr id="454" name="Rectangle 3"/>
          <p:cNvSpPr/>
          <p:nvPr/>
        </p:nvSpPr>
        <p:spPr>
          <a:xfrm>
            <a:off x="411840" y="71352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TextBox 1"/>
          <p:cNvSpPr/>
          <p:nvPr/>
        </p:nvSpPr>
        <p:spPr>
          <a:xfrm>
            <a:off x="411480" y="255960"/>
            <a:ext cx="7863480" cy="38952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a:t>
            </a:r>
            <a:endParaRPr lang="en-IN" sz="2200" b="0" u="none" strike="noStrike">
              <a:solidFill>
                <a:srgbClr val="000000"/>
              </a:solidFill>
              <a:effectLst/>
              <a:uFillTx/>
              <a:latin typeface="Arial"/>
            </a:endParaRPr>
          </a:p>
        </p:txBody>
      </p:sp>
      <p:sp>
        <p:nvSpPr>
          <p:cNvPr id="456"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57"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endParaRPr lang="en-IN" sz="1800" b="0" u="none" strike="noStrike">
              <a:solidFill>
                <a:srgbClr val="000000"/>
              </a:solidFill>
              <a:effectLst/>
              <a:uFillTx/>
              <a:latin typeface="Arial"/>
            </a:endParaRPr>
          </a:p>
        </p:txBody>
      </p:sp>
      <p:sp>
        <p:nvSpPr>
          <p:cNvPr id="458"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Kafka Streams: Java library for stateful stream processing applications.</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ksqlDB: SQL interface for streams and tables.</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Schema Registry: central schema storage and compatibility enforcement.</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MirrorMaker 2: cross-cluster replication built on Kafka Connect.</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Kafka Connect: managed integration framework for source and sink connectors.</a:t>
            </a:r>
            <a:endParaRPr lang="en-IN" sz="1500" b="0" u="none" strike="noStrike">
              <a:solidFill>
                <a:srgbClr val="000000"/>
              </a:solidFill>
              <a:effectLst/>
              <a:uFillTx/>
              <a:latin typeface="Arial"/>
            </a:endParaRPr>
          </a:p>
        </p:txBody>
      </p:sp>
      <p:sp>
        <p:nvSpPr>
          <p:cNvPr id="459"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[66]</a:t>
            </a:r>
            <a:endParaRPr lang="en-IN" sz="800" b="0" u="none" strike="noStrike">
              <a:solidFill>
                <a:srgbClr val="000000"/>
              </a:solidFill>
              <a:effectLst/>
              <a:uFillTx/>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TextBox 459"/>
          <p:cNvSpPr txBox="1"/>
          <p:nvPr/>
        </p:nvSpPr>
        <p:spPr>
          <a:xfrm>
            <a:off x="203400" y="842400"/>
            <a:ext cx="5494680" cy="1676160"/>
          </a:xfrm>
          <a:prstGeom prst="rect">
            <a:avLst/>
          </a:prstGeom>
          <a:noFill/>
          <a:ln w="0">
            <a:noFill/>
          </a:ln>
        </p:spPr>
        <p:txBody>
          <a:bodyPr lIns="90000" tIns="45000" rIns="90000" bIns="45000" anchor="t">
            <a:spAutoFit/>
          </a:bodyPr>
          <a:lstStyle/>
          <a:p>
            <a:r>
              <a:rPr lang="en-US" sz="1100" b="0" u="none" strike="noStrike" dirty="0">
                <a:solidFill>
                  <a:srgbClr val="385170"/>
                </a:solidFill>
                <a:effectLst/>
                <a:uFillTx/>
                <a:latin typeface="Calibri"/>
              </a:rPr>
              <a:t>Which tool would you choose for performing interactive SQL queries on streaming data?</a:t>
            </a:r>
            <a:endParaRPr lang="en-IN" sz="11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a) Kafka Streams</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b) </a:t>
            </a:r>
            <a:r>
              <a:rPr lang="en-US" sz="1000" b="0" u="none" strike="noStrike" dirty="0" err="1">
                <a:solidFill>
                  <a:srgbClr val="385170"/>
                </a:solidFill>
                <a:effectLst/>
                <a:uFillTx/>
                <a:latin typeface="Calibri"/>
              </a:rPr>
              <a:t>ksqlDB</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c) Schema Registry</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d) </a:t>
            </a:r>
            <a:r>
              <a:rPr lang="en-US" sz="1000" b="0" u="none" strike="noStrike" dirty="0" err="1">
                <a:solidFill>
                  <a:srgbClr val="385170"/>
                </a:solidFill>
                <a:effectLst/>
                <a:uFillTx/>
                <a:latin typeface="Calibri"/>
              </a:rPr>
              <a:t>MirrorMaker</a:t>
            </a:r>
            <a:endParaRPr lang="en-IN" sz="1000" b="0" u="none" strike="noStrike" dirty="0">
              <a:solidFill>
                <a:srgbClr val="000000"/>
              </a:solidFill>
              <a:effectLst/>
              <a:uFillTx/>
              <a:latin typeface="Arial"/>
            </a:endParaRPr>
          </a:p>
          <a:p>
            <a:endParaRPr lang="en-IN" sz="1000" b="0" u="none" strike="noStrike" dirty="0">
              <a:solidFill>
                <a:srgbClr val="000000"/>
              </a:solidFill>
              <a:effectLst/>
              <a:uFillTx/>
              <a:latin typeface="Arial"/>
            </a:endParaRPr>
          </a:p>
          <a:p>
            <a:r>
              <a:rPr lang="en-US" sz="1100" b="0" u="none" strike="noStrike" dirty="0">
                <a:solidFill>
                  <a:srgbClr val="385170"/>
                </a:solidFill>
                <a:effectLst/>
                <a:uFillTx/>
                <a:latin typeface="Calibri"/>
              </a:rPr>
              <a:t>Which component ensures that producers and consumers use compatible data formats?</a:t>
            </a:r>
            <a:endParaRPr lang="en-IN" sz="11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a) Kafka Connect</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b) Kafka Streams</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c) Schema Registry</a:t>
            </a:r>
            <a:endParaRPr lang="en-IN" sz="1000" b="0" u="none" strike="noStrike" dirty="0">
              <a:solidFill>
                <a:srgbClr val="000000"/>
              </a:solidFill>
              <a:effectLst/>
              <a:uFillTx/>
              <a:latin typeface="Arial"/>
            </a:endParaRPr>
          </a:p>
          <a:p>
            <a:r>
              <a:rPr lang="en-US" sz="1000" b="0" u="none" strike="noStrike" dirty="0">
                <a:solidFill>
                  <a:srgbClr val="385170"/>
                </a:solidFill>
                <a:effectLst/>
                <a:uFillTx/>
                <a:latin typeface="Calibri"/>
              </a:rPr>
              <a:t>d) REST Proxy</a:t>
            </a:r>
            <a:endParaRPr lang="en-IN" sz="1000" b="0" u="none" strike="noStrike" dirty="0">
              <a:solidFill>
                <a:srgbClr val="000000"/>
              </a:solidFill>
              <a:effectLst/>
              <a:uFillTx/>
              <a:latin typeface="Arial"/>
            </a:endParaRPr>
          </a:p>
        </p:txBody>
      </p:sp>
      <p:sp>
        <p:nvSpPr>
          <p:cNvPr id="461" name="TextBox 460"/>
          <p:cNvSpPr txBox="1"/>
          <p:nvPr/>
        </p:nvSpPr>
        <p:spPr>
          <a:xfrm>
            <a:off x="341640" y="360000"/>
            <a:ext cx="3239760" cy="429433"/>
          </a:xfrm>
          <a:prstGeom prst="rect">
            <a:avLst/>
          </a:prstGeom>
          <a:noFill/>
          <a:ln w="0">
            <a:noFill/>
          </a:ln>
        </p:spPr>
        <p:txBody>
          <a:bodyPr wrap="square" lIns="90000" tIns="45000" rIns="90000" bIns="45000" anchor="t">
            <a:spAutoFit/>
          </a:bodyPr>
          <a:lstStyle/>
          <a:p>
            <a:r>
              <a:rPr lang="en-US" sz="2200" b="1" u="none" strike="noStrike" dirty="0">
                <a:solidFill>
                  <a:srgbClr val="2F5597"/>
                </a:solidFill>
                <a:effectLst/>
                <a:uFillTx/>
                <a:latin typeface="Calibri"/>
              </a:rPr>
              <a:t>Knowledge check - 2</a:t>
            </a:r>
            <a:endParaRPr lang="en-IN" sz="2200" b="0" u="none" strike="noStrike" dirty="0">
              <a:solidFill>
                <a:srgbClr val="000000"/>
              </a:solidFill>
              <a:effectLst/>
              <a:uFillTx/>
              <a:latin typeface="Arial"/>
            </a:endParaRPr>
          </a:p>
        </p:txBody>
      </p:sp>
      <p:sp>
        <p:nvSpPr>
          <p:cNvPr id="462" name="Rectangle 1"/>
          <p:cNvSpPr/>
          <p:nvPr/>
        </p:nvSpPr>
        <p:spPr>
          <a:xfrm>
            <a:off x="272520" y="74952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462"/>
          <p:cNvSpPr txBox="1"/>
          <p:nvPr/>
        </p:nvSpPr>
        <p:spPr>
          <a:xfrm>
            <a:off x="473760" y="955440"/>
            <a:ext cx="5910480" cy="2778840"/>
          </a:xfrm>
          <a:prstGeom prst="rect">
            <a:avLst/>
          </a:prstGeom>
          <a:noFill/>
          <a:ln w="0">
            <a:noFill/>
          </a:ln>
        </p:spPr>
        <p:txBody>
          <a:bodyPr lIns="90000" tIns="45000" rIns="90000" bIns="45000" anchor="t">
            <a:spAutoFit/>
          </a:bodyPr>
          <a:lstStyle/>
          <a:p>
            <a:r>
              <a:rPr lang="en-IN" sz="900" b="0" u="none" strike="noStrike">
                <a:solidFill>
                  <a:srgbClr val="000000"/>
                </a:solidFill>
                <a:effectLst/>
                <a:uFillTx/>
                <a:latin typeface="Arial"/>
              </a:rPr>
              <a:t>Which tool would you choose for performing interactive SQL queries on streaming data?</a:t>
            </a:r>
          </a:p>
          <a:p>
            <a:r>
              <a:rPr lang="en-IN" sz="900" b="0" u="none" strike="noStrike">
                <a:solidFill>
                  <a:srgbClr val="000000"/>
                </a:solidFill>
                <a:effectLst/>
                <a:uFillTx/>
                <a:latin typeface="Arial"/>
              </a:rPr>
              <a:t>Answer: b) ksqlDB</a:t>
            </a:r>
          </a:p>
          <a:p>
            <a:r>
              <a:rPr lang="en-IN" sz="900" b="0" u="none" strike="noStrike">
                <a:solidFill>
                  <a:srgbClr val="000000"/>
                </a:solidFill>
                <a:effectLst/>
                <a:uFillTx/>
                <a:latin typeface="Arial"/>
              </a:rPr>
              <a:t>ksqlDB lets you write SQL-like queries on Kafka topics, so it is used for interactive streaming analytics.</a:t>
            </a:r>
          </a:p>
          <a:p>
            <a:r>
              <a:rPr lang="en-IN" sz="900" b="0" u="none" strike="noStrike">
                <a:solidFill>
                  <a:srgbClr val="000000"/>
                </a:solidFill>
                <a:effectLst/>
                <a:uFillTx/>
                <a:latin typeface="Arial"/>
              </a:rPr>
              <a:t>Which component ensures that producers and consumers use compatible data formats?</a:t>
            </a:r>
          </a:p>
          <a:p>
            <a:r>
              <a:rPr lang="en-IN" sz="900" b="0" u="none" strike="noStrike">
                <a:solidFill>
                  <a:srgbClr val="000000"/>
                </a:solidFill>
                <a:effectLst/>
                <a:uFillTx/>
                <a:latin typeface="Arial"/>
              </a:rPr>
              <a:t>Answer: c) Schema Registry</a:t>
            </a:r>
          </a:p>
          <a:p>
            <a:r>
              <a:rPr lang="en-IN" sz="900" b="0" u="none" strike="noStrike">
                <a:solidFill>
                  <a:srgbClr val="000000"/>
                </a:solidFill>
                <a:effectLst/>
                <a:uFillTx/>
                <a:latin typeface="Arial"/>
              </a:rPr>
              <a:t>Schema Registry stores and validates schemas like Avro, Protobuf, or JSON Schema so producers and consumers remain compatible. </a:t>
            </a:r>
          </a:p>
          <a:p>
            <a:endParaRPr lang="en-IN" sz="900" b="0" u="none" strike="noStrike">
              <a:solidFill>
                <a:srgbClr val="000000"/>
              </a:solidFill>
              <a:effectLst/>
              <a:uFillTx/>
              <a:latin typeface="Arial"/>
            </a:endParaRPr>
          </a:p>
        </p:txBody>
      </p:sp>
      <p:sp>
        <p:nvSpPr>
          <p:cNvPr id="464" name="TextBox 2"/>
          <p:cNvSpPr/>
          <p:nvPr/>
        </p:nvSpPr>
        <p:spPr>
          <a:xfrm>
            <a:off x="411840" y="256320"/>
            <a:ext cx="7863480" cy="38952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a:t>
            </a:r>
            <a:endParaRPr lang="en-IN" sz="2200" b="0" u="none" strike="noStrike">
              <a:solidFill>
                <a:srgbClr val="000000"/>
              </a:solidFill>
              <a:effectLst/>
              <a:uFillTx/>
              <a:latin typeface="Arial"/>
            </a:endParaRPr>
          </a:p>
        </p:txBody>
      </p:sp>
      <p:sp>
        <p:nvSpPr>
          <p:cNvPr id="465" name="Rectangle 4"/>
          <p:cNvSpPr/>
          <p:nvPr/>
        </p:nvSpPr>
        <p:spPr>
          <a:xfrm>
            <a:off x="411840" y="71352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TextBox 1"/>
          <p:cNvSpPr/>
          <p:nvPr/>
        </p:nvSpPr>
        <p:spPr>
          <a:xfrm>
            <a:off x="411480" y="255960"/>
            <a:ext cx="7863480" cy="38952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Knowledge Check- 3</a:t>
            </a:r>
            <a:endParaRPr lang="en-IN" sz="2200" b="0" u="none" strike="noStrike">
              <a:solidFill>
                <a:srgbClr val="000000"/>
              </a:solidFill>
              <a:effectLst/>
              <a:uFillTx/>
              <a:latin typeface="Arial"/>
            </a:endParaRPr>
          </a:p>
        </p:txBody>
      </p:sp>
      <p:sp>
        <p:nvSpPr>
          <p:cNvPr id="467"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68" name="TextBox 3"/>
          <p:cNvSpPr/>
          <p:nvPr/>
        </p:nvSpPr>
        <p:spPr>
          <a:xfrm>
            <a:off x="438840" y="786240"/>
            <a:ext cx="7497720" cy="2304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endParaRPr lang="en-IN" sz="1800" b="0" u="none" strike="noStrike">
              <a:solidFill>
                <a:srgbClr val="000000"/>
              </a:solidFill>
              <a:effectLst/>
              <a:uFillTx/>
              <a:latin typeface="Arial"/>
            </a:endParaRPr>
          </a:p>
        </p:txBody>
      </p:sp>
      <p:sp>
        <p:nvSpPr>
          <p:cNvPr id="469" name="TextBox 4"/>
          <p:cNvSpPr/>
          <p:nvPr/>
        </p:nvSpPr>
        <p:spPr>
          <a:xfrm>
            <a:off x="685800" y="1051560"/>
            <a:ext cx="7497720" cy="3474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Q1. Which service exposes REST endpoints for connector lifecycle?</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Q2. Which internal topic stores consumer group committed offsets?</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Q3. Which setting tells the producer to wait for all required in-sync replicas?</a:t>
            </a:r>
            <a:endParaRPr lang="en-IN" sz="14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400" b="0" u="none" strike="noStrike">
                <a:solidFill>
                  <a:srgbClr val="1E1E1E"/>
                </a:solidFill>
                <a:effectLst/>
                <a:uFillTx/>
                <a:latin typeface="Calibri"/>
              </a:rPr>
              <a:t>Q4. Which lab output proves the FileStream sink connector worked?</a:t>
            </a:r>
            <a:endParaRPr lang="en-IN" sz="1400" b="0" u="none" strike="noStrike">
              <a:solidFill>
                <a:srgbClr val="000000"/>
              </a:solidFill>
              <a:effectLst/>
              <a:uFillTx/>
              <a:latin typeface="Arial"/>
            </a:endParaRPr>
          </a:p>
        </p:txBody>
      </p:sp>
      <p:sp>
        <p:nvSpPr>
          <p:cNvPr id="470"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[67]</a:t>
            </a:r>
            <a:endParaRPr lang="en-IN" sz="800" b="0" u="none" strike="noStrike">
              <a:solidFill>
                <a:srgbClr val="000000"/>
              </a:solidFill>
              <a:effectLst/>
              <a:uFillTx/>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Solution: Deployment View</a:t>
            </a:r>
            <a:endParaRPr lang="en-IN" sz="2200" b="0" u="none" strike="noStrike">
              <a:solidFill>
                <a:srgbClr val="000000"/>
              </a:solidFill>
              <a:effectLst/>
              <a:uFillTx/>
              <a:latin typeface="Arial"/>
            </a:endParaRPr>
          </a:p>
        </p:txBody>
      </p:sp>
      <p:sp>
        <p:nvSpPr>
          <p:cNvPr id="472"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73"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Solution / trainer answer key</a:t>
            </a:r>
            <a:endParaRPr lang="en-IN" sz="1150" b="0" u="none" strike="noStrike">
              <a:solidFill>
                <a:srgbClr val="000000"/>
              </a:solidFill>
              <a:effectLst/>
              <a:uFillTx/>
              <a:latin typeface="Arial"/>
            </a:endParaRPr>
          </a:p>
        </p:txBody>
      </p:sp>
      <p:sp>
        <p:nvSpPr>
          <p:cNvPr id="474" name="TextBox 4"/>
          <p:cNvSpPr/>
          <p:nvPr/>
        </p:nvSpPr>
        <p:spPr>
          <a:xfrm>
            <a:off x="640080" y="1234440"/>
            <a:ext cx="7406280" cy="324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Q1. Kafka Connect REST exposes connector lifecycle endpoints.</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Q2. __consumer_offsets stores committed group progress.</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Q3. acks=all makes the producer wait for required in-sync replicas.</a:t>
            </a:r>
            <a:endParaRPr lang="en-IN" sz="1500" b="0" u="none" strike="noStrike">
              <a:solidFill>
                <a:srgbClr val="000000"/>
              </a:solidFill>
              <a:effectLst/>
              <a:uFillTx/>
              <a:latin typeface="Arial"/>
            </a:endParaRPr>
          </a:p>
          <a:p>
            <a:pPr marL="343080" indent="-171360" defTabSz="914400">
              <a:lnSpc>
                <a:spcPct val="100000"/>
              </a:lnSpc>
              <a:spcAft>
                <a:spcPts val="601"/>
              </a:spcAft>
              <a:buClr>
                <a:srgbClr val="1E1E1E"/>
              </a:buClr>
              <a:buFont typeface="Symbol" charset="2"/>
              <a:buChar char=""/>
            </a:pPr>
            <a:r>
              <a:rPr lang="en-US" sz="1500" b="0" u="none" strike="noStrike">
                <a:solidFill>
                  <a:srgbClr val="1E1E1E"/>
                </a:solidFill>
                <a:effectLst/>
                <a:uFillTx/>
                <a:latin typeface="Calibri"/>
              </a:rPr>
              <a:t>Q4. data/output/consume.txt proves the FileStream sink wrote records.</a:t>
            </a:r>
            <a:endParaRPr lang="en-IN" sz="1500" b="0" u="none" strike="noStrike">
              <a:solidFill>
                <a:srgbClr val="000000"/>
              </a:solidFill>
              <a:effectLst/>
              <a:uFillTx/>
              <a:latin typeface="Arial"/>
            </a:endParaRPr>
          </a:p>
        </p:txBody>
      </p:sp>
      <p:sp>
        <p:nvSpPr>
          <p:cNvPr id="475" name="TextBox 5"/>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[68]</a:t>
            </a:r>
            <a:endParaRPr lang="en-IN" sz="800" b="0" u="none" strike="noStrike">
              <a:solidFill>
                <a:srgbClr val="000000"/>
              </a:solidFill>
              <a:effectLst/>
              <a:uFillTx/>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476" name="Text 0"/>
          <p:cNvSpPr/>
          <p:nvPr/>
        </p:nvSpPr>
        <p:spPr>
          <a:xfrm>
            <a:off x="457200" y="365760"/>
            <a:ext cx="868608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400" b="1" u="none" strike="noStrike">
                <a:solidFill>
                  <a:srgbClr val="2F5597"/>
                </a:solidFill>
                <a:effectLst/>
                <a:uFillTx/>
                <a:latin typeface="Calibri"/>
              </a:rPr>
              <a:t>Recap &amp; Next Steps</a:t>
            </a:r>
            <a:endParaRPr lang="en-IN" sz="2400" b="0" u="none" strike="noStrike">
              <a:solidFill>
                <a:srgbClr val="000000"/>
              </a:solidFill>
              <a:effectLst/>
              <a:uFillTx/>
              <a:latin typeface="Arial"/>
            </a:endParaRPr>
          </a:p>
        </p:txBody>
      </p:sp>
      <p:sp>
        <p:nvSpPr>
          <p:cNvPr id="477" name="Text 1"/>
          <p:cNvSpPr/>
          <p:nvPr/>
        </p:nvSpPr>
        <p:spPr>
          <a:xfrm>
            <a:off x="457200" y="1097280"/>
            <a:ext cx="8686080" cy="319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00" b="1" u="none" strike="noStrike">
                <a:solidFill>
                  <a:srgbClr val="2F5597"/>
                </a:solidFill>
                <a:effectLst/>
                <a:uFillTx/>
                <a:latin typeface="Calibri"/>
              </a:rPr>
              <a:t>Today you learned:</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How consumer groups, offsets, ISR and KRaft protect event movement.</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How Kafka Connect workers, connectors and tasks divide responsibility.</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How to deploy FileStream source and sink connectors with REST on Ubuntu.</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How to prove file -&gt; Kafka -&gt; file movement and test recovery using connect-offsets.</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Where Streams, ksqlDB, Schema Registry and MirrorMaker fit in the wider platform.</a:t>
            </a:r>
            <a:endParaRPr lang="en-IN" sz="1200" b="0" u="none" strike="noStrike">
              <a:solidFill>
                <a:srgbClr val="000000"/>
              </a:solidFill>
              <a:effectLst/>
              <a:uFillTx/>
              <a:latin typeface="Arial"/>
            </a:endParaRPr>
          </a:p>
          <a:p>
            <a:pPr defTabSz="914400">
              <a:lnSpc>
                <a:spcPct val="100000"/>
              </a:lnSpc>
              <a:tabLst>
                <a:tab pos="0" algn="l"/>
              </a:tabLst>
            </a:pP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Tomorrow (Day 4):</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Replace the visible file source with database changes using Debezium CDC.</a:t>
            </a:r>
            <a:endParaRPr lang="en-IN"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2F5597"/>
                </a:solidFill>
                <a:effectLst/>
                <a:uFillTx/>
                <a:latin typeface="Calibri"/>
              </a:rPr>
              <a:t>- Reuse today's status and offset reasoning when events originate in a database.</a:t>
            </a:r>
            <a:endParaRPr lang="en-IN" sz="1200" b="0" u="none" strike="noStrike">
              <a:solidFill>
                <a:srgbClr val="000000"/>
              </a:solidFill>
              <a:effectLst/>
              <a:uFillTx/>
              <a:latin typeface="Arial"/>
            </a:endParaRPr>
          </a:p>
        </p:txBody>
      </p:sp>
      <p:sp>
        <p:nvSpPr>
          <p:cNvPr id="478" name="Text 2"/>
          <p:cNvSpPr/>
          <p:nvPr/>
        </p:nvSpPr>
        <p:spPr>
          <a:xfrm>
            <a:off x="457200" y="4892040"/>
            <a:ext cx="8228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700" b="0" u="sng" strike="noStrike">
                <a:solidFill>
                  <a:srgbClr val="0563C1"/>
                </a:solidFill>
                <a:effectLst/>
                <a:uFillTx/>
                <a:latin typeface="Calibri"/>
                <a:hlinkClick r:id="rId3"/>
              </a:rPr>
              <a:t>[1]</a:t>
            </a:r>
            <a:endParaRPr lang="en-IN" sz="700" b="0" u="none" strike="noStrike">
              <a:solidFill>
                <a:srgbClr val="000000"/>
              </a:solidFill>
              <a:effectLst/>
              <a:uFillTx/>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TextBox 1"/>
          <p:cNvSpPr/>
          <p:nvPr/>
        </p:nvSpPr>
        <p:spPr>
          <a:xfrm>
            <a:off x="411480" y="255960"/>
            <a:ext cx="786348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2200" b="1" u="none" strike="noStrike">
                <a:solidFill>
                  <a:srgbClr val="365F91"/>
                </a:solidFill>
                <a:effectLst/>
                <a:uFillTx/>
                <a:latin typeface="Calibri"/>
              </a:rPr>
              <a:t>Quick Recap: Five Sentences to Carry Forward</a:t>
            </a:r>
            <a:endParaRPr lang="en-IN" sz="2200" b="0" u="none" strike="noStrike">
              <a:solidFill>
                <a:srgbClr val="000000"/>
              </a:solidFill>
              <a:effectLst/>
              <a:uFillTx/>
              <a:latin typeface="Arial"/>
            </a:endParaRPr>
          </a:p>
        </p:txBody>
      </p:sp>
      <p:sp>
        <p:nvSpPr>
          <p:cNvPr id="480" name="Rectangle 2"/>
          <p:cNvSpPr/>
          <p:nvPr/>
        </p:nvSpPr>
        <p:spPr>
          <a:xfrm>
            <a:off x="411480" y="713160"/>
            <a:ext cx="7863480" cy="27000"/>
          </a:xfrm>
          <a:prstGeom prst="rect">
            <a:avLst/>
          </a:prstGeom>
          <a:solidFill>
            <a:srgbClr val="4F81BD"/>
          </a:solidFill>
          <a:ln>
            <a:solidFill>
              <a:srgbClr val="4F81BD"/>
            </a:solidFill>
            <a:round/>
          </a:ln>
        </p:spPr>
        <p:style>
          <a:lnRef idx="1">
            <a:schemeClr val="accent1"/>
          </a:lnRef>
          <a:fillRef idx="3">
            <a:schemeClr val="accent1"/>
          </a:fillRef>
          <a:effectRef idx="2">
            <a:schemeClr val="accent1"/>
          </a:effectRef>
          <a:fontRef idx="minor"/>
        </p:style>
        <p:txBody>
          <a:bodyPr lIns="90000" tIns="-17640" rIns="90000" bIns="-1764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481" name="TextBox 3"/>
          <p:cNvSpPr/>
          <p:nvPr/>
        </p:nvSpPr>
        <p:spPr>
          <a:xfrm>
            <a:off x="438840" y="786240"/>
            <a:ext cx="7497720" cy="25560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150" b="0" u="none" strike="noStrike">
                <a:solidFill>
                  <a:srgbClr val="585858"/>
                </a:solidFill>
                <a:effectLst/>
                <a:uFillTx/>
                <a:latin typeface="Calibri"/>
              </a:rPr>
              <a:t>Carry-forward points before the next section.</a:t>
            </a:r>
            <a:endParaRPr lang="en-IN" sz="1150" b="0" u="none" strike="noStrike">
              <a:solidFill>
                <a:srgbClr val="000000"/>
              </a:solidFill>
              <a:effectLst/>
              <a:uFillTx/>
              <a:latin typeface="Arial"/>
            </a:endParaRPr>
          </a:p>
        </p:txBody>
      </p:sp>
      <p:sp>
        <p:nvSpPr>
          <p:cNvPr id="482" name="Rounded Rectangle 4"/>
          <p:cNvSpPr/>
          <p:nvPr/>
        </p:nvSpPr>
        <p:spPr>
          <a:xfrm>
            <a:off x="658440" y="1051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1</a:t>
            </a:r>
            <a:endParaRPr lang="en-IN" sz="1200" b="0" u="none" strike="noStrike">
              <a:solidFill>
                <a:srgbClr val="000000"/>
              </a:solidFill>
              <a:effectLst/>
              <a:uFillTx/>
              <a:latin typeface="Arial"/>
            </a:endParaRPr>
          </a:p>
        </p:txBody>
      </p:sp>
      <p:sp>
        <p:nvSpPr>
          <p:cNvPr id="483" name="TextBox 5"/>
          <p:cNvSpPr/>
          <p:nvPr/>
        </p:nvSpPr>
        <p:spPr>
          <a:xfrm>
            <a:off x="1170360" y="1033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Consumer groups scale reads, but partition count sets the ceiling.</a:t>
            </a:r>
            <a:endParaRPr lang="en-IN" sz="1450" b="0" u="none" strike="noStrike">
              <a:solidFill>
                <a:srgbClr val="000000"/>
              </a:solidFill>
              <a:effectLst/>
              <a:uFillTx/>
              <a:latin typeface="Arial"/>
            </a:endParaRPr>
          </a:p>
        </p:txBody>
      </p:sp>
      <p:sp>
        <p:nvSpPr>
          <p:cNvPr id="484" name="Rounded Rectangle 6"/>
          <p:cNvSpPr/>
          <p:nvPr/>
        </p:nvSpPr>
        <p:spPr>
          <a:xfrm>
            <a:off x="658440" y="1618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2</a:t>
            </a:r>
            <a:endParaRPr lang="en-IN" sz="1200" b="0" u="none" strike="noStrike">
              <a:solidFill>
                <a:srgbClr val="000000"/>
              </a:solidFill>
              <a:effectLst/>
              <a:uFillTx/>
              <a:latin typeface="Arial"/>
            </a:endParaRPr>
          </a:p>
        </p:txBody>
      </p:sp>
      <p:sp>
        <p:nvSpPr>
          <p:cNvPr id="485" name="TextBox 7"/>
          <p:cNvSpPr/>
          <p:nvPr/>
        </p:nvSpPr>
        <p:spPr>
          <a:xfrm>
            <a:off x="1170360" y="1600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Offsets are progress bookmarks, not proof that side effects are safe.</a:t>
            </a:r>
            <a:endParaRPr lang="en-IN" sz="1450" b="0" u="none" strike="noStrike">
              <a:solidFill>
                <a:srgbClr val="000000"/>
              </a:solidFill>
              <a:effectLst/>
              <a:uFillTx/>
              <a:latin typeface="Arial"/>
            </a:endParaRPr>
          </a:p>
        </p:txBody>
      </p:sp>
      <p:sp>
        <p:nvSpPr>
          <p:cNvPr id="486" name="Rounded Rectangle 8"/>
          <p:cNvSpPr/>
          <p:nvPr/>
        </p:nvSpPr>
        <p:spPr>
          <a:xfrm>
            <a:off x="658440" y="218556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3</a:t>
            </a:r>
            <a:endParaRPr lang="en-IN" sz="1200" b="0" u="none" strike="noStrike">
              <a:solidFill>
                <a:srgbClr val="000000"/>
              </a:solidFill>
              <a:effectLst/>
              <a:uFillTx/>
              <a:latin typeface="Arial"/>
            </a:endParaRPr>
          </a:p>
        </p:txBody>
      </p:sp>
      <p:sp>
        <p:nvSpPr>
          <p:cNvPr id="487" name="TextBox 9"/>
          <p:cNvSpPr/>
          <p:nvPr/>
        </p:nvSpPr>
        <p:spPr>
          <a:xfrm>
            <a:off x="1170360" y="2167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Replication protects availability only when enough replicas remain in sync.</a:t>
            </a:r>
            <a:endParaRPr lang="en-IN" sz="1450" b="0" u="none" strike="noStrike">
              <a:solidFill>
                <a:srgbClr val="000000"/>
              </a:solidFill>
              <a:effectLst/>
              <a:uFillTx/>
              <a:latin typeface="Arial"/>
            </a:endParaRPr>
          </a:p>
        </p:txBody>
      </p:sp>
      <p:sp>
        <p:nvSpPr>
          <p:cNvPr id="488" name="Rounded Rectangle 10"/>
          <p:cNvSpPr/>
          <p:nvPr/>
        </p:nvSpPr>
        <p:spPr>
          <a:xfrm>
            <a:off x="658440" y="275220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4</a:t>
            </a:r>
            <a:endParaRPr lang="en-IN" sz="1200" b="0" u="none" strike="noStrike">
              <a:solidFill>
                <a:srgbClr val="000000"/>
              </a:solidFill>
              <a:effectLst/>
              <a:uFillTx/>
              <a:latin typeface="Arial"/>
            </a:endParaRPr>
          </a:p>
        </p:txBody>
      </p:sp>
      <p:sp>
        <p:nvSpPr>
          <p:cNvPr id="489" name="TextBox 11"/>
          <p:cNvSpPr/>
          <p:nvPr/>
        </p:nvSpPr>
        <p:spPr>
          <a:xfrm>
            <a:off x="1170360" y="273420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Kafka Connect turns integration into managed connector tasks.</a:t>
            </a:r>
            <a:endParaRPr lang="en-IN" sz="1450" b="0" u="none" strike="noStrike">
              <a:solidFill>
                <a:srgbClr val="000000"/>
              </a:solidFill>
              <a:effectLst/>
              <a:uFillTx/>
              <a:latin typeface="Arial"/>
            </a:endParaRPr>
          </a:p>
        </p:txBody>
      </p:sp>
      <p:sp>
        <p:nvSpPr>
          <p:cNvPr id="490" name="Rounded Rectangle 12"/>
          <p:cNvSpPr/>
          <p:nvPr/>
        </p:nvSpPr>
        <p:spPr>
          <a:xfrm>
            <a:off x="658440" y="3319200"/>
            <a:ext cx="420120" cy="328680"/>
          </a:xfrm>
          <a:prstGeom prst="roundRect">
            <a:avLst>
              <a:gd name="adj" fmla="val 16667"/>
            </a:avLst>
          </a:prstGeom>
          <a:solidFill>
            <a:srgbClr val="E6EEF7"/>
          </a:solidFill>
          <a:ln>
            <a:solidFill>
              <a:srgbClr val="4F81BD"/>
            </a:solidFill>
            <a:round/>
          </a:ln>
        </p:spPr>
        <p:style>
          <a:lnRef idx="1">
            <a:schemeClr val="accent1"/>
          </a:lnRef>
          <a:fillRef idx="3">
            <a:schemeClr val="accent1"/>
          </a:fillRef>
          <a:effectRef idx="2">
            <a:schemeClr val="accent1"/>
          </a:effectRef>
          <a:fontRef idx="minor"/>
        </p:style>
        <p:txBody>
          <a:bodyPr lIns="73080" tIns="45000" rIns="73080" bIns="45000" anchor="ctr">
            <a:noAutofit/>
          </a:bodyPr>
          <a:lstStyle/>
          <a:p>
            <a:pPr algn="ctr" defTabSz="914400">
              <a:lnSpc>
                <a:spcPct val="100000"/>
              </a:lnSpc>
            </a:pPr>
            <a:r>
              <a:rPr lang="en-US" sz="1200" b="1" u="none" strike="noStrike">
                <a:solidFill>
                  <a:srgbClr val="365F91"/>
                </a:solidFill>
                <a:effectLst/>
                <a:uFillTx/>
                <a:latin typeface="Calibri"/>
              </a:rPr>
              <a:t>5</a:t>
            </a:r>
            <a:endParaRPr lang="en-IN" sz="1200" b="0" u="none" strike="noStrike">
              <a:solidFill>
                <a:srgbClr val="000000"/>
              </a:solidFill>
              <a:effectLst/>
              <a:uFillTx/>
              <a:latin typeface="Arial"/>
            </a:endParaRPr>
          </a:p>
        </p:txBody>
      </p:sp>
      <p:sp>
        <p:nvSpPr>
          <p:cNvPr id="491" name="TextBox 13"/>
          <p:cNvSpPr/>
          <p:nvPr/>
        </p:nvSpPr>
        <p:spPr>
          <a:xfrm>
            <a:off x="1170360" y="3300840"/>
            <a:ext cx="6903360" cy="3837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defTabSz="914400">
              <a:lnSpc>
                <a:spcPct val="100000"/>
              </a:lnSpc>
            </a:pPr>
            <a:r>
              <a:rPr lang="en-US" sz="1450" b="0" u="none" strike="noStrike">
                <a:solidFill>
                  <a:srgbClr val="1E1E1E"/>
                </a:solidFill>
                <a:effectLst/>
                <a:uFillTx/>
                <a:latin typeface="Calibri"/>
              </a:rPr>
              <a:t>Good lab evidence combines terminal output, Kafka UI state and data-path proof.</a:t>
            </a:r>
            <a:endParaRPr lang="en-IN" sz="1450" b="0" u="none" strike="noStrike">
              <a:solidFill>
                <a:srgbClr val="000000"/>
              </a:solidFill>
              <a:effectLst/>
              <a:uFillTx/>
              <a:latin typeface="Arial"/>
            </a:endParaRPr>
          </a:p>
        </p:txBody>
      </p:sp>
      <p:sp>
        <p:nvSpPr>
          <p:cNvPr id="492" name="TextBox 14"/>
          <p:cNvSpPr/>
          <p:nvPr/>
        </p:nvSpPr>
        <p:spPr>
          <a:xfrm>
            <a:off x="8101440" y="4617720"/>
            <a:ext cx="411120" cy="164160"/>
          </a:xfrm>
          <a:prstGeom prst="rect">
            <a:avLst/>
          </a:prstGeom>
          <a:noFill/>
          <a:ln w="0">
            <a:noFill/>
          </a:ln>
        </p:spPr>
        <p:style>
          <a:lnRef idx="0">
            <a:scrgbClr r="0" g="0" b="0"/>
          </a:lnRef>
          <a:fillRef idx="0">
            <a:scrgbClr r="0" g="0" b="0"/>
          </a:fillRef>
          <a:effectRef idx="0">
            <a:scrgbClr r="0" g="0" b="0"/>
          </a:effectRef>
          <a:fontRef idx="minor"/>
        </p:style>
        <p:txBody>
          <a:bodyPr lIns="54720" tIns="27360" rIns="54720" bIns="27360" anchor="t">
            <a:spAutoFit/>
          </a:bodyPr>
          <a:lstStyle/>
          <a:p>
            <a:pPr algn="r" defTabSz="914400">
              <a:lnSpc>
                <a:spcPct val="100000"/>
              </a:lnSpc>
            </a:pPr>
            <a:r>
              <a:rPr lang="en-US" sz="800" b="0" u="none" strike="noStrike">
                <a:solidFill>
                  <a:srgbClr val="585858"/>
                </a:solidFill>
                <a:effectLst/>
                <a:uFillTx/>
                <a:latin typeface="Calibri"/>
              </a:rPr>
              <a:t>[70]</a:t>
            </a:r>
            <a:endParaRPr lang="en-IN" sz="8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TotalTime>
  <Words>7552</Words>
  <Application>Microsoft Office PowerPoint</Application>
  <PresentationFormat>Custom</PresentationFormat>
  <Paragraphs>824</Paragraphs>
  <Slides>78</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78</vt:i4>
      </vt:variant>
    </vt:vector>
  </HeadingPairs>
  <TitlesOfParts>
    <vt:vector size="86" baseType="lpstr">
      <vt:lpstr>Arial</vt:lpstr>
      <vt:lpstr>Calibri</vt:lpstr>
      <vt:lpstr>Consolas</vt:lpstr>
      <vt:lpstr>source-serif-pro</vt:lpstr>
      <vt:lpstr>Symbol</vt:lpstr>
      <vt:lpstr>Times New Roman</vt:lpstr>
      <vt:lpstr>Wingdings</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Walnut Exporter</dc:creator>
  <dc:description/>
  <cp:lastModifiedBy>QUIDZOHAR MORBIWALA</cp:lastModifiedBy>
  <cp:revision>9</cp:revision>
  <dcterms:created xsi:type="dcterms:W3CDTF">2026-05-25T22:06:36Z</dcterms:created>
  <dcterms:modified xsi:type="dcterms:W3CDTF">2026-06-03T03:39:47Z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45</vt:i4>
  </property>
  <property fmtid="{D5CDD505-2E9C-101B-9397-08002B2CF9AE}" pid="3" name="PresentationFormat">
    <vt:lpwstr>Custom</vt:lpwstr>
  </property>
  <property fmtid="{D5CDD505-2E9C-101B-9397-08002B2CF9AE}" pid="4" name="Slides">
    <vt:i4>45</vt:i4>
  </property>
  <property fmtid="{D5CDD505-2E9C-101B-9397-08002B2CF9AE}" pid="5" name="MSIP_Label_4637e5cc-ed1f-4ad6-a881-35c0f1c6f3d8_Enabled">
    <vt:lpwstr>true</vt:lpwstr>
  </property>
  <property fmtid="{D5CDD505-2E9C-101B-9397-08002B2CF9AE}" pid="6" name="MSIP_Label_4637e5cc-ed1f-4ad6-a881-35c0f1c6f3d8_SetDate">
    <vt:lpwstr>2026-06-02T18:59:46Z</vt:lpwstr>
  </property>
  <property fmtid="{D5CDD505-2E9C-101B-9397-08002B2CF9AE}" pid="7" name="MSIP_Label_4637e5cc-ed1f-4ad6-a881-35c0f1c6f3d8_Method">
    <vt:lpwstr>Standard</vt:lpwstr>
  </property>
  <property fmtid="{D5CDD505-2E9C-101B-9397-08002B2CF9AE}" pid="8" name="MSIP_Label_4637e5cc-ed1f-4ad6-a881-35c0f1c6f3d8_Name">
    <vt:lpwstr>General</vt:lpwstr>
  </property>
  <property fmtid="{D5CDD505-2E9C-101B-9397-08002B2CF9AE}" pid="9" name="MSIP_Label_4637e5cc-ed1f-4ad6-a881-35c0f1c6f3d8_SiteId">
    <vt:lpwstr>e3cf3c98-a978-465f-8254-9d541eeea73c</vt:lpwstr>
  </property>
  <property fmtid="{D5CDD505-2E9C-101B-9397-08002B2CF9AE}" pid="10" name="MSIP_Label_4637e5cc-ed1f-4ad6-a881-35c0f1c6f3d8_ActionId">
    <vt:lpwstr>b9fc5a8e-7f46-45fd-a1fc-b5d61ac96942</vt:lpwstr>
  </property>
  <property fmtid="{D5CDD505-2E9C-101B-9397-08002B2CF9AE}" pid="11" name="MSIP_Label_4637e5cc-ed1f-4ad6-a881-35c0f1c6f3d8_ContentBits">
    <vt:lpwstr>2</vt:lpwstr>
  </property>
  <property fmtid="{D5CDD505-2E9C-101B-9397-08002B2CF9AE}" pid="12" name="MSIP_Label_4637e5cc-ed1f-4ad6-a881-35c0f1c6f3d8_Tag">
    <vt:lpwstr>10, 3, 0, 1</vt:lpwstr>
  </property>
  <property fmtid="{D5CDD505-2E9C-101B-9397-08002B2CF9AE}" pid="13" name="ClassificationContentMarkingFooterLocations">
    <vt:lpwstr>Office:5</vt:lpwstr>
  </property>
  <property fmtid="{D5CDD505-2E9C-101B-9397-08002B2CF9AE}" pid="14" name="ClassificationContentMarkingFooterText">
    <vt:lpwstr>Sensitivity Label: General</vt:lpwstr>
  </property>
</Properties>
</file>